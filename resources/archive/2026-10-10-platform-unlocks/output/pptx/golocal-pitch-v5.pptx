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987d9bf2d74532" /><Relationship Type="http://schemas.openxmlformats.org/officeDocument/2006/relationships/extended-properties" Target="/docProps/app.xml" Id="R415a316f0be74a71" /><Relationship Type="http://schemas.openxmlformats.org/officeDocument/2006/relationships/officeDocument" Target="/ppt/presentation.xml" Id="R5db71f9184be4463" /></Relationships>
</file>

<file path=ppt/presentation.xml><?xml version="1.0" encoding="utf-8"?>
<p:presentation xmlns:p="http://schemas.openxmlformats.org/presentationml/2006/main">
  <p:sldMasterIdLst>
    <p:sldMasterId xmlns:r="http://schemas.openxmlformats.org/officeDocument/2006/relationships" id="2147483648" r:id="Reda83a64c9f448a0"/>
  </p:sldMasterIdLst>
  <p:notesMasterIdLst>
    <p:notesMasterId xmlns:r="http://schemas.openxmlformats.org/officeDocument/2006/relationships" r:id="Rb3a2e65cafe546b5"/>
  </p:notesMasterIdLst>
  <p:sldIdLst>
    <p:sldId xmlns:r="http://schemas.openxmlformats.org/officeDocument/2006/relationships" id="256" r:id="Rb503c8becabe47e4"/>
    <p:sldId xmlns:r="http://schemas.openxmlformats.org/officeDocument/2006/relationships" id="257" r:id="R7d87cda8b92f482d"/>
    <p:sldId xmlns:r="http://schemas.openxmlformats.org/officeDocument/2006/relationships" id="258" r:id="Rc042b67884944a9b"/>
    <p:sldId xmlns:r="http://schemas.openxmlformats.org/officeDocument/2006/relationships" id="259" r:id="Rd4b5fd274c0a4c7c"/>
    <p:sldId xmlns:r="http://schemas.openxmlformats.org/officeDocument/2006/relationships" id="260" r:id="R4b774a0c6f984cd0"/>
    <p:sldId xmlns:r="http://schemas.openxmlformats.org/officeDocument/2006/relationships" id="261" r:id="R7c5affe85c0140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74619867ca412d" /><Relationship Type="http://schemas.openxmlformats.org/officeDocument/2006/relationships/slideMaster" Target="/ppt/slideMasters/slideMaster1.xml" Id="Reda83a64c9f448a0" /><Relationship Type="http://schemas.openxmlformats.org/officeDocument/2006/relationships/notesMaster" Target="/ppt/notesMasters/notesMaster1.xml" Id="Rb3a2e65cafe546b5" /><Relationship Type="http://schemas.openxmlformats.org/officeDocument/2006/relationships/presProps" Target="/ppt/presProps.xml" Id="R488cfac05af14eaa" /><Relationship Type="http://schemas.openxmlformats.org/officeDocument/2006/relationships/tableStyles" Target="/ppt/tableStyles.xml" Id="R5b1313bf13224c29" /><Relationship Type="http://schemas.openxmlformats.org/officeDocument/2006/relationships/slide" Target="/ppt/slides/slide1.xml" Id="Rb503c8becabe47e4" /><Relationship Type="http://schemas.openxmlformats.org/officeDocument/2006/relationships/slide" Target="/ppt/slides/slide2.xml" Id="R7d87cda8b92f482d" /><Relationship Type="http://schemas.openxmlformats.org/officeDocument/2006/relationships/slide" Target="/ppt/slides/slide3.xml" Id="Rc042b67884944a9b" /><Relationship Type="http://schemas.openxmlformats.org/officeDocument/2006/relationships/slide" Target="/ppt/slides/slide4.xml" Id="Rd4b5fd274c0a4c7c" /><Relationship Type="http://schemas.openxmlformats.org/officeDocument/2006/relationships/slide" Target="/ppt/slides/slide5.xml" Id="R4b774a0c6f984cd0" /><Relationship Type="http://schemas.openxmlformats.org/officeDocument/2006/relationships/slide" Target="/ppt/slides/slide6.xml" Id="R7c5affe85c0140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bc22a101284b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03fd8429f244d3" /><Relationship Type="http://schemas.openxmlformats.org/officeDocument/2006/relationships/notesMaster" Target="/ppt/notesMasters/notesMaster1.xml" Id="Rb310b4ce085244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b96fa563874e8f" /><Relationship Type="http://schemas.openxmlformats.org/officeDocument/2006/relationships/notesMaster" Target="/ppt/notesMasters/notesMaster1.xml" Id="Rf6f7169f82bc41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d18a6704eb439b" /><Relationship Type="http://schemas.openxmlformats.org/officeDocument/2006/relationships/notesMaster" Target="/ppt/notesMasters/notesMaster1.xml" Id="R49ffb240efa64b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337b4150de4ce9" /><Relationship Type="http://schemas.openxmlformats.org/officeDocument/2006/relationships/notesMaster" Target="/ppt/notesMasters/notesMaster1.xml" Id="Ra08061d385ea46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c3f18f003d4d65" /><Relationship Type="http://schemas.openxmlformats.org/officeDocument/2006/relationships/notesMaster" Target="/ppt/notesMasters/notesMaster1.xml" Id="Rf96d021478c249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c974398c6f44b0" /><Relationship Type="http://schemas.openxmlformats.org/officeDocument/2006/relationships/notesMaster" Target="/ppt/notesMasters/notesMaster1.xml" Id="R9698a433006b41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Founder-requested technology/platform separation, October 10 2026. Technology enables a platform, and that platform unlocks part of the local-service experience. Telephones: Yellow Pages/find and call. Internet: Google and Craigslist/search and comparison. Mobile and GPS: Google Maps/location and reviews. LLMs: AI chatbots/describe needs and get answers. AI with tools: personal AI agents/delegate tasks. AI + tools is a simplified technical description of agent action capabilities, not a claim of a single invention or universal implementation. Personal agents are the latest platform; a shared data and transaction layer can be built on top to address scoping/quoting, live availability and booking/payments across participating suppliers. These proposed capabilities are introduced as GoLocal on slide 3. The current slide stays on market and problem. Merchant authorization and provider input may be needed. Some local platforms already transact. Market figure $600B preserved from founder-sourced thesis; underlying service spend is not GoLocal fee revenue. Dates are illustrative channel eras, not launch dates or a fixed decade cycle. Craigslist history: https://www.craigslist.org/about/mission_and_history ; Google Maps retrospective: https://blog.google/products-and-platforms/products/maps/look-back-15-years-mapping-world/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Hark &gt;$700M Series A: https://hark.com/articles/hark-announces-usd700-million-fundraising-round ; Instinct $1B Series C: https://www.businesswire.com/news/home/20260928153437/en/ ; earlier reported Instinct cumulative $350M: https://techcrunch.com/2026/08/26/viral-ai-startup-instinct-has-raised-350-million-at-a-2-5-billion-valuation/ ; Town $55M Series A: https://www.town.com/press/series-a . Selected-company total &gt;$2.105B; not an exhaustive market aggregate. Excludes unverified Wajo funding and general AI-lab financing that cannot be allocated to Muse/Dots.</a:t>
            </a:r>
          </a:p>
          <a:p xmlns:a="http://schemas.openxmlformats.org/drawingml/2006/main">
            <a:r>
              <a:t>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Primary connector documentation accessed October 10 2026. Company-name shapes are editable logo positions for later design, not partnership logos. The shift of local discovery into many agents is the investment thesis, not a quantified share shift. Funding does not establish local-service request volume. Founder-sourced market figures ($2T local services, $600B home services) preserved from business-thesis.md; geography, year and methodology not supplied. Home services is a subset and the figures must not be added. They describe underlying services spending, not addressable GoLocal fee revenue. Existing competition includes https://updater.com/ ; claim concerns fragmentation and intended participating coverage, not no middleware anywhere. Agent platforms may have both consumer and business workflows; funding is company-level.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architecture. FSM = field service management; CRM = customer relationship management. System labels are generic integration targets, not signed vendors or live integrations. GoLocal recruits suitable participating supply, obtains merchant authorization, connects permitted business software and standardizes the data/action interface for agents. Existing systems remain authoritative for schedules, quotes and job status. Transaction history is exposed only where supported, authorized and appropriate. One integration per business provides access to the agents actually connected to GoLocal, not every agent in the market. APIs can compare participating providers without contacting each sequentially, but asynchronous availability, complex scope or provider acceptance can still require follow-up. The founder supplied ~15 minutes of calls to 3-4 providers versus an under-5-second API lookup as an illustration; it is not a measured benchmark, speed guarantee or full-booking latency. Quote, payment and management capabilities are proposed; payment collection can use approved external checkout and is separate from GoLocal success-fee monetization. Discovery must also prioritize fit, availability, consent and service coverage, not merely lowest price. GoLocal has no claimed live bookings.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proposal, not signed pricing, revenue projections or validated unit economics. Supplier pays for a fulfilled job from a new customer; proposed partner share is not agreed. New-customer acquisition and serving an existing customer are separate hypotheses. Payment processing itself is not assumed to be the monetization model. Direct agent-platform routing requires a secured partnership; supplier partner Cactus is not that demand partner. A marketplace/directory connector still needs user discovery and consent. One prompt may start installation on supported platforms; permissions, review and custom integration requirements vary. These are routes under exploration, not exclusive or finalized. 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Muse separates approved connector discovery from editorial featuring and guarantees neither ranking nor traffic. OpenAI says strong utility/satisfaction may support enhanced placement or proactive suggestions. Claude directory listings are eligible for Suggested Connectors; custom connectors are not. Transaction history alone is not a published universal ranking mechanism. Early presence can help learn and prove utility; there is no guaranteed first-mover distribution advantage. Important tests: who installs/routes requests, how many requests finish, whether suppliers pay, and contribution after acquisition, integration and support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reports October 10 2026: Cactus AI (YC) serves 100+ mid-market trade shops in Salt Lake City and Dallas and agreed to introductions and booking access through its existing customers. Separate back-office management company agreed to onboard its 20 clients. Counts are not unique live GoLocal customers and are not summed. No active integration, request-routing partner, production booking, paid continuation or revenue established. Positive interviews and partnership calls reported without a count or attributable testimonials. Public Cactus identity: https://www.ycombinator.com/companies/oncactus ; public profile does not prove the private commitment. Initial trade and city to be selected from eligible requests and partner access, not assumed Boston cleaning. Next tasks include getting merchant-specific authorization and an actual customer demand channel. Team should show the product completes permitted scoped actions rather than only serving listings.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38f70c484046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3ce11d4e764f5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a522457182045d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b598d899dbf469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a7aeffb6b14b2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b6ffad805f4c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34214aaf9a4c0e" /><Relationship Type="http://schemas.openxmlformats.org/officeDocument/2006/relationships/slideLayout" Target="/ppt/slideLayouts/slideLayout1.xml" Id="R3bc18dc49a284090" /><Relationship Type="http://schemas.openxmlformats.org/officeDocument/2006/relationships/slideLayout" Target="/ppt/slideLayouts/slideLayout2.xml" Id="Rcfc49ed97bce481f" /><Relationship Type="http://schemas.openxmlformats.org/officeDocument/2006/relationships/slideLayout" Target="/ppt/slideLayouts/slideLayout3.xml" Id="R4eddc490d3f64e60" /><Relationship Type="http://schemas.openxmlformats.org/officeDocument/2006/relationships/slideLayout" Target="/ppt/slideLayouts/slideLayout4.xml" Id="Ref1f49c661254b7c" /><Relationship Type="http://schemas.openxmlformats.org/officeDocument/2006/relationships/slideLayout" Target="/ppt/slideLayouts/slideLayout5.xml" Id="R5b1b96fc7d564b0f" /><Relationship Type="http://schemas.openxmlformats.org/officeDocument/2006/relationships/slideLayout" Target="/ppt/slideLayouts/slideLayout6.xml" Id="Rf92ed987a75c40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c18dc49a284090"/>
    <p:sldLayoutId xmlns:r="http://schemas.openxmlformats.org/officeDocument/2006/relationships" id="2147483650" r:id="Rcfc49ed97bce481f"/>
    <p:sldLayoutId xmlns:r="http://schemas.openxmlformats.org/officeDocument/2006/relationships" id="2147483651" r:id="R4eddc490d3f64e60"/>
    <p:sldLayoutId xmlns:r="http://schemas.openxmlformats.org/officeDocument/2006/relationships" id="2147483652" r:id="Ref1f49c661254b7c"/>
    <p:sldLayoutId xmlns:r="http://schemas.openxmlformats.org/officeDocument/2006/relationships" id="2147483653" r:id="R5b1b96fc7d564b0f"/>
    <p:sldLayoutId xmlns:r="http://schemas.openxmlformats.org/officeDocument/2006/relationships" id="2147483654" r:id="Rf92ed987a75c40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d0de2e0f7ea4f04" /><Relationship Type="http://schemas.openxmlformats.org/officeDocument/2006/relationships/notesSlide" Target="/ppt/notesSlides/notesSlide1.xml" Id="Rf52cf016a16d48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8434bade3114bfb" /><Relationship Type="http://schemas.openxmlformats.org/officeDocument/2006/relationships/notesSlide" Target="/ppt/notesSlides/notesSlide2.xml" Id="R9df26819c7834a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6971b635e3480e" /><Relationship Type="http://schemas.openxmlformats.org/officeDocument/2006/relationships/notesSlide" Target="/ppt/notesSlides/notesSlide3.xml" Id="R3eba2a1b637149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5fed13f89e44cc9" /><Relationship Type="http://schemas.openxmlformats.org/officeDocument/2006/relationships/notesSlide" Target="/ppt/notesSlides/notesSlide4.xml" Id="Rd9d7be6569b2459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3f5a9451962455d" /><Relationship Type="http://schemas.openxmlformats.org/officeDocument/2006/relationships/notesSlide" Target="/ppt/notesSlides/notesSlide5.xml" Id="R9c603f01296f4a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756adf30dce45d6" /><Relationship Type="http://schemas.openxmlformats.org/officeDocument/2006/relationships/notesSlide" Target="/ppt/notesSlides/notesSlide6.xml" Id="R3a953f20309f4a78"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FC29258F-D9C3-4119-A39F-DD20AAD9AD8F}"/>
              </a:ext>
            </a:extLst>
          </p:cNvPr>
          <p:cNvSpPr>
            <a:spLocks xmlns:a="http://schemas.openxmlformats.org/drawingml/2006/main" noGrp="1"/>
          </p:cNvSpPr>
          <p:nvPr/>
        </p:nvSpPr>
        <p:spPr>
          <a:xfrm xmlns:a="http://schemas.openxmlformats.org/drawingml/2006/main">
            <a:off x="495300" y="400050"/>
            <a:ext cx="11201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050" b="1">
                <a:solidFill>
                  <a:srgbClr val="193C32"/>
                </a:solidFill>
                <a:latin typeface="Helvetica Neue"/>
                <a:ea typeface="Helvetica Neue"/>
                <a:cs typeface="Helvetica Neue"/>
              </a:defRPr>
            </a:defPPr>
          </a:lstStyle>
          <a:p xmlns:a="http://schemas.openxmlformats.org/drawingml/2006/main">
            <a:pPr>
              <a:defRPr sz="4050" b="1">
                <a:solidFill>
                  <a:srgbClr val="193C32"/>
                </a:solidFill>
                <a:latin typeface="Helvetica Neue"/>
                <a:ea typeface="Helvetica Neue"/>
                <a:cs typeface="Helvetica Neue"/>
              </a:defRPr>
            </a:pPr>
            <a:r>
              <a:rPr sz="4050" b="1">
                <a:solidFill>
                  <a:srgbClr val="193C32"/>
                </a:solidFill>
                <a:latin typeface="Helvetica Neue"/>
                <a:ea typeface="Helvetica Neue"/>
                <a:cs typeface="Helvetica Neue"/>
              </a:rPr>
              <a:t>$600B home-services market</a:t>
            </a:r>
          </a:p>
        </p:txBody>
      </p:sp>
      <p:sp>
        <p:nvSpPr>
          <p:cNvPr id="2" name="market-opening-1">
            <a:extLst xmlns:a="http://schemas.openxmlformats.org/drawingml/2006/main">
              <a:ext uri="{FF2B5EF4-FFF2-40B4-BE49-F238E27FC236}">
                <a16:creationId xmlns:a16="http://schemas.microsoft.com/office/drawing/2014/main" id="{3BB5AAAD-9559-4EC1-81EF-B0CD06F23ADF}"/>
              </a:ext>
            </a:extLst>
          </p:cNvPr>
          <p:cNvSpPr>
            <a:spLocks xmlns:a="http://schemas.openxmlformats.org/drawingml/2006/main" noGrp="1"/>
          </p:cNvSpPr>
          <p:nvPr/>
        </p:nvSpPr>
        <p:spPr>
          <a:xfrm xmlns:a="http://schemas.openxmlformats.org/drawingml/2006/main">
            <a:off x="495300" y="1257300"/>
            <a:ext cx="11201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0">
                <a:solidFill>
                  <a:srgbClr val="65746C"/>
                </a:solidFill>
                <a:latin typeface="Helvetica Neue"/>
                <a:ea typeface="Helvetica Neue"/>
                <a:cs typeface="Helvetica Neue"/>
              </a:defRPr>
            </a:defPPr>
          </a:lstStyle>
          <a:p xmlns:a="http://schemas.openxmlformats.org/drawingml/2006/main">
            <a:pPr>
              <a:defRPr sz="2400" b="0">
                <a:solidFill>
                  <a:srgbClr val="65746C"/>
                </a:solidFill>
                <a:latin typeface="Helvetica Neue"/>
                <a:ea typeface="Helvetica Neue"/>
                <a:cs typeface="Helvetica Neue"/>
              </a:defRPr>
            </a:pPr>
            <a:r>
              <a:rPr sz="2400" b="0">
                <a:solidFill>
                  <a:srgbClr val="65746C"/>
                </a:solidFill>
                <a:latin typeface="Helvetica Neue"/>
                <a:ea typeface="Helvetica Neue"/>
                <a:cs typeface="Helvetica Neue"/>
              </a:rPr>
              <a:t>New technology creates new platforms for local services</a:t>
            </a:r>
          </a:p>
        </p:txBody>
      </p:sp>
      <p:graphicFrame>
        <p:nvGraphicFramePr>
          <p:cNvPr id="3" name="">
            <a:extLst xmlns:a="http://schemas.openxmlformats.org/drawingml/2006/main">
              <a:ext uri="{FF2B5EF4-FFF2-40B4-BE49-F238E27FC236}">
                <a16:creationId xmlns:a16="http://schemas.microsoft.com/office/drawing/2014/main" id="{5634B0FD-7E9D-4678-91F0-2DBBD5EA4C52}"/>
              </a:ext>
            </a:extLst>
          </p:cNvPr>
          <p:cNvGraphicFramePr/>
          <p:nvPr/>
        </p:nvGraphicFramePr>
        <p:xfrm>
          <a:off xmlns:a="http://schemas.openxmlformats.org/drawingml/2006/main" x="495300" y="2000250"/>
          <a:ext xmlns:a="http://schemas.openxmlformats.org/drawingml/2006/main" cx="11201400" cy="2533650"/>
        </p:xfrm>
        <a:graphic xmlns:a="http://schemas.openxmlformats.org/drawingml/2006/main">
          <a:graphicData uri="http://schemas.openxmlformats.org/drawingml/2006/table">
            <a:tbl>
              <a:tblPr firstRow="0" firstCol="0" bandRow="0"/>
              <a:tblGrid>
                <a:gridCol w="1438275"/>
                <a:gridCol w="1952625"/>
                <a:gridCol w="1952625"/>
                <a:gridCol w="1952625"/>
                <a:gridCol w="1952625"/>
                <a:gridCol w="1952625"/>
              </a:tblGrid>
              <a:tr h="352425">
                <a:tc>
                  <a:txBody>
                    <a:bodyPr wrap="square">
                      <a:noAutofit/>
                    </a:bodyPr>
                    <a:lstStyle/>
                    <a:p>
                      <a:r>
                        <a:rPr sz="1650" b="1">
                          <a:solidFill>
                            <a:srgbClr val="65746C"/>
                          </a:solidFill>
                          <a:latin typeface="Helvetica Neue"/>
                          <a:ea typeface="Helvetica Neue"/>
                          <a:cs typeface="Helvetica Neue"/>
                        </a:rPr>
                        <a:t/>
                      </a:r>
                    </a:p>
                  </a:txBody>
                  <a:tcPr marL="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650" b="0">
                          <a:solidFill>
                            <a:srgbClr val="65746C"/>
                          </a:solidFill>
                          <a:latin typeface="Helvetica Neue"/>
                          <a:ea typeface="Helvetica Neue"/>
                          <a:cs typeface="Helvetica Neue"/>
                        </a:rPr>
                        <a:t>Pre-2000</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650" b="0">
                          <a:solidFill>
                            <a:srgbClr val="65746C"/>
                          </a:solidFill>
                          <a:latin typeface="Helvetica Neue"/>
                          <a:ea typeface="Helvetica Neue"/>
                          <a:cs typeface="Helvetica Neue"/>
                        </a:rPr>
                        <a:t>2000–2010</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650" b="0">
                          <a:solidFill>
                            <a:srgbClr val="65746C"/>
                          </a:solidFill>
                          <a:latin typeface="Helvetica Neue"/>
                          <a:ea typeface="Helvetica Neue"/>
                          <a:cs typeface="Helvetica Neue"/>
                        </a:rPr>
                        <a:t>2010–2025</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650" b="0">
                          <a:solidFill>
                            <a:srgbClr val="65746C"/>
                          </a:solidFill>
                          <a:latin typeface="Helvetica Neue"/>
                          <a:ea typeface="Helvetica Neue"/>
                          <a:cs typeface="Helvetica Neue"/>
                        </a:rPr>
                        <a:t>2020s</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650" b="1">
                          <a:solidFill>
                            <a:srgbClr val="65746C"/>
                          </a:solidFill>
                          <a:latin typeface="Helvetica Neue"/>
                          <a:ea typeface="Helvetica Neue"/>
                          <a:cs typeface="Helvetica Neue"/>
                        </a:rPr>
                        <a:t>2026+</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28650">
                <a:tc>
                  <a:txBody>
                    <a:bodyPr wrap="square">
                      <a:noAutofit/>
                    </a:bodyPr>
                    <a:lstStyle/>
                    <a:p>
                      <a:pPr algn="l"/>
                      <a:r>
                        <a:rPr sz="1575" b="1">
                          <a:solidFill>
                            <a:srgbClr val="65746C"/>
                          </a:solidFill>
                          <a:latin typeface="Helvetica Neue"/>
                          <a:ea typeface="Helvetica Neue"/>
                          <a:cs typeface="Helvetica Neue"/>
                        </a:rPr>
                        <a:t>Technology</a:t>
                      </a:r>
                    </a:p>
                  </a:txBody>
                  <a:tcPr marL="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0">
                          <a:solidFill>
                            <a:srgbClr val="193C32"/>
                          </a:solidFill>
                          <a:latin typeface="Helvetica Neue"/>
                          <a:ea typeface="Helvetica Neue"/>
                          <a:cs typeface="Helvetica Neue"/>
                        </a:rPr>
                        <a:t>Telephones</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0">
                          <a:solidFill>
                            <a:srgbClr val="193C32"/>
                          </a:solidFill>
                          <a:latin typeface="Helvetica Neue"/>
                          <a:ea typeface="Helvetica Neue"/>
                          <a:cs typeface="Helvetica Neue"/>
                        </a:rPr>
                        <a:t>Internet</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0">
                          <a:solidFill>
                            <a:srgbClr val="193C32"/>
                          </a:solidFill>
                          <a:latin typeface="Helvetica Neue"/>
                          <a:ea typeface="Helvetica Neue"/>
                          <a:cs typeface="Helvetica Neue"/>
                        </a:rPr>
                        <a:t>Mobile + GPS</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0">
                          <a:solidFill>
                            <a:srgbClr val="193C32"/>
                          </a:solidFill>
                          <a:latin typeface="Helvetica Neue"/>
                          <a:ea typeface="Helvetica Neue"/>
                          <a:cs typeface="Helvetica Neue"/>
                        </a:rPr>
                        <a:t>LLMs</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1">
                          <a:solidFill>
                            <a:srgbClr val="193C32"/>
                          </a:solidFill>
                          <a:latin typeface="Helvetica Neue"/>
                          <a:ea typeface="Helvetica Neue"/>
                          <a:cs typeface="Helvetica Neue"/>
                        </a:rPr>
                        <a:t>AI + tools</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800100">
                <a:tc>
                  <a:txBody>
                    <a:bodyPr wrap="square">
                      <a:noAutofit/>
                    </a:bodyPr>
                    <a:lstStyle/>
                    <a:p>
                      <a:pPr algn="l"/>
                      <a:r>
                        <a:rPr sz="1575" b="1">
                          <a:solidFill>
                            <a:srgbClr val="65746C"/>
                          </a:solidFill>
                          <a:latin typeface="Helvetica Neue"/>
                          <a:ea typeface="Helvetica Neue"/>
                          <a:cs typeface="Helvetica Neue"/>
                        </a:rPr>
                        <a:t>Platform</a:t>
                      </a:r>
                    </a:p>
                  </a:txBody>
                  <a:tcPr marL="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875" b="1">
                          <a:solidFill>
                            <a:srgbClr val="193C32"/>
                          </a:solidFill>
                          <a:latin typeface="Helvetica Neue"/>
                          <a:ea typeface="Helvetica Neue"/>
                          <a:cs typeface="Helvetica Neue"/>
                        </a:rPr>
                        <a:t>Yellow Pages</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875" b="1">
                          <a:solidFill>
                            <a:srgbClr val="193C32"/>
                          </a:solidFill>
                          <a:latin typeface="Helvetica Neue"/>
                          <a:ea typeface="Helvetica Neue"/>
                          <a:cs typeface="Helvetica Neue"/>
                        </a:rPr>
                        <a:t>Google /</a:t>
                      </a:r>
                    </a:p>
                    <a:p>
                      <a:pPr algn="ctr"/>
                      <a:r>
                        <a:rPr sz="1875" b="1">
                          <a:solidFill>
                            <a:srgbClr val="193C32"/>
                          </a:solidFill>
                          <a:latin typeface="Helvetica Neue"/>
                          <a:ea typeface="Helvetica Neue"/>
                          <a:cs typeface="Helvetica Neue"/>
                        </a:rPr>
                        <a:t>Craigslist</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875" b="1">
                          <a:solidFill>
                            <a:srgbClr val="193C32"/>
                          </a:solidFill>
                          <a:latin typeface="Helvetica Neue"/>
                          <a:ea typeface="Helvetica Neue"/>
                          <a:cs typeface="Helvetica Neue"/>
                        </a:rPr>
                        <a:t>Google Maps</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875" b="1">
                          <a:solidFill>
                            <a:srgbClr val="193C32"/>
                          </a:solidFill>
                          <a:latin typeface="Helvetica Neue"/>
                          <a:ea typeface="Helvetica Neue"/>
                          <a:cs typeface="Helvetica Neue"/>
                        </a:rPr>
                        <a:t>AI chatbots</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875" b="1">
                          <a:solidFill>
                            <a:srgbClr val="FFFFFF"/>
                          </a:solidFill>
                          <a:latin typeface="Helvetica Neue"/>
                          <a:ea typeface="Helvetica Neue"/>
                          <a:cs typeface="Helvetica Neue"/>
                        </a:rPr>
                        <a:t>Personal AI</a:t>
                      </a:r>
                    </a:p>
                    <a:p>
                      <a:pPr algn="ctr"/>
                      <a:r>
                        <a:rPr sz="1875" b="1">
                          <a:solidFill>
                            <a:srgbClr val="FFFFFF"/>
                          </a:solidFill>
                          <a:latin typeface="Helvetica Neue"/>
                          <a:ea typeface="Helvetica Neue"/>
                          <a:cs typeface="Helvetica Neue"/>
                        </a:rPr>
                        <a:t>agents</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752475">
                <a:tc>
                  <a:txBody>
                    <a:bodyPr wrap="square">
                      <a:noAutofit/>
                    </a:bodyPr>
                    <a:lstStyle/>
                    <a:p>
                      <a:pPr algn="l"/>
                      <a:r>
                        <a:rPr sz="1575" b="1">
                          <a:solidFill>
                            <a:srgbClr val="65746C"/>
                          </a:solidFill>
                          <a:latin typeface="Helvetica Neue"/>
                          <a:ea typeface="Helvetica Neue"/>
                          <a:cs typeface="Helvetica Neue"/>
                        </a:rPr>
                        <a:t>Unlock</a:t>
                      </a:r>
                    </a:p>
                  </a:txBody>
                  <a:tcPr marL="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0">
                          <a:solidFill>
                            <a:srgbClr val="236C4E"/>
                          </a:solidFill>
                          <a:latin typeface="Helvetica Neue"/>
                          <a:ea typeface="Helvetica Neue"/>
                          <a:cs typeface="Helvetica Neue"/>
                        </a:rPr>
                        <a:t>Find &amp; call</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1725" b="0">
                          <a:solidFill>
                            <a:srgbClr val="236C4E"/>
                          </a:solidFill>
                          <a:latin typeface="Helvetica Neue"/>
                          <a:ea typeface="Helvetica Neue"/>
                          <a:cs typeface="Helvetica Neue"/>
                        </a:rPr>
                        <a:t>Search &amp;</a:t>
                      </a:r>
                    </a:p>
                    <a:p>
                      <a:pPr algn="ctr"/>
                      <a:r>
                        <a:rPr sz="1725" b="0">
                          <a:solidFill>
                            <a:srgbClr val="236C4E"/>
                          </a:solidFill>
                          <a:latin typeface="Helvetica Neue"/>
                          <a:ea typeface="Helvetica Neue"/>
                          <a:cs typeface="Helvetica Neue"/>
                        </a:rPr>
                        <a:t>compare</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1725" b="0">
                          <a:solidFill>
                            <a:srgbClr val="236C4E"/>
                          </a:solidFill>
                          <a:latin typeface="Helvetica Neue"/>
                          <a:ea typeface="Helvetica Neue"/>
                          <a:cs typeface="Helvetica Neue"/>
                        </a:rPr>
                        <a:t>Nearby results</a:t>
                      </a:r>
                    </a:p>
                    <a:p>
                      <a:pPr algn="ctr"/>
                      <a:r>
                        <a:rPr sz="1725" b="0">
                          <a:solidFill>
                            <a:srgbClr val="236C4E"/>
                          </a:solidFill>
                          <a:latin typeface="Helvetica Neue"/>
                          <a:ea typeface="Helvetica Neue"/>
                          <a:cs typeface="Helvetica Neue"/>
                        </a:rPr>
                        <a:t>&amp; reviews</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1725" b="0">
                          <a:solidFill>
                            <a:srgbClr val="236C4E"/>
                          </a:solidFill>
                          <a:latin typeface="Helvetica Neue"/>
                          <a:ea typeface="Helvetica Neue"/>
                          <a:cs typeface="Helvetica Neue"/>
                        </a:rPr>
                        <a:t>Describe needs</a:t>
                      </a:r>
                    </a:p>
                    <a:p>
                      <a:pPr algn="ctr"/>
                      <a:r>
                        <a:rPr sz="1725" b="0">
                          <a:solidFill>
                            <a:srgbClr val="236C4E"/>
                          </a:solidFill>
                          <a:latin typeface="Helvetica Neue"/>
                          <a:ea typeface="Helvetica Neue"/>
                          <a:cs typeface="Helvetica Neue"/>
                        </a:rPr>
                        <a:t>&amp; get answers</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1725" b="1">
                          <a:solidFill>
                            <a:srgbClr val="236C4E"/>
                          </a:solidFill>
                          <a:latin typeface="Helvetica Neue"/>
                          <a:ea typeface="Helvetica Neue"/>
                          <a:cs typeface="Helvetica Neue"/>
                        </a:rPr>
                        <a:t>Delegate</a:t>
                      </a:r>
                    </a:p>
                    <a:p>
                      <a:pPr algn="ctr"/>
                      <a:r>
                        <a:rPr sz="1725" b="1">
                          <a:solidFill>
                            <a:srgbClr val="236C4E"/>
                          </a:solidFill>
                          <a:latin typeface="Helvetica Neue"/>
                          <a:ea typeface="Helvetica Neue"/>
                          <a:cs typeface="Helvetica Neue"/>
                        </a:rPr>
                        <a:t>tasks</a:t>
                      </a:r>
                    </a:p>
                  </a:txBody>
                  <a:tcPr marL="76200" marR="76200" marT="47625" marB="47625"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bl>
          </a:graphicData>
        </a:graphic>
      </p:graphicFrame>
      <p:sp>
        <p:nvSpPr>
          <p:cNvPr id="4" name="market-opening-2">
            <a:extLst xmlns:a="http://schemas.openxmlformats.org/drawingml/2006/main">
              <a:ext uri="{FF2B5EF4-FFF2-40B4-BE49-F238E27FC236}">
                <a16:creationId xmlns:a16="http://schemas.microsoft.com/office/drawing/2014/main" id="{39F6C06A-A580-432A-89A1-189FEA6FE9F8}"/>
              </a:ext>
            </a:extLst>
          </p:cNvPr>
          <p:cNvSpPr>
            <a:spLocks xmlns:a="http://schemas.openxmlformats.org/drawingml/2006/main" noGrp="1"/>
          </p:cNvSpPr>
          <p:nvPr/>
        </p:nvSpPr>
        <p:spPr>
          <a:xfrm xmlns:a="http://schemas.openxmlformats.org/drawingml/2006/main">
            <a:off x="495300" y="4838700"/>
            <a:ext cx="11201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93C32"/>
                </a:solidFill>
                <a:latin typeface="Helvetica Neue"/>
                <a:ea typeface="Helvetica Neue"/>
                <a:cs typeface="Helvetica Neue"/>
              </a:defRPr>
            </a:defPPr>
          </a:lstStyle>
          <a:p xmlns:a="http://schemas.openxmlformats.org/drawingml/2006/main">
            <a:pPr>
              <a:defRPr sz="2250" b="1">
                <a:solidFill>
                  <a:srgbClr val="193C32"/>
                </a:solidFill>
                <a:latin typeface="Helvetica Neue"/>
                <a:ea typeface="Helvetica Neue"/>
                <a:cs typeface="Helvetica Neue"/>
              </a:defRPr>
            </a:pPr>
            <a:r>
              <a:rPr sz="2250" b="1">
                <a:solidFill>
                  <a:srgbClr val="193C32"/>
                </a:solidFill>
                <a:latin typeface="Helvetica Neue"/>
                <a:ea typeface="Helvetica Neue"/>
                <a:cs typeface="Helvetica Neue"/>
              </a:rPr>
              <a:t>The opportunity on personal AI agents</a:t>
            </a:r>
          </a:p>
        </p:txBody>
      </p:sp>
      <p:graphicFrame>
        <p:nvGraphicFramePr>
          <p:cNvPr id="5" name="">
            <a:extLst xmlns:a="http://schemas.openxmlformats.org/drawingml/2006/main">
              <a:ext uri="{FF2B5EF4-FFF2-40B4-BE49-F238E27FC236}">
                <a16:creationId xmlns:a16="http://schemas.microsoft.com/office/drawing/2014/main" id="{80BF9458-36CD-4CBC-BCCE-1149B67EC470}"/>
              </a:ext>
            </a:extLst>
          </p:cNvPr>
          <p:cNvGraphicFramePr/>
          <p:nvPr/>
        </p:nvGraphicFramePr>
        <p:xfrm>
          <a:off xmlns:a="http://schemas.openxmlformats.org/drawingml/2006/main" x="495300" y="5381625"/>
          <a:ext xmlns:a="http://schemas.openxmlformats.org/drawingml/2006/main" cx="11201400" cy="523875"/>
        </p:xfrm>
        <a:graphic xmlns:a="http://schemas.openxmlformats.org/drawingml/2006/main">
          <a:graphicData uri="http://schemas.openxmlformats.org/drawingml/2006/table">
            <a:tbl>
              <a:tblPr firstRow="0" bandRow="0"/>
              <a:tblGrid>
                <a:gridCol w="3733800"/>
                <a:gridCol w="3733800"/>
                <a:gridCol w="3733800"/>
              </a:tblGrid>
              <a:tr h="523875">
                <a:tc>
                  <a:txBody>
                    <a:bodyPr wrap="square">
                      <a:noAutofit/>
                    </a:bodyPr>
                    <a:lstStyle/>
                    <a:p>
                      <a:pPr algn="l"/>
                      <a:r>
                        <a:rPr sz="2250" b="1">
                          <a:solidFill>
                            <a:srgbClr val="9D514B"/>
                          </a:solidFill>
                          <a:latin typeface="Helvetica Neue"/>
                          <a:ea typeface="Helvetica Neue"/>
                          <a:cs typeface="Helvetica Neue"/>
                        </a:rPr>
                        <a:t>Scope &amp; quote</a:t>
                      </a:r>
                    </a:p>
                  </a:txBody>
                  <a:tcPr marL="0" marR="76200" marT="47625" marB="47625" anchor="ctr">
                    <a:lnL w="0">
                      <a:solidFill>
                        <a:srgbClr val="FBF9F4"/>
                      </a:solidFill>
                    </a:lnL>
                    <a:lnR w="0">
                      <a:solidFill>
                        <a:srgbClr val="FBF9F4"/>
                      </a:solidFill>
                    </a:lnR>
                    <a:lnT w="0">
                      <a:solidFill>
                        <a:srgbClr val="FBF9F4"/>
                      </a:solidFill>
                    </a:lnT>
                    <a:lnB w="0">
                      <a:solidFill>
                        <a:srgbClr val="FBF9F4"/>
                      </a:solidFill>
                    </a:lnB>
                    <a:solidFill>
                      <a:srgbClr val="FBF9F4"/>
                    </a:solidFill>
                  </a:tcPr>
                </a:tc>
                <a:tc>
                  <a:txBody>
                    <a:bodyPr wrap="square">
                      <a:noAutofit/>
                    </a:bodyPr>
                    <a:lstStyle/>
                    <a:p>
                      <a:pPr algn="l"/>
                      <a:r>
                        <a:rPr sz="2250" b="1">
                          <a:solidFill>
                            <a:srgbClr val="9D514B"/>
                          </a:solidFill>
                          <a:latin typeface="Helvetica Neue"/>
                          <a:ea typeface="Helvetica Neue"/>
                          <a:cs typeface="Helvetica Neue"/>
                        </a:rPr>
                        <a:t>Live availability</a:t>
                      </a:r>
                    </a:p>
                  </a:txBody>
                  <a:tcPr marL="0" marR="76200" marT="47625" marB="47625" anchor="ctr">
                    <a:lnL w="0">
                      <a:solidFill>
                        <a:srgbClr val="FBF9F4"/>
                      </a:solidFill>
                    </a:lnL>
                    <a:lnR w="0">
                      <a:solidFill>
                        <a:srgbClr val="FBF9F4"/>
                      </a:solidFill>
                    </a:lnR>
                    <a:lnT w="0">
                      <a:solidFill>
                        <a:srgbClr val="FBF9F4"/>
                      </a:solidFill>
                    </a:lnT>
                    <a:lnB w="0">
                      <a:solidFill>
                        <a:srgbClr val="FBF9F4"/>
                      </a:solidFill>
                    </a:lnB>
                    <a:solidFill>
                      <a:srgbClr val="FBF9F4"/>
                    </a:solidFill>
                  </a:tcPr>
                </a:tc>
                <a:tc>
                  <a:txBody>
                    <a:bodyPr wrap="square">
                      <a:noAutofit/>
                    </a:bodyPr>
                    <a:lstStyle/>
                    <a:p>
                      <a:pPr algn="l"/>
                      <a:r>
                        <a:rPr sz="2250" b="1">
                          <a:solidFill>
                            <a:srgbClr val="9D514B"/>
                          </a:solidFill>
                          <a:latin typeface="Helvetica Neue"/>
                          <a:ea typeface="Helvetica Neue"/>
                          <a:cs typeface="Helvetica Neue"/>
                        </a:rPr>
                        <a:t>Booking &amp; payments</a:t>
                      </a:r>
                    </a:p>
                  </a:txBody>
                  <a:tcPr marL="0" marR="76200" marT="47625" marB="47625" anchor="ctr">
                    <a:lnL w="0">
                      <a:solidFill>
                        <a:srgbClr val="FBF9F4"/>
                      </a:solidFill>
                    </a:lnL>
                    <a:lnR w="0">
                      <a:solidFill>
                        <a:srgbClr val="FBF9F4"/>
                      </a:solidFill>
                    </a:lnR>
                    <a:lnT w="0">
                      <a:solidFill>
                        <a:srgbClr val="FBF9F4"/>
                      </a:solidFill>
                    </a:lnT>
                    <a:lnB w="0">
                      <a:solidFill>
                        <a:srgbClr val="FBF9F4"/>
                      </a:solidFill>
                    </a:lnB>
                    <a:solidFill>
                      <a:srgbClr val="FBF9F4"/>
                    </a:solidFill>
                  </a:tcPr>
                </a:tc>
              </a:tr>
            </a:tbl>
          </a:graphicData>
        </a:graphic>
      </p:graphicFrame>
      <p:sp>
        <p:nvSpPr>
          <p:cNvPr id="6" name="market-opening-3">
            <a:extLst xmlns:a="http://schemas.openxmlformats.org/drawingml/2006/main">
              <a:ext uri="{FF2B5EF4-FFF2-40B4-BE49-F238E27FC236}">
                <a16:creationId xmlns:a16="http://schemas.microsoft.com/office/drawing/2014/main" id="{3B08A0F3-9666-48BF-A506-4B1724AAC9BA}"/>
              </a:ext>
            </a:extLst>
          </p:cNvPr>
          <p:cNvSpPr>
            <a:spLocks xmlns:a="http://schemas.openxmlformats.org/drawingml/2006/main" noGrp="1"/>
          </p:cNvSpPr>
          <p:nvPr/>
        </p:nvSpPr>
        <p:spPr>
          <a:xfrm xmlns:a="http://schemas.openxmlformats.org/drawingml/2006/main">
            <a:off x="495300" y="606742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93C32"/>
                </a:solidFill>
                <a:latin typeface="Helvetica Neue"/>
                <a:ea typeface="Helvetica Neue"/>
                <a:cs typeface="Helvetica Neue"/>
              </a:defRPr>
            </a:defPPr>
          </a:lstStyle>
          <a:p xmlns:a="http://schemas.openxmlformats.org/drawingml/2006/main">
            <a:pPr>
              <a:defRPr sz="2100" b="0">
                <a:solidFill>
                  <a:srgbClr val="193C32"/>
                </a:solidFill>
                <a:latin typeface="Helvetica Neue"/>
                <a:ea typeface="Helvetica Neue"/>
                <a:cs typeface="Helvetica Neue"/>
              </a:defRPr>
            </a:pPr>
            <a:r>
              <a:rPr sz="2100" b="0">
                <a:solidFill>
                  <a:srgbClr val="193C32"/>
                </a:solidFill>
                <a:latin typeface="Helvetica Neue"/>
                <a:ea typeface="Helvetica Neue"/>
                <a:cs typeface="Helvetica Neue"/>
              </a:rPr>
              <a:t>Agents need structured business data and a reliable way to transact.</a:t>
            </a:r>
          </a:p>
        </p:txBody>
      </p:sp>
      <p:sp>
        <p:nvSpPr>
          <p:cNvPr id="7" name="market-opening-4">
            <a:extLst xmlns:a="http://schemas.openxmlformats.org/drawingml/2006/main">
              <a:ext uri="{FF2B5EF4-FFF2-40B4-BE49-F238E27FC236}">
                <a16:creationId xmlns:a16="http://schemas.microsoft.com/office/drawing/2014/main" id="{91AC0AE3-612C-423C-8534-D2BC48966A1C}"/>
              </a:ext>
            </a:extLst>
          </p:cNvPr>
          <p:cNvSpPr>
            <a:spLocks xmlns:a="http://schemas.openxmlformats.org/drawingml/2006/main" noGrp="1"/>
          </p:cNvSpPr>
          <p:nvPr/>
        </p:nvSpPr>
        <p:spPr>
          <a:xfrm xmlns:a="http://schemas.openxmlformats.org/drawingml/2006/main">
            <a:off x="495300" y="6581775"/>
            <a:ext cx="1043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00" b="0">
                <a:solidFill>
                  <a:srgbClr val="65746C"/>
                </a:solidFill>
                <a:latin typeface="Helvetica Neue"/>
                <a:ea typeface="Helvetica Neue"/>
                <a:cs typeface="Helvetica Neue"/>
              </a:defRPr>
            </a:defPPr>
          </a:lstStyle>
          <a:p xmlns:a="http://schemas.openxmlformats.org/drawingml/2006/main">
            <a:pPr>
              <a:defRPr sz="1200" b="0">
                <a:solidFill>
                  <a:srgbClr val="65746C"/>
                </a:solidFill>
                <a:latin typeface="Helvetica Neue"/>
                <a:ea typeface="Helvetica Neue"/>
                <a:cs typeface="Helvetica Neue"/>
              </a:defRPr>
            </a:pPr>
            <a:r>
              <a:rPr sz="1200" b="0">
                <a:solidFill>
                  <a:srgbClr val="65746C"/>
                </a:solidFill>
                <a:latin typeface="Helvetica Neue"/>
                <a:ea typeface="Helvetica Neue"/>
                <a:cs typeface="Helvetica Neue"/>
              </a:rPr>
              <a:t>Illustrative channel eras. These gaps persist across fragmented providers; some platforms already transact.</a:t>
            </a:r>
          </a:p>
        </p:txBody>
      </p:sp>
      <p:sp>
        <p:nvSpPr>
          <p:cNvPr id="8" name="market-opening-5">
            <a:extLst xmlns:a="http://schemas.openxmlformats.org/drawingml/2006/main">
              <a:ext uri="{FF2B5EF4-FFF2-40B4-BE49-F238E27FC236}">
                <a16:creationId xmlns:a16="http://schemas.microsoft.com/office/drawing/2014/main" id="{CD909D7B-2D25-4BC2-96D1-33AF00155174}"/>
              </a:ext>
            </a:extLst>
          </p:cNvPr>
          <p:cNvSpPr>
            <a:spLocks xmlns:a="http://schemas.openxmlformats.org/drawingml/2006/main" noGrp="1"/>
          </p:cNvSpPr>
          <p:nvPr/>
        </p:nvSpPr>
        <p:spPr>
          <a:xfrm xmlns:a="http://schemas.openxmlformats.org/drawingml/2006/main">
            <a:off x="11049000" y="6581775"/>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6">
            <a:extLst xmlns:a="http://schemas.openxmlformats.org/drawingml/2006/main">
              <a:ext uri="{FF2B5EF4-FFF2-40B4-BE49-F238E27FC236}">
                <a16:creationId xmlns:a16="http://schemas.microsoft.com/office/drawing/2014/main" id="{14D0AA0C-B632-4D00-ADB8-EE89FC9B3CE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WHY NOW</a:t>
            </a:r>
          </a:p>
        </p:txBody>
      </p:sp>
      <p:sp>
        <p:nvSpPr>
          <p:cNvPr id="2" name="text-7">
            <a:extLst xmlns:a="http://schemas.openxmlformats.org/drawingml/2006/main">
              <a:ext uri="{FF2B5EF4-FFF2-40B4-BE49-F238E27FC236}">
                <a16:creationId xmlns:a16="http://schemas.microsoft.com/office/drawing/2014/main" id="{348A0129-E7D1-4B51-BB7A-95C91244852F}"/>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Billions are backing personal agents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and a new way to find local services</a:t>
            </a:r>
          </a:p>
        </p:txBody>
      </p:sp>
      <p:sp>
        <p:nvSpPr>
          <p:cNvPr id="3" name="text-8">
            <a:extLst xmlns:a="http://schemas.openxmlformats.org/drawingml/2006/main">
              <a:ext uri="{FF2B5EF4-FFF2-40B4-BE49-F238E27FC236}">
                <a16:creationId xmlns:a16="http://schemas.microsoft.com/office/drawing/2014/main" id="{9105B53C-19A4-4FB5-9741-A407FBB09429}"/>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9">
            <a:extLst xmlns:a="http://schemas.openxmlformats.org/drawingml/2006/main">
              <a:ext uri="{FF2B5EF4-FFF2-40B4-BE49-F238E27FC236}">
                <a16:creationId xmlns:a16="http://schemas.microsoft.com/office/drawing/2014/main" id="{5E3A0F35-BA52-4B59-86E4-2A8556BAF552}"/>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2 / 6</a:t>
            </a:r>
          </a:p>
        </p:txBody>
      </p:sp>
      <p:sp>
        <p:nvSpPr>
          <p:cNvPr id="5" name="text-10">
            <a:extLst xmlns:a="http://schemas.openxmlformats.org/drawingml/2006/main">
              <a:ext uri="{FF2B5EF4-FFF2-40B4-BE49-F238E27FC236}">
                <a16:creationId xmlns:a16="http://schemas.microsoft.com/office/drawing/2014/main" id="{A18FBD5E-5478-4B7F-9DBA-C4BF149D0C34}"/>
              </a:ext>
            </a:extLst>
          </p:cNvPr>
          <p:cNvSpPr>
            <a:spLocks xmlns:a="http://schemas.openxmlformats.org/drawingml/2006/main" noGrp="1"/>
          </p:cNvSpPr>
          <p:nvPr/>
        </p:nvSpPr>
        <p:spPr>
          <a:xfrm xmlns:a="http://schemas.openxmlformats.org/drawingml/2006/main">
            <a:off x="457200" y="2085975"/>
            <a:ext cx="3333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300" b="1">
                <a:solidFill>
                  <a:srgbClr val="215C4E"/>
                </a:solidFill>
                <a:latin typeface="Helvetica Neue"/>
                <a:ea typeface="Helvetica Neue"/>
                <a:cs typeface="Helvetica Neue"/>
              </a:defRPr>
            </a:defPPr>
          </a:lstStyle>
          <a:p xmlns:a="http://schemas.openxmlformats.org/drawingml/2006/main">
            <a:pPr>
              <a:buNone/>
              <a:defRPr sz="6300" b="1">
                <a:solidFill>
                  <a:srgbClr val="215C4E"/>
                </a:solidFill>
                <a:latin typeface="Helvetica Neue"/>
                <a:ea typeface="Helvetica Neue"/>
                <a:cs typeface="Helvetica Neue"/>
              </a:defRPr>
            </a:pPr>
            <a:r>
              <a:rPr sz="6300" b="1">
                <a:solidFill>
                  <a:srgbClr val="215C4E"/>
                </a:solidFill>
                <a:latin typeface="Helvetica Neue"/>
                <a:ea typeface="Helvetica Neue"/>
                <a:cs typeface="Helvetica Neue"/>
              </a:rPr>
              <a:t>$2B+</a:t>
            </a:r>
          </a:p>
        </p:txBody>
      </p:sp>
      <p:sp>
        <p:nvSpPr>
          <p:cNvPr id="6" name="text-11">
            <a:extLst xmlns:a="http://schemas.openxmlformats.org/drawingml/2006/main">
              <a:ext uri="{FF2B5EF4-FFF2-40B4-BE49-F238E27FC236}">
                <a16:creationId xmlns:a16="http://schemas.microsoft.com/office/drawing/2014/main" id="{B558BE35-ADDA-4C37-9502-CF90A51736D5}"/>
              </a:ext>
            </a:extLst>
          </p:cNvPr>
          <p:cNvSpPr>
            <a:spLocks xmlns:a="http://schemas.openxmlformats.org/drawingml/2006/main" noGrp="1"/>
          </p:cNvSpPr>
          <p:nvPr/>
        </p:nvSpPr>
        <p:spPr>
          <a:xfrm xmlns:a="http://schemas.openxmlformats.org/drawingml/2006/main">
            <a:off x="457200" y="3076575"/>
            <a:ext cx="5429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8352F"/>
                </a:solidFill>
                <a:latin typeface="Helvetica Neue"/>
                <a:ea typeface="Helvetica Neue"/>
                <a:cs typeface="Helvetica Neue"/>
              </a:defRPr>
            </a:defPPr>
          </a:lstStyle>
          <a:p xmlns:a="http://schemas.openxmlformats.org/drawingml/2006/main">
            <a:pPr>
              <a:buNone/>
              <a:defRPr sz="2025" b="1">
                <a:solidFill>
                  <a:srgbClr val="18352F"/>
                </a:solidFill>
                <a:latin typeface="Helvetica Neue"/>
                <a:ea typeface="Helvetica Neue"/>
                <a:cs typeface="Helvetica Neue"/>
              </a:defRPr>
            </a:pPr>
            <a:r>
              <a:rPr sz="2025" b="1">
                <a:solidFill>
                  <a:srgbClr val="18352F"/>
                </a:solidFill>
                <a:latin typeface="Helvetica Neue"/>
                <a:ea typeface="Helvetica Neue"/>
                <a:cs typeface="Helvetica Neue"/>
              </a:rPr>
              <a:t>raised by three agent companies</a:t>
            </a:r>
          </a:p>
        </p:txBody>
      </p:sp>
      <p:sp>
        <p:nvSpPr>
          <p:cNvPr id="7" name="text-12">
            <a:extLst xmlns:a="http://schemas.openxmlformats.org/drawingml/2006/main">
              <a:ext uri="{FF2B5EF4-FFF2-40B4-BE49-F238E27FC236}">
                <a16:creationId xmlns:a16="http://schemas.microsoft.com/office/drawing/2014/main" id="{DFA1584B-1211-4D43-8C6F-CB6C410E96E2}"/>
              </a:ext>
            </a:extLst>
          </p:cNvPr>
          <p:cNvSpPr>
            <a:spLocks xmlns:a="http://schemas.openxmlformats.org/drawingml/2006/main" noGrp="1"/>
          </p:cNvSpPr>
          <p:nvPr/>
        </p:nvSpPr>
        <p:spPr>
          <a:xfrm xmlns:a="http://schemas.openxmlformats.org/drawingml/2006/main">
            <a:off x="457200" y="3552825"/>
            <a:ext cx="7191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606A67"/>
                </a:solidFill>
                <a:latin typeface="Helvetica Neue"/>
                <a:ea typeface="Helvetica Neue"/>
                <a:cs typeface="Helvetica Neue"/>
              </a:defRPr>
            </a:defPPr>
          </a:lstStyle>
          <a:p xmlns:a="http://schemas.openxmlformats.org/drawingml/2006/main">
            <a:pPr>
              <a:buNone/>
              <a:defRPr sz="1725" b="0">
                <a:solidFill>
                  <a:srgbClr val="606A67"/>
                </a:solidFill>
                <a:latin typeface="Helvetica Neue"/>
                <a:ea typeface="Helvetica Neue"/>
                <a:cs typeface="Helvetica Neue"/>
              </a:defRPr>
            </a:pPr>
            <a:r>
              <a:rPr sz="1725" b="0">
                <a:solidFill>
                  <a:srgbClr val="606A67"/>
                </a:solidFill>
                <a:latin typeface="Helvetica Neue"/>
                <a:ea typeface="Helvetica Neue"/>
                <a:cs typeface="Helvetica Neue"/>
              </a:rPr>
              <a:t>Hark: $700M+   |   Instinct: $1.35B   |   Town: $55M</a:t>
            </a:r>
          </a:p>
        </p:txBody>
      </p:sp>
      <p:sp>
        <p:nvSpPr>
          <p:cNvPr id="8" name="text-13">
            <a:extLst xmlns:a="http://schemas.openxmlformats.org/drawingml/2006/main">
              <a:ext uri="{FF2B5EF4-FFF2-40B4-BE49-F238E27FC236}">
                <a16:creationId xmlns:a16="http://schemas.microsoft.com/office/drawing/2014/main" id="{4E369D74-9B94-4847-A281-D2F9186B5B97}"/>
              </a:ext>
            </a:extLst>
          </p:cNvPr>
          <p:cNvSpPr>
            <a:spLocks xmlns:a="http://schemas.openxmlformats.org/drawingml/2006/main" noGrp="1"/>
          </p:cNvSpPr>
          <p:nvPr/>
        </p:nvSpPr>
        <p:spPr>
          <a:xfrm xmlns:a="http://schemas.openxmlformats.org/drawingml/2006/main">
            <a:off x="8477250" y="21526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650" b="1">
                <a:solidFill>
                  <a:srgbClr val="18352F"/>
                </a:solidFill>
                <a:latin typeface="Helvetica Neue"/>
                <a:ea typeface="Helvetica Neue"/>
                <a:cs typeface="Helvetica Neue"/>
              </a:defRPr>
            </a:defPPr>
          </a:lstStyle>
          <a:p xmlns:a="http://schemas.openxmlformats.org/drawingml/2006/main">
            <a:pPr>
              <a:buNone/>
              <a:defRPr sz="4650" b="1">
                <a:solidFill>
                  <a:srgbClr val="18352F"/>
                </a:solidFill>
                <a:latin typeface="Helvetica Neue"/>
                <a:ea typeface="Helvetica Neue"/>
                <a:cs typeface="Helvetica Neue"/>
              </a:defRPr>
            </a:pPr>
            <a:r>
              <a:rPr sz="4650" b="1">
                <a:solidFill>
                  <a:srgbClr val="18352F"/>
                </a:solidFill>
                <a:latin typeface="Helvetica Neue"/>
                <a:ea typeface="Helvetica Neue"/>
                <a:cs typeface="Helvetica Neue"/>
              </a:rPr>
              <a:t>$600B</a:t>
            </a:r>
          </a:p>
        </p:txBody>
      </p:sp>
      <p:sp>
        <p:nvSpPr>
          <p:cNvPr id="9" name="text-14">
            <a:extLst xmlns:a="http://schemas.openxmlformats.org/drawingml/2006/main">
              <a:ext uri="{FF2B5EF4-FFF2-40B4-BE49-F238E27FC236}">
                <a16:creationId xmlns:a16="http://schemas.microsoft.com/office/drawing/2014/main" id="{0EEA9413-D684-493A-82DD-99DF6C3CC1A7}"/>
              </a:ext>
            </a:extLst>
          </p:cNvPr>
          <p:cNvSpPr>
            <a:spLocks xmlns:a="http://schemas.openxmlformats.org/drawingml/2006/main" noGrp="1"/>
          </p:cNvSpPr>
          <p:nvPr/>
        </p:nvSpPr>
        <p:spPr>
          <a:xfrm xmlns:a="http://schemas.openxmlformats.org/drawingml/2006/main">
            <a:off x="8477250" y="29527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606A67"/>
                </a:solidFill>
                <a:latin typeface="Helvetica Neue"/>
                <a:ea typeface="Helvetica Neue"/>
                <a:cs typeface="Helvetica Neue"/>
              </a:defRPr>
            </a:defPPr>
          </a:lstStyle>
          <a:p xmlns:a="http://schemas.openxmlformats.org/drawingml/2006/main">
            <a:pPr>
              <a:buNone/>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home services within a</a:t>
            </a:r>
          </a:p>
          <a:p xmlns:a="http://schemas.openxmlformats.org/drawingml/2006/main">
            <a:pPr>
              <a:buNone/>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$2T local-services market</a:t>
            </a:r>
          </a:p>
        </p:txBody>
      </p:sp>
      <p:sp>
        <p:nvSpPr>
          <p:cNvPr id="10" name="text-15">
            <a:extLst xmlns:a="http://schemas.openxmlformats.org/drawingml/2006/main">
              <a:ext uri="{FF2B5EF4-FFF2-40B4-BE49-F238E27FC236}">
                <a16:creationId xmlns:a16="http://schemas.microsoft.com/office/drawing/2014/main" id="{538B1219-D07C-4EED-B3E0-269192A0EDE5}"/>
              </a:ext>
            </a:extLst>
          </p:cNvPr>
          <p:cNvSpPr>
            <a:spLocks xmlns:a="http://schemas.openxmlformats.org/drawingml/2006/main" noGrp="1"/>
          </p:cNvSpPr>
          <p:nvPr/>
        </p:nvSpPr>
        <p:spPr>
          <a:xfrm xmlns:a="http://schemas.openxmlformats.org/drawingml/2006/main">
            <a:off x="457200" y="4067175"/>
            <a:ext cx="1114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8352F"/>
                </a:solidFill>
                <a:latin typeface="Helvetica Neue"/>
                <a:ea typeface="Helvetica Neue"/>
                <a:cs typeface="Helvetica Neue"/>
              </a:defRPr>
            </a:defPPr>
          </a:lstStyle>
          <a:p xmlns:a="http://schemas.openxmlformats.org/drawingml/2006/main">
            <a:pPr>
              <a:buNone/>
              <a:defRPr sz="2100" b="1">
                <a:solidFill>
                  <a:srgbClr val="18352F"/>
                </a:solidFill>
                <a:latin typeface="Helvetica Neue"/>
                <a:ea typeface="Helvetica Neue"/>
                <a:cs typeface="Helvetica Neue"/>
              </a:defRPr>
            </a:pPr>
            <a:r>
              <a:rPr sz="2100" b="1">
                <a:solidFill>
                  <a:srgbClr val="18352F"/>
                </a:solidFill>
                <a:latin typeface="Helvetica Neue"/>
                <a:ea typeface="Helvetica Neue"/>
                <a:cs typeface="Helvetica Neue"/>
              </a:rPr>
              <a:t>Platforms are opening developer connector ecosystems</a:t>
            </a:r>
          </a:p>
        </p:txBody>
      </p:sp>
      <p:sp>
        <p:nvSpPr>
          <p:cNvPr id="11" name="diagram-16">
            <a:extLst xmlns:a="http://schemas.openxmlformats.org/drawingml/2006/main">
              <a:ext uri="{FF2B5EF4-FFF2-40B4-BE49-F238E27FC236}">
                <a16:creationId xmlns:a16="http://schemas.microsoft.com/office/drawing/2014/main" id="{7B023A1F-26B4-4733-97C5-F489DCF056BC}"/>
              </a:ext>
            </a:extLst>
          </p:cNvPr>
          <p:cNvSpPr>
            <a:spLocks xmlns:a="http://schemas.openxmlformats.org/drawingml/2006/main" noGrp="1"/>
          </p:cNvSpPr>
          <p:nvPr/>
        </p:nvSpPr>
        <p:spPr>
          <a:xfrm xmlns:a="http://schemas.openxmlformats.org/drawingml/2006/main">
            <a:off x="4572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OpenAI Dots</a:t>
            </a:r>
          </a:p>
        </p:txBody>
      </p:sp>
      <p:sp>
        <p:nvSpPr>
          <p:cNvPr id="12" name="diagram-17">
            <a:extLst xmlns:a="http://schemas.openxmlformats.org/drawingml/2006/main">
              <a:ext uri="{FF2B5EF4-FFF2-40B4-BE49-F238E27FC236}">
                <a16:creationId xmlns:a16="http://schemas.microsoft.com/office/drawing/2014/main" id="{3A5F788A-3CFA-4D71-AA37-549E1754C619}"/>
              </a:ext>
            </a:extLst>
          </p:cNvPr>
          <p:cNvSpPr>
            <a:spLocks xmlns:a="http://schemas.openxmlformats.org/drawingml/2006/main" noGrp="1"/>
          </p:cNvSpPr>
          <p:nvPr/>
        </p:nvSpPr>
        <p:spPr>
          <a:xfrm xmlns:a="http://schemas.openxmlformats.org/drawingml/2006/main">
            <a:off x="299085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Meta Muse</a:t>
            </a:r>
          </a:p>
        </p:txBody>
      </p:sp>
      <p:sp>
        <p:nvSpPr>
          <p:cNvPr id="13" name="diagram-18">
            <a:extLst xmlns:a="http://schemas.openxmlformats.org/drawingml/2006/main">
              <a:ext uri="{FF2B5EF4-FFF2-40B4-BE49-F238E27FC236}">
                <a16:creationId xmlns:a16="http://schemas.microsoft.com/office/drawing/2014/main" id="{3BD6DA60-E60B-41BD-A4D1-17835CAD502B}"/>
              </a:ext>
            </a:extLst>
          </p:cNvPr>
          <p:cNvSpPr>
            <a:spLocks xmlns:a="http://schemas.openxmlformats.org/drawingml/2006/main" noGrp="1"/>
          </p:cNvSpPr>
          <p:nvPr/>
        </p:nvSpPr>
        <p:spPr>
          <a:xfrm xmlns:a="http://schemas.openxmlformats.org/drawingml/2006/main">
            <a:off x="55245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Claude</a:t>
            </a:r>
          </a:p>
        </p:txBody>
      </p:sp>
      <p:sp>
        <p:nvSpPr>
          <p:cNvPr id="14" name="text-19">
            <a:extLst xmlns:a="http://schemas.openxmlformats.org/drawingml/2006/main">
              <a:ext uri="{FF2B5EF4-FFF2-40B4-BE49-F238E27FC236}">
                <a16:creationId xmlns:a16="http://schemas.microsoft.com/office/drawing/2014/main" id="{1CDB1950-F5C1-44B1-A393-F16BF5B0B9C8}"/>
              </a:ext>
            </a:extLst>
          </p:cNvPr>
          <p:cNvSpPr>
            <a:spLocks xmlns:a="http://schemas.openxmlformats.org/drawingml/2006/main" noGrp="1"/>
          </p:cNvSpPr>
          <p:nvPr/>
        </p:nvSpPr>
        <p:spPr>
          <a:xfrm xmlns:a="http://schemas.openxmlformats.org/drawingml/2006/main">
            <a:off x="8477250" y="4191000"/>
            <a:ext cx="31623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215C4E"/>
                </a:solidFill>
                <a:latin typeface="Helvetica Neue"/>
                <a:ea typeface="Helvetica Neue"/>
                <a:cs typeface="Helvetica Neue"/>
              </a:defRPr>
            </a:defPPr>
          </a:lstStyle>
          <a:p xmlns:a="http://schemas.openxmlformats.org/drawingml/2006/main">
            <a:pPr>
              <a:buNone/>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Providers use different</a:t>
            </a:r>
          </a:p>
          <a:p xmlns:a="http://schemas.openxmlformats.org/drawingml/2006/main">
            <a:pPr>
              <a:buNone/>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booking systems.</a:t>
            </a:r>
          </a:p>
        </p:txBody>
      </p:sp>
      <p:sp>
        <p:nvSpPr>
          <p:cNvPr id="15" name="text-20">
            <a:extLst xmlns:a="http://schemas.openxmlformats.org/drawingml/2006/main">
              <a:ext uri="{FF2B5EF4-FFF2-40B4-BE49-F238E27FC236}">
                <a16:creationId xmlns:a16="http://schemas.microsoft.com/office/drawing/2014/main" id="{0F2582B5-3E64-4B22-BB6D-0F2400C4945A}"/>
              </a:ext>
            </a:extLst>
          </p:cNvPr>
          <p:cNvSpPr>
            <a:spLocks xmlns:a="http://schemas.openxmlformats.org/drawingml/2006/main" noGrp="1"/>
          </p:cNvSpPr>
          <p:nvPr/>
        </p:nvSpPr>
        <p:spPr>
          <a:xfrm xmlns:a="http://schemas.openxmlformats.org/drawingml/2006/main">
            <a:off x="457200" y="5353050"/>
            <a:ext cx="11277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Uber and DoorDash make booking straightforward.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Local-service agents still cross websites, calls and business systems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get a quote, a slot and a confirmed booking.</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7D30AF05-D0B7-4970-94C2-D5ED87FFC4A0}"/>
              </a:ext>
            </a:extLst>
          </p:cNvPr>
          <p:cNvCxnSpPr>
            <a:stCxn xmlns:a="http://schemas.openxmlformats.org/drawingml/2006/main" id="19" idx="3"/>
            <a:endCxn xmlns:a="http://schemas.openxmlformats.org/drawingml/2006/main" id="22" idx="1"/>
          </p:cNvCxnSpPr>
          <p:nvPr/>
        </p:nvCxnSpPr>
        <p:spPr>
          <a:xfrm xmlns:a="http://schemas.openxmlformats.org/drawingml/2006/main">
            <a:off x="8877300" y="480060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30" name="">
            <a:extLst xmlns:a="http://schemas.openxmlformats.org/drawingml/2006/main">
              <a:ext uri="{FF2B5EF4-FFF2-40B4-BE49-F238E27FC236}">
                <a16:creationId xmlns:a16="http://schemas.microsoft.com/office/drawing/2014/main" id="{B536E53E-9F25-483B-A101-B283B8098C7A}"/>
              </a:ext>
            </a:extLst>
          </p:cNvPr>
          <p:cNvCxnSpPr>
            <a:stCxn xmlns:a="http://schemas.openxmlformats.org/drawingml/2006/main" id="13" idx="3"/>
            <a:endCxn xmlns:a="http://schemas.openxmlformats.org/drawingml/2006/main" id="19" idx="1"/>
          </p:cNvCxnSpPr>
          <p:nvPr/>
        </p:nvCxnSpPr>
        <p:spPr>
          <a:xfrm xmlns:a="http://schemas.openxmlformats.org/drawingml/2006/main">
            <a:off x="6134100" y="4057650"/>
            <a:ext cx="7048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9" name="">
            <a:extLst xmlns:a="http://schemas.openxmlformats.org/drawingml/2006/main">
              <a:ext uri="{FF2B5EF4-FFF2-40B4-BE49-F238E27FC236}">
                <a16:creationId xmlns:a16="http://schemas.microsoft.com/office/drawing/2014/main" id="{A67FDA46-244C-46B2-A72A-E7A2E48CB18E}"/>
              </a:ext>
            </a:extLst>
          </p:cNvPr>
          <p:cNvCxnSpPr>
            <a:stCxn xmlns:a="http://schemas.openxmlformats.org/drawingml/2006/main" id="12" idx="3"/>
            <a:endCxn xmlns:a="http://schemas.openxmlformats.org/drawingml/2006/main" id="13" idx="1"/>
          </p:cNvCxnSpPr>
          <p:nvPr/>
        </p:nvCxnSpPr>
        <p:spPr>
          <a:xfrm xmlns:a="http://schemas.openxmlformats.org/drawingml/2006/main" flipV="1">
            <a:off x="2209800" y="4057650"/>
            <a:ext cx="6667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8" name="">
            <a:extLst xmlns:a="http://schemas.openxmlformats.org/drawingml/2006/main">
              <a:ext uri="{FF2B5EF4-FFF2-40B4-BE49-F238E27FC236}">
                <a16:creationId xmlns:a16="http://schemas.microsoft.com/office/drawing/2014/main" id="{183E3659-B3FF-4B14-BDE3-6D50F13BC4D5}"/>
              </a:ext>
            </a:extLst>
          </p:cNvPr>
          <p:cNvCxnSpPr>
            <a:stCxn xmlns:a="http://schemas.openxmlformats.org/drawingml/2006/main" id="18" idx="3"/>
            <a:endCxn xmlns:a="http://schemas.openxmlformats.org/drawingml/2006/main" id="21" idx="1"/>
          </p:cNvCxnSpPr>
          <p:nvPr/>
        </p:nvCxnSpPr>
        <p:spPr>
          <a:xfrm xmlns:a="http://schemas.openxmlformats.org/drawingml/2006/main">
            <a:off x="8877300" y="4048125"/>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7" name="">
            <a:extLst xmlns:a="http://schemas.openxmlformats.org/drawingml/2006/main">
              <a:ext uri="{FF2B5EF4-FFF2-40B4-BE49-F238E27FC236}">
                <a16:creationId xmlns:a16="http://schemas.microsoft.com/office/drawing/2014/main" id="{AA39AFA8-9920-402B-93E3-ABF26C694A5F}"/>
              </a:ext>
            </a:extLst>
          </p:cNvPr>
          <p:cNvCxnSpPr>
            <a:stCxn xmlns:a="http://schemas.openxmlformats.org/drawingml/2006/main" id="13" idx="3"/>
            <a:endCxn xmlns:a="http://schemas.openxmlformats.org/drawingml/2006/main" id="18" idx="1"/>
          </p:cNvCxnSpPr>
          <p:nvPr/>
        </p:nvCxnSpPr>
        <p:spPr>
          <a:xfrm xmlns:a="http://schemas.openxmlformats.org/drawingml/2006/main" flipV="1">
            <a:off x="6134100" y="4048125"/>
            <a:ext cx="7048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6" name="">
            <a:extLst xmlns:a="http://schemas.openxmlformats.org/drawingml/2006/main">
              <a:ext uri="{FF2B5EF4-FFF2-40B4-BE49-F238E27FC236}">
                <a16:creationId xmlns:a16="http://schemas.microsoft.com/office/drawing/2014/main" id="{037BF33B-7608-4C2D-84C1-80B58C479757}"/>
              </a:ext>
            </a:extLst>
          </p:cNvPr>
          <p:cNvCxnSpPr>
            <a:stCxn xmlns:a="http://schemas.openxmlformats.org/drawingml/2006/main" id="11" idx="3"/>
            <a:endCxn xmlns:a="http://schemas.openxmlformats.org/drawingml/2006/main" id="13" idx="1"/>
          </p:cNvCxnSpPr>
          <p:nvPr/>
        </p:nvCxnSpPr>
        <p:spPr>
          <a:xfrm xmlns:a="http://schemas.openxmlformats.org/drawingml/2006/main">
            <a:off x="2209800" y="4048125"/>
            <a:ext cx="6667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5" name="">
            <a:extLst xmlns:a="http://schemas.openxmlformats.org/drawingml/2006/main">
              <a:ext uri="{FF2B5EF4-FFF2-40B4-BE49-F238E27FC236}">
                <a16:creationId xmlns:a16="http://schemas.microsoft.com/office/drawing/2014/main" id="{3FEB1D06-017E-4288-B777-13FCF843AFC1}"/>
              </a:ext>
            </a:extLst>
          </p:cNvPr>
          <p:cNvCxnSpPr>
            <a:stCxn xmlns:a="http://schemas.openxmlformats.org/drawingml/2006/main" id="17" idx="3"/>
            <a:endCxn xmlns:a="http://schemas.openxmlformats.org/drawingml/2006/main" id="20" idx="1"/>
          </p:cNvCxnSpPr>
          <p:nvPr/>
        </p:nvCxnSpPr>
        <p:spPr>
          <a:xfrm xmlns:a="http://schemas.openxmlformats.org/drawingml/2006/main">
            <a:off x="8877300" y="329565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4" name="">
            <a:extLst xmlns:a="http://schemas.openxmlformats.org/drawingml/2006/main">
              <a:ext uri="{FF2B5EF4-FFF2-40B4-BE49-F238E27FC236}">
                <a16:creationId xmlns:a16="http://schemas.microsoft.com/office/drawing/2014/main" id="{D3FB2C2C-2DCF-4FFD-B456-0C20973DEE84}"/>
              </a:ext>
            </a:extLst>
          </p:cNvPr>
          <p:cNvCxnSpPr>
            <a:stCxn xmlns:a="http://schemas.openxmlformats.org/drawingml/2006/main" id="13" idx="3"/>
            <a:endCxn xmlns:a="http://schemas.openxmlformats.org/drawingml/2006/main" id="17" idx="1"/>
          </p:cNvCxnSpPr>
          <p:nvPr/>
        </p:nvCxnSpPr>
        <p:spPr>
          <a:xfrm xmlns:a="http://schemas.openxmlformats.org/drawingml/2006/main" flipV="1">
            <a:off x="6134100" y="3295650"/>
            <a:ext cx="7048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3" name="">
            <a:extLst xmlns:a="http://schemas.openxmlformats.org/drawingml/2006/main">
              <a:ext uri="{FF2B5EF4-FFF2-40B4-BE49-F238E27FC236}">
                <a16:creationId xmlns:a16="http://schemas.microsoft.com/office/drawing/2014/main" id="{8507E413-33A2-4400-9A4E-DE788A7841EF}"/>
              </a:ext>
            </a:extLst>
          </p:cNvPr>
          <p:cNvCxnSpPr>
            <a:stCxn xmlns:a="http://schemas.openxmlformats.org/drawingml/2006/main" id="10" idx="3"/>
            <a:endCxn xmlns:a="http://schemas.openxmlformats.org/drawingml/2006/main" id="13" idx="1"/>
          </p:cNvCxnSpPr>
          <p:nvPr/>
        </p:nvCxnSpPr>
        <p:spPr>
          <a:xfrm xmlns:a="http://schemas.openxmlformats.org/drawingml/2006/main">
            <a:off x="2209800" y="3295650"/>
            <a:ext cx="6667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sp>
        <p:nvSpPr>
          <p:cNvPr id="35" name="text-21">
            <a:extLst xmlns:a="http://schemas.openxmlformats.org/drawingml/2006/main">
              <a:ext uri="{FF2B5EF4-FFF2-40B4-BE49-F238E27FC236}">
                <a16:creationId xmlns:a16="http://schemas.microsoft.com/office/drawing/2014/main" id="{FCA45427-51F2-4B8A-85F1-294F23D802F8}"/>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WE BUILD</a:t>
            </a:r>
          </a:p>
        </p:txBody>
      </p:sp>
      <p:sp>
        <p:nvSpPr>
          <p:cNvPr id="2" name="text-22">
            <a:extLst xmlns:a="http://schemas.openxmlformats.org/drawingml/2006/main">
              <a:ext uri="{FF2B5EF4-FFF2-40B4-BE49-F238E27FC236}">
                <a16:creationId xmlns:a16="http://schemas.microsoft.com/office/drawing/2014/main" id="{E027C6B1-D345-40DB-AC1C-1D4361DBE61E}"/>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One connection to compare and book</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participating local businesses</a:t>
            </a:r>
          </a:p>
        </p:txBody>
      </p:sp>
      <p:sp>
        <p:nvSpPr>
          <p:cNvPr id="3" name="text-23">
            <a:extLst xmlns:a="http://schemas.openxmlformats.org/drawingml/2006/main">
              <a:ext uri="{FF2B5EF4-FFF2-40B4-BE49-F238E27FC236}">
                <a16:creationId xmlns:a16="http://schemas.microsoft.com/office/drawing/2014/main" id="{A21A23D5-FFC2-4030-8472-1C73F3C22D72}"/>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24">
            <a:extLst xmlns:a="http://schemas.openxmlformats.org/drawingml/2006/main">
              <a:ext uri="{FF2B5EF4-FFF2-40B4-BE49-F238E27FC236}">
                <a16:creationId xmlns:a16="http://schemas.microsoft.com/office/drawing/2014/main" id="{BF2C07B8-BE22-4B64-B8CE-917637A639E0}"/>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3 / 6</a:t>
            </a:r>
          </a:p>
        </p:txBody>
      </p:sp>
      <p:sp>
        <p:nvSpPr>
          <p:cNvPr id="5" name="text-25">
            <a:extLst xmlns:a="http://schemas.openxmlformats.org/drawingml/2006/main">
              <a:ext uri="{FF2B5EF4-FFF2-40B4-BE49-F238E27FC236}">
                <a16:creationId xmlns:a16="http://schemas.microsoft.com/office/drawing/2014/main" id="{B3061C25-8171-40EC-8557-7C75B29FA120}"/>
              </a:ext>
            </a:extLst>
          </p:cNvPr>
          <p:cNvSpPr>
            <a:spLocks xmlns:a="http://schemas.openxmlformats.org/drawingml/2006/main" noGrp="1"/>
          </p:cNvSpPr>
          <p:nvPr/>
        </p:nvSpPr>
        <p:spPr>
          <a:xfrm xmlns:a="http://schemas.openxmlformats.org/drawingml/2006/main">
            <a:off x="457200" y="20002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06A67"/>
                </a:solidFill>
                <a:latin typeface="Helvetica Neue"/>
                <a:ea typeface="Helvetica Neue"/>
                <a:cs typeface="Helvetica Neue"/>
              </a:defRPr>
            </a:defPPr>
          </a:lstStyle>
          <a:p xmlns:a="http://schemas.openxmlformats.org/drawingml/2006/main">
            <a:pPr>
              <a:buNone/>
              <a:defRPr sz="2025" b="0">
                <a:solidFill>
                  <a:srgbClr val="606A67"/>
                </a:solidFill>
                <a:latin typeface="Helvetica Neue"/>
                <a:ea typeface="Helvetica Neue"/>
                <a:cs typeface="Helvetica Neue"/>
              </a:defRPr>
            </a:pPr>
            <a:r>
              <a:rPr sz="2025" b="0">
                <a:solidFill>
                  <a:srgbClr val="606A67"/>
                </a:solidFill>
                <a:latin typeface="Helvetica Neue"/>
                <a:ea typeface="Helvetica Neue"/>
                <a:cs typeface="Helvetica Neue"/>
              </a:rPr>
              <a:t>One authorized business connection serves every connected agent.</a:t>
            </a:r>
          </a:p>
        </p:txBody>
      </p:sp>
      <p:sp>
        <p:nvSpPr>
          <p:cNvPr id="6" name="text-26">
            <a:extLst xmlns:a="http://schemas.openxmlformats.org/drawingml/2006/main">
              <a:ext uri="{FF2B5EF4-FFF2-40B4-BE49-F238E27FC236}">
                <a16:creationId xmlns:a16="http://schemas.microsoft.com/office/drawing/2014/main" id="{BDFE633D-0792-4BBF-844B-6B8AEDB187C4}"/>
              </a:ext>
            </a:extLst>
          </p:cNvPr>
          <p:cNvSpPr>
            <a:spLocks xmlns:a="http://schemas.openxmlformats.org/drawingml/2006/main" noGrp="1"/>
          </p:cNvSpPr>
          <p:nvPr/>
        </p:nvSpPr>
        <p:spPr>
          <a:xfrm xmlns:a="http://schemas.openxmlformats.org/drawingml/2006/main">
            <a:off x="457200" y="2543175"/>
            <a:ext cx="190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Personal agents</a:t>
            </a:r>
          </a:p>
        </p:txBody>
      </p:sp>
      <p:sp>
        <p:nvSpPr>
          <p:cNvPr id="7" name="text-27">
            <a:extLst xmlns:a="http://schemas.openxmlformats.org/drawingml/2006/main">
              <a:ext uri="{FF2B5EF4-FFF2-40B4-BE49-F238E27FC236}">
                <a16:creationId xmlns:a16="http://schemas.microsoft.com/office/drawing/2014/main" id="{0F73421B-57EC-4B0B-B7E8-49181CDB5C8B}"/>
              </a:ext>
            </a:extLst>
          </p:cNvPr>
          <p:cNvSpPr>
            <a:spLocks xmlns:a="http://schemas.openxmlformats.org/drawingml/2006/main" noGrp="1"/>
          </p:cNvSpPr>
          <p:nvPr/>
        </p:nvSpPr>
        <p:spPr>
          <a:xfrm xmlns:a="http://schemas.openxmlformats.org/drawingml/2006/main">
            <a:off x="2857500" y="2543175"/>
            <a:ext cx="3257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Shared data + actions</a:t>
            </a:r>
          </a:p>
        </p:txBody>
      </p:sp>
      <p:sp>
        <p:nvSpPr>
          <p:cNvPr id="8" name="text-28">
            <a:extLst xmlns:a="http://schemas.openxmlformats.org/drawingml/2006/main">
              <a:ext uri="{FF2B5EF4-FFF2-40B4-BE49-F238E27FC236}">
                <a16:creationId xmlns:a16="http://schemas.microsoft.com/office/drawing/2014/main" id="{4693E4E7-7319-4FB0-9F81-4DB5A1B7E563}"/>
              </a:ext>
            </a:extLst>
          </p:cNvPr>
          <p:cNvSpPr>
            <a:spLocks xmlns:a="http://schemas.openxmlformats.org/drawingml/2006/main" noGrp="1"/>
          </p:cNvSpPr>
          <p:nvPr/>
        </p:nvSpPr>
        <p:spPr>
          <a:xfrm xmlns:a="http://schemas.openxmlformats.org/drawingml/2006/main">
            <a:off x="6819900" y="254317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Business software</a:t>
            </a:r>
          </a:p>
        </p:txBody>
      </p:sp>
      <p:sp>
        <p:nvSpPr>
          <p:cNvPr id="9" name="text-29">
            <a:extLst xmlns:a="http://schemas.openxmlformats.org/drawingml/2006/main">
              <a:ext uri="{FF2B5EF4-FFF2-40B4-BE49-F238E27FC236}">
                <a16:creationId xmlns:a16="http://schemas.microsoft.com/office/drawing/2014/main" id="{606ECEFB-2FAE-483B-915E-51C7E45DA3C6}"/>
              </a:ext>
            </a:extLst>
          </p:cNvPr>
          <p:cNvSpPr>
            <a:spLocks xmlns:a="http://schemas.openxmlformats.org/drawingml/2006/main" noGrp="1"/>
          </p:cNvSpPr>
          <p:nvPr/>
        </p:nvSpPr>
        <p:spPr>
          <a:xfrm xmlns:a="http://schemas.openxmlformats.org/drawingml/2006/main">
            <a:off x="9772650" y="2543175"/>
            <a:ext cx="1962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Local businesses</a:t>
            </a:r>
          </a:p>
        </p:txBody>
      </p:sp>
      <p:sp>
        <p:nvSpPr>
          <p:cNvPr id="10" name="diagram-30">
            <a:extLst xmlns:a="http://schemas.openxmlformats.org/drawingml/2006/main">
              <a:ext uri="{FF2B5EF4-FFF2-40B4-BE49-F238E27FC236}">
                <a16:creationId xmlns:a16="http://schemas.microsoft.com/office/drawing/2014/main" id="{330E262F-18B4-4C0A-BBF1-09E7E644C253}"/>
              </a:ext>
            </a:extLst>
          </p:cNvPr>
          <p:cNvSpPr>
            <a:spLocks xmlns:a="http://schemas.openxmlformats.org/drawingml/2006/main" noGrp="1"/>
          </p:cNvSpPr>
          <p:nvPr/>
        </p:nvSpPr>
        <p:spPr>
          <a:xfrm xmlns:a="http://schemas.openxmlformats.org/drawingml/2006/main">
            <a:off x="457200" y="303847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Instinct</a:t>
            </a:r>
          </a:p>
        </p:txBody>
      </p:sp>
      <p:sp>
        <p:nvSpPr>
          <p:cNvPr id="11" name="diagram-31">
            <a:extLst xmlns:a="http://schemas.openxmlformats.org/drawingml/2006/main">
              <a:ext uri="{FF2B5EF4-FFF2-40B4-BE49-F238E27FC236}">
                <a16:creationId xmlns:a16="http://schemas.microsoft.com/office/drawing/2014/main" id="{708D8C9E-3B8C-4D98-AD44-A1796D086838}"/>
              </a:ext>
            </a:extLst>
          </p:cNvPr>
          <p:cNvSpPr>
            <a:spLocks xmlns:a="http://schemas.openxmlformats.org/drawingml/2006/main" noGrp="1"/>
          </p:cNvSpPr>
          <p:nvPr/>
        </p:nvSpPr>
        <p:spPr>
          <a:xfrm xmlns:a="http://schemas.openxmlformats.org/drawingml/2006/main">
            <a:off x="457200" y="3790950"/>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Muse</a:t>
            </a:r>
          </a:p>
        </p:txBody>
      </p:sp>
      <p:sp>
        <p:nvSpPr>
          <p:cNvPr id="12" name="diagram-32">
            <a:extLst xmlns:a="http://schemas.openxmlformats.org/drawingml/2006/main">
              <a:ext uri="{FF2B5EF4-FFF2-40B4-BE49-F238E27FC236}">
                <a16:creationId xmlns:a16="http://schemas.microsoft.com/office/drawing/2014/main" id="{D60CC16D-5ED7-4308-99B5-5B8E32D6903D}"/>
              </a:ext>
            </a:extLst>
          </p:cNvPr>
          <p:cNvSpPr>
            <a:spLocks xmlns:a="http://schemas.openxmlformats.org/drawingml/2006/main" noGrp="1"/>
          </p:cNvSpPr>
          <p:nvPr/>
        </p:nvSpPr>
        <p:spPr>
          <a:xfrm xmlns:a="http://schemas.openxmlformats.org/drawingml/2006/main">
            <a:off x="457200" y="454342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agents</a:t>
            </a:r>
          </a:p>
        </p:txBody>
      </p:sp>
      <p:sp>
        <p:nvSpPr>
          <p:cNvPr id="13" name="diagram-33">
            <a:extLst xmlns:a="http://schemas.openxmlformats.org/drawingml/2006/main">
              <a:ext uri="{FF2B5EF4-FFF2-40B4-BE49-F238E27FC236}">
                <a16:creationId xmlns:a16="http://schemas.microsoft.com/office/drawing/2014/main" id="{B679B302-5900-45D5-A5B8-A0A27AC4DACC}"/>
              </a:ext>
            </a:extLst>
          </p:cNvPr>
          <p:cNvSpPr>
            <a:spLocks xmlns:a="http://schemas.openxmlformats.org/drawingml/2006/main" noGrp="1"/>
          </p:cNvSpPr>
          <p:nvPr/>
        </p:nvSpPr>
        <p:spPr>
          <a:xfrm xmlns:a="http://schemas.openxmlformats.org/drawingml/2006/main">
            <a:off x="2876550" y="2952750"/>
            <a:ext cx="3257550" cy="220980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1">
                <a:solidFill>
                  <a:srgbClr val="18352F"/>
                </a:solidFill>
                <a:latin typeface="Helvetica Neue"/>
                <a:ea typeface="Helvetica Neue"/>
                <a:cs typeface="Helvetica Neue"/>
              </a:defRPr>
            </a:defPPr>
          </a:lstStyle>
          <a:p xmlns:a="http://schemas.openxmlformats.org/drawingml/2006/main">
            <a:r>
              <a:t/>
            </a:r>
          </a:p>
        </p:txBody>
      </p:sp>
      <p:sp>
        <p:nvSpPr>
          <p:cNvPr id="14" name="text-34">
            <a:extLst xmlns:a="http://schemas.openxmlformats.org/drawingml/2006/main">
              <a:ext uri="{FF2B5EF4-FFF2-40B4-BE49-F238E27FC236}">
                <a16:creationId xmlns:a16="http://schemas.microsoft.com/office/drawing/2014/main" id="{DD9A4A32-E7E5-4128-8BAF-66FB2FAAF999}"/>
              </a:ext>
            </a:extLst>
          </p:cNvPr>
          <p:cNvSpPr>
            <a:spLocks xmlns:a="http://schemas.openxmlformats.org/drawingml/2006/main" noGrp="1"/>
          </p:cNvSpPr>
          <p:nvPr/>
        </p:nvSpPr>
        <p:spPr>
          <a:xfrm xmlns:a="http://schemas.openxmlformats.org/drawingml/2006/main">
            <a:off x="3067050" y="3095625"/>
            <a:ext cx="2876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rgbClr val="215C4E"/>
                </a:solidFill>
                <a:latin typeface="Helvetica Neue"/>
                <a:ea typeface="Helvetica Neue"/>
                <a:cs typeface="Helvetica Neue"/>
              </a:defRPr>
            </a:defPPr>
          </a:lstStyle>
          <a:p xmlns:a="http://schemas.openxmlformats.org/drawingml/2006/main">
            <a:pPr>
              <a:buNone/>
              <a:defRPr sz="2550" b="1">
                <a:solidFill>
                  <a:srgbClr val="215C4E"/>
                </a:solidFill>
                <a:latin typeface="Helvetica Neue"/>
                <a:ea typeface="Helvetica Neue"/>
                <a:cs typeface="Helvetica Neue"/>
              </a:defRPr>
            </a:pPr>
            <a:r>
              <a:rPr sz="2550" b="1">
                <a:solidFill>
                  <a:srgbClr val="215C4E"/>
                </a:solidFill>
                <a:latin typeface="Helvetica Neue"/>
                <a:ea typeface="Helvetica Neue"/>
                <a:cs typeface="Helvetica Neue"/>
              </a:rPr>
              <a:t>GoLocal</a:t>
            </a:r>
          </a:p>
        </p:txBody>
      </p:sp>
      <p:sp>
        <p:nvSpPr>
          <p:cNvPr id="15" name="text-35">
            <a:extLst xmlns:a="http://schemas.openxmlformats.org/drawingml/2006/main">
              <a:ext uri="{FF2B5EF4-FFF2-40B4-BE49-F238E27FC236}">
                <a16:creationId xmlns:a16="http://schemas.microsoft.com/office/drawing/2014/main" id="{72C099F3-BD98-4E20-87EA-C1DC9EE1AF18}"/>
              </a:ext>
            </a:extLst>
          </p:cNvPr>
          <p:cNvSpPr>
            <a:spLocks xmlns:a="http://schemas.openxmlformats.org/drawingml/2006/main" noGrp="1"/>
          </p:cNvSpPr>
          <p:nvPr/>
        </p:nvSpPr>
        <p:spPr>
          <a:xfrm xmlns:a="http://schemas.openxmlformats.org/drawingml/2006/main">
            <a:off x="3067050" y="3657600"/>
            <a:ext cx="28765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8352F"/>
                </a:solidFill>
                <a:latin typeface="Helvetica Neue"/>
                <a:ea typeface="Helvetica Neue"/>
                <a:cs typeface="Helvetica Neue"/>
              </a:defRPr>
            </a:defPPr>
          </a:lstStyle>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Services &amp; service areas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Prices / quote requirements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Slots &amp; permitted job history</a:t>
            </a:r>
          </a:p>
        </p:txBody>
      </p:sp>
      <p:sp>
        <p:nvSpPr>
          <p:cNvPr id="16" name="text-36">
            <a:extLst xmlns:a="http://schemas.openxmlformats.org/drawingml/2006/main">
              <a:ext uri="{FF2B5EF4-FFF2-40B4-BE49-F238E27FC236}">
                <a16:creationId xmlns:a16="http://schemas.microsoft.com/office/drawing/2014/main" id="{F5F102F3-5926-400F-8BCA-B20407706580}"/>
              </a:ext>
            </a:extLst>
          </p:cNvPr>
          <p:cNvSpPr>
            <a:spLocks xmlns:a="http://schemas.openxmlformats.org/drawingml/2006/main" noGrp="1"/>
          </p:cNvSpPr>
          <p:nvPr/>
        </p:nvSpPr>
        <p:spPr>
          <a:xfrm xmlns:a="http://schemas.openxmlformats.org/drawingml/2006/main">
            <a:off x="3067050" y="4772025"/>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215C4E"/>
                </a:solidFill>
                <a:latin typeface="Helvetica Neue"/>
                <a:ea typeface="Helvetica Neue"/>
                <a:cs typeface="Helvetica Neue"/>
              </a:defRPr>
            </a:defPPr>
          </a:lstStyle>
          <a:p xmlns:a="http://schemas.openxmlformats.org/drawingml/2006/main">
            <a:pPr>
              <a:buNone/>
              <a:defRPr sz="1650" b="1">
                <a:solidFill>
                  <a:srgbClr val="215C4E"/>
                </a:solidFill>
                <a:latin typeface="Helvetica Neue"/>
                <a:ea typeface="Helvetica Neue"/>
                <a:cs typeface="Helvetica Neue"/>
              </a:defRPr>
            </a:pPr>
            <a:r>
              <a:rPr sz="1650" b="1">
                <a:solidFill>
                  <a:srgbClr val="215C4E"/>
                </a:solidFill>
                <a:latin typeface="Helvetica Neue"/>
                <a:ea typeface="Helvetica Neue"/>
                <a:cs typeface="Helvetica Neue"/>
              </a:rPr>
              <a:t>Quote • book • pay • manage</a:t>
            </a:r>
          </a:p>
        </p:txBody>
      </p:sp>
      <p:sp>
        <p:nvSpPr>
          <p:cNvPr id="17" name="diagram-37">
            <a:extLst xmlns:a="http://schemas.openxmlformats.org/drawingml/2006/main">
              <a:ext uri="{FF2B5EF4-FFF2-40B4-BE49-F238E27FC236}">
                <a16:creationId xmlns:a16="http://schemas.microsoft.com/office/drawing/2014/main" id="{0B8CA6E2-D0C9-4CE0-B8AF-C0AC4732D3E7}"/>
              </a:ext>
            </a:extLst>
          </p:cNvPr>
          <p:cNvSpPr>
            <a:spLocks xmlns:a="http://schemas.openxmlformats.org/drawingml/2006/main" noGrp="1"/>
          </p:cNvSpPr>
          <p:nvPr/>
        </p:nvSpPr>
        <p:spPr>
          <a:xfrm xmlns:a="http://schemas.openxmlformats.org/drawingml/2006/main">
            <a:off x="6838950" y="303847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A</a:t>
            </a:r>
          </a:p>
        </p:txBody>
      </p:sp>
      <p:sp>
        <p:nvSpPr>
          <p:cNvPr id="18" name="diagram-38">
            <a:extLst xmlns:a="http://schemas.openxmlformats.org/drawingml/2006/main">
              <a:ext uri="{FF2B5EF4-FFF2-40B4-BE49-F238E27FC236}">
                <a16:creationId xmlns:a16="http://schemas.microsoft.com/office/drawing/2014/main" id="{EAA4E67B-CAE5-4DD4-929C-C38232F50687}"/>
              </a:ext>
            </a:extLst>
          </p:cNvPr>
          <p:cNvSpPr>
            <a:spLocks xmlns:a="http://schemas.openxmlformats.org/drawingml/2006/main" noGrp="1"/>
          </p:cNvSpPr>
          <p:nvPr/>
        </p:nvSpPr>
        <p:spPr>
          <a:xfrm xmlns:a="http://schemas.openxmlformats.org/drawingml/2006/main">
            <a:off x="6838950" y="3790950"/>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B</a:t>
            </a:r>
          </a:p>
        </p:txBody>
      </p:sp>
      <p:sp>
        <p:nvSpPr>
          <p:cNvPr id="19" name="diagram-39">
            <a:extLst xmlns:a="http://schemas.openxmlformats.org/drawingml/2006/main">
              <a:ext uri="{FF2B5EF4-FFF2-40B4-BE49-F238E27FC236}">
                <a16:creationId xmlns:a16="http://schemas.microsoft.com/office/drawing/2014/main" id="{67DE8F79-33EE-418D-9798-0290F5F7789D}"/>
              </a:ext>
            </a:extLst>
          </p:cNvPr>
          <p:cNvSpPr>
            <a:spLocks xmlns:a="http://schemas.openxmlformats.org/drawingml/2006/main" noGrp="1"/>
          </p:cNvSpPr>
          <p:nvPr/>
        </p:nvSpPr>
        <p:spPr>
          <a:xfrm xmlns:a="http://schemas.openxmlformats.org/drawingml/2006/main">
            <a:off x="6838950" y="454342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software</a:t>
            </a:r>
          </a:p>
        </p:txBody>
      </p:sp>
      <p:sp>
        <p:nvSpPr>
          <p:cNvPr id="20" name="diagram-40">
            <a:extLst xmlns:a="http://schemas.openxmlformats.org/drawingml/2006/main">
              <a:ext uri="{FF2B5EF4-FFF2-40B4-BE49-F238E27FC236}">
                <a16:creationId xmlns:a16="http://schemas.microsoft.com/office/drawing/2014/main" id="{BE51CEC0-E858-4618-B90B-AEC7AE5A18A0}"/>
              </a:ext>
            </a:extLst>
          </p:cNvPr>
          <p:cNvSpPr>
            <a:spLocks xmlns:a="http://schemas.openxmlformats.org/drawingml/2006/main" noGrp="1"/>
          </p:cNvSpPr>
          <p:nvPr/>
        </p:nvSpPr>
        <p:spPr>
          <a:xfrm xmlns:a="http://schemas.openxmlformats.org/drawingml/2006/main">
            <a:off x="9791700" y="303847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Trade shops</a:t>
            </a:r>
          </a:p>
        </p:txBody>
      </p:sp>
      <p:sp>
        <p:nvSpPr>
          <p:cNvPr id="21" name="diagram-41">
            <a:extLst xmlns:a="http://schemas.openxmlformats.org/drawingml/2006/main">
              <a:ext uri="{FF2B5EF4-FFF2-40B4-BE49-F238E27FC236}">
                <a16:creationId xmlns:a16="http://schemas.microsoft.com/office/drawing/2014/main" id="{141F0901-74FC-449F-AC14-A2BCB006C308}"/>
              </a:ext>
            </a:extLst>
          </p:cNvPr>
          <p:cNvSpPr>
            <a:spLocks xmlns:a="http://schemas.openxmlformats.org/drawingml/2006/main" noGrp="1"/>
          </p:cNvSpPr>
          <p:nvPr/>
        </p:nvSpPr>
        <p:spPr>
          <a:xfrm xmlns:a="http://schemas.openxmlformats.org/drawingml/2006/main">
            <a:off x="9791700" y="3790950"/>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Home services</a:t>
            </a:r>
          </a:p>
        </p:txBody>
      </p:sp>
      <p:sp>
        <p:nvSpPr>
          <p:cNvPr id="22" name="diagram-42">
            <a:extLst xmlns:a="http://schemas.openxmlformats.org/drawingml/2006/main">
              <a:ext uri="{FF2B5EF4-FFF2-40B4-BE49-F238E27FC236}">
                <a16:creationId xmlns:a16="http://schemas.microsoft.com/office/drawing/2014/main" id="{2B5183FC-C2A6-4179-9266-CBE98B10AD72}"/>
              </a:ext>
            </a:extLst>
          </p:cNvPr>
          <p:cNvSpPr>
            <a:spLocks xmlns:a="http://schemas.openxmlformats.org/drawingml/2006/main" noGrp="1"/>
          </p:cNvSpPr>
          <p:nvPr/>
        </p:nvSpPr>
        <p:spPr>
          <a:xfrm xmlns:a="http://schemas.openxmlformats.org/drawingml/2006/main">
            <a:off x="9791700" y="454342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providers</a:t>
            </a:r>
          </a:p>
        </p:txBody>
      </p:sp>
      <p:sp>
        <p:nvSpPr>
          <p:cNvPr id="32" name="text-43">
            <a:extLst xmlns:a="http://schemas.openxmlformats.org/drawingml/2006/main">
              <a:ext uri="{FF2B5EF4-FFF2-40B4-BE49-F238E27FC236}">
                <a16:creationId xmlns:a16="http://schemas.microsoft.com/office/drawing/2014/main" id="{2E20CFA4-F21E-49BB-BC25-59DAA09A2349}"/>
              </a:ext>
            </a:extLst>
          </p:cNvPr>
          <p:cNvSpPr>
            <a:spLocks xmlns:a="http://schemas.openxmlformats.org/drawingml/2006/main" noGrp="1"/>
          </p:cNvSpPr>
          <p:nvPr/>
        </p:nvSpPr>
        <p:spPr>
          <a:xfrm xmlns:a="http://schemas.openxmlformats.org/drawingml/2006/main">
            <a:off x="457200" y="5391150"/>
            <a:ext cx="542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606A67"/>
                </a:solidFill>
                <a:latin typeface="Helvetica Neue"/>
                <a:ea typeface="Helvetica Neue"/>
                <a:cs typeface="Helvetica Neue"/>
              </a:defRPr>
            </a:defPPr>
          </a:lstStyle>
          <a:p xmlns:a="http://schemas.openxmlformats.org/drawingml/2006/main">
            <a:pPr>
              <a:buNone/>
              <a:defRPr sz="1875" b="1">
                <a:solidFill>
                  <a:srgbClr val="606A67"/>
                </a:solidFill>
                <a:latin typeface="Helvetica Neue"/>
                <a:ea typeface="Helvetica Neue"/>
                <a:cs typeface="Helvetica Neue"/>
              </a:defRPr>
            </a:pPr>
            <a:r>
              <a:rPr sz="1875" b="1">
                <a:solidFill>
                  <a:srgbClr val="606A67"/>
                </a:solidFill>
                <a:latin typeface="Helvetica Neue"/>
                <a:ea typeface="Helvetica Neue"/>
                <a:cs typeface="Helvetica Neue"/>
              </a:rPr>
              <a:t>Calls: ask providers one at a time</a:t>
            </a:r>
          </a:p>
        </p:txBody>
      </p:sp>
      <p:sp>
        <p:nvSpPr>
          <p:cNvPr id="33" name="text-44">
            <a:extLst xmlns:a="http://schemas.openxmlformats.org/drawingml/2006/main">
              <a:ext uri="{FF2B5EF4-FFF2-40B4-BE49-F238E27FC236}">
                <a16:creationId xmlns:a16="http://schemas.microsoft.com/office/drawing/2014/main" id="{9A4A90DF-C4B6-4A32-8F29-D51114AB27B4}"/>
              </a:ext>
            </a:extLst>
          </p:cNvPr>
          <p:cNvSpPr>
            <a:spLocks xmlns:a="http://schemas.openxmlformats.org/drawingml/2006/main" noGrp="1"/>
          </p:cNvSpPr>
          <p:nvPr/>
        </p:nvSpPr>
        <p:spPr>
          <a:xfrm xmlns:a="http://schemas.openxmlformats.org/drawingml/2006/main">
            <a:off x="6229350" y="5391150"/>
            <a:ext cx="550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215C4E"/>
                </a:solidFill>
                <a:latin typeface="Helvetica Neue"/>
                <a:ea typeface="Helvetica Neue"/>
                <a:cs typeface="Helvetica Neue"/>
              </a:defRPr>
            </a:defPPr>
          </a:lstStyle>
          <a:p xmlns:a="http://schemas.openxmlformats.org/drawingml/2006/main">
            <a:pPr>
              <a:buNone/>
              <a:defRPr sz="1875" b="1">
                <a:solidFill>
                  <a:srgbClr val="215C4E"/>
                </a:solidFill>
                <a:latin typeface="Helvetica Neue"/>
                <a:ea typeface="Helvetica Neue"/>
                <a:cs typeface="Helvetica Neue"/>
              </a:defRPr>
            </a:pPr>
            <a:r>
              <a:rPr sz="1875" b="1">
                <a:solidFill>
                  <a:srgbClr val="215C4E"/>
                </a:solidFill>
                <a:latin typeface="Helvetica Neue"/>
                <a:ea typeface="Helvetica Neue"/>
                <a:cs typeface="Helvetica Neue"/>
              </a:rPr>
              <a:t>GoLocal: query connected supply at once</a:t>
            </a:r>
          </a:p>
        </p:txBody>
      </p:sp>
      <p:sp>
        <p:nvSpPr>
          <p:cNvPr id="34" name="text-45">
            <a:extLst xmlns:a="http://schemas.openxmlformats.org/drawingml/2006/main">
              <a:ext uri="{FF2B5EF4-FFF2-40B4-BE49-F238E27FC236}">
                <a16:creationId xmlns:a16="http://schemas.microsoft.com/office/drawing/2014/main" id="{C216ED9D-83DC-4BC9-A112-A127BD943AAF}"/>
              </a:ext>
            </a:extLst>
          </p:cNvPr>
          <p:cNvSpPr>
            <a:spLocks xmlns:a="http://schemas.openxmlformats.org/drawingml/2006/main" noGrp="1"/>
          </p:cNvSpPr>
          <p:nvPr/>
        </p:nvSpPr>
        <p:spPr>
          <a:xfrm xmlns:a="http://schemas.openxmlformats.org/drawingml/2006/main">
            <a:off x="457200" y="59055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06A67"/>
                </a:solidFill>
                <a:latin typeface="Helvetica Neue"/>
                <a:ea typeface="Helvetica Neue"/>
                <a:cs typeface="Helvetica Neue"/>
              </a:defRPr>
            </a:defPPr>
          </a:lstStyle>
          <a:p xmlns:a="http://schemas.openxmlformats.org/drawingml/2006/main">
            <a:pPr>
              <a:buNone/>
              <a:defRPr sz="1350" b="0">
                <a:solidFill>
                  <a:srgbClr val="606A67"/>
                </a:solidFill>
                <a:latin typeface="Helvetica Neue"/>
                <a:ea typeface="Helvetica Neue"/>
                <a:cs typeface="Helvetica Neue"/>
              </a:defRPr>
            </a:pPr>
            <a:r>
              <a:rPr sz="1350" b="0">
                <a:solidFill>
                  <a:srgbClr val="606A67"/>
                </a:solidFill>
                <a:latin typeface="Helvetica Neue"/>
                <a:ea typeface="Helvetica Neue"/>
                <a:cs typeface="Helvetica Neue"/>
              </a:rPr>
              <a:t>Illustrative lookup target: ~15 minutes → under 5 seconds. Not measured; excludes scoping and booking.</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59B38662-4120-4B78-BC0C-F2535103966C}"/>
              </a:ext>
            </a:extLst>
          </p:cNvPr>
          <p:cNvCxnSpPr>
            <a:stCxn xmlns:a="http://schemas.openxmlformats.org/drawingml/2006/main" id="11" idx="3"/>
            <a:endCxn xmlns:a="http://schemas.openxmlformats.org/drawingml/2006/main" id="12" idx="1"/>
          </p:cNvCxnSpPr>
          <p:nvPr/>
        </p:nvCxnSpPr>
        <p:spPr>
          <a:xfrm xmlns:a="http://schemas.openxmlformats.org/drawingml/2006/main">
            <a:off x="75628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71F83371-4303-49F7-AFB6-31C41C6745B9}"/>
              </a:ext>
            </a:extLst>
          </p:cNvPr>
          <p:cNvCxnSpPr>
            <a:stCxn xmlns:a="http://schemas.openxmlformats.org/drawingml/2006/main" id="10" idx="3"/>
            <a:endCxn xmlns:a="http://schemas.openxmlformats.org/drawingml/2006/main" id="11" idx="1"/>
          </p:cNvCxnSpPr>
          <p:nvPr/>
        </p:nvCxnSpPr>
        <p:spPr>
          <a:xfrm xmlns:a="http://schemas.openxmlformats.org/drawingml/2006/main">
            <a:off x="34099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6" name="text-46">
            <a:extLst xmlns:a="http://schemas.openxmlformats.org/drawingml/2006/main">
              <a:ext uri="{FF2B5EF4-FFF2-40B4-BE49-F238E27FC236}">
                <a16:creationId xmlns:a16="http://schemas.microsoft.com/office/drawing/2014/main" id="{FAF97EA1-5185-4FAD-A815-F8BCA7E21FB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BUSINESS MODEL AND DISTRIBUTION</a:t>
            </a:r>
          </a:p>
        </p:txBody>
      </p:sp>
      <p:sp>
        <p:nvSpPr>
          <p:cNvPr id="2" name="text-47">
            <a:extLst xmlns:a="http://schemas.openxmlformats.org/drawingml/2006/main">
              <a:ext uri="{FF2B5EF4-FFF2-40B4-BE49-F238E27FC236}">
                <a16:creationId xmlns:a16="http://schemas.microsoft.com/office/drawing/2014/main" id="{986E807D-E8C9-46A3-BD96-DA7C069F93FC}"/>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GoLocal earns when a new customer’s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booking becomes a fulfilled job</a:t>
            </a:r>
          </a:p>
        </p:txBody>
      </p:sp>
      <p:sp>
        <p:nvSpPr>
          <p:cNvPr id="3" name="text-48">
            <a:extLst xmlns:a="http://schemas.openxmlformats.org/drawingml/2006/main">
              <a:ext uri="{FF2B5EF4-FFF2-40B4-BE49-F238E27FC236}">
                <a16:creationId xmlns:a16="http://schemas.microsoft.com/office/drawing/2014/main" id="{6289C454-CBAB-4CBF-8D37-F1EECD795938}"/>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49">
            <a:extLst xmlns:a="http://schemas.openxmlformats.org/drawingml/2006/main">
              <a:ext uri="{FF2B5EF4-FFF2-40B4-BE49-F238E27FC236}">
                <a16:creationId xmlns:a16="http://schemas.microsoft.com/office/drawing/2014/main" id="{A6583BE2-0D25-4356-AFE1-085B280C44EF}"/>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4 / 6</a:t>
            </a:r>
          </a:p>
        </p:txBody>
      </p:sp>
      <p:sp>
        <p:nvSpPr>
          <p:cNvPr id="5" name="text-50">
            <a:extLst xmlns:a="http://schemas.openxmlformats.org/drawingml/2006/main">
              <a:ext uri="{FF2B5EF4-FFF2-40B4-BE49-F238E27FC236}">
                <a16:creationId xmlns:a16="http://schemas.microsoft.com/office/drawing/2014/main" id="{9F6F9698-B980-4A5C-81A7-C0E01B460FDC}"/>
              </a:ext>
            </a:extLst>
          </p:cNvPr>
          <p:cNvSpPr>
            <a:spLocks xmlns:a="http://schemas.openxmlformats.org/drawingml/2006/main" noGrp="1"/>
          </p:cNvSpPr>
          <p:nvPr/>
        </p:nvSpPr>
        <p:spPr>
          <a:xfrm xmlns:a="http://schemas.openxmlformats.org/drawingml/2006/main">
            <a:off x="457200" y="2057400"/>
            <a:ext cx="11277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8352F"/>
                </a:solidFill>
                <a:latin typeface="Helvetica Neue"/>
                <a:ea typeface="Helvetica Neue"/>
                <a:cs typeface="Helvetica Neue"/>
              </a:defRPr>
            </a:defPPr>
          </a:lstStyle>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Proposed: the supplier pays a success fee. GoLocal shares an agreed</a:t>
            </a:r>
          </a:p>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portion with the partner that brings the customer.</a:t>
            </a:r>
          </a:p>
        </p:txBody>
      </p:sp>
      <p:sp>
        <p:nvSpPr>
          <p:cNvPr id="6" name="text-51">
            <a:extLst xmlns:a="http://schemas.openxmlformats.org/drawingml/2006/main">
              <a:ext uri="{FF2B5EF4-FFF2-40B4-BE49-F238E27FC236}">
                <a16:creationId xmlns:a16="http://schemas.microsoft.com/office/drawing/2014/main" id="{8FB99042-26B6-494E-A35C-300EC7E87DC1}"/>
              </a:ext>
            </a:extLst>
          </p:cNvPr>
          <p:cNvSpPr>
            <a:spLocks xmlns:a="http://schemas.openxmlformats.org/drawingml/2006/main" noGrp="1"/>
          </p:cNvSpPr>
          <p:nvPr/>
        </p:nvSpPr>
        <p:spPr>
          <a:xfrm xmlns:a="http://schemas.openxmlformats.org/drawingml/2006/main">
            <a:off x="457200" y="32194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Direct agent partnership</a:t>
            </a:r>
          </a:p>
        </p:txBody>
      </p:sp>
      <p:sp>
        <p:nvSpPr>
          <p:cNvPr id="7" name="text-52">
            <a:extLst xmlns:a="http://schemas.openxmlformats.org/drawingml/2006/main">
              <a:ext uri="{FF2B5EF4-FFF2-40B4-BE49-F238E27FC236}">
                <a16:creationId xmlns:a16="http://schemas.microsoft.com/office/drawing/2014/main" id="{BF0F34B1-09AA-4179-A4DC-F6AB936E7E85}"/>
              </a:ext>
            </a:extLst>
          </p:cNvPr>
          <p:cNvSpPr>
            <a:spLocks xmlns:a="http://schemas.openxmlformats.org/drawingml/2006/main" noGrp="1"/>
          </p:cNvSpPr>
          <p:nvPr/>
        </p:nvSpPr>
        <p:spPr>
          <a:xfrm xmlns:a="http://schemas.openxmlformats.org/drawingml/2006/main">
            <a:off x="457200" y="3762375"/>
            <a:ext cx="52197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An agent platform routes relevant requests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GoLocal as an integrated booking tool.</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partnership still needs to be secured.</a:t>
            </a:r>
          </a:p>
        </p:txBody>
      </p:sp>
      <p:sp>
        <p:nvSpPr>
          <p:cNvPr id="8" name="text-53">
            <a:extLst xmlns:a="http://schemas.openxmlformats.org/drawingml/2006/main">
              <a:ext uri="{FF2B5EF4-FFF2-40B4-BE49-F238E27FC236}">
                <a16:creationId xmlns:a16="http://schemas.microsoft.com/office/drawing/2014/main" id="{9FF6C1A3-46F7-417E-8C2E-B22EE566CD0E}"/>
              </a:ext>
            </a:extLst>
          </p:cNvPr>
          <p:cNvSpPr>
            <a:spLocks xmlns:a="http://schemas.openxmlformats.org/drawingml/2006/main" noGrp="1"/>
          </p:cNvSpPr>
          <p:nvPr/>
        </p:nvSpPr>
        <p:spPr>
          <a:xfrm xmlns:a="http://schemas.openxmlformats.org/drawingml/2006/main">
            <a:off x="6610350" y="3219450"/>
            <a:ext cx="5124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User-added connector</a:t>
            </a:r>
          </a:p>
        </p:txBody>
      </p:sp>
      <p:sp>
        <p:nvSpPr>
          <p:cNvPr id="9" name="text-54">
            <a:extLst xmlns:a="http://schemas.openxmlformats.org/drawingml/2006/main">
              <a:ext uri="{FF2B5EF4-FFF2-40B4-BE49-F238E27FC236}">
                <a16:creationId xmlns:a16="http://schemas.microsoft.com/office/drawing/2014/main" id="{BFDA3310-7D24-444A-A254-2440C190AB06}"/>
              </a:ext>
            </a:extLst>
          </p:cNvPr>
          <p:cNvSpPr>
            <a:spLocks xmlns:a="http://schemas.openxmlformats.org/drawingml/2006/main" noGrp="1"/>
          </p:cNvSpPr>
          <p:nvPr/>
        </p:nvSpPr>
        <p:spPr>
          <a:xfrm xmlns:a="http://schemas.openxmlformats.org/drawingml/2006/main">
            <a:off x="6610350" y="3762375"/>
            <a:ext cx="51244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Reach an audience with an urgent need.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Help them add GoLocal to their agent.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Installation requires customer acquisition.</a:t>
            </a:r>
          </a:p>
        </p:txBody>
      </p:sp>
      <p:sp>
        <p:nvSpPr>
          <p:cNvPr id="10" name="diagram-55">
            <a:extLst xmlns:a="http://schemas.openxmlformats.org/drawingml/2006/main">
              <a:ext uri="{FF2B5EF4-FFF2-40B4-BE49-F238E27FC236}">
                <a16:creationId xmlns:a16="http://schemas.microsoft.com/office/drawing/2014/main" id="{F61C9BFD-0E3D-4A6B-88F5-113305726798}"/>
              </a:ext>
            </a:extLst>
          </p:cNvPr>
          <p:cNvSpPr>
            <a:spLocks xmlns:a="http://schemas.openxmlformats.org/drawingml/2006/main" noGrp="1"/>
          </p:cNvSpPr>
          <p:nvPr/>
        </p:nvSpPr>
        <p:spPr>
          <a:xfrm xmlns:a="http://schemas.openxmlformats.org/drawingml/2006/main">
            <a:off x="457200" y="5238750"/>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Approved connector</a:t>
            </a:r>
          </a:p>
        </p:txBody>
      </p:sp>
      <p:sp>
        <p:nvSpPr>
          <p:cNvPr id="11" name="diagram-56">
            <a:extLst xmlns:a="http://schemas.openxmlformats.org/drawingml/2006/main">
              <a:ext uri="{FF2B5EF4-FFF2-40B4-BE49-F238E27FC236}">
                <a16:creationId xmlns:a16="http://schemas.microsoft.com/office/drawing/2014/main" id="{4CB77984-AA3C-4084-A02D-C45BA0C60B64}"/>
              </a:ext>
            </a:extLst>
          </p:cNvPr>
          <p:cNvSpPr>
            <a:spLocks xmlns:a="http://schemas.openxmlformats.org/drawingml/2006/main" noGrp="1"/>
          </p:cNvSpPr>
          <p:nvPr/>
        </p:nvSpPr>
        <p:spPr>
          <a:xfrm xmlns:a="http://schemas.openxmlformats.org/drawingml/2006/main">
            <a:off x="4610100" y="5238750"/>
            <a:ext cx="295275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Useful completed tasks</a:t>
            </a:r>
          </a:p>
        </p:txBody>
      </p:sp>
      <p:sp>
        <p:nvSpPr>
          <p:cNvPr id="12" name="diagram-57">
            <a:extLst xmlns:a="http://schemas.openxmlformats.org/drawingml/2006/main">
              <a:ext uri="{FF2B5EF4-FFF2-40B4-BE49-F238E27FC236}">
                <a16:creationId xmlns:a16="http://schemas.microsoft.com/office/drawing/2014/main" id="{06C078AC-1C88-45B8-8F3E-3F165DD5E3E9}"/>
              </a:ext>
            </a:extLst>
          </p:cNvPr>
          <p:cNvSpPr>
            <a:spLocks xmlns:a="http://schemas.openxmlformats.org/drawingml/2006/main" noGrp="1"/>
          </p:cNvSpPr>
          <p:nvPr/>
        </p:nvSpPr>
        <p:spPr>
          <a:xfrm xmlns:a="http://schemas.openxmlformats.org/drawingml/2006/main">
            <a:off x="8763000" y="5238750"/>
            <a:ext cx="297180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Broader discovery</a:t>
            </a:r>
          </a:p>
        </p:txBody>
      </p:sp>
      <p:sp>
        <p:nvSpPr>
          <p:cNvPr id="15" name="text-58">
            <a:extLst xmlns:a="http://schemas.openxmlformats.org/drawingml/2006/main">
              <a:ext uri="{FF2B5EF4-FFF2-40B4-BE49-F238E27FC236}">
                <a16:creationId xmlns:a16="http://schemas.microsoft.com/office/drawing/2014/main" id="{FEB59C90-5538-4FE2-AE16-DAF0E9468CB4}"/>
              </a:ext>
            </a:extLst>
          </p:cNvPr>
          <p:cNvSpPr>
            <a:spLocks xmlns:a="http://schemas.openxmlformats.org/drawingml/2006/main" noGrp="1"/>
          </p:cNvSpPr>
          <p:nvPr/>
        </p:nvSpPr>
        <p:spPr>
          <a:xfrm xmlns:a="http://schemas.openxmlformats.org/drawingml/2006/main">
            <a:off x="457200" y="604837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Strong utility can support recommendations; placement is platform-dependent. Fees and routes remain open.</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4027A385-8AF4-44F0-9917-278ECA4686CC}"/>
              </a:ext>
            </a:extLst>
          </p:cNvPr>
          <p:cNvCxnSpPr>
            <a:stCxn xmlns:a="http://schemas.openxmlformats.org/drawingml/2006/main" id="12" idx="3"/>
            <a:endCxn xmlns:a="http://schemas.openxmlformats.org/drawingml/2006/main" id="13" idx="1"/>
          </p:cNvCxnSpPr>
          <p:nvPr/>
        </p:nvCxnSpPr>
        <p:spPr>
          <a:xfrm xmlns:a="http://schemas.openxmlformats.org/drawingml/2006/main">
            <a:off x="75628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BAF768ED-9C71-4D82-BCB3-F9BD2DA127F7}"/>
              </a:ext>
            </a:extLst>
          </p:cNvPr>
          <p:cNvCxnSpPr>
            <a:stCxn xmlns:a="http://schemas.openxmlformats.org/drawingml/2006/main" id="11" idx="3"/>
            <a:endCxn xmlns:a="http://schemas.openxmlformats.org/drawingml/2006/main" id="12" idx="1"/>
          </p:cNvCxnSpPr>
          <p:nvPr/>
        </p:nvCxnSpPr>
        <p:spPr>
          <a:xfrm xmlns:a="http://schemas.openxmlformats.org/drawingml/2006/main">
            <a:off x="34099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7" name="text-59">
            <a:extLst xmlns:a="http://schemas.openxmlformats.org/drawingml/2006/main">
              <a:ext uri="{FF2B5EF4-FFF2-40B4-BE49-F238E27FC236}">
                <a16:creationId xmlns:a16="http://schemas.microsoft.com/office/drawing/2014/main" id="{6C34ADF3-169D-4A05-BCD4-61CCD74EA73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IS COMING TOGETHER</a:t>
            </a:r>
          </a:p>
        </p:txBody>
      </p:sp>
      <p:sp>
        <p:nvSpPr>
          <p:cNvPr id="2" name="text-60">
            <a:extLst xmlns:a="http://schemas.openxmlformats.org/drawingml/2006/main">
              <a:ext uri="{FF2B5EF4-FFF2-40B4-BE49-F238E27FC236}">
                <a16:creationId xmlns:a16="http://schemas.microsoft.com/office/drawing/2014/main" id="{D5789F55-3702-445A-BA82-5ECE56D15EB6}"/>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Partners have agreed to open access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to the first local businesses</a:t>
            </a:r>
          </a:p>
        </p:txBody>
      </p:sp>
      <p:sp>
        <p:nvSpPr>
          <p:cNvPr id="3" name="text-61">
            <a:extLst xmlns:a="http://schemas.openxmlformats.org/drawingml/2006/main">
              <a:ext uri="{FF2B5EF4-FFF2-40B4-BE49-F238E27FC236}">
                <a16:creationId xmlns:a16="http://schemas.microsoft.com/office/drawing/2014/main" id="{D5F41982-2B1F-48D2-9BC5-C6B31883C8C5}"/>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62">
            <a:extLst xmlns:a="http://schemas.openxmlformats.org/drawingml/2006/main">
              <a:ext uri="{FF2B5EF4-FFF2-40B4-BE49-F238E27FC236}">
                <a16:creationId xmlns:a16="http://schemas.microsoft.com/office/drawing/2014/main" id="{69E35C39-A9AF-493E-A026-B3538F6E2089}"/>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5 / 6</a:t>
            </a:r>
          </a:p>
        </p:txBody>
      </p:sp>
      <p:sp>
        <p:nvSpPr>
          <p:cNvPr id="5" name="text-63">
            <a:extLst xmlns:a="http://schemas.openxmlformats.org/drawingml/2006/main">
              <a:ext uri="{FF2B5EF4-FFF2-40B4-BE49-F238E27FC236}">
                <a16:creationId xmlns:a16="http://schemas.microsoft.com/office/drawing/2014/main" id="{B0F0A4F7-81E5-4CC9-B48D-0551345426A1}"/>
              </a:ext>
            </a:extLst>
          </p:cNvPr>
          <p:cNvSpPr>
            <a:spLocks xmlns:a="http://schemas.openxmlformats.org/drawingml/2006/main" noGrp="1"/>
          </p:cNvSpPr>
          <p:nvPr/>
        </p:nvSpPr>
        <p:spPr>
          <a:xfrm xmlns:a="http://schemas.openxmlformats.org/drawingml/2006/main">
            <a:off x="457200" y="2200275"/>
            <a:ext cx="5143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100+</a:t>
            </a:r>
          </a:p>
        </p:txBody>
      </p:sp>
      <p:sp>
        <p:nvSpPr>
          <p:cNvPr id="6" name="text-64">
            <a:extLst xmlns:a="http://schemas.openxmlformats.org/drawingml/2006/main">
              <a:ext uri="{FF2B5EF4-FFF2-40B4-BE49-F238E27FC236}">
                <a16:creationId xmlns:a16="http://schemas.microsoft.com/office/drawing/2014/main" id="{7D9DB117-0EB1-4258-AC2D-9D7CE0682847}"/>
              </a:ext>
            </a:extLst>
          </p:cNvPr>
          <p:cNvSpPr>
            <a:spLocks xmlns:a="http://schemas.openxmlformats.org/drawingml/2006/main" noGrp="1"/>
          </p:cNvSpPr>
          <p:nvPr/>
        </p:nvSpPr>
        <p:spPr>
          <a:xfrm xmlns:a="http://schemas.openxmlformats.org/drawingml/2006/main">
            <a:off x="457200" y="3314700"/>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trade shops served by Cactus AI</a:t>
            </a:r>
          </a:p>
        </p:txBody>
      </p:sp>
      <p:sp>
        <p:nvSpPr>
          <p:cNvPr id="7" name="text-65">
            <a:extLst xmlns:a="http://schemas.openxmlformats.org/drawingml/2006/main">
              <a:ext uri="{FF2B5EF4-FFF2-40B4-BE49-F238E27FC236}">
                <a16:creationId xmlns:a16="http://schemas.microsoft.com/office/drawing/2014/main" id="{EADB5E66-F13E-416F-80A5-2CEE283FB9A2}"/>
              </a:ext>
            </a:extLst>
          </p:cNvPr>
          <p:cNvSpPr>
            <a:spLocks xmlns:a="http://schemas.openxmlformats.org/drawingml/2006/main" noGrp="1"/>
          </p:cNvSpPr>
          <p:nvPr/>
        </p:nvSpPr>
        <p:spPr>
          <a:xfrm xmlns:a="http://schemas.openxmlformats.org/drawingml/2006/main">
            <a:off x="457200" y="3952875"/>
            <a:ext cx="5314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Salt Lake City and Dallas.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Cactus agreed to introduce shops and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provide booking access through its customers.</a:t>
            </a:r>
          </a:p>
        </p:txBody>
      </p:sp>
      <p:sp>
        <p:nvSpPr>
          <p:cNvPr id="8" name="text-66">
            <a:extLst xmlns:a="http://schemas.openxmlformats.org/drawingml/2006/main">
              <a:ext uri="{FF2B5EF4-FFF2-40B4-BE49-F238E27FC236}">
                <a16:creationId xmlns:a16="http://schemas.microsoft.com/office/drawing/2014/main" id="{D63476D8-94BB-4F0D-90F9-DDE17F6F0F77}"/>
              </a:ext>
            </a:extLst>
          </p:cNvPr>
          <p:cNvSpPr>
            <a:spLocks xmlns:a="http://schemas.openxmlformats.org/drawingml/2006/main" noGrp="1"/>
          </p:cNvSpPr>
          <p:nvPr/>
        </p:nvSpPr>
        <p:spPr>
          <a:xfrm xmlns:a="http://schemas.openxmlformats.org/drawingml/2006/main">
            <a:off x="6705600" y="2200275"/>
            <a:ext cx="5029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20</a:t>
            </a:r>
          </a:p>
        </p:txBody>
      </p:sp>
      <p:sp>
        <p:nvSpPr>
          <p:cNvPr id="9" name="text-67">
            <a:extLst xmlns:a="http://schemas.openxmlformats.org/drawingml/2006/main">
              <a:ext uri="{FF2B5EF4-FFF2-40B4-BE49-F238E27FC236}">
                <a16:creationId xmlns:a16="http://schemas.microsoft.com/office/drawing/2014/main" id="{C0D80327-9B38-4FE7-A9DA-16263A2A9906}"/>
              </a:ext>
            </a:extLst>
          </p:cNvPr>
          <p:cNvSpPr>
            <a:spLocks xmlns:a="http://schemas.openxmlformats.org/drawingml/2006/main" noGrp="1"/>
          </p:cNvSpPr>
          <p:nvPr/>
        </p:nvSpPr>
        <p:spPr>
          <a:xfrm xmlns:a="http://schemas.openxmlformats.org/drawingml/2006/main">
            <a:off x="6705600" y="331470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clients committed for onboarding</a:t>
            </a:r>
          </a:p>
        </p:txBody>
      </p:sp>
      <p:sp>
        <p:nvSpPr>
          <p:cNvPr id="10" name="text-68">
            <a:extLst xmlns:a="http://schemas.openxmlformats.org/drawingml/2006/main">
              <a:ext uri="{FF2B5EF4-FFF2-40B4-BE49-F238E27FC236}">
                <a16:creationId xmlns:a16="http://schemas.microsoft.com/office/drawing/2014/main" id="{67843AFD-5C57-4D1D-B9A4-2A8A40011766}"/>
              </a:ext>
            </a:extLst>
          </p:cNvPr>
          <p:cNvSpPr>
            <a:spLocks xmlns:a="http://schemas.openxmlformats.org/drawingml/2006/main" noGrp="1"/>
          </p:cNvSpPr>
          <p:nvPr/>
        </p:nvSpPr>
        <p:spPr>
          <a:xfrm xmlns:a="http://schemas.openxmlformats.org/drawingml/2006/main">
            <a:off x="6705600" y="3952875"/>
            <a:ext cx="5029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separate back-office management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company agreed to onboard its clients.</a:t>
            </a:r>
          </a:p>
        </p:txBody>
      </p:sp>
      <p:sp>
        <p:nvSpPr>
          <p:cNvPr id="11" name="diagram-69">
            <a:extLst xmlns:a="http://schemas.openxmlformats.org/drawingml/2006/main">
              <a:ext uri="{FF2B5EF4-FFF2-40B4-BE49-F238E27FC236}">
                <a16:creationId xmlns:a16="http://schemas.microsoft.com/office/drawing/2014/main" id="{282C9521-8CC6-497E-9744-DEB837B39F9D}"/>
              </a:ext>
            </a:extLst>
          </p:cNvPr>
          <p:cNvSpPr>
            <a:spLocks xmlns:a="http://schemas.openxmlformats.org/drawingml/2006/main" noGrp="1"/>
          </p:cNvSpPr>
          <p:nvPr/>
        </p:nvSpPr>
        <p:spPr>
          <a:xfrm xmlns:a="http://schemas.openxmlformats.org/drawingml/2006/main">
            <a:off x="4572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One trade + one city</a:t>
            </a:r>
          </a:p>
        </p:txBody>
      </p:sp>
      <p:sp>
        <p:nvSpPr>
          <p:cNvPr id="12" name="diagram-70">
            <a:extLst xmlns:a="http://schemas.openxmlformats.org/drawingml/2006/main">
              <a:ext uri="{FF2B5EF4-FFF2-40B4-BE49-F238E27FC236}">
                <a16:creationId xmlns:a16="http://schemas.microsoft.com/office/drawing/2014/main" id="{F13CB1E7-AFA8-4BAD-824E-01440A0A4405}"/>
              </a:ext>
            </a:extLst>
          </p:cNvPr>
          <p:cNvSpPr>
            <a:spLocks xmlns:a="http://schemas.openxmlformats.org/drawingml/2006/main" noGrp="1"/>
          </p:cNvSpPr>
          <p:nvPr/>
        </p:nvSpPr>
        <p:spPr>
          <a:xfrm xmlns:a="http://schemas.openxmlformats.org/drawingml/2006/main">
            <a:off x="46101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Connect authorized supply</a:t>
            </a:r>
          </a:p>
        </p:txBody>
      </p:sp>
      <p:sp>
        <p:nvSpPr>
          <p:cNvPr id="13" name="diagram-71">
            <a:extLst xmlns:a="http://schemas.openxmlformats.org/drawingml/2006/main">
              <a:ext uri="{FF2B5EF4-FFF2-40B4-BE49-F238E27FC236}">
                <a16:creationId xmlns:a16="http://schemas.microsoft.com/office/drawing/2014/main" id="{6BA886AE-3DFD-418A-B499-2854C6C5D314}"/>
              </a:ext>
            </a:extLst>
          </p:cNvPr>
          <p:cNvSpPr>
            <a:spLocks xmlns:a="http://schemas.openxmlformats.org/drawingml/2006/main" noGrp="1"/>
          </p:cNvSpPr>
          <p:nvPr/>
        </p:nvSpPr>
        <p:spPr>
          <a:xfrm xmlns:a="http://schemas.openxmlformats.org/drawingml/2006/main">
            <a:off x="8763000" y="5400675"/>
            <a:ext cx="297180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Route and fulfill real jobs</a:t>
            </a:r>
          </a:p>
        </p:txBody>
      </p:sp>
      <p:sp>
        <p:nvSpPr>
          <p:cNvPr id="16" name="text-72">
            <a:extLst xmlns:a="http://schemas.openxmlformats.org/drawingml/2006/main">
              <a:ext uri="{FF2B5EF4-FFF2-40B4-BE49-F238E27FC236}">
                <a16:creationId xmlns:a16="http://schemas.microsoft.com/office/drawing/2014/main" id="{0EE416B1-FE77-4C2A-8F86-E24588D5FFF1}"/>
              </a:ext>
            </a:extLst>
          </p:cNvPr>
          <p:cNvSpPr>
            <a:spLocks xmlns:a="http://schemas.openxmlformats.org/drawingml/2006/main" noGrp="1"/>
          </p:cNvSpPr>
          <p:nvPr/>
        </p:nvSpPr>
        <p:spPr>
          <a:xfrm xmlns:a="http://schemas.openxmlformats.org/drawingml/2006/main">
            <a:off x="457200" y="614362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Founder-reported commitments. These are not live GoLocal merchants, integrations, bookings or revenue.</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buNone/>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2026-10-10T23:00:17.2470000Z</dcterms:created>
  <dcterms:modified xsi:type="dcterms:W3CDTF">2026-10-10T23:00:17.2470000Z</dcterms:modified>
</coreProperties>
</file>