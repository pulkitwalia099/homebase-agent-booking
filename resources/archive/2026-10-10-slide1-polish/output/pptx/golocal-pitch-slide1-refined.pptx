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34bf5e31324b05" /><Relationship Type="http://schemas.openxmlformats.org/officeDocument/2006/relationships/extended-properties" Target="/docProps/app.xml" Id="R7c0e85757e2642a6" /><Relationship Type="http://schemas.openxmlformats.org/officeDocument/2006/relationships/officeDocument" Target="/ppt/presentation.xml" Id="R413a5ddd3d554830" /></Relationships>
</file>

<file path=ppt/presentation.xml><?xml version="1.0" encoding="utf-8"?>
<p:presentation xmlns:p="http://schemas.openxmlformats.org/presentationml/2006/main">
  <p:sldMasterIdLst>
    <p:sldMasterId xmlns:r="http://schemas.openxmlformats.org/officeDocument/2006/relationships" id="2147483648" r:id="R05459f639eb446f3"/>
  </p:sldMasterIdLst>
  <p:notesMasterIdLst>
    <p:notesMasterId xmlns:r="http://schemas.openxmlformats.org/officeDocument/2006/relationships" r:id="Rc76b4a382f6d4d7c"/>
  </p:notesMasterIdLst>
  <p:sldIdLst>
    <p:sldId xmlns:r="http://schemas.openxmlformats.org/officeDocument/2006/relationships" id="256" r:id="R1444f6ba08be41e4"/>
    <p:sldId xmlns:r="http://schemas.openxmlformats.org/officeDocument/2006/relationships" id="257" r:id="Rb19619019db24eb1"/>
    <p:sldId xmlns:r="http://schemas.openxmlformats.org/officeDocument/2006/relationships" id="258" r:id="R0e20016a2dd44c40"/>
    <p:sldId xmlns:r="http://schemas.openxmlformats.org/officeDocument/2006/relationships" id="259" r:id="R7aff6c3074fd4c55"/>
    <p:sldId xmlns:r="http://schemas.openxmlformats.org/officeDocument/2006/relationships" id="260" r:id="Rd2fb358c766b49db"/>
    <p:sldId xmlns:r="http://schemas.openxmlformats.org/officeDocument/2006/relationships" id="261" r:id="Ra78dff0f98dc4b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f1af036150424b" /><Relationship Type="http://schemas.openxmlformats.org/officeDocument/2006/relationships/slideMaster" Target="/ppt/slideMasters/slideMaster1.xml" Id="R05459f639eb446f3" /><Relationship Type="http://schemas.openxmlformats.org/officeDocument/2006/relationships/notesMaster" Target="/ppt/notesMasters/notesMaster1.xml" Id="Rc76b4a382f6d4d7c" /><Relationship Type="http://schemas.openxmlformats.org/officeDocument/2006/relationships/presProps" Target="/ppt/presProps.xml" Id="R42de7cb65f594e79" /><Relationship Type="http://schemas.openxmlformats.org/officeDocument/2006/relationships/tableStyles" Target="/ppt/tableStyles.xml" Id="R58b59112599f42f2" /><Relationship Type="http://schemas.openxmlformats.org/officeDocument/2006/relationships/slide" Target="/ppt/slides/slide1.xml" Id="R1444f6ba08be41e4" /><Relationship Type="http://schemas.openxmlformats.org/officeDocument/2006/relationships/slide" Target="/ppt/slides/slide2.xml" Id="Rb19619019db24eb1" /><Relationship Type="http://schemas.openxmlformats.org/officeDocument/2006/relationships/slide" Target="/ppt/slides/slide3.xml" Id="R0e20016a2dd44c40" /><Relationship Type="http://schemas.openxmlformats.org/officeDocument/2006/relationships/slide" Target="/ppt/slides/slide4.xml" Id="R7aff6c3074fd4c55" /><Relationship Type="http://schemas.openxmlformats.org/officeDocument/2006/relationships/slide" Target="/ppt/slides/slide5.xml" Id="Rd2fb358c766b49db" /><Relationship Type="http://schemas.openxmlformats.org/officeDocument/2006/relationships/slide" Target="/ppt/slides/slide6.xml" Id="Ra78dff0f98dc4b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0c37b0bb114c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6e34d7a8234373" /><Relationship Type="http://schemas.openxmlformats.org/officeDocument/2006/relationships/notesMaster" Target="/ppt/notesMasters/notesMaster1.xml" Id="R892ffbaeba8f45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26944ada0140ab" /><Relationship Type="http://schemas.openxmlformats.org/officeDocument/2006/relationships/notesMaster" Target="/ppt/notesMasters/notesMaster1.xml" Id="Refc364cecdf241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60a6d9a8024e7e" /><Relationship Type="http://schemas.openxmlformats.org/officeDocument/2006/relationships/notesMaster" Target="/ppt/notesMasters/notesMaster1.xml" Id="R995e03df98f643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f3fe9522c44641" /><Relationship Type="http://schemas.openxmlformats.org/officeDocument/2006/relationships/notesMaster" Target="/ppt/notesMasters/notesMaster1.xml" Id="Raf0388b0c39645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1a1d2798c943ce" /><Relationship Type="http://schemas.openxmlformats.org/officeDocument/2006/relationships/notesMaster" Target="/ppt/notesMasters/notesMaster1.xml" Id="R51b28c60e07842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ec2bb82bac463d" /><Relationship Type="http://schemas.openxmlformats.org/officeDocument/2006/relationships/notesMaster" Target="/ppt/notesMasters/notesMaster1.xml" Id="Rba99bedea41948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progression of customer tasks, not product launch chronology. Yellow Pages made businesses and phone numbers discoverable; calls remained manual. Web search and listing sites expanded search/filtering. Maps made location and reviews central, although reviews and ratings also predate Maps. Some search/Maps listings and existing vertical platforms already support appointments/payments. The matrix describes a typical fragmented local-service journey, not a universal absence of booking. Agents can act by browsing/calling; GoLocal would supply structured data and transaction tools for participating authorized businesses. Quotes can require follow-up, inspection or merchant acceptance. Payments require approved checkout, customer consent and platform-appropriate integrations. The Stripe analogy means shared transaction infrastructure, not a claim that GoLocal is a licensed payment processor or solely a payments company. No planned tool is presented as live.</a:t>
            </a:r>
          </a:p>
          <a:p xmlns:a="http://schemas.openxmlformats.org/drawingml/2006/main">
            <a:r>
              <a:t/>
            </a:r>
          </a:p>
          <a:p xmlns:a="http://schemas.openxmlformats.org/drawingml/2006/main">
            <a:r>
              <a:t>Slide 1 design revision, October 10 2026: availability and booking merged, leaving six tasks. Comparison and quote/scoping remain separate because digital comparison does not establish digital quote execution. Green means handled within the platform, red means work through calls or external sites in a typical fragmented home-service flow; it does not mean no existing business has a booking/payment interface. AI agents can perform the external work and are not incapable of booking. Last column is the planned integrated experience for participating authorized supply, not a live or universal solved-state claim. Scoping/quoting may still require merchant input.</a:t>
            </a:r>
          </a:p>
          <a:p xmlns:a="http://schemas.openxmlformats.org/drawingml/2006/main">
            <a:r>
              <a:t>Approximate eras, not exact invention or adoption dates: pre-1990s directories, 1990s web, 2000s–2010s Maps/mobile, 2020s agents, Next planned AI agents + GoLocal. These do not imply a regular ten-year cycle. Craigslist dates its beginnings to early 1995: https://www.craigslist.org/about/mission_and_history . Google records Maps launch February 8 2005 and mobile expansion 2007–2012: https://blog.google/products-and-platforms/products/maps/look-back-15-years-mapping-world/ . GoLocal green cells describe target workflows, not automation of every complex scope or user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56a915384040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daec3f979b44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7fdfccd84547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a434d3160a43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3795a5168849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451774645741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eb0d15991d4430" /><Relationship Type="http://schemas.openxmlformats.org/officeDocument/2006/relationships/slideLayout" Target="/ppt/slideLayouts/slideLayout1.xml" Id="Reba5047836244432" /><Relationship Type="http://schemas.openxmlformats.org/officeDocument/2006/relationships/slideLayout" Target="/ppt/slideLayouts/slideLayout2.xml" Id="R041e8b9330fa41d0" /><Relationship Type="http://schemas.openxmlformats.org/officeDocument/2006/relationships/slideLayout" Target="/ppt/slideLayouts/slideLayout3.xml" Id="R684c29448059414c" /><Relationship Type="http://schemas.openxmlformats.org/officeDocument/2006/relationships/slideLayout" Target="/ppt/slideLayouts/slideLayout4.xml" Id="R1ea51e1d68f0417a" /><Relationship Type="http://schemas.openxmlformats.org/officeDocument/2006/relationships/slideLayout" Target="/ppt/slideLayouts/slideLayout5.xml" Id="R09de41fbc30f4312" /><Relationship Type="http://schemas.openxmlformats.org/officeDocument/2006/relationships/slideLayout" Target="/ppt/slideLayouts/slideLayout6.xml" Id="R86da3dd49dd346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a5047836244432"/>
    <p:sldLayoutId xmlns:r="http://schemas.openxmlformats.org/officeDocument/2006/relationships" id="2147483650" r:id="R041e8b9330fa41d0"/>
    <p:sldLayoutId xmlns:r="http://schemas.openxmlformats.org/officeDocument/2006/relationships" id="2147483651" r:id="R684c29448059414c"/>
    <p:sldLayoutId xmlns:r="http://schemas.openxmlformats.org/officeDocument/2006/relationships" id="2147483652" r:id="R1ea51e1d68f0417a"/>
    <p:sldLayoutId xmlns:r="http://schemas.openxmlformats.org/officeDocument/2006/relationships" id="2147483653" r:id="R09de41fbc30f4312"/>
    <p:sldLayoutId xmlns:r="http://schemas.openxmlformats.org/officeDocument/2006/relationships" id="2147483654" r:id="R86da3dd49dd346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e2b67988334425" /><Relationship Type="http://schemas.openxmlformats.org/officeDocument/2006/relationships/notesSlide" Target="/ppt/notesSlides/notesSlide1.xml" Id="Rf397add013d544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e6170b46cc4f05" /><Relationship Type="http://schemas.openxmlformats.org/officeDocument/2006/relationships/notesSlide" Target="/ppt/notesSlides/notesSlide2.xml" Id="R06c64953807940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7d8969b5a04a6e" /><Relationship Type="http://schemas.openxmlformats.org/officeDocument/2006/relationships/notesSlide" Target="/ppt/notesSlides/notesSlide3.xml" Id="R88934f18d9a347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0bfcaa93ff4924" /><Relationship Type="http://schemas.openxmlformats.org/officeDocument/2006/relationships/notesSlide" Target="/ppt/notesSlides/notesSlide4.xml" Id="R06c6a3a91e2143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30a624683a462c" /><Relationship Type="http://schemas.openxmlformats.org/officeDocument/2006/relationships/notesSlide" Target="/ppt/notesSlides/notesSlide5.xml" Id="R837a1f5e6f2444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4d66fe42dd4756" /><Relationship Type="http://schemas.openxmlformats.org/officeDocument/2006/relationships/notesSlide" Target="/ppt/notesSlides/notesSlide6.xml" Id="R44012324101c4f3f"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0" name="slide1-polish-0">
            <a:extLst xmlns:a="http://schemas.openxmlformats.org/drawingml/2006/main">
              <a:ext uri="{FF2B5EF4-FFF2-40B4-BE49-F238E27FC236}">
                <a16:creationId xmlns:a16="http://schemas.microsoft.com/office/drawing/2014/main" id="{A90817AD-7EAD-4A8E-9293-31C661452BC9}"/>
              </a:ext>
            </a:extLst>
          </p:cNvPr>
          <p:cNvSpPr>
            <a:spLocks xmlns:a="http://schemas.openxmlformats.org/drawingml/2006/main" noGrp="1"/>
          </p:cNvSpPr>
          <p:nvPr/>
        </p:nvSpPr>
        <p:spPr>
          <a:xfrm xmlns:a="http://schemas.openxmlformats.org/drawingml/2006/main">
            <a:off x="495300" y="266700"/>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93C32"/>
                </a:solidFill>
                <a:latin typeface="Helvetica Neue"/>
                <a:ea typeface="Helvetica Neue"/>
                <a:cs typeface="Helvetica Neue"/>
              </a:defRPr>
            </a:defPPr>
          </a:lstStyle>
          <a:p xmlns:a="http://schemas.openxmlformats.org/drawingml/2006/main">
            <a:pPr>
              <a:defRPr sz="3225" b="1">
                <a:solidFill>
                  <a:srgbClr val="193C32"/>
                </a:solidFill>
                <a:latin typeface="Helvetica Neue"/>
                <a:ea typeface="Helvetica Neue"/>
                <a:cs typeface="Helvetica Neue"/>
              </a:defRPr>
            </a:pPr>
            <a:r>
              <a:rPr sz="3225" b="1">
                <a:solidFill>
                  <a:srgbClr val="193C32"/>
                </a:solidFill>
                <a:latin typeface="Helvetica Neue"/>
                <a:ea typeface="Helvetica Neue"/>
                <a:cs typeface="Helvetica Neue"/>
              </a:rPr>
              <a:t>GoLocal</a:t>
            </a:r>
          </a:p>
        </p:txBody>
      </p:sp>
      <p:sp>
        <p:nvSpPr>
          <p:cNvPr id="2" name="slide1-polish-1">
            <a:extLst xmlns:a="http://schemas.openxmlformats.org/drawingml/2006/main">
              <a:ext uri="{FF2B5EF4-FFF2-40B4-BE49-F238E27FC236}">
                <a16:creationId xmlns:a16="http://schemas.microsoft.com/office/drawing/2014/main" id="{9938F43C-4FBC-4C9C-85DA-7CB6E6E838BB}"/>
              </a:ext>
            </a:extLst>
          </p:cNvPr>
          <p:cNvSpPr>
            <a:spLocks xmlns:a="http://schemas.openxmlformats.org/drawingml/2006/main" noGrp="1"/>
          </p:cNvSpPr>
          <p:nvPr/>
        </p:nvSpPr>
        <p:spPr>
          <a:xfrm xmlns:a="http://schemas.openxmlformats.org/drawingml/2006/main">
            <a:off x="4857750" y="371475"/>
            <a:ext cx="6819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Stripe for home-service bookings</a:t>
            </a:r>
          </a:p>
        </p:txBody>
      </p:sp>
      <p:sp>
        <p:nvSpPr>
          <p:cNvPr id="3" name="slide1-polish-2">
            <a:extLst xmlns:a="http://schemas.openxmlformats.org/drawingml/2006/main">
              <a:ext uri="{FF2B5EF4-FFF2-40B4-BE49-F238E27FC236}">
                <a16:creationId xmlns:a16="http://schemas.microsoft.com/office/drawing/2014/main" id="{12208A82-E517-4E28-9120-FE5232214631}"/>
              </a:ext>
            </a:extLst>
          </p:cNvPr>
          <p:cNvSpPr>
            <a:spLocks xmlns:a="http://schemas.openxmlformats.org/drawingml/2006/main" noGrp="1"/>
          </p:cNvSpPr>
          <p:nvPr/>
        </p:nvSpPr>
        <p:spPr>
          <a:xfrm xmlns:a="http://schemas.openxmlformats.org/drawingml/2006/main">
            <a:off x="495300" y="1038225"/>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925" b="1">
                <a:solidFill>
                  <a:srgbClr val="193C32"/>
                </a:solidFill>
                <a:latin typeface="Helvetica Neue"/>
                <a:ea typeface="Helvetica Neue"/>
                <a:cs typeface="Helvetica Neue"/>
              </a:defRPr>
            </a:defPPr>
          </a:lstStyle>
          <a:p xmlns:a="http://schemas.openxmlformats.org/drawingml/2006/main">
            <a:pPr>
              <a:defRPr sz="2925" b="1">
                <a:solidFill>
                  <a:srgbClr val="193C32"/>
                </a:solidFill>
                <a:latin typeface="Helvetica Neue"/>
                <a:ea typeface="Helvetica Neue"/>
                <a:cs typeface="Helvetica Neue"/>
              </a:defRPr>
            </a:pPr>
            <a:r>
              <a:rPr sz="2925" b="1">
                <a:solidFill>
                  <a:srgbClr val="193C32"/>
                </a:solidFill>
                <a:latin typeface="Helvetica Neue"/>
                <a:ea typeface="Helvetica Neue"/>
                <a:cs typeface="Helvetica Neue"/>
              </a:rPr>
              <a:t>Each tech era changed the front door to local services</a:t>
            </a:r>
          </a:p>
        </p:txBody>
      </p:sp>
      <p:sp>
        <p:nvSpPr>
          <p:cNvPr id="4" name="slide1-polish-3">
            <a:extLst xmlns:a="http://schemas.openxmlformats.org/drawingml/2006/main">
              <a:ext uri="{FF2B5EF4-FFF2-40B4-BE49-F238E27FC236}">
                <a16:creationId xmlns:a16="http://schemas.microsoft.com/office/drawing/2014/main" id="{6A24C0C5-7D89-4537-8AAD-DA1A93FA625C}"/>
              </a:ext>
            </a:extLst>
          </p:cNvPr>
          <p:cNvSpPr>
            <a:spLocks xmlns:a="http://schemas.openxmlformats.org/drawingml/2006/main" noGrp="1"/>
          </p:cNvSpPr>
          <p:nvPr/>
        </p:nvSpPr>
        <p:spPr>
          <a:xfrm xmlns:a="http://schemas.openxmlformats.org/drawingml/2006/main">
            <a:off x="495300" y="1685925"/>
            <a:ext cx="3181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236C4E"/>
                </a:solidFill>
                <a:latin typeface="Helvetica Neue"/>
                <a:ea typeface="Helvetica Neue"/>
                <a:cs typeface="Helvetica Neue"/>
              </a:defRPr>
            </a:defPPr>
          </a:lstStyle>
          <a:p xmlns:a="http://schemas.openxmlformats.org/drawingml/2006/main">
            <a:pPr>
              <a:defRPr sz="1575" b="1">
                <a:solidFill>
                  <a:srgbClr val="236C4E"/>
                </a:solidFill>
                <a:latin typeface="Helvetica Neue"/>
                <a:ea typeface="Helvetica Neue"/>
                <a:cs typeface="Helvetica Neue"/>
              </a:defRPr>
            </a:pPr>
            <a:r>
              <a:rPr sz="1575" b="1">
                <a:solidFill>
                  <a:srgbClr val="236C4E"/>
                </a:solidFill>
                <a:latin typeface="Helvetica Neue"/>
                <a:ea typeface="Helvetica Neue"/>
                <a:cs typeface="Helvetica Neue"/>
              </a:rPr>
              <a:t>✓  Platform handles it</a:t>
            </a:r>
          </a:p>
        </p:txBody>
      </p:sp>
      <p:sp>
        <p:nvSpPr>
          <p:cNvPr id="5" name="slide1-polish-4">
            <a:extLst xmlns:a="http://schemas.openxmlformats.org/drawingml/2006/main">
              <a:ext uri="{FF2B5EF4-FFF2-40B4-BE49-F238E27FC236}">
                <a16:creationId xmlns:a16="http://schemas.microsoft.com/office/drawing/2014/main" id="{5BE11563-FEC7-41DB-BB82-480B1F83B5B6}"/>
              </a:ext>
            </a:extLst>
          </p:cNvPr>
          <p:cNvSpPr>
            <a:spLocks xmlns:a="http://schemas.openxmlformats.org/drawingml/2006/main" noGrp="1"/>
          </p:cNvSpPr>
          <p:nvPr/>
        </p:nvSpPr>
        <p:spPr>
          <a:xfrm xmlns:a="http://schemas.openxmlformats.org/drawingml/2006/main">
            <a:off x="3838575" y="168592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9D514B"/>
                </a:solidFill>
                <a:latin typeface="Helvetica Neue"/>
                <a:ea typeface="Helvetica Neue"/>
                <a:cs typeface="Helvetica Neue"/>
              </a:defRPr>
            </a:defPPr>
          </a:lstStyle>
          <a:p xmlns:a="http://schemas.openxmlformats.org/drawingml/2006/main">
            <a:pPr>
              <a:defRPr sz="1575" b="1">
                <a:solidFill>
                  <a:srgbClr val="9D514B"/>
                </a:solidFill>
                <a:latin typeface="Helvetica Neue"/>
                <a:ea typeface="Helvetica Neue"/>
                <a:cs typeface="Helvetica Neue"/>
              </a:defRPr>
            </a:pPr>
            <a:r>
              <a:rPr sz="1575" b="1">
                <a:solidFill>
                  <a:srgbClr val="9D514B"/>
                </a:solidFill>
                <a:latin typeface="Helvetica Neue"/>
                <a:ea typeface="Helvetica Neue"/>
                <a:cs typeface="Helvetica Neue"/>
              </a:rPr>
              <a:t>—  Manual / external work</a:t>
            </a:r>
          </a:p>
        </p:txBody>
      </p:sp>
      <p:graphicFrame>
        <p:nvGraphicFramePr>
          <p:cNvPr id="6" name="">
            <a:extLst xmlns:a="http://schemas.openxmlformats.org/drawingml/2006/main">
              <a:ext uri="{FF2B5EF4-FFF2-40B4-BE49-F238E27FC236}">
                <a16:creationId xmlns:a16="http://schemas.microsoft.com/office/drawing/2014/main" id="{B387AC0C-0F09-42AB-8447-652EDC2B454A}"/>
              </a:ext>
            </a:extLst>
          </p:cNvPr>
          <p:cNvGraphicFramePr/>
          <p:nvPr/>
        </p:nvGraphicFramePr>
        <p:xfrm>
          <a:off xmlns:a="http://schemas.openxmlformats.org/drawingml/2006/main" x="495300" y="2209800"/>
          <a:ext xmlns:a="http://schemas.openxmlformats.org/drawingml/2006/main" cx="11201400" cy="3476625"/>
        </p:xfrm>
        <a:graphic xmlns:a="http://schemas.openxmlformats.org/drawingml/2006/main">
          <a:graphicData uri="http://schemas.openxmlformats.org/drawingml/2006/table">
            <a:tbl>
              <a:tblPr firstRow="0" firstCol="0" bandRow="0"/>
              <a:tblGrid>
                <a:gridCol w="2438400"/>
                <a:gridCol w="1752600"/>
                <a:gridCol w="1752600"/>
                <a:gridCol w="1752600"/>
                <a:gridCol w="1752600"/>
                <a:gridCol w="1752600"/>
              </a:tblGrid>
              <a:tr h="962025">
                <a:tc>
                  <a:txBody>
                    <a:bodyPr wrap="square">
                      <a:noAutofit/>
                    </a:bodyPr>
                    <a:lstStyle/>
                    <a:p>
                      <a:pPr algn="l"/>
                      <a:r>
                        <a:rPr sz="1500" b="1">
                          <a:solidFill>
                            <a:srgbClr val="193C32"/>
                          </a:solidFill>
                          <a:latin typeface="Helvetica Neue"/>
                          <a:ea typeface="Helvetica Neue"/>
                          <a:cs typeface="Helvetica Neue"/>
                        </a:rPr>
                        <a:t>The customer journey</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193C32"/>
                          </a:solidFill>
                          <a:latin typeface="Helvetica Neue"/>
                          <a:ea typeface="Helvetica Neue"/>
                          <a:cs typeface="Helvetica Neue"/>
                        </a:rPr>
                        <a:t>Pre-1990s</a:t>
                      </a:r>
                    </a:p>
                    <a:p>
                      <a:pPr algn="ctr"/>
                      <a:r>
                        <a:rPr sz="1650" b="1">
                          <a:solidFill>
                            <a:srgbClr val="193C32"/>
                          </a:solidFill>
                          <a:latin typeface="Helvetica Neue"/>
                          <a:ea typeface="Helvetica Neue"/>
                          <a:cs typeface="Helvetica Neue"/>
                        </a:rPr>
                        <a:t>Yellow Pages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193C32"/>
                          </a:solidFill>
                          <a:latin typeface="Helvetica Neue"/>
                          <a:ea typeface="Helvetica Neue"/>
                          <a:cs typeface="Helvetica Neue"/>
                        </a:rPr>
                        <a:t>1990s</a:t>
                      </a:r>
                    </a:p>
                    <a:p>
                      <a:pPr algn="ctr"/>
                      <a:r>
                        <a:rPr sz="1650" b="1">
                          <a:solidFill>
                            <a:srgbClr val="193C32"/>
                          </a:solidFill>
                          <a:latin typeface="Helvetica Neue"/>
                          <a:ea typeface="Helvetica Neue"/>
                          <a:cs typeface="Helvetica Neue"/>
                        </a:rPr>
                        <a:t>Google /</a:t>
                      </a:r>
                    </a:p>
                    <a:p>
                      <a:pPr algn="ctr"/>
                      <a:r>
                        <a:rPr sz="1650" b="1">
                          <a:solidFill>
                            <a:srgbClr val="193C32"/>
                          </a:solidFill>
                          <a:latin typeface="Helvetica Neue"/>
                          <a:ea typeface="Helvetica Neue"/>
                          <a:cs typeface="Helvetica Neue"/>
                        </a:rPr>
                        <a:t>Craigslist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193C32"/>
                          </a:solidFill>
                          <a:latin typeface="Helvetica Neue"/>
                          <a:ea typeface="Helvetica Neue"/>
                          <a:cs typeface="Helvetica Neue"/>
                        </a:rPr>
                        <a:t>2000s–2010s</a:t>
                      </a:r>
                    </a:p>
                    <a:p>
                      <a:pPr algn="ctr"/>
                      <a:r>
                        <a:rPr sz="1650" b="1">
                          <a:solidFill>
                            <a:srgbClr val="193C32"/>
                          </a:solidFill>
                          <a:latin typeface="Helvetica Neue"/>
                          <a:ea typeface="Helvetica Neue"/>
                          <a:cs typeface="Helvetica Neue"/>
                        </a:rPr>
                        <a:t>Google Maps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193C32"/>
                          </a:solidFill>
                          <a:latin typeface="Helvetica Neue"/>
                          <a:ea typeface="Helvetica Neue"/>
                          <a:cs typeface="Helvetica Neue"/>
                        </a:rPr>
                        <a:t>2020s</a:t>
                      </a:r>
                    </a:p>
                    <a:p>
                      <a:pPr algn="ctr"/>
                      <a:r>
                        <a:rPr sz="1650" b="1">
                          <a:solidFill>
                            <a:srgbClr val="193C32"/>
                          </a:solidFill>
                          <a:latin typeface="Helvetica Neue"/>
                          <a:ea typeface="Helvetica Neue"/>
                          <a:cs typeface="Helvetica Neue"/>
                        </a:rPr>
                        <a:t>AI agents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FFFFFF"/>
                          </a:solidFill>
                          <a:latin typeface="Helvetica Neue"/>
                          <a:ea typeface="Helvetica Neue"/>
                          <a:cs typeface="Helvetica Neue"/>
                        </a:rPr>
                        <a:t>Next (planned)</a:t>
                      </a:r>
                    </a:p>
                    <a:p>
                      <a:pPr algn="ctr"/>
                      <a:r>
                        <a:rPr sz="1650" b="1">
                          <a:solidFill>
                            <a:srgbClr val="FFFFFF"/>
                          </a:solidFill>
                          <a:latin typeface="Helvetica Neue"/>
                          <a:ea typeface="Helvetica Neue"/>
                          <a:cs typeface="Helvetica Neue"/>
                        </a:rPr>
                        <a:t>AI agents</a:t>
                      </a:r>
                    </a:p>
                    <a:p>
                      <a:pPr algn="ctr"/>
                      <a:r>
                        <a:rPr sz="1650" b="1">
                          <a:solidFill>
                            <a:srgbClr val="FFFFFF"/>
                          </a:solidFill>
                          <a:latin typeface="Helvetica Neue"/>
                          <a:ea typeface="Helvetica Neue"/>
                          <a:cs typeface="Helvetica Neue"/>
                        </a:rPr>
                        <a:t>+ GoLocal</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419100">
                <a:tc>
                  <a:txBody>
                    <a:bodyPr wrap="square">
                      <a:noAutofit/>
                    </a:bodyPr>
                    <a:lstStyle/>
                    <a:p>
                      <a:pPr algn="l"/>
                      <a:r>
                        <a:rPr sz="1650" b="1">
                          <a:solidFill>
                            <a:srgbClr val="193C32"/>
                          </a:solidFill>
                          <a:latin typeface="Helvetica Neue"/>
                          <a:ea typeface="Helvetica Neue"/>
                          <a:cs typeface="Helvetica Neue"/>
                        </a:rPr>
                        <a:t>Find a business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r>
                        <a:rPr sz="1650" b="1">
                          <a:solidFill>
                            <a:srgbClr val="193C32"/>
                          </a:solidFill>
                          <a:latin typeface="Helvetica Neue"/>
                          <a:ea typeface="Helvetica Neue"/>
                          <a:cs typeface="Helvetica Neue"/>
                        </a:rPr>
                        <a:t>Compare options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r>
                        <a:rPr sz="1650" b="1">
                          <a:solidFill>
                            <a:srgbClr val="193C32"/>
                          </a:solidFill>
                          <a:latin typeface="Helvetica Neue"/>
                          <a:ea typeface="Helvetica Neue"/>
                          <a:cs typeface="Helvetica Neue"/>
                        </a:rPr>
                        <a:t>Check location</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r>
                        <a:rPr sz="1650" b="1">
                          <a:solidFill>
                            <a:srgbClr val="193C32"/>
                          </a:solidFill>
                          <a:latin typeface="Helvetica Neue"/>
                          <a:ea typeface="Helvetica Neue"/>
                          <a:cs typeface="Helvetica Neue"/>
                        </a:rPr>
                        <a:t>Scope &amp; quote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Agent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r>
                        <a:rPr sz="1650" b="1">
                          <a:solidFill>
                            <a:srgbClr val="193C32"/>
                          </a:solidFill>
                          <a:latin typeface="Helvetica Neue"/>
                          <a:ea typeface="Helvetica Neue"/>
                          <a:cs typeface="Helvetica Neue"/>
                        </a:rPr>
                        <a:t>Check slots &amp; book</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r>
                        <a:rPr sz="1650" b="1">
                          <a:solidFill>
                            <a:srgbClr val="193C32"/>
                          </a:solidFill>
                          <a:latin typeface="Helvetica Neue"/>
                          <a:ea typeface="Helvetica Neue"/>
                          <a:cs typeface="Helvetica Neue"/>
                        </a:rPr>
                        <a:t>Pay &amp; manage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bl>
          </a:graphicData>
        </a:graphic>
      </p:graphicFrame>
      <p:sp>
        <p:nvSpPr>
          <p:cNvPr id="7" name="slide1-polish-5">
            <a:extLst xmlns:a="http://schemas.openxmlformats.org/drawingml/2006/main">
              <a:ext uri="{FF2B5EF4-FFF2-40B4-BE49-F238E27FC236}">
                <a16:creationId xmlns:a16="http://schemas.microsoft.com/office/drawing/2014/main" id="{F8FD46F0-EF17-4D5B-AEF5-A8E0EEEB8499}"/>
              </a:ext>
            </a:extLst>
          </p:cNvPr>
          <p:cNvSpPr>
            <a:spLocks xmlns:a="http://schemas.openxmlformats.org/drawingml/2006/main" noGrp="1"/>
          </p:cNvSpPr>
          <p:nvPr/>
        </p:nvSpPr>
        <p:spPr>
          <a:xfrm xmlns:a="http://schemas.openxmlformats.org/drawingml/2006/main">
            <a:off x="495300" y="593407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GoLocal makes participating businesses bookable by AI agents.</a:t>
            </a:r>
          </a:p>
        </p:txBody>
      </p:sp>
      <p:sp>
        <p:nvSpPr>
          <p:cNvPr id="8" name="slide1-polish-6">
            <a:extLst xmlns:a="http://schemas.openxmlformats.org/drawingml/2006/main">
              <a:ext uri="{FF2B5EF4-FFF2-40B4-BE49-F238E27FC236}">
                <a16:creationId xmlns:a16="http://schemas.microsoft.com/office/drawing/2014/main" id="{E1F6AF0E-3788-405B-95A7-89CCA7B6BCF9}"/>
              </a:ext>
            </a:extLst>
          </p:cNvPr>
          <p:cNvSpPr>
            <a:spLocks xmlns:a="http://schemas.openxmlformats.org/drawingml/2006/main" noGrp="1"/>
          </p:cNvSpPr>
          <p:nvPr/>
        </p:nvSpPr>
        <p:spPr>
          <a:xfrm xmlns:a="http://schemas.openxmlformats.org/drawingml/2006/main">
            <a:off x="495300" y="6429375"/>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65746C"/>
                </a:solidFill>
                <a:latin typeface="Helvetica Neue"/>
                <a:ea typeface="Helvetica Neue"/>
                <a:cs typeface="Helvetica Neue"/>
              </a:defRPr>
            </a:defPPr>
          </a:lstStyle>
          <a:p xmlns:a="http://schemas.openxmlformats.org/drawingml/2006/main">
            <a:pPr>
              <a:defRPr sz="1200" b="0">
                <a:solidFill>
                  <a:srgbClr val="65746C"/>
                </a:solidFill>
                <a:latin typeface="Helvetica Neue"/>
                <a:ea typeface="Helvetica Neue"/>
                <a:cs typeface="Helvetica Neue"/>
              </a:defRPr>
            </a:pPr>
            <a:r>
              <a:rPr sz="1200" b="0">
                <a:solidFill>
                  <a:srgbClr val="65746C"/>
                </a:solidFill>
                <a:latin typeface="Helvetica Neue"/>
                <a:ea typeface="Helvetica Neue"/>
                <a:cs typeface="Helvetica Neue"/>
              </a:rPr>
              <a:t>Illustrative eras and typical workflow. Some platforms already transact; complex quotes still need business input.</a:t>
            </a:r>
          </a:p>
        </p:txBody>
      </p:sp>
      <p:sp>
        <p:nvSpPr>
          <p:cNvPr id="9" name="slide1-polish-7">
            <a:extLst xmlns:a="http://schemas.openxmlformats.org/drawingml/2006/main">
              <a:ext uri="{FF2B5EF4-FFF2-40B4-BE49-F238E27FC236}">
                <a16:creationId xmlns:a16="http://schemas.microsoft.com/office/drawing/2014/main" id="{8DFBC5E3-33E6-4B70-BBBA-6D55A3644D92}"/>
              </a:ext>
            </a:extLst>
          </p:cNvPr>
          <p:cNvSpPr>
            <a:spLocks xmlns:a="http://schemas.openxmlformats.org/drawingml/2006/main" noGrp="1"/>
          </p:cNvSpPr>
          <p:nvPr/>
        </p:nvSpPr>
        <p:spPr>
          <a:xfrm xmlns:a="http://schemas.openxmlformats.org/drawingml/2006/main">
            <a:off x="11049000" y="64960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204FBA25-8593-4474-923E-1C7A1C535057}"/>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E8687C5B-ECD6-437B-B2DE-4D1CADE21333}"/>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72D80516-2C2F-488E-BB67-A26C80C2D339}"/>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0138632B-CF7C-4810-8DD1-F0B8D205A87A}"/>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FB87B5C8-150C-4770-A31D-D1032254194C}"/>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25B28586-BE85-4397-8755-985B293B88DB}"/>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5608E2C4-728A-43F6-B733-9F6437CF2433}"/>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42D6B31C-F15C-44D0-AE32-09EE3DA26478}"/>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2A692D8C-7221-486E-88A1-7FAA0FE218FD}"/>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Dots</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9B85A45-43D2-45DA-A528-1935D683A82D}"/>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73487D66-7EF3-4E21-B38E-16C371FE67A4}"/>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AEE7354-CBCD-464F-8C8F-2DDD36F98495}"/>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D4C186A2-C3B2-4D65-A5F3-A5D717042C3F}"/>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2026-10-10T22:41:48.2220000Z</dcterms:created>
  <dcterms:modified xsi:type="dcterms:W3CDTF">2026-10-10T22:41:48.2220000Z</dcterms:modified>
</coreProperties>
</file>