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52e34f4c7d4f89" /><Relationship Type="http://schemas.openxmlformats.org/officeDocument/2006/relationships/extended-properties" Target="/docProps/app.xml" Id="Rb951579f94be450f" /><Relationship Type="http://schemas.openxmlformats.org/officeDocument/2006/relationships/officeDocument" Target="/ppt/presentation.xml" Id="R857ba9bdd55e4892" /></Relationships>
</file>

<file path=ppt/presentation.xml><?xml version="1.0" encoding="utf-8"?>
<p:presentation xmlns:p="http://schemas.openxmlformats.org/presentationml/2006/main">
  <p:sldMasterIdLst>
    <p:sldMasterId xmlns:r="http://schemas.openxmlformats.org/officeDocument/2006/relationships" id="2147483648" r:id="R48cdf366661349e3"/>
  </p:sldMasterIdLst>
  <p:notesMasterIdLst>
    <p:notesMasterId xmlns:r="http://schemas.openxmlformats.org/officeDocument/2006/relationships" r:id="Rcbb420086a724428"/>
  </p:notesMasterIdLst>
  <p:sldIdLst>
    <p:sldId xmlns:r="http://schemas.openxmlformats.org/officeDocument/2006/relationships" id="256" r:id="R5495b1bfd0d34416"/>
    <p:sldId xmlns:r="http://schemas.openxmlformats.org/officeDocument/2006/relationships" id="257" r:id="R064a352e86ab417d"/>
    <p:sldId xmlns:r="http://schemas.openxmlformats.org/officeDocument/2006/relationships" id="258" r:id="R54cba973a8c64204"/>
    <p:sldId xmlns:r="http://schemas.openxmlformats.org/officeDocument/2006/relationships" id="259" r:id="Ra768034c443f4ce7"/>
    <p:sldId xmlns:r="http://schemas.openxmlformats.org/officeDocument/2006/relationships" id="260" r:id="Re24497f3f28d4539"/>
    <p:sldId xmlns:r="http://schemas.openxmlformats.org/officeDocument/2006/relationships" id="261" r:id="Ra192ad00adca46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7b133e2d4a4bc7" /><Relationship Type="http://schemas.openxmlformats.org/officeDocument/2006/relationships/slideMaster" Target="/ppt/slideMasters/slideMaster1.xml" Id="R48cdf366661349e3" /><Relationship Type="http://schemas.openxmlformats.org/officeDocument/2006/relationships/notesMaster" Target="/ppt/notesMasters/notesMaster1.xml" Id="Rcbb420086a724428" /><Relationship Type="http://schemas.openxmlformats.org/officeDocument/2006/relationships/presProps" Target="/ppt/presProps.xml" Id="R08db8b085d154dfe" /><Relationship Type="http://schemas.openxmlformats.org/officeDocument/2006/relationships/tableStyles" Target="/ppt/tableStyles.xml" Id="Ra503a250c1f84f27" /><Relationship Type="http://schemas.openxmlformats.org/officeDocument/2006/relationships/slide" Target="/ppt/slides/slide1.xml" Id="R5495b1bfd0d34416" /><Relationship Type="http://schemas.openxmlformats.org/officeDocument/2006/relationships/slide" Target="/ppt/slides/slide2.xml" Id="R064a352e86ab417d" /><Relationship Type="http://schemas.openxmlformats.org/officeDocument/2006/relationships/slide" Target="/ppt/slides/slide3.xml" Id="R54cba973a8c64204" /><Relationship Type="http://schemas.openxmlformats.org/officeDocument/2006/relationships/slide" Target="/ppt/slides/slide4.xml" Id="Ra768034c443f4ce7" /><Relationship Type="http://schemas.openxmlformats.org/officeDocument/2006/relationships/slide" Target="/ppt/slides/slide5.xml" Id="Re24497f3f28d4539" /><Relationship Type="http://schemas.openxmlformats.org/officeDocument/2006/relationships/slide" Target="/ppt/slides/slide6.xml" Id="Ra192ad00adca463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8050f3a4d346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34064f4e2344a1" /><Relationship Type="http://schemas.openxmlformats.org/officeDocument/2006/relationships/notesMaster" Target="/ppt/notesMasters/notesMaster1.xml" Id="R55aa6c2825c845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5ba4bf6c114f10" /><Relationship Type="http://schemas.openxmlformats.org/officeDocument/2006/relationships/notesMaster" Target="/ppt/notesMasters/notesMaster1.xml" Id="Ra371816d580f4887"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9cf66f0e114c44" /><Relationship Type="http://schemas.openxmlformats.org/officeDocument/2006/relationships/notesMaster" Target="/ppt/notesMasters/notesMaster1.xml" Id="R35f029bed91746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5fb802fe9e4c26" /><Relationship Type="http://schemas.openxmlformats.org/officeDocument/2006/relationships/notesMaster" Target="/ppt/notesMasters/notesMaster1.xml" Id="Rb4c0598aec914b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1dced3597d4196" /><Relationship Type="http://schemas.openxmlformats.org/officeDocument/2006/relationships/notesMaster" Target="/ppt/notesMasters/notesMaster1.xml" Id="Re2bb3ea1f45442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9f12048884485f" /><Relationship Type="http://schemas.openxmlformats.org/officeDocument/2006/relationships/notesMaster" Target="/ppt/notesMasters/notesMaster1.xml" Id="Rb3f142a8f8264f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replaces the earlier two-route distribution comparison with the founder-approved launch and growth plan. Proposed Salt Lake City pilot: one city and one service category. Service category and first audience remain to be selected; no live pilot transactions are asserted. Channel partners onboard participating businesses while GoLocal recruits users with a specific booking need. Concentrating supply and demand is the cold-start strategy, not evidence that cold start is already solved. The highlighted prompt expresses the intended one-time connector setup experience on compatible agent platforms; platform sign-in/authorization can follow, and transaction approvals are separate from connector installation. Setup, directory approval and native agent selection need to be verified on each target platform. The growth loop is a strategy: useful fulfilled bookings can support wider discovery and recommendations, which can bring more requests and attract more participating supply. It does not claim an automatic cross-user learning/ranking mechanism, universal recommendation eligibility or guaranteed agent traffic. OpenAI official plugin guidelines say plugins demonstrating strong real-world utility and high user satisfaction may be eligible for enhanced distribution such as directory placement or proactive suggestions: https://developers.openai.com/plugins/plugin-guidelines . OpenAI announcement describes discovery signals including conversational context, app usage patterns and user preferences: https://openai.com/index/developers-can-now-submit-apps-to-chatgpt/ . Muse guidelines say approved connectors are discoverable by its agent and in Settings; as users connect and get value more people discover them; featuring considers usefulness, completion, reliability and maintenance and is not guaranteed: https://muse.ai/platform/docs . Sources reviewed October 10 2026. Expansion category by category and city by city is planned after the first useful local coverage and booking outcomes. Supporting tactic, not on slide: invite a relevant provider to connect when there is a genuine customer-authorized request it can fulfill; sharing and routing require permission and support. Longer-term goal: direct personal-agent integration to become a default choice for relevant covered requests, not guaranteed routing of every search. Proposed business-paid success fee applies to fulfilled new-customer jobs, with a commercial share for contributing partners. Price, split, attributable volume, paid continuation and margins remain unagreed/unmeasured; no invented revenue mix or forecast. Existing-customer management is a separate commercial hypothesis. Founder latest update reports channel partnerships to onboard 50 service providers; preserve as a future onboarding commitment, not live supply, and reconcile the exact partner identities/counts when revising slide 5. That slide remains unchanged in this revision. No claim that Cactus is the dominant overall mid-market vendor. Slides 1–3 and 5–6 preserved. No outreach, bookings, application attachment change or submission.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reports October 10 2026: Cactus AI (YC) serves 100+ mid-market trade shops in Salt Lake City and Dallas and agreed to introductions and booking access through its existing customers. Separate back-office management company agreed to onboard its 20 clients. Counts are not unique live GoLocal customers and are not summed. No active integration, request-routing partner, production booking, paid continuation or revenue established. Positive interviews and partnership calls reported without a count or attributable testimonials. Public Cactus identity: https://www.ycombinator.com/companies/oncactus ; public profile does not prove the private commitment. Initial trade and city to be selected from eligible requests and partner access, not assumed Boston cleaning. Next tasks include getting merchant-specific authorization and an actual customer demand channel. Team should show the product completes permitted scoped actions rather than only serving listings.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Pulkit founder-supplied: Urban Company founding team member, decade building Asia local services, helped scale company zero to $3B IPO. Company milestone, not personal wealth. HBS MBA student. Profile https://www.linkedin.com/in/pulkitwalia/ . Rohit is shown as Engineering as supplied, not an inferred CTO/cofounder title; role commitment unspecified. Founder reports production-grade MCP products and system-design teaching. Engineering employer context: https://laoh.ai/ links to supplied https://www.linkedin.com/in/rohit-jain-343437187/ . Relevant fit is operational experience building local services plus backend and transaction systems. Connector, demand and unit-economics proof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11b942bc14410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efca451f52f47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9be672c4d440e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204103d3c7442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8ae90d06244b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091b76a44545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dab851ee6a444e" /><Relationship Type="http://schemas.openxmlformats.org/officeDocument/2006/relationships/slideLayout" Target="/ppt/slideLayouts/slideLayout1.xml" Id="R23e0221dc3854a46" /><Relationship Type="http://schemas.openxmlformats.org/officeDocument/2006/relationships/slideLayout" Target="/ppt/slideLayouts/slideLayout2.xml" Id="R89eda72729f341a3" /><Relationship Type="http://schemas.openxmlformats.org/officeDocument/2006/relationships/slideLayout" Target="/ppt/slideLayouts/slideLayout3.xml" Id="Rb17320c1359f4f36" /><Relationship Type="http://schemas.openxmlformats.org/officeDocument/2006/relationships/slideLayout" Target="/ppt/slideLayouts/slideLayout4.xml" Id="R0ee15efa8dc44762" /><Relationship Type="http://schemas.openxmlformats.org/officeDocument/2006/relationships/slideLayout" Target="/ppt/slideLayouts/slideLayout5.xml" Id="R62b1bff5b8e64c5c" /><Relationship Type="http://schemas.openxmlformats.org/officeDocument/2006/relationships/slideLayout" Target="/ppt/slideLayouts/slideLayout6.xml" Id="R93debae426a04c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e0221dc3854a46"/>
    <p:sldLayoutId xmlns:r="http://schemas.openxmlformats.org/officeDocument/2006/relationships" id="2147483650" r:id="R89eda72729f341a3"/>
    <p:sldLayoutId xmlns:r="http://schemas.openxmlformats.org/officeDocument/2006/relationships" id="2147483651" r:id="Rb17320c1359f4f36"/>
    <p:sldLayoutId xmlns:r="http://schemas.openxmlformats.org/officeDocument/2006/relationships" id="2147483652" r:id="R0ee15efa8dc44762"/>
    <p:sldLayoutId xmlns:r="http://schemas.openxmlformats.org/officeDocument/2006/relationships" id="2147483653" r:id="R62b1bff5b8e64c5c"/>
    <p:sldLayoutId xmlns:r="http://schemas.openxmlformats.org/officeDocument/2006/relationships" id="2147483654" r:id="R93debae426a04c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e116c6999c4f57" /><Relationship Type="http://schemas.openxmlformats.org/officeDocument/2006/relationships/notesSlide" Target="/ppt/notesSlides/notesSlide1.xml" Id="Rec79da62879843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06380353a44976" /><Relationship Type="http://schemas.openxmlformats.org/officeDocument/2006/relationships/notesSlide" Target="/ppt/notesSlides/notesSlide2.xml" Id="R46eb606440e94c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9006f4450414508" /><Relationship Type="http://schemas.openxmlformats.org/officeDocument/2006/relationships/notesSlide" Target="/ppt/notesSlides/notesSlide3.xml" Id="R6c8976ba5d3945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24ce057bef9495b" /><Relationship Type="http://schemas.openxmlformats.org/officeDocument/2006/relationships/notesSlide" Target="/ppt/notesSlides/notesSlide4.xml" Id="R7cff0b9d31c849f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7fcca148392492a" /><Relationship Type="http://schemas.openxmlformats.org/officeDocument/2006/relationships/notesSlide" Target="/ppt/notesSlides/notesSlide5.xml" Id="Ra3d293f479c345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93c474736b4fed" /><Relationship Type="http://schemas.openxmlformats.org/officeDocument/2006/relationships/notesSlide" Target="/ppt/notesSlides/notesSlide6.xml" Id="Re81b2437f9d44169"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8E815805-FB18-43FC-BBAE-B989DC8FE032}"/>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6</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4396189D-6037-4BAA-AFB3-B4637C253A13}"/>
              </a:ext>
            </a:extLst>
          </p:cNvPr>
          <p:cNvCxnSpPr>
            <a:stCxn xmlns:a="http://schemas.openxmlformats.org/drawingml/2006/main" id="22" idx="3"/>
            <a:endCxn xmlns:a="http://schemas.openxmlformats.org/drawingml/2006/main" id="3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4" name="">
            <a:extLst xmlns:a="http://schemas.openxmlformats.org/drawingml/2006/main">
              <a:ext uri="{FF2B5EF4-FFF2-40B4-BE49-F238E27FC236}">
                <a16:creationId xmlns:a16="http://schemas.microsoft.com/office/drawing/2014/main" id="{D5701B03-8881-45AE-B9DF-EDB2DAC7AD94}"/>
              </a:ext>
            </a:extLst>
          </p:cNvPr>
          <p:cNvCxnSpPr>
            <a:stCxn xmlns:a="http://schemas.openxmlformats.org/drawingml/2006/main" id="15" idx="3"/>
            <a:endCxn xmlns:a="http://schemas.openxmlformats.org/drawingml/2006/main" id="2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3" name="">
            <a:extLst xmlns:a="http://schemas.openxmlformats.org/drawingml/2006/main">
              <a:ext uri="{FF2B5EF4-FFF2-40B4-BE49-F238E27FC236}">
                <a16:creationId xmlns:a16="http://schemas.microsoft.com/office/drawing/2014/main" id="{E3590F2E-0E29-456B-8976-4B24D774C078}"/>
              </a:ext>
            </a:extLst>
          </p:cNvPr>
          <p:cNvCxnSpPr>
            <a:stCxn xmlns:a="http://schemas.openxmlformats.org/drawingml/2006/main" id="21" idx="3"/>
            <a:endCxn xmlns:a="http://schemas.openxmlformats.org/drawingml/2006/main" id="3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2" name="">
            <a:extLst xmlns:a="http://schemas.openxmlformats.org/drawingml/2006/main">
              <a:ext uri="{FF2B5EF4-FFF2-40B4-BE49-F238E27FC236}">
                <a16:creationId xmlns:a16="http://schemas.microsoft.com/office/drawing/2014/main" id="{D8718264-B802-4D1C-89B6-2FFE16193781}"/>
              </a:ext>
            </a:extLst>
          </p:cNvPr>
          <p:cNvCxnSpPr>
            <a:stCxn xmlns:a="http://schemas.openxmlformats.org/drawingml/2006/main" id="15" idx="3"/>
            <a:endCxn xmlns:a="http://schemas.openxmlformats.org/drawingml/2006/main" id="2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1" name="">
            <a:extLst xmlns:a="http://schemas.openxmlformats.org/drawingml/2006/main">
              <a:ext uri="{FF2B5EF4-FFF2-40B4-BE49-F238E27FC236}">
                <a16:creationId xmlns:a16="http://schemas.microsoft.com/office/drawing/2014/main" id="{9DF2340C-2820-402A-BAC9-0F50F8EB4D1A}"/>
              </a:ext>
            </a:extLst>
          </p:cNvPr>
          <p:cNvCxnSpPr>
            <a:stCxn xmlns:a="http://schemas.openxmlformats.org/drawingml/2006/main" id="20" idx="3"/>
            <a:endCxn xmlns:a="http://schemas.openxmlformats.org/drawingml/2006/main" id="3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40" name="">
            <a:extLst xmlns:a="http://schemas.openxmlformats.org/drawingml/2006/main">
              <a:ext uri="{FF2B5EF4-FFF2-40B4-BE49-F238E27FC236}">
                <a16:creationId xmlns:a16="http://schemas.microsoft.com/office/drawing/2014/main" id="{B519E568-65FC-4EEB-A341-2C3114449A7D}"/>
              </a:ext>
            </a:extLst>
          </p:cNvPr>
          <p:cNvCxnSpPr>
            <a:stCxn xmlns:a="http://schemas.openxmlformats.org/drawingml/2006/main" id="15" idx="3"/>
            <a:endCxn xmlns:a="http://schemas.openxmlformats.org/drawingml/2006/main" id="2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9" name="">
            <a:extLst xmlns:a="http://schemas.openxmlformats.org/drawingml/2006/main">
              <a:ext uri="{FF2B5EF4-FFF2-40B4-BE49-F238E27FC236}">
                <a16:creationId xmlns:a16="http://schemas.microsoft.com/office/drawing/2014/main" id="{5FCBC59B-5D4B-411A-BB4C-21FB4580F0C9}"/>
              </a:ext>
            </a:extLst>
          </p:cNvPr>
          <p:cNvCxnSpPr>
            <a:stCxn xmlns:a="http://schemas.openxmlformats.org/drawingml/2006/main" id="14" idx="3"/>
            <a:endCxn xmlns:a="http://schemas.openxmlformats.org/drawingml/2006/main" id="15" idx="1"/>
          </p:cNvCxnSpPr>
          <p:nvPr/>
        </p:nvCxnSpPr>
        <p:spPr>
          <a:xfrm xmlns:a="http://schemas.openxmlformats.org/drawingml/2006/main" flipV="1">
            <a:off x="2362200" y="4133850"/>
            <a:ext cx="838200" cy="10525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8" name="">
            <a:extLst xmlns:a="http://schemas.openxmlformats.org/drawingml/2006/main">
              <a:ext uri="{FF2B5EF4-FFF2-40B4-BE49-F238E27FC236}">
                <a16:creationId xmlns:a16="http://schemas.microsoft.com/office/drawing/2014/main" id="{4CC66D6F-C584-4C83-9287-B11C9CC94EED}"/>
              </a:ext>
            </a:extLst>
          </p:cNvPr>
          <p:cNvCxnSpPr>
            <a:stCxn xmlns:a="http://schemas.openxmlformats.org/drawingml/2006/main" id="13" idx="3"/>
            <a:endCxn xmlns:a="http://schemas.openxmlformats.org/drawingml/2006/main" id="15" idx="1"/>
          </p:cNvCxnSpPr>
          <p:nvPr/>
        </p:nvCxnSpPr>
        <p:spPr>
          <a:xfrm xmlns:a="http://schemas.openxmlformats.org/drawingml/2006/main" flipV="1">
            <a:off x="2362200" y="4133850"/>
            <a:ext cx="838200" cy="519113"/>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7" name="">
            <a:extLst xmlns:a="http://schemas.openxmlformats.org/drawingml/2006/main">
              <a:ext uri="{FF2B5EF4-FFF2-40B4-BE49-F238E27FC236}">
                <a16:creationId xmlns:a16="http://schemas.microsoft.com/office/drawing/2014/main" id="{E1736901-6FE8-44F9-9D96-36D4D642B60C}"/>
              </a:ext>
            </a:extLst>
          </p:cNvPr>
          <p:cNvCxnSpPr>
            <a:stCxn xmlns:a="http://schemas.openxmlformats.org/drawingml/2006/main" id="12" idx="3"/>
            <a:endCxn xmlns:a="http://schemas.openxmlformats.org/drawingml/2006/main" id="15" idx="1"/>
          </p:cNvCxnSpPr>
          <p:nvPr/>
        </p:nvCxnSpPr>
        <p:spPr>
          <a:xfrm xmlns:a="http://schemas.openxmlformats.org/drawingml/2006/main">
            <a:off x="2362200" y="4119563"/>
            <a:ext cx="838200" cy="142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6" name="">
            <a:extLst xmlns:a="http://schemas.openxmlformats.org/drawingml/2006/main">
              <a:ext uri="{FF2B5EF4-FFF2-40B4-BE49-F238E27FC236}">
                <a16:creationId xmlns:a16="http://schemas.microsoft.com/office/drawing/2014/main" id="{1104BC32-9464-43BB-A326-0A3C65DF5C1F}"/>
              </a:ext>
            </a:extLst>
          </p:cNvPr>
          <p:cNvCxnSpPr>
            <a:stCxn xmlns:a="http://schemas.openxmlformats.org/drawingml/2006/main" id="11" idx="3"/>
            <a:endCxn xmlns:a="http://schemas.openxmlformats.org/drawingml/2006/main" id="15" idx="1"/>
          </p:cNvCxnSpPr>
          <p:nvPr/>
        </p:nvCxnSpPr>
        <p:spPr>
          <a:xfrm xmlns:a="http://schemas.openxmlformats.org/drawingml/2006/main">
            <a:off x="2362200" y="3586163"/>
            <a:ext cx="838200" cy="5476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35" name="">
            <a:extLst xmlns:a="http://schemas.openxmlformats.org/drawingml/2006/main">
              <a:ext uri="{FF2B5EF4-FFF2-40B4-BE49-F238E27FC236}">
                <a16:creationId xmlns:a16="http://schemas.microsoft.com/office/drawing/2014/main" id="{B1E8420B-927C-40BE-86BF-9586747ACB1B}"/>
              </a:ext>
            </a:extLst>
          </p:cNvPr>
          <p:cNvCxnSpPr>
            <a:stCxn xmlns:a="http://schemas.openxmlformats.org/drawingml/2006/main" id="10" idx="3"/>
            <a:endCxn xmlns:a="http://schemas.openxmlformats.org/drawingml/2006/main" id="15" idx="1"/>
          </p:cNvCxnSpPr>
          <p:nvPr/>
        </p:nvCxnSpPr>
        <p:spPr>
          <a:xfrm xmlns:a="http://schemas.openxmlformats.org/drawingml/2006/main">
            <a:off x="2362200" y="3052763"/>
            <a:ext cx="838200" cy="1081088"/>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51" name="booking-layer-text-0">
            <a:extLst xmlns:a="http://schemas.openxmlformats.org/drawingml/2006/main">
              <a:ext uri="{FF2B5EF4-FFF2-40B4-BE49-F238E27FC236}">
                <a16:creationId xmlns:a16="http://schemas.microsoft.com/office/drawing/2014/main" id="{E48F8FED-A27D-4DAB-BAA5-227699B5518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847E04A8-178B-452D-9E97-6F9C254DAA27}"/>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F41CB013-7BCB-4338-9964-739C89976BB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11480297-1624-4B2F-AA7F-6DA576664535}"/>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8118EB35-3C07-4ECE-86DE-BB3D42CA7B19}"/>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526ACE38-5FE5-4CC9-874C-00F6D439DCEB}"/>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9B1276D4-3C06-4E58-9D58-6316F85BF4D1}"/>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AF49FDB8-FC61-478D-BF7A-24F1590254B6}"/>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076E897A-EBF8-4C29-9183-B6958AECC17E}"/>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2AB778B6-875B-4ED6-A364-8E44E43FAFE3}"/>
              </a:ext>
            </a:extLst>
          </p:cNvPr>
          <p:cNvSpPr>
            <a:spLocks xmlns:a="http://schemas.openxmlformats.org/drawingml/2006/main" noGrp="1"/>
          </p:cNvSpPr>
          <p:nvPr/>
        </p:nvSpPr>
        <p:spPr>
          <a:xfrm xmlns:a="http://schemas.openxmlformats.org/drawingml/2006/main">
            <a:off x="495300" y="28479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9D01749D-9EFB-4256-A5E0-4C0034A587AD}"/>
              </a:ext>
            </a:extLst>
          </p:cNvPr>
          <p:cNvSpPr>
            <a:spLocks xmlns:a="http://schemas.openxmlformats.org/drawingml/2006/main" noGrp="1"/>
          </p:cNvSpPr>
          <p:nvPr/>
        </p:nvSpPr>
        <p:spPr>
          <a:xfrm xmlns:a="http://schemas.openxmlformats.org/drawingml/2006/main">
            <a:off x="495300" y="33813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Muse</a:t>
            </a:r>
          </a:p>
        </p:txBody>
      </p:sp>
      <p:sp>
        <p:nvSpPr>
          <p:cNvPr id="12" name="booking-layer-node-11">
            <a:extLst xmlns:a="http://schemas.openxmlformats.org/drawingml/2006/main">
              <a:ext uri="{FF2B5EF4-FFF2-40B4-BE49-F238E27FC236}">
                <a16:creationId xmlns:a16="http://schemas.microsoft.com/office/drawing/2014/main" id="{18038CCA-6A3F-4C89-B05F-812B5257161B}"/>
              </a:ext>
            </a:extLst>
          </p:cNvPr>
          <p:cNvSpPr>
            <a:spLocks xmlns:a="http://schemas.openxmlformats.org/drawingml/2006/main" noGrp="1"/>
          </p:cNvSpPr>
          <p:nvPr/>
        </p:nvSpPr>
        <p:spPr>
          <a:xfrm xmlns:a="http://schemas.openxmlformats.org/drawingml/2006/main">
            <a:off x="495300" y="39147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E24133FC-A3EA-40E4-B045-AE2185BD864D}"/>
              </a:ext>
            </a:extLst>
          </p:cNvPr>
          <p:cNvSpPr>
            <a:spLocks xmlns:a="http://schemas.openxmlformats.org/drawingml/2006/main" noGrp="1"/>
          </p:cNvSpPr>
          <p:nvPr/>
        </p:nvSpPr>
        <p:spPr>
          <a:xfrm xmlns:a="http://schemas.openxmlformats.org/drawingml/2006/main">
            <a:off x="495300" y="44481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Town</a:t>
            </a:r>
          </a:p>
        </p:txBody>
      </p:sp>
      <p:sp>
        <p:nvSpPr>
          <p:cNvPr id="14" name="booking-layer-node-13">
            <a:extLst xmlns:a="http://schemas.openxmlformats.org/drawingml/2006/main">
              <a:ext uri="{FF2B5EF4-FFF2-40B4-BE49-F238E27FC236}">
                <a16:creationId xmlns:a16="http://schemas.microsoft.com/office/drawing/2014/main" id="{551D03ED-4E70-40E0-9E14-9FAB67EB24EC}"/>
              </a:ext>
            </a:extLst>
          </p:cNvPr>
          <p:cNvSpPr>
            <a:spLocks xmlns:a="http://schemas.openxmlformats.org/drawingml/2006/main" noGrp="1"/>
          </p:cNvSpPr>
          <p:nvPr/>
        </p:nvSpPr>
        <p:spPr>
          <a:xfrm xmlns:a="http://schemas.openxmlformats.org/drawingml/2006/main">
            <a:off x="495300" y="4981575"/>
            <a:ext cx="1866900" cy="409575"/>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Hark</a:t>
            </a:r>
          </a:p>
        </p:txBody>
      </p:sp>
      <p:sp>
        <p:nvSpPr>
          <p:cNvPr id="15" name="booking-layer-node-14">
            <a:extLst xmlns:a="http://schemas.openxmlformats.org/drawingml/2006/main">
              <a:ext uri="{FF2B5EF4-FFF2-40B4-BE49-F238E27FC236}">
                <a16:creationId xmlns:a16="http://schemas.microsoft.com/office/drawing/2014/main" id="{5E9A89A4-410D-4776-A3A5-65A28AA6ACEF}"/>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16" name="booking-layer-text-15">
            <a:extLst xmlns:a="http://schemas.openxmlformats.org/drawingml/2006/main">
              <a:ext uri="{FF2B5EF4-FFF2-40B4-BE49-F238E27FC236}">
                <a16:creationId xmlns:a16="http://schemas.microsoft.com/office/drawing/2014/main" id="{42A437C3-A855-4B7F-BF02-8819C5F9EEEB}"/>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17" name="booking-layer-text-16">
            <a:extLst xmlns:a="http://schemas.openxmlformats.org/drawingml/2006/main">
              <a:ext uri="{FF2B5EF4-FFF2-40B4-BE49-F238E27FC236}">
                <a16:creationId xmlns:a16="http://schemas.microsoft.com/office/drawing/2014/main" id="{10E4E30B-1C07-445C-8C93-D6991D7C17ED}"/>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18" name="booking-layer-text-17">
            <a:extLst xmlns:a="http://schemas.openxmlformats.org/drawingml/2006/main">
              <a:ext uri="{FF2B5EF4-FFF2-40B4-BE49-F238E27FC236}">
                <a16:creationId xmlns:a16="http://schemas.microsoft.com/office/drawing/2014/main" id="{8AF19F7C-207F-4F91-9F31-1FD8EA4DCCEB}"/>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19" name="booking-layer-text-18">
            <a:extLst xmlns:a="http://schemas.openxmlformats.org/drawingml/2006/main">
              <a:ext uri="{FF2B5EF4-FFF2-40B4-BE49-F238E27FC236}">
                <a16:creationId xmlns:a16="http://schemas.microsoft.com/office/drawing/2014/main" id="{A4481C7C-A26E-45C0-800C-66645FAFEE8C}"/>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20" name="booking-layer-node-19">
            <a:extLst xmlns:a="http://schemas.openxmlformats.org/drawingml/2006/main">
              <a:ext uri="{FF2B5EF4-FFF2-40B4-BE49-F238E27FC236}">
                <a16:creationId xmlns:a16="http://schemas.microsoft.com/office/drawing/2014/main" id="{CA8B52ED-4E79-486F-B789-F639748FC37D}"/>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1" name="booking-layer-node-20">
            <a:extLst xmlns:a="http://schemas.openxmlformats.org/drawingml/2006/main">
              <a:ext uri="{FF2B5EF4-FFF2-40B4-BE49-F238E27FC236}">
                <a16:creationId xmlns:a16="http://schemas.microsoft.com/office/drawing/2014/main" id="{B86FF550-1F39-404A-829B-365F8874C247}"/>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2" name="booking-layer-node-21">
            <a:extLst xmlns:a="http://schemas.openxmlformats.org/drawingml/2006/main">
              <a:ext uri="{FF2B5EF4-FFF2-40B4-BE49-F238E27FC236}">
                <a16:creationId xmlns:a16="http://schemas.microsoft.com/office/drawing/2014/main" id="{AE10DE1D-185F-4DD5-AB1D-0CB8154E1B0D}"/>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23" name="booking-layer-text-22">
            <a:extLst xmlns:a="http://schemas.openxmlformats.org/drawingml/2006/main">
              <a:ext uri="{FF2B5EF4-FFF2-40B4-BE49-F238E27FC236}">
                <a16:creationId xmlns:a16="http://schemas.microsoft.com/office/drawing/2014/main" id="{8C888CA3-5A25-4006-9481-C512DA4CCD69}"/>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24" name="booking-layer-text-23">
            <a:extLst xmlns:a="http://schemas.openxmlformats.org/drawingml/2006/main">
              <a:ext uri="{FF2B5EF4-FFF2-40B4-BE49-F238E27FC236}">
                <a16:creationId xmlns:a16="http://schemas.microsoft.com/office/drawing/2014/main" id="{2D22DA33-4A8F-4504-ADFB-7835538CF535}"/>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25" name="booking-layer-text-24">
            <a:extLst xmlns:a="http://schemas.openxmlformats.org/drawingml/2006/main">
              <a:ext uri="{FF2B5EF4-FFF2-40B4-BE49-F238E27FC236}">
                <a16:creationId xmlns:a16="http://schemas.microsoft.com/office/drawing/2014/main" id="{DB5E1D30-0BBE-4BF9-8633-85A4F0A89B70}"/>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26" name="booking-layer-text-25">
            <a:extLst xmlns:a="http://schemas.openxmlformats.org/drawingml/2006/main">
              <a:ext uri="{FF2B5EF4-FFF2-40B4-BE49-F238E27FC236}">
                <a16:creationId xmlns:a16="http://schemas.microsoft.com/office/drawing/2014/main" id="{ED3DC251-1D71-4F7B-98D1-94EDBF2FEC3D}"/>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27" name="booking-layer-text-26">
            <a:extLst xmlns:a="http://schemas.openxmlformats.org/drawingml/2006/main">
              <a:ext uri="{FF2B5EF4-FFF2-40B4-BE49-F238E27FC236}">
                <a16:creationId xmlns:a16="http://schemas.microsoft.com/office/drawing/2014/main" id="{28485419-5976-43A7-8365-2836F667759C}"/>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28" name="booking-layer-text-27">
            <a:extLst xmlns:a="http://schemas.openxmlformats.org/drawingml/2006/main">
              <a:ext uri="{FF2B5EF4-FFF2-40B4-BE49-F238E27FC236}">
                <a16:creationId xmlns:a16="http://schemas.microsoft.com/office/drawing/2014/main" id="{42D549FE-457E-4639-AABD-4A50873A4BC6}"/>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29" name="booking-layer-text-28">
            <a:extLst xmlns:a="http://schemas.openxmlformats.org/drawingml/2006/main">
              <a:ext uri="{FF2B5EF4-FFF2-40B4-BE49-F238E27FC236}">
                <a16:creationId xmlns:a16="http://schemas.microsoft.com/office/drawing/2014/main" id="{9E62A082-F9B1-4EF9-81EF-CE86D0D5E325}"/>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30" name="booking-layer-text-29">
            <a:extLst xmlns:a="http://schemas.openxmlformats.org/drawingml/2006/main">
              <a:ext uri="{FF2B5EF4-FFF2-40B4-BE49-F238E27FC236}">
                <a16:creationId xmlns:a16="http://schemas.microsoft.com/office/drawing/2014/main" id="{FE0D6D2A-9B24-4CC7-9A42-E410B3B9F978}"/>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31" name="booking-layer-text-30">
            <a:extLst xmlns:a="http://schemas.openxmlformats.org/drawingml/2006/main">
              <a:ext uri="{FF2B5EF4-FFF2-40B4-BE49-F238E27FC236}">
                <a16:creationId xmlns:a16="http://schemas.microsoft.com/office/drawing/2014/main" id="{8F9DC5F5-33A1-44F6-99B5-A1386363DA38}"/>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32" name="booking-layer-node-31">
            <a:extLst xmlns:a="http://schemas.openxmlformats.org/drawingml/2006/main">
              <a:ext uri="{FF2B5EF4-FFF2-40B4-BE49-F238E27FC236}">
                <a16:creationId xmlns:a16="http://schemas.microsoft.com/office/drawing/2014/main" id="{22534275-2037-4372-B4AA-99276706AD25}"/>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33" name="booking-layer-node-32">
            <a:extLst xmlns:a="http://schemas.openxmlformats.org/drawingml/2006/main">
              <a:ext uri="{FF2B5EF4-FFF2-40B4-BE49-F238E27FC236}">
                <a16:creationId xmlns:a16="http://schemas.microsoft.com/office/drawing/2014/main" id="{22158200-9CF0-45C2-B5FB-AECB78BCFCEC}"/>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34" name="booking-layer-node-33">
            <a:extLst xmlns:a="http://schemas.openxmlformats.org/drawingml/2006/main">
              <a:ext uri="{FF2B5EF4-FFF2-40B4-BE49-F238E27FC236}">
                <a16:creationId xmlns:a16="http://schemas.microsoft.com/office/drawing/2014/main" id="{D935F2EC-F9E7-47A0-B17F-92B9E10554C4}"/>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46" name="booking-layer-text-34">
            <a:extLst xmlns:a="http://schemas.openxmlformats.org/drawingml/2006/main">
              <a:ext uri="{FF2B5EF4-FFF2-40B4-BE49-F238E27FC236}">
                <a16:creationId xmlns:a16="http://schemas.microsoft.com/office/drawing/2014/main" id="{17BD1668-5623-4794-B75A-2CB93B455F1F}"/>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47" name="booking-layer-text-35">
            <a:extLst xmlns:a="http://schemas.openxmlformats.org/drawingml/2006/main">
              <a:ext uri="{FF2B5EF4-FFF2-40B4-BE49-F238E27FC236}">
                <a16:creationId xmlns:a16="http://schemas.microsoft.com/office/drawing/2014/main" id="{507761E5-07C0-4C5E-92CA-388DBE8F1EAB}"/>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48" name="booking-layer-text-36">
            <a:extLst xmlns:a="http://schemas.openxmlformats.org/drawingml/2006/main">
              <a:ext uri="{FF2B5EF4-FFF2-40B4-BE49-F238E27FC236}">
                <a16:creationId xmlns:a16="http://schemas.microsoft.com/office/drawing/2014/main" id="{977DDB26-300D-4BA2-86FA-511EC7ED9CC2}"/>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49" name="booking-layer-text-37">
            <a:extLst xmlns:a="http://schemas.openxmlformats.org/drawingml/2006/main">
              <a:ext uri="{FF2B5EF4-FFF2-40B4-BE49-F238E27FC236}">
                <a16:creationId xmlns:a16="http://schemas.microsoft.com/office/drawing/2014/main" id="{D6CE6ECA-42DB-4B2F-9624-2DB6E08C7D65}"/>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50" name="booking-layer-text-38">
            <a:extLst xmlns:a="http://schemas.openxmlformats.org/drawingml/2006/main">
              <a:ext uri="{FF2B5EF4-FFF2-40B4-BE49-F238E27FC236}">
                <a16:creationId xmlns:a16="http://schemas.microsoft.com/office/drawing/2014/main" id="{D4FDBEAF-9FA7-4811-95E9-09304600C5C2}"/>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C6B5652-64AF-4ADD-8C44-2FACA1066689}"/>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12549137-1D55-4256-8DB0-EACB518D7957}"/>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7A119EEE-F89A-4ED9-B848-2851FA135AE5}"/>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6EE8FA7D-27E0-41FD-903D-E5D06E26BCC3}"/>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8F0C33EA-DA9B-4074-A74D-A7B203CA2AC2}"/>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1D45846E-3D40-4996-A0D3-DFABDEB42FFA}"/>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23832C93-05A3-49EF-BA22-2DBFA620496B}"/>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3FE348C9-4509-42AA-B735-1E59CFFE9448}"/>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9344C6DD-565F-4654-8EE5-EA6689734806}"/>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Salt Lake City pilot · One city, one service category</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Start with one market</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Grow through bookings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Salt Lake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Partners onboard businesses.</a:t>
            </a:r>
          </a:p>
          <a:p xmlns:a="http://schemas.openxmlformats.org/drawingml/2006/main">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We recruit users with a</a:t>
            </a:r>
          </a:p>
          <a:p xmlns:a="http://schemas.openxmlformats.org/drawingml/2006/main">
            <a:pPr algn="l">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book</a:t>
            </a:r>
          </a:p>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local services for me.”</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book through your agent.</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F6299B0-5813-4982-8A8B-252CF939D8E6}"/>
              </a:ext>
            </a:extLst>
          </p:cNvPr>
          <p:cNvCxnSpPr>
            <a:stCxn xmlns:a="http://schemas.openxmlformats.org/drawingml/2006/main" id="12" idx="3"/>
            <a:endCxn xmlns:a="http://schemas.openxmlformats.org/drawingml/2006/main" id="13" idx="1"/>
          </p:cNvCxnSpPr>
          <p:nvPr/>
        </p:nvCxnSpPr>
        <p:spPr>
          <a:xfrm xmlns:a="http://schemas.openxmlformats.org/drawingml/2006/main">
            <a:off x="75628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1E7E7D3C-DAD1-4951-9A0C-A3B9DFF4CDA4}"/>
              </a:ext>
            </a:extLst>
          </p:cNvPr>
          <p:cNvCxnSpPr>
            <a:stCxn xmlns:a="http://schemas.openxmlformats.org/drawingml/2006/main" id="11" idx="3"/>
            <a:endCxn xmlns:a="http://schemas.openxmlformats.org/drawingml/2006/main" id="12" idx="1"/>
          </p:cNvCxnSpPr>
          <p:nvPr/>
        </p:nvCxnSpPr>
        <p:spPr>
          <a:xfrm xmlns:a="http://schemas.openxmlformats.org/drawingml/2006/main">
            <a:off x="3409950" y="5715000"/>
            <a:ext cx="1200150" cy="0"/>
          </a:xfrm>
          <a:prstGeom xmlns:a="http://schemas.openxmlformats.org/drawingml/2006/main" prst="straightConnector1">
            <a:avLst/>
          </a:prstGeom>
          <a:ln xmlns:a="http://schemas.openxmlformats.org/drawingml/2006/main" w="19050">
            <a:solidFill>
              <a:srgbClr val="215C4E"/>
            </a:solidFill>
            <a:prstDash val="solid"/>
            <a:tailEnd type="arrow" w="sm" len="sm"/>
          </a:ln>
        </p:spPr>
      </p:cxnSp>
      <p:sp>
        <p:nvSpPr>
          <p:cNvPr id="17" name="text-59">
            <a:extLst xmlns:a="http://schemas.openxmlformats.org/drawingml/2006/main">
              <a:ext uri="{FF2B5EF4-FFF2-40B4-BE49-F238E27FC236}">
                <a16:creationId xmlns:a16="http://schemas.microsoft.com/office/drawing/2014/main" id="{6C34ADF3-169D-4A05-BCD4-61CCD74EA736}"/>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WHAT IS COMING TOGETHER</a:t>
            </a:r>
          </a:p>
        </p:txBody>
      </p:sp>
      <p:sp>
        <p:nvSpPr>
          <p:cNvPr id="2" name="text-60">
            <a:extLst xmlns:a="http://schemas.openxmlformats.org/drawingml/2006/main">
              <a:ext uri="{FF2B5EF4-FFF2-40B4-BE49-F238E27FC236}">
                <a16:creationId xmlns:a16="http://schemas.microsoft.com/office/drawing/2014/main" id="{D5789F55-3702-445A-BA82-5ECE56D15EB6}"/>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Partners have agreed to open access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to the first local businesses</a:t>
            </a:r>
          </a:p>
        </p:txBody>
      </p:sp>
      <p:sp>
        <p:nvSpPr>
          <p:cNvPr id="3" name="text-61">
            <a:extLst xmlns:a="http://schemas.openxmlformats.org/drawingml/2006/main">
              <a:ext uri="{FF2B5EF4-FFF2-40B4-BE49-F238E27FC236}">
                <a16:creationId xmlns:a16="http://schemas.microsoft.com/office/drawing/2014/main" id="{D5F41982-2B1F-48D2-9BC5-C6B31883C8C5}"/>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62">
            <a:extLst xmlns:a="http://schemas.openxmlformats.org/drawingml/2006/main">
              <a:ext uri="{FF2B5EF4-FFF2-40B4-BE49-F238E27FC236}">
                <a16:creationId xmlns:a16="http://schemas.microsoft.com/office/drawing/2014/main" id="{69E35C39-A9AF-493E-A026-B3538F6E2089}"/>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5 / 6</a:t>
            </a:r>
          </a:p>
        </p:txBody>
      </p:sp>
      <p:sp>
        <p:nvSpPr>
          <p:cNvPr id="5" name="text-63">
            <a:extLst xmlns:a="http://schemas.openxmlformats.org/drawingml/2006/main">
              <a:ext uri="{FF2B5EF4-FFF2-40B4-BE49-F238E27FC236}">
                <a16:creationId xmlns:a16="http://schemas.microsoft.com/office/drawing/2014/main" id="{B0F0A4F7-81E5-4CC9-B48D-0551345426A1}"/>
              </a:ext>
            </a:extLst>
          </p:cNvPr>
          <p:cNvSpPr>
            <a:spLocks xmlns:a="http://schemas.openxmlformats.org/drawingml/2006/main" noGrp="1"/>
          </p:cNvSpPr>
          <p:nvPr/>
        </p:nvSpPr>
        <p:spPr>
          <a:xfrm xmlns:a="http://schemas.openxmlformats.org/drawingml/2006/main">
            <a:off x="457200" y="2200275"/>
            <a:ext cx="5143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100+</a:t>
            </a:r>
          </a:p>
        </p:txBody>
      </p:sp>
      <p:sp>
        <p:nvSpPr>
          <p:cNvPr id="6" name="text-64">
            <a:extLst xmlns:a="http://schemas.openxmlformats.org/drawingml/2006/main">
              <a:ext uri="{FF2B5EF4-FFF2-40B4-BE49-F238E27FC236}">
                <a16:creationId xmlns:a16="http://schemas.microsoft.com/office/drawing/2014/main" id="{7D9DB117-0EB1-4258-AC2D-9D7CE0682847}"/>
              </a:ext>
            </a:extLst>
          </p:cNvPr>
          <p:cNvSpPr>
            <a:spLocks xmlns:a="http://schemas.openxmlformats.org/drawingml/2006/main" noGrp="1"/>
          </p:cNvSpPr>
          <p:nvPr/>
        </p:nvSpPr>
        <p:spPr>
          <a:xfrm xmlns:a="http://schemas.openxmlformats.org/drawingml/2006/main">
            <a:off x="457200" y="3314700"/>
            <a:ext cx="5257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trade shops served by Cactus AI</a:t>
            </a:r>
          </a:p>
        </p:txBody>
      </p:sp>
      <p:sp>
        <p:nvSpPr>
          <p:cNvPr id="7" name="text-65">
            <a:extLst xmlns:a="http://schemas.openxmlformats.org/drawingml/2006/main">
              <a:ext uri="{FF2B5EF4-FFF2-40B4-BE49-F238E27FC236}">
                <a16:creationId xmlns:a16="http://schemas.microsoft.com/office/drawing/2014/main" id="{EADB5E66-F13E-416F-80A5-2CEE283FB9A2}"/>
              </a:ext>
            </a:extLst>
          </p:cNvPr>
          <p:cNvSpPr>
            <a:spLocks xmlns:a="http://schemas.openxmlformats.org/drawingml/2006/main" noGrp="1"/>
          </p:cNvSpPr>
          <p:nvPr/>
        </p:nvSpPr>
        <p:spPr>
          <a:xfrm xmlns:a="http://schemas.openxmlformats.org/drawingml/2006/main">
            <a:off x="457200" y="3952875"/>
            <a:ext cx="53149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Salt Lake City and Dallas.</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Cactus agreed to introduce shops and</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provide booking access through its customers.</a:t>
            </a:r>
          </a:p>
        </p:txBody>
      </p:sp>
      <p:sp>
        <p:nvSpPr>
          <p:cNvPr id="8" name="text-66">
            <a:extLst xmlns:a="http://schemas.openxmlformats.org/drawingml/2006/main">
              <a:ext uri="{FF2B5EF4-FFF2-40B4-BE49-F238E27FC236}">
                <a16:creationId xmlns:a16="http://schemas.microsoft.com/office/drawing/2014/main" id="{D63476D8-94BB-4F0D-90F9-DDE17F6F0F77}"/>
              </a:ext>
            </a:extLst>
          </p:cNvPr>
          <p:cNvSpPr>
            <a:spLocks xmlns:a="http://schemas.openxmlformats.org/drawingml/2006/main" noGrp="1"/>
          </p:cNvSpPr>
          <p:nvPr/>
        </p:nvSpPr>
        <p:spPr>
          <a:xfrm xmlns:a="http://schemas.openxmlformats.org/drawingml/2006/main">
            <a:off x="6705600" y="2200275"/>
            <a:ext cx="5029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6450" b="1">
                <a:solidFill>
                  <a:srgbClr val="215C4E"/>
                </a:solidFill>
                <a:latin typeface="Helvetica Neue"/>
                <a:ea typeface="Helvetica Neue"/>
                <a:cs typeface="Helvetica Neue"/>
              </a:defRPr>
            </a:defPPr>
          </a:lstStyle>
          <a:p xmlns:a="http://schemas.openxmlformats.org/drawingml/2006/main">
            <a:pPr>
              <a:buNone/>
              <a:defRPr sz="6450" b="1">
                <a:solidFill>
                  <a:srgbClr val="215C4E"/>
                </a:solidFill>
                <a:latin typeface="Helvetica Neue"/>
                <a:ea typeface="Helvetica Neue"/>
                <a:cs typeface="Helvetica Neue"/>
              </a:defRPr>
            </a:pPr>
            <a:r>
              <a:rPr sz="6450" b="1">
                <a:solidFill>
                  <a:srgbClr val="215C4E"/>
                </a:solidFill>
                <a:latin typeface="Helvetica Neue"/>
                <a:ea typeface="Helvetica Neue"/>
                <a:cs typeface="Helvetica Neue"/>
              </a:rPr>
              <a:t>20</a:t>
            </a:r>
          </a:p>
        </p:txBody>
      </p:sp>
      <p:sp>
        <p:nvSpPr>
          <p:cNvPr id="9" name="text-67">
            <a:extLst xmlns:a="http://schemas.openxmlformats.org/drawingml/2006/main">
              <a:ext uri="{FF2B5EF4-FFF2-40B4-BE49-F238E27FC236}">
                <a16:creationId xmlns:a16="http://schemas.microsoft.com/office/drawing/2014/main" id="{C0D80327-9B38-4FE7-A9DA-16263A2A9906}"/>
              </a:ext>
            </a:extLst>
          </p:cNvPr>
          <p:cNvSpPr>
            <a:spLocks xmlns:a="http://schemas.openxmlformats.org/drawingml/2006/main" noGrp="1"/>
          </p:cNvSpPr>
          <p:nvPr/>
        </p:nvSpPr>
        <p:spPr>
          <a:xfrm xmlns:a="http://schemas.openxmlformats.org/drawingml/2006/main">
            <a:off x="6705600" y="3314700"/>
            <a:ext cx="5029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1">
                <a:solidFill>
                  <a:srgbClr val="18352F"/>
                </a:solidFill>
                <a:latin typeface="Helvetica Neue"/>
                <a:ea typeface="Helvetica Neue"/>
                <a:cs typeface="Helvetica Neue"/>
              </a:defRPr>
            </a:defPPr>
          </a:lstStyle>
          <a:p xmlns:a="http://schemas.openxmlformats.org/drawingml/2006/main">
            <a:pPr>
              <a:buNone/>
              <a:defRPr sz="2175" b="1">
                <a:solidFill>
                  <a:srgbClr val="18352F"/>
                </a:solidFill>
                <a:latin typeface="Helvetica Neue"/>
                <a:ea typeface="Helvetica Neue"/>
                <a:cs typeface="Helvetica Neue"/>
              </a:defRPr>
            </a:pPr>
            <a:r>
              <a:rPr sz="2175" b="1">
                <a:solidFill>
                  <a:srgbClr val="18352F"/>
                </a:solidFill>
                <a:latin typeface="Helvetica Neue"/>
                <a:ea typeface="Helvetica Neue"/>
                <a:cs typeface="Helvetica Neue"/>
              </a:rPr>
              <a:t>clients committed for onboarding</a:t>
            </a:r>
          </a:p>
        </p:txBody>
      </p:sp>
      <p:sp>
        <p:nvSpPr>
          <p:cNvPr id="10" name="text-68">
            <a:extLst xmlns:a="http://schemas.openxmlformats.org/drawingml/2006/main">
              <a:ext uri="{FF2B5EF4-FFF2-40B4-BE49-F238E27FC236}">
                <a16:creationId xmlns:a16="http://schemas.microsoft.com/office/drawing/2014/main" id="{67843AFD-5C57-4D1D-B9A4-2A8A40011766}"/>
              </a:ext>
            </a:extLst>
          </p:cNvPr>
          <p:cNvSpPr>
            <a:spLocks xmlns:a="http://schemas.openxmlformats.org/drawingml/2006/main" noGrp="1"/>
          </p:cNvSpPr>
          <p:nvPr/>
        </p:nvSpPr>
        <p:spPr>
          <a:xfrm xmlns:a="http://schemas.openxmlformats.org/drawingml/2006/main">
            <a:off x="6705600" y="3952875"/>
            <a:ext cx="50292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0">
                <a:solidFill>
                  <a:srgbClr val="18352F"/>
                </a:solidFill>
                <a:latin typeface="Helvetica Neue"/>
                <a:ea typeface="Helvetica Neue"/>
                <a:cs typeface="Helvetica Neue"/>
              </a:defRPr>
            </a:defPPr>
          </a:lstStyle>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A separate back-office management</a:t>
            </a:r>
          </a:p>
          <a:p xmlns:a="http://schemas.openxmlformats.org/drawingml/2006/main">
            <a:pPr>
              <a:buNone/>
              <a:defRPr sz="1950" b="0">
                <a:solidFill>
                  <a:srgbClr val="18352F"/>
                </a:solidFill>
                <a:latin typeface="Helvetica Neue"/>
                <a:ea typeface="Helvetica Neue"/>
                <a:cs typeface="Helvetica Neue"/>
              </a:defRPr>
            </a:pPr>
            <a:r>
              <a:rPr sz="1950" b="0">
                <a:solidFill>
                  <a:srgbClr val="18352F"/>
                </a:solidFill>
                <a:latin typeface="Helvetica Neue"/>
                <a:ea typeface="Helvetica Neue"/>
                <a:cs typeface="Helvetica Neue"/>
              </a:rPr>
              <a:t>company agreed to onboard its clients.</a:t>
            </a:r>
          </a:p>
        </p:txBody>
      </p:sp>
      <p:sp>
        <p:nvSpPr>
          <p:cNvPr id="11" name="diagram-69">
            <a:extLst xmlns:a="http://schemas.openxmlformats.org/drawingml/2006/main">
              <a:ext uri="{FF2B5EF4-FFF2-40B4-BE49-F238E27FC236}">
                <a16:creationId xmlns:a16="http://schemas.microsoft.com/office/drawing/2014/main" id="{282C9521-8CC6-497E-9744-DEB837B39F9D}"/>
              </a:ext>
            </a:extLst>
          </p:cNvPr>
          <p:cNvSpPr>
            <a:spLocks xmlns:a="http://schemas.openxmlformats.org/drawingml/2006/main" noGrp="1"/>
          </p:cNvSpPr>
          <p:nvPr/>
        </p:nvSpPr>
        <p:spPr>
          <a:xfrm xmlns:a="http://schemas.openxmlformats.org/drawingml/2006/main">
            <a:off x="4572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One trade + one city</a:t>
            </a:r>
          </a:p>
        </p:txBody>
      </p:sp>
      <p:sp>
        <p:nvSpPr>
          <p:cNvPr id="12" name="diagram-70">
            <a:extLst xmlns:a="http://schemas.openxmlformats.org/drawingml/2006/main">
              <a:ext uri="{FF2B5EF4-FFF2-40B4-BE49-F238E27FC236}">
                <a16:creationId xmlns:a16="http://schemas.microsoft.com/office/drawing/2014/main" id="{F13CB1E7-AFA8-4BAD-824E-01440A0A4405}"/>
              </a:ext>
            </a:extLst>
          </p:cNvPr>
          <p:cNvSpPr>
            <a:spLocks xmlns:a="http://schemas.openxmlformats.org/drawingml/2006/main" noGrp="1"/>
          </p:cNvSpPr>
          <p:nvPr/>
        </p:nvSpPr>
        <p:spPr>
          <a:xfrm xmlns:a="http://schemas.openxmlformats.org/drawingml/2006/main">
            <a:off x="4610100" y="5400675"/>
            <a:ext cx="2952750" cy="628650"/>
          </a:xfrm>
          <a:prstGeom xmlns:a="http://schemas.openxmlformats.org/drawingml/2006/main" prst="rect">
            <a:avLst/>
          </a:prstGeom>
          <a:solidFill xmlns:a="http://schemas.openxmlformats.org/drawingml/2006/main">
            <a:srgbClr val="F3F4F2"/>
          </a:solidFill>
          <a:ln xmlns:a="http://schemas.openxmlformats.org/drawingml/2006/main" w="14288">
            <a:solidFill>
              <a:srgbClr val="CCD2C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0">
                <a:solidFill>
                  <a:srgbClr val="18352F"/>
                </a:solidFill>
                <a:latin typeface="Helvetica Neue"/>
                <a:ea typeface="Helvetica Neue"/>
                <a:cs typeface="Helvetica Neue"/>
              </a:defRPr>
            </a:defPPr>
          </a:lstStyle>
          <a:p xmlns:a="http://schemas.openxmlformats.org/drawingml/2006/main">
            <a:pPr algn="ctr">
              <a:buNone/>
              <a:defRPr sz="1725" b="0">
                <a:solidFill>
                  <a:srgbClr val="18352F"/>
                </a:solidFill>
                <a:latin typeface="Helvetica Neue"/>
                <a:ea typeface="Helvetica Neue"/>
                <a:cs typeface="Helvetica Neue"/>
              </a:defRPr>
            </a:pPr>
            <a:r>
              <a:rPr sz="1725" b="0">
                <a:solidFill>
                  <a:srgbClr val="18352F"/>
                </a:solidFill>
                <a:latin typeface="Helvetica Neue"/>
                <a:ea typeface="Helvetica Neue"/>
                <a:cs typeface="Helvetica Neue"/>
              </a:rPr>
              <a:t>Connect authorized supply</a:t>
            </a:r>
          </a:p>
        </p:txBody>
      </p:sp>
      <p:sp>
        <p:nvSpPr>
          <p:cNvPr id="13" name="diagram-71">
            <a:extLst xmlns:a="http://schemas.openxmlformats.org/drawingml/2006/main">
              <a:ext uri="{FF2B5EF4-FFF2-40B4-BE49-F238E27FC236}">
                <a16:creationId xmlns:a16="http://schemas.microsoft.com/office/drawing/2014/main" id="{6BA886AE-3DFD-418A-B499-2854C6C5D314}"/>
              </a:ext>
            </a:extLst>
          </p:cNvPr>
          <p:cNvSpPr>
            <a:spLocks xmlns:a="http://schemas.openxmlformats.org/drawingml/2006/main" noGrp="1"/>
          </p:cNvSpPr>
          <p:nvPr/>
        </p:nvSpPr>
        <p:spPr>
          <a:xfrm xmlns:a="http://schemas.openxmlformats.org/drawingml/2006/main">
            <a:off x="8763000" y="5400675"/>
            <a:ext cx="2971800" cy="628650"/>
          </a:xfrm>
          <a:prstGeom xmlns:a="http://schemas.openxmlformats.org/drawingml/2006/main" prst="rect">
            <a:avLst/>
          </a:prstGeom>
          <a:solidFill xmlns:a="http://schemas.openxmlformats.org/drawingml/2006/main">
            <a:srgbClr val="E5EFEA"/>
          </a:solidFill>
          <a:ln xmlns:a="http://schemas.openxmlformats.org/drawingml/2006/main" w="14288">
            <a:solidFill>
              <a:srgbClr val="215C4E"/>
            </a:solidFill>
            <a:prstDash val="solid"/>
          </a:ln>
        </p:spPr>
        <p:txBody>
          <a:bodyPr xmlns:a="http://schemas.openxmlformats.org/drawingml/2006/main" wrap="square" lIns="95250" tIns="95250" rIns="95250" bIns="95250" anchor="ctr">
            <a:noAutofit/>
          </a:bodyPr>
          <a:lstStyle xmlns:a="http://schemas.openxmlformats.org/drawingml/2006/main">
            <a:defPPr algn="ctr">
              <a:defRPr sz="1725" b="1">
                <a:solidFill>
                  <a:srgbClr val="18352F"/>
                </a:solidFill>
                <a:latin typeface="Helvetica Neue"/>
                <a:ea typeface="Helvetica Neue"/>
                <a:cs typeface="Helvetica Neue"/>
              </a:defRPr>
            </a:defPPr>
          </a:lstStyle>
          <a:p xmlns:a="http://schemas.openxmlformats.org/drawingml/2006/main">
            <a:pPr algn="ctr">
              <a:buNone/>
              <a:defRPr sz="1725" b="1">
                <a:solidFill>
                  <a:srgbClr val="18352F"/>
                </a:solidFill>
                <a:latin typeface="Helvetica Neue"/>
                <a:ea typeface="Helvetica Neue"/>
                <a:cs typeface="Helvetica Neue"/>
              </a:defRPr>
            </a:pPr>
            <a:r>
              <a:rPr sz="1725" b="1">
                <a:solidFill>
                  <a:srgbClr val="18352F"/>
                </a:solidFill>
                <a:latin typeface="Helvetica Neue"/>
                <a:ea typeface="Helvetica Neue"/>
                <a:cs typeface="Helvetica Neue"/>
              </a:rPr>
              <a:t>Route and fulfill real jobs</a:t>
            </a:r>
          </a:p>
        </p:txBody>
      </p:sp>
      <p:sp>
        <p:nvSpPr>
          <p:cNvPr id="16" name="text-72">
            <a:extLst xmlns:a="http://schemas.openxmlformats.org/drawingml/2006/main">
              <a:ext uri="{FF2B5EF4-FFF2-40B4-BE49-F238E27FC236}">
                <a16:creationId xmlns:a16="http://schemas.microsoft.com/office/drawing/2014/main" id="{0EE416B1-FE77-4C2A-8F86-E24588D5FFF1}"/>
              </a:ext>
            </a:extLst>
          </p:cNvPr>
          <p:cNvSpPr>
            <a:spLocks xmlns:a="http://schemas.openxmlformats.org/drawingml/2006/main" noGrp="1"/>
          </p:cNvSpPr>
          <p:nvPr/>
        </p:nvSpPr>
        <p:spPr>
          <a:xfrm xmlns:a="http://schemas.openxmlformats.org/drawingml/2006/main">
            <a:off x="457200" y="6143625"/>
            <a:ext cx="11277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Founder-reported commitments. These are not live GoLocal merchants, integrations, bookings or revenue.</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73">
            <a:extLst xmlns:a="http://schemas.openxmlformats.org/drawingml/2006/main">
              <a:ext uri="{FF2B5EF4-FFF2-40B4-BE49-F238E27FC236}">
                <a16:creationId xmlns:a16="http://schemas.microsoft.com/office/drawing/2014/main" id="{193E3AA9-CC38-422D-86F1-245BC458BC63}"/>
              </a:ext>
            </a:extLst>
          </p:cNvPr>
          <p:cNvSpPr>
            <a:spLocks xmlns:a="http://schemas.openxmlformats.org/drawingml/2006/main" noGrp="1"/>
          </p:cNvSpPr>
          <p:nvPr/>
        </p:nvSpPr>
        <p:spPr>
          <a:xfrm xmlns:a="http://schemas.openxmlformats.org/drawingml/2006/main">
            <a:off x="457200" y="2857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06A67"/>
                </a:solidFill>
                <a:latin typeface="Helvetica Neue"/>
                <a:ea typeface="Helvetica Neue"/>
                <a:cs typeface="Helvetica Neue"/>
              </a:defRPr>
            </a:defPPr>
          </a:lstStyle>
          <a:p xmlns:a="http://schemas.openxmlformats.org/drawingml/2006/main">
            <a:pPr>
              <a:buNone/>
              <a:defRPr sz="1275" b="1">
                <a:solidFill>
                  <a:srgbClr val="606A67"/>
                </a:solidFill>
                <a:latin typeface="Helvetica Neue"/>
                <a:ea typeface="Helvetica Neue"/>
                <a:cs typeface="Helvetica Neue"/>
              </a:defRPr>
            </a:pPr>
            <a:r>
              <a:rPr sz="1275" b="1">
                <a:solidFill>
                  <a:srgbClr val="606A67"/>
                </a:solidFill>
                <a:latin typeface="Helvetica Neue"/>
                <a:ea typeface="Helvetica Neue"/>
                <a:cs typeface="Helvetica Neue"/>
              </a:rPr>
              <a:t>THE TEAM</a:t>
            </a:r>
          </a:p>
        </p:txBody>
      </p:sp>
      <p:sp>
        <p:nvSpPr>
          <p:cNvPr id="2" name="text-74">
            <a:extLst xmlns:a="http://schemas.openxmlformats.org/drawingml/2006/main">
              <a:ext uri="{FF2B5EF4-FFF2-40B4-BE49-F238E27FC236}">
                <a16:creationId xmlns:a16="http://schemas.microsoft.com/office/drawing/2014/main" id="{A4D7B818-4EFE-41E3-83A9-BBBBB4CF6310}"/>
              </a:ext>
            </a:extLst>
          </p:cNvPr>
          <p:cNvSpPr>
            <a:spLocks xmlns:a="http://schemas.openxmlformats.org/drawingml/2006/main" noGrp="1"/>
          </p:cNvSpPr>
          <p:nvPr/>
        </p:nvSpPr>
        <p:spPr>
          <a:xfrm xmlns:a="http://schemas.openxmlformats.org/drawingml/2006/main">
            <a:off x="457200" y="762000"/>
            <a:ext cx="112776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8352F"/>
                </a:solidFill>
                <a:latin typeface="Helvetica Neue"/>
                <a:ea typeface="Helvetica Neue"/>
                <a:cs typeface="Helvetica Neue"/>
              </a:defRPr>
            </a:defPPr>
          </a:lstStyle>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A decade building local services</a:t>
            </a:r>
          </a:p>
          <a:p xmlns:a="http://schemas.openxmlformats.org/drawingml/2006/main">
            <a:pPr>
              <a:buNone/>
              <a:defRPr sz="3300" b="1">
                <a:solidFill>
                  <a:srgbClr val="18352F"/>
                </a:solidFill>
                <a:latin typeface="Helvetica Neue"/>
                <a:ea typeface="Helvetica Neue"/>
                <a:cs typeface="Helvetica Neue"/>
              </a:defRPr>
            </a:pPr>
            <a:r>
              <a:rPr sz="3300" b="1">
                <a:solidFill>
                  <a:srgbClr val="18352F"/>
                </a:solidFill>
                <a:latin typeface="Helvetica Neue"/>
                <a:ea typeface="Helvetica Neue"/>
                <a:cs typeface="Helvetica Neue"/>
              </a:rPr>
              <a:t>with engineering for the agent era</a:t>
            </a:r>
          </a:p>
        </p:txBody>
      </p:sp>
      <p:sp>
        <p:nvSpPr>
          <p:cNvPr id="3" name="text-75">
            <a:extLst xmlns:a="http://schemas.openxmlformats.org/drawingml/2006/main">
              <a:ext uri="{FF2B5EF4-FFF2-40B4-BE49-F238E27FC236}">
                <a16:creationId xmlns:a16="http://schemas.microsoft.com/office/drawing/2014/main" id="{C0B22EE5-87A5-4832-806B-F793567523AC}"/>
              </a:ext>
            </a:extLst>
          </p:cNvPr>
          <p:cNvSpPr>
            <a:spLocks xmlns:a="http://schemas.openxmlformats.org/drawingml/2006/main" noGrp="1"/>
          </p:cNvSpPr>
          <p:nvPr/>
        </p:nvSpPr>
        <p:spPr>
          <a:xfrm xmlns:a="http://schemas.openxmlformats.org/drawingml/2006/main">
            <a:off x="457200" y="6448425"/>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GoLocal</a:t>
            </a:r>
          </a:p>
        </p:txBody>
      </p:sp>
      <p:sp>
        <p:nvSpPr>
          <p:cNvPr id="4" name="text-76">
            <a:extLst xmlns:a="http://schemas.openxmlformats.org/drawingml/2006/main">
              <a:ext uri="{FF2B5EF4-FFF2-40B4-BE49-F238E27FC236}">
                <a16:creationId xmlns:a16="http://schemas.microsoft.com/office/drawing/2014/main" id="{46802664-2631-4FAC-8F83-9CBB0216FDEC}"/>
              </a:ext>
            </a:extLst>
          </p:cNvPr>
          <p:cNvSpPr>
            <a:spLocks xmlns:a="http://schemas.openxmlformats.org/drawingml/2006/main" noGrp="1"/>
          </p:cNvSpPr>
          <p:nvPr/>
        </p:nvSpPr>
        <p:spPr>
          <a:xfrm xmlns:a="http://schemas.openxmlformats.org/drawingml/2006/main">
            <a:off x="11049000" y="6448425"/>
            <a:ext cx="685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06A67"/>
                </a:solidFill>
                <a:latin typeface="Helvetica Neue"/>
                <a:ea typeface="Helvetica Neue"/>
                <a:cs typeface="Helvetica Neue"/>
              </a:defRPr>
            </a:defPPr>
          </a:lstStyle>
          <a:p xmlns:a="http://schemas.openxmlformats.org/drawingml/2006/main">
            <a:pPr>
              <a:buNone/>
              <a:defRPr sz="1275" b="0">
                <a:solidFill>
                  <a:srgbClr val="606A67"/>
                </a:solidFill>
                <a:latin typeface="Helvetica Neue"/>
                <a:ea typeface="Helvetica Neue"/>
                <a:cs typeface="Helvetica Neue"/>
              </a:defRPr>
            </a:pPr>
            <a:r>
              <a:rPr sz="1275" b="0">
                <a:solidFill>
                  <a:srgbClr val="606A67"/>
                </a:solidFill>
                <a:latin typeface="Helvetica Neue"/>
                <a:ea typeface="Helvetica Neue"/>
                <a:cs typeface="Helvetica Neue"/>
              </a:rPr>
              <a:t>6 / 6</a:t>
            </a:r>
          </a:p>
        </p:txBody>
      </p:sp>
      <p:sp>
        <p:nvSpPr>
          <p:cNvPr id="5" name="text-77">
            <a:extLst xmlns:a="http://schemas.openxmlformats.org/drawingml/2006/main">
              <a:ext uri="{FF2B5EF4-FFF2-40B4-BE49-F238E27FC236}">
                <a16:creationId xmlns:a16="http://schemas.microsoft.com/office/drawing/2014/main" id="{9F7A37BA-D5A3-4327-86B0-45F182885220}"/>
              </a:ext>
            </a:extLst>
          </p:cNvPr>
          <p:cNvSpPr>
            <a:spLocks xmlns:a="http://schemas.openxmlformats.org/drawingml/2006/main" noGrp="1"/>
          </p:cNvSpPr>
          <p:nvPr/>
        </p:nvSpPr>
        <p:spPr>
          <a:xfrm xmlns:a="http://schemas.openxmlformats.org/drawingml/2006/main">
            <a:off x="457200" y="2495550"/>
            <a:ext cx="5257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Pulkit Walia</a:t>
            </a:r>
          </a:p>
        </p:txBody>
      </p:sp>
      <p:sp>
        <p:nvSpPr>
          <p:cNvPr id="6" name="text-78">
            <a:extLst xmlns:a="http://schemas.openxmlformats.org/drawingml/2006/main">
              <a:ext uri="{FF2B5EF4-FFF2-40B4-BE49-F238E27FC236}">
                <a16:creationId xmlns:a16="http://schemas.microsoft.com/office/drawing/2014/main" id="{48BDBC75-E4FC-4F45-AE12-CDE93165359D}"/>
              </a:ext>
            </a:extLst>
          </p:cNvPr>
          <p:cNvSpPr>
            <a:spLocks xmlns:a="http://schemas.openxmlformats.org/drawingml/2006/main" noGrp="1"/>
          </p:cNvSpPr>
          <p:nvPr/>
        </p:nvSpPr>
        <p:spPr>
          <a:xfrm xmlns:a="http://schemas.openxmlformats.org/drawingml/2006/main">
            <a:off x="457200" y="3257550"/>
            <a:ext cx="5257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Founder  |  HBS MBA</a:t>
            </a:r>
          </a:p>
        </p:txBody>
      </p:sp>
      <p:sp>
        <p:nvSpPr>
          <p:cNvPr id="7" name="text-79">
            <a:extLst xmlns:a="http://schemas.openxmlformats.org/drawingml/2006/main">
              <a:ext uri="{FF2B5EF4-FFF2-40B4-BE49-F238E27FC236}">
                <a16:creationId xmlns:a16="http://schemas.microsoft.com/office/drawing/2014/main" id="{1C53ADBC-849C-43DE-8822-56954A5FB517}"/>
              </a:ext>
            </a:extLst>
          </p:cNvPr>
          <p:cNvSpPr>
            <a:spLocks xmlns:a="http://schemas.openxmlformats.org/drawingml/2006/main" noGrp="1"/>
          </p:cNvSpPr>
          <p:nvPr/>
        </p:nvSpPr>
        <p:spPr>
          <a:xfrm xmlns:a="http://schemas.openxmlformats.org/drawingml/2006/main">
            <a:off x="457200" y="3905250"/>
            <a:ext cx="532447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75" b="0">
                <a:solidFill>
                  <a:srgbClr val="18352F"/>
                </a:solidFill>
                <a:latin typeface="Helvetica Neue"/>
                <a:ea typeface="Helvetica Neue"/>
                <a:cs typeface="Helvetica Neue"/>
              </a:defRPr>
            </a:defPPr>
          </a:lstStyle>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Urban Company founding team.</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Spent a decade building local services</a:t>
            </a:r>
          </a:p>
          <a:p xmlns:a="http://schemas.openxmlformats.org/drawingml/2006/main">
            <a:pPr>
              <a:buNone/>
              <a:defRPr sz="2175" b="0">
                <a:solidFill>
                  <a:srgbClr val="18352F"/>
                </a:solidFill>
                <a:latin typeface="Helvetica Neue"/>
                <a:ea typeface="Helvetica Neue"/>
                <a:cs typeface="Helvetica Neue"/>
              </a:defRPr>
            </a:pPr>
            <a:r>
              <a:rPr sz="2175" b="0">
                <a:solidFill>
                  <a:srgbClr val="18352F"/>
                </a:solidFill>
                <a:latin typeface="Helvetica Neue"/>
                <a:ea typeface="Helvetica Neue"/>
                <a:cs typeface="Helvetica Neue"/>
              </a:rPr>
              <a:t>in Asia, from zero to a $3B IPO.</a:t>
            </a:r>
          </a:p>
        </p:txBody>
      </p:sp>
      <p:sp>
        <p:nvSpPr>
          <p:cNvPr id="8" name="text-80">
            <a:extLst xmlns:a="http://schemas.openxmlformats.org/drawingml/2006/main">
              <a:ext uri="{FF2B5EF4-FFF2-40B4-BE49-F238E27FC236}">
                <a16:creationId xmlns:a16="http://schemas.microsoft.com/office/drawing/2014/main" id="{DC18D097-F98D-4B67-8A31-CAB61F7BDBD2}"/>
              </a:ext>
            </a:extLst>
          </p:cNvPr>
          <p:cNvSpPr>
            <a:spLocks xmlns:a="http://schemas.openxmlformats.org/drawingml/2006/main" noGrp="1"/>
          </p:cNvSpPr>
          <p:nvPr/>
        </p:nvSpPr>
        <p:spPr>
          <a:xfrm xmlns:a="http://schemas.openxmlformats.org/drawingml/2006/main">
            <a:off x="6705600" y="2495550"/>
            <a:ext cx="5029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75" b="1">
                <a:solidFill>
                  <a:srgbClr val="18352F"/>
                </a:solidFill>
                <a:latin typeface="Helvetica Neue"/>
                <a:ea typeface="Helvetica Neue"/>
                <a:cs typeface="Helvetica Neue"/>
              </a:defRPr>
            </a:defPPr>
          </a:lstStyle>
          <a:p xmlns:a="http://schemas.openxmlformats.org/drawingml/2006/main">
            <a:pPr>
              <a:buNone/>
              <a:defRPr sz="3375" b="1">
                <a:solidFill>
                  <a:srgbClr val="18352F"/>
                </a:solidFill>
                <a:latin typeface="Helvetica Neue"/>
                <a:ea typeface="Helvetica Neue"/>
                <a:cs typeface="Helvetica Neue"/>
              </a:defRPr>
            </a:pPr>
            <a:r>
              <a:rPr sz="3375" b="1">
                <a:solidFill>
                  <a:srgbClr val="18352F"/>
                </a:solidFill>
                <a:latin typeface="Helvetica Neue"/>
                <a:ea typeface="Helvetica Neue"/>
                <a:cs typeface="Helvetica Neue"/>
              </a:rPr>
              <a:t>Rohit Jain</a:t>
            </a:r>
          </a:p>
        </p:txBody>
      </p:sp>
      <p:sp>
        <p:nvSpPr>
          <p:cNvPr id="9" name="text-81">
            <a:extLst xmlns:a="http://schemas.openxmlformats.org/drawingml/2006/main">
              <a:ext uri="{FF2B5EF4-FFF2-40B4-BE49-F238E27FC236}">
                <a16:creationId xmlns:a16="http://schemas.microsoft.com/office/drawing/2014/main" id="{60B3F3AE-546A-4EA6-8A0B-E888AD8408F0}"/>
              </a:ext>
            </a:extLst>
          </p:cNvPr>
          <p:cNvSpPr>
            <a:spLocks xmlns:a="http://schemas.openxmlformats.org/drawingml/2006/main" noGrp="1"/>
          </p:cNvSpPr>
          <p:nvPr/>
        </p:nvSpPr>
        <p:spPr>
          <a:xfrm xmlns:a="http://schemas.openxmlformats.org/drawingml/2006/main">
            <a:off x="6705600" y="3257550"/>
            <a:ext cx="50292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215C4E"/>
                </a:solidFill>
                <a:latin typeface="Helvetica Neue"/>
                <a:ea typeface="Helvetica Neue"/>
                <a:cs typeface="Helvetica Neue"/>
              </a:defRPr>
            </a:defPPr>
          </a:lstStyle>
          <a:p xmlns:a="http://schemas.openxmlformats.org/drawingml/2006/main">
            <a:pPr>
              <a:buNone/>
              <a:defRPr sz="1950" b="1">
                <a:solidFill>
                  <a:srgbClr val="215C4E"/>
                </a:solidFill>
                <a:latin typeface="Helvetica Neue"/>
                <a:ea typeface="Helvetica Neue"/>
                <a:cs typeface="Helvetica Neue"/>
              </a:defRPr>
            </a:pPr>
            <a:r>
              <a:rPr sz="1950" b="1">
                <a:solidFill>
                  <a:srgbClr val="215C4E"/>
                </a:solidFill>
                <a:latin typeface="Helvetica Neue"/>
                <a:ea typeface="Helvetica Neue"/>
                <a:cs typeface="Helvetica Neue"/>
              </a:rPr>
              <a:t>Engineering</a:t>
            </a:r>
          </a:p>
        </p:txBody>
      </p:sp>
      <p:sp>
        <p:nvSpPr>
          <p:cNvPr id="10" name="text-82">
            <a:extLst xmlns:a="http://schemas.openxmlformats.org/drawingml/2006/main">
              <a:ext uri="{FF2B5EF4-FFF2-40B4-BE49-F238E27FC236}">
                <a16:creationId xmlns:a16="http://schemas.microsoft.com/office/drawing/2014/main" id="{D123F4C0-EC91-472F-9AB5-06A4EA9E21A7}"/>
              </a:ext>
            </a:extLst>
          </p:cNvPr>
          <p:cNvSpPr>
            <a:spLocks xmlns:a="http://schemas.openxmlformats.org/drawingml/2006/main" noGrp="1"/>
          </p:cNvSpPr>
          <p:nvPr/>
        </p:nvSpPr>
        <p:spPr>
          <a:xfrm xmlns:a="http://schemas.openxmlformats.org/drawingml/2006/main">
            <a:off x="6705600" y="3905250"/>
            <a:ext cx="5029200" cy="1552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18352F"/>
                </a:solidFill>
                <a:latin typeface="Helvetica Neue"/>
                <a:ea typeface="Helvetica Neue"/>
                <a:cs typeface="Helvetica Neue"/>
              </a:defRPr>
            </a:defPPr>
          </a:lstStyle>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Backend engineer with experience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at Amazon and Square.</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Built production-grade MCP products.</a:t>
            </a:r>
          </a:p>
          <a:p xmlns:a="http://schemas.openxmlformats.org/drawingml/2006/main">
            <a:pPr>
              <a:buNone/>
              <a:defRPr sz="2025" b="0">
                <a:solidFill>
                  <a:srgbClr val="18352F"/>
                </a:solidFill>
                <a:latin typeface="Helvetica Neue"/>
                <a:ea typeface="Helvetica Neue"/>
                <a:cs typeface="Helvetica Neue"/>
              </a:defRPr>
            </a:pPr>
            <a:r>
              <a:rPr sz="2025" b="0">
                <a:solidFill>
                  <a:srgbClr val="18352F"/>
                </a:solidFill>
                <a:latin typeface="Helvetica Neue"/>
                <a:ea typeface="Helvetica Neue"/>
                <a:cs typeface="Helvetica Neue"/>
              </a:rPr>
              <a:t>Teaches system design.</a:t>
            </a:r>
          </a:p>
        </p:txBody>
      </p:sp>
      <p:sp>
        <p:nvSpPr>
          <p:cNvPr id="11" name="text-83">
            <a:extLst xmlns:a="http://schemas.openxmlformats.org/drawingml/2006/main">
              <a:ext uri="{FF2B5EF4-FFF2-40B4-BE49-F238E27FC236}">
                <a16:creationId xmlns:a16="http://schemas.microsoft.com/office/drawing/2014/main" id="{D58FA155-1176-4FBC-9490-0409753FE20F}"/>
              </a:ext>
            </a:extLst>
          </p:cNvPr>
          <p:cNvSpPr>
            <a:spLocks xmlns:a="http://schemas.openxmlformats.org/drawingml/2006/main" noGrp="1"/>
          </p:cNvSpPr>
          <p:nvPr/>
        </p:nvSpPr>
        <p:spPr>
          <a:xfrm xmlns:a="http://schemas.openxmlformats.org/drawingml/2006/main">
            <a:off x="457200" y="5857875"/>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215C4E"/>
                </a:solidFill>
                <a:latin typeface="Helvetica Neue"/>
                <a:ea typeface="Helvetica Neue"/>
                <a:cs typeface="Helvetica Neue"/>
              </a:defRPr>
            </a:defPPr>
          </a:lstStyle>
          <a:p xmlns:a="http://schemas.openxmlformats.org/drawingml/2006/main">
            <a:pPr>
              <a:buNone/>
              <a:defRPr sz="2100" b="1">
                <a:solidFill>
                  <a:srgbClr val="215C4E"/>
                </a:solidFill>
                <a:latin typeface="Helvetica Neue"/>
                <a:ea typeface="Helvetica Neue"/>
                <a:cs typeface="Helvetica Neue"/>
              </a:defRPr>
            </a:pPr>
            <a:r>
              <a:rPr sz="2100" b="1">
                <a:solidFill>
                  <a:srgbClr val="215C4E"/>
                </a:solidFill>
                <a:latin typeface="Helvetica Neue"/>
                <a:ea typeface="Helvetica Neue"/>
                <a:cs typeface="Helvetica Neue"/>
              </a:rPr>
              <a:t>GoLocal: the shared data and booking layer for home services.</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2026-10-11T00:20:15.2140000Z</dcterms:created>
  <dcterms:modified xsi:type="dcterms:W3CDTF">2026-10-11T00:20:15.2140000Z</dcterms:modified>
</coreProperties>
</file>