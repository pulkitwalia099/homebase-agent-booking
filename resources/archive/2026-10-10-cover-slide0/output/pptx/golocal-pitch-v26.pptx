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c087c32d7f455f" /><Relationship Type="http://schemas.openxmlformats.org/officeDocument/2006/relationships/extended-properties" Target="/docProps/app.xml" Id="R10c6d959a4cb485e" /><Relationship Type="http://schemas.openxmlformats.org/officeDocument/2006/relationships/officeDocument" Target="/ppt/presentation.xml" Id="Rdf4315992b3445c4" /></Relationships>
</file>

<file path=ppt/presentation.xml><?xml version="1.0" encoding="utf-8"?>
<p:presentation xmlns:p="http://schemas.openxmlformats.org/presentationml/2006/main">
  <p:sldMasterIdLst>
    <p:sldMasterId xmlns:r="http://schemas.openxmlformats.org/officeDocument/2006/relationships" id="2147483648" r:id="R9891a04baf1b4e57"/>
  </p:sldMasterIdLst>
  <p:notesMasterIdLst>
    <p:notesMasterId xmlns:r="http://schemas.openxmlformats.org/officeDocument/2006/relationships" r:id="R28552f6f95f840d3"/>
  </p:notesMasterIdLst>
  <p:sldIdLst>
    <p:sldId xmlns:r="http://schemas.openxmlformats.org/officeDocument/2006/relationships" id="256" r:id="Rc553ca6dd9e64260"/>
    <p:sldId xmlns:r="http://schemas.openxmlformats.org/officeDocument/2006/relationships" id="257" r:id="R050b1ad3c9c949bd"/>
    <p:sldId xmlns:r="http://schemas.openxmlformats.org/officeDocument/2006/relationships" id="258" r:id="R36b3f2755ecd4fd0"/>
    <p:sldId xmlns:r="http://schemas.openxmlformats.org/officeDocument/2006/relationships" id="259" r:id="R11594df9c8984818"/>
    <p:sldId xmlns:r="http://schemas.openxmlformats.org/officeDocument/2006/relationships" id="260" r:id="Raf0fb79d7f8440d0"/>
    <p:sldId xmlns:r="http://schemas.openxmlformats.org/officeDocument/2006/relationships" id="261" r:id="R95f74abc476d40fe"/>
    <p:sldId xmlns:r="http://schemas.openxmlformats.org/officeDocument/2006/relationships" id="262" r:id="R9558286dd9164b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4e876a277434f8a" /><Relationship Type="http://schemas.openxmlformats.org/officeDocument/2006/relationships/slideMaster" Target="/ppt/slideMasters/slideMaster1.xml" Id="R9891a04baf1b4e57" /><Relationship Type="http://schemas.openxmlformats.org/officeDocument/2006/relationships/notesMaster" Target="/ppt/notesMasters/notesMaster1.xml" Id="R28552f6f95f840d3" /><Relationship Type="http://schemas.openxmlformats.org/officeDocument/2006/relationships/presProps" Target="/ppt/presProps.xml" Id="Rd25dba6431354225" /><Relationship Type="http://schemas.openxmlformats.org/officeDocument/2006/relationships/tableStyles" Target="/ppt/tableStyles.xml" Id="R82ca9076925240e8" /><Relationship Type="http://schemas.openxmlformats.org/officeDocument/2006/relationships/slide" Target="/ppt/slides/slide1.xml" Id="Rc553ca6dd9e64260" /><Relationship Type="http://schemas.openxmlformats.org/officeDocument/2006/relationships/slide" Target="/ppt/slides/slide2.xml" Id="R050b1ad3c9c949bd" /><Relationship Type="http://schemas.openxmlformats.org/officeDocument/2006/relationships/slide" Target="/ppt/slides/slide3.xml" Id="R36b3f2755ecd4fd0" /><Relationship Type="http://schemas.openxmlformats.org/officeDocument/2006/relationships/slide" Target="/ppt/slides/slide4.xml" Id="R11594df9c8984818" /><Relationship Type="http://schemas.openxmlformats.org/officeDocument/2006/relationships/slide" Target="/ppt/slides/slide5.xml" Id="Raf0fb79d7f8440d0" /><Relationship Type="http://schemas.openxmlformats.org/officeDocument/2006/relationships/slide" Target="/ppt/slides/slide6.xml" Id="R95f74abc476d40fe" /><Relationship Type="http://schemas.openxmlformats.org/officeDocument/2006/relationships/slide" Target="/ppt/slides/slide7.xml" Id="R9558286dd9164b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573ecad6c8f43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27b8bb57134cc8" /><Relationship Type="http://schemas.openxmlformats.org/officeDocument/2006/relationships/notesMaster" Target="/ppt/notesMasters/notesMaster1.xml" Id="R3e522c3332884b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a81dfeb8414e08" /><Relationship Type="http://schemas.openxmlformats.org/officeDocument/2006/relationships/notesMaster" Target="/ppt/notesMasters/notesMaster1.xml" Id="Ra8dcec6c264346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a4ece36ae54919" /><Relationship Type="http://schemas.openxmlformats.org/officeDocument/2006/relationships/notesMaster" Target="/ppt/notesMasters/notesMaster1.xml" Id="R4afc931a062d42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3fface2c8b349fa" /><Relationship Type="http://schemas.openxmlformats.org/officeDocument/2006/relationships/notesMaster" Target="/ppt/notesMasters/notesMaster1.xml" Id="Rc5c9760bb9854c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90db7c071c45a0" /><Relationship Type="http://schemas.openxmlformats.org/officeDocument/2006/relationships/notesMaster" Target="/ppt/notesMasters/notesMaster1.xml" Id="Re73cfde91f864a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d287dd019bd4137" /><Relationship Type="http://schemas.openxmlformats.org/officeDocument/2006/relationships/notesMaster" Target="/ppt/notesMasters/notesMaster1.xml" Id="R633d2cfb535c488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9e28ca0a334561" /><Relationship Type="http://schemas.openxmlformats.org/officeDocument/2006/relationships/notesMaster" Target="/ppt/notesMasters/notesMaster1.xml" Id="Rfad61e168a034c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Requested introductory cover, October 10 2026. Uses approved business name GoLocal and existing tagline: Local services, booked by your personal agent. The six approved content slides follow unchanged except pagination. Seven total slides exceed the application six-page maximum; this is a separate cover version, not a replacement of the six-page application 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Cumulative staircase of platform unlocks requested by the founder, October 10 2026. Capabilities remain green in later platforms: directories enable finding businesses; internet adds digital comparison; Maps/mobile adds location and review-based filtering; LLM chatbots add conversational requests; personal agents add task delegation. Dark-green diagonal identifies each new unlock and pale green preserves earlier gains. This is an illustrative progression of typical customer-facing platform capabilities, not a product-by-product historical audit, launch-date claim or assertion that older platforms never offered a similar feature. Red means work still manual or outside the platform. The last three rows are the remaining quote, live-availability and booking/payment bottlenecks across fragmented providers. Personal agents can call and browse; delegation does not by itself expose reliable structured supplier data or authorized transactions. Some providers and marketplaces already transact. Complex scoping and merchant authorization may still require human input. Dates retained: Maps 2010–2020, chatbots 2020–2025, personal AI agents 2026+. AI + tools is a simplified action-capability description. No measured mass-adoption or universal booking-success claim. Historical context: https://www.craigslist.org/about/mission_and_history ; https://blog.google/products-and-platforms/products/maps/look-back-15-years-mapping-world/ .</a:t>
            </a:r>
          </a:p>
          <a:p xmlns:a="http://schemas.openxmlformats.org/drawingml/2006/main">
            <a:r>
              <a:t>Market evidence from project chat “Estimate Homebase local services TAM”, October 10 2026, and resources/local-services-tam-2026-10-10.md. Approximately $1.2T in annual U.S. spending across selected categories: home improvement and repair around $600B (Harvard, 2023 actual / 2025 projected total owner and rental stock); auto maintenance and repair $283.802B (BEA 2025); personal care and clothing services $239.558B (BEA 2025); child day care $65.546955B (Census 2024 revenue). Indicative sum $1.1889T with rounded home baseline, or $1.1969T with $608B home projection, rounded to $1.2T. This supports approximately $1.2T rather than a measured $1.2T+ lower bound. Mixed years and measures; includes home materials and DIY. Underlying spending is not bookable volume or GoLocal fee revenue. Sources: https://www.jchs.harvard.edu/blog/bigger-market-more-players-what-20-years-data-reveal-about-remodeling-industry ; https://www.jchs.harvard.edu/sites/default/files/reports/files/Harvard_JCHS_Improving_Americas_Housing_2025.pdf ; https://fred.stlouisfed.org/release/tables?eid=44183&amp;rid=53 ; https://fred.stlouisfed.org/series/AIES6244RCT00US .</a:t>
            </a:r>
          </a:p>
          <a:p xmlns:a="http://schemas.openxmlformats.org/drawingml/2006/main">
            <a:r>
              <a:t>Founder-requested headline wording, October 10 2026: $1.2 trillion+. This is the founder’s broad-market estimate/framing. The sourced selected-category sum remains approximately $1.2T, with mixed observation years and materials/DIY included; no independent $1.2T+ lower-bound calculation was added. The original market research is preserved unchanged.</a:t>
            </a:r>
          </a:p>
          <a:p xmlns:a="http://schemas.openxmlformats.org/drawingml/2006/main">
            <a:r>
              <a:t>Opportunity close requested by the founder: solving quotes, live availability and booking/payment can enable end-to-end local-service bookings and value capture. This is the commercial thesis, not evidence of achieved integration, measured revenue share or guaranteed large market capture. Reachable supply, permitted operations, reliability and demand distribution remain necessary. User requested finishing slide 1 before revising slide 2; other slides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now explicitly shows plumbing as one category. Founder requested several equally weighted vendor examples per provider segment so ServiceTitan is not visually presented as the single main platform. Illustrative enterprise row: BuildOps, ServiceTitan, Simpro, Probook AI and other platforms. Mid-market row: Housecall Pro, FieldEdge, Service Fusion, Commusoft, Joblogic, Cactus AI and others. Small-business row: Jobber, Workiz, ServiceM8, Kickserv, Topline Pro and many other platforms. These are overlapping segment examples, not exclusive customer tiers, an exhaustive vendor taxonomy, signed GoLocal integrations or a measured concentration claim. BuildOps explicitly serves commercial plumbing, Simpro Premium explicitly supports complex enterprise operations including plumbing; other named vendors advertise plumbing workflows. Probook and Cactus are AI operations/booking tools alongside field-service software. Category-level count: 100+ listed plumbing software options across all provider sizes. Software Advice category page shows 186 products in its listing, 212 in introductory copy, and 180 in the buyer guide/FAQ. The conservative 100+ wording avoids relying on an inconsistent exact count. This is a software-directory product count, including tools with differing scopes and geography, not a count of independent firms, production booking APIs, exclusively small-business vendors or enterprise providers. No separate 20+, 50+ or 100+ tier total established. Source accessed October 10 2026: https://www.softwareadvice.com/field-service/plumbing-software-comparison/ . New official vendor pages: https://buildops.com/industries/plumbing ; https://www.simprogroup.com/industries/plumbing-software ; https://www.simprogroup.com/solutions/simpro-premium ; https://www.commusoft.com/en-us/industries/plumbing-software/ ; https://www.servicefusion.com/plumbing-software ; https://www.joblogic.com/industries/plumbing-software/ ; https://www.kickserv.com/industries/plumbing . Prior sources and qualifications preserved in resources/software-stack-segments-2026-10-10.json and resources/plumbing-vendor-depth-evidence-2026-10-10.json. Character AI not added because no verified plumbing software role; the existing verified Cactus AI example is retained. Robinline excluded per founder direction. Topline Pro retained. Every category has its own software mix; Launch27 cleaning and LMN landscaping are existing source examples. Supplier authorization, supported actions and integrations remain required. No production or market-share claim. Left funnel, central GoLocal data/actions and bottom business message retained. $2B+ selected-company funding caption retains the basis in resources/agent-funding-evidence-2026-10-10.json and is not last-month-only or local-service demand.</a:t>
            </a:r>
          </a:p>
          <a:p xmlns:a="http://schemas.openxmlformats.org/drawingml/2006/main">
            <a:r>
              <a:t>October 10 logo update: agent rows show Instinct, Muse, Dots, Town, Hark, OpenClaw and Hermes as illustrative demand-side products/frameworks, not signed partners or completed GoLocal integrations. Claude and Gemini are additional examples of the broader assistant/agent landscape. Their inclusion is supported by https://claude.com/resources/articles/dispatch-and-computer-use and https://gemini.google/about/ . No niche-by-niche count or market-share claim added. Original founder-supplied assets are embedded without redrawing or recoloring; native crop removes blank image margins and extracts the original OpenClaw symbol for use with an editable name. Dots images are promotional collages and remain unused to preserve consistency; Instinct and Dots use text. Duplicate Town/Hark attachments not repeated. Selected-startup $2B+ funding basis unchanged, not funding for all pictured examples or the last month. All prior business-software examples, supplier permissions and source qualifications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proposed customer journey, October 10 2026. This replaces the architecture repeated on slide 3 with a concrete request-to-confirmation example. A customer in Dallas asks their personal agent to book a plumber tomorrow morning for a leaking kitchen tap. The agent collects address, a photo and necessary access information, then scopes a diagnostic visit. GoLocal queries participating, authorized business systems for eligible providers, service coverage, live slots and visit fees. The agent presents a bookable option, and the customer explicitly approves the provider, fee and payment authorization. GoLocal rechecks availability, uses the permitted booking operation in the provider system, and returns a confirmed booking ID and payment status only after the provider system accepts the booking. If availability changes or no suitable option exists, the agent offers another option instead of claiming success. Booking GL-1042, Oak Plumbing, $79 and 9–11 am are invented illustrative values, not an actual merchant, offer, market price or completed transaction. The $79 covers a diagnostic visit only. Repairs require a later provider quote and customer approval. Payment authorization is distinct from a settled payment and requires supported payment capabilities and customer consent. Actual quote, schedule, payment and booking capabilities vary across providers and software. The slide presents the intended experience and does not imply production readiness or automatic access to every merchant. Sources of the proposed product scope are resources/business-thesis.md and resources/current-thesis.md; no new factual performance, transaction volume or speed claim is introduced. Existing slides, user-supplied thesis facts and evidence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repeatable growth model, updated from the founder request October 10, 2026. This slide deliberately contains no named pilot city or category. Pick one city-category combination, onboard enough participating suppliers for useful local coverage and recruit users with the relevant booking need. This is the proposed cold-start strategy, not evidence that critical mass or demand already exists. Users can start setup by asking their personal agent: "Add GoLocal to find me local services." One-time connector setup can require sign-in and approval on a compatible platform; each transaction retains its own authorization. The installed connector can then serve future eligible requests. The diagram represents the proposed network effect: useful bookings support agent suggestions, more booking requests attract more businesses, better supply supports useful bookings. Recommendations depend on usefulness, reliability and platform rules, not guaranteed automatic cross-user learning, ranking or traffic. Source basis retained from the approved slide: https://developers.openai.com/plugins/plugin-guidelines ; https://openai.com/index/developers-can-now-submit-apps-to-chatgpt/ ; https://muse.ai/platform/docs . These primary sources were reviewed for the prior approved October 10 slide; this revision changes the framing, not their evidence level. Expand category by category and city by city after demonstrating useful supply and booking outcomes. Proposed revenue remains a business-paid success fee on fulfilled new-customer jobs, shared with contributing partners. Prices, shares, paid continuation and margins remain unmeasured/unagreed. The concrete Salt Lake City plumbing proof of concept and existing channel partnerships are on slide 5. No named city/category should be inferred from this general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proof of concept: Salt Lake City, plumbing. Latest founder instruction October 10, 2026 specifies this city-category combination and asks that it be introduced on slide 5 rather than slide 4. This updates the prior unspecified-category pilot plan, without asserting a live integration, completed GoLocal booking, paid revenue or proven demand. Two founder-reported channel partnerships are already secured for provider introductions: Cactus AI agreed to introduce GoLocal to 50+ service partners; YourCardare, the regional back-office partner, has another 10+ providers in the pipeline. These figures are kept separate, are not inferred to be all unique, all Salt Lake City plumbers, committed onboardings or live supply. The latest pipeline framing supersedes prior commitment language and the historical YourCardare 56 figure; original evidence remains archived. The planned sequence is partner introductions, onboard consenting providers and connect supported software, then test customer-authorized personal-agent bookings. Pilot goal is to turn eligible agent requests into actual provider-confirmed bookings. Merchant booking permissions, supported actions, usable plumbing coverage, a reachable first audience and customer demand still need to be established. The general supply/demand model, one-time connector setup and conditional network effect are shown on slide 4. Partner names and counts are founder-supplied facts, not new public-source claims or platform endorsements.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credentials as supplied and corrected by the founder on October 10, 2026. Pulkit Walia role "Operations and Partnerships" follows the latest annotated instruction; body text uses limited emphasis and company names are written out. The founder describes Urban Company as Asia's largest home services marketplace and his role as founding team member helping build from zero to a $3 billion IPO. Company IPO milestone is not GoLocal revenue/valuation. First venture at age 19: consumer home security systems brand, $700K revenue. Investor at Bessemer Venture Partners, deploying $50M in consumer AI startups. All facts preserved as supplied; no independent audit inferred. Rohit Jain latest founder description: five years as a Senior SWE at Amazon, Square and Citrix; #1 system design tutor on Udemy; 2,500 engineers taught; built production-grade MCP integrations. The latest 2,500 supersedes the prior 25,000+ in this deck. Exact basis and date of the #1 ranking are founder-supplied rather than independently established, and it is not reframed as a different ranking. Education from founder screenshot/live page https://laoh.ai/: Pulkit Harvard Business School MBA; Rohit Texas A&amp;M Computer Science and IIT Kharagpur. No extra degree type, CTO/cofounder title or commitment inferred. Photos are original screenshot versions from live Laoh assets, with native rounded image geometry. Original company marks and HBS mark are from public/team in the founder-supplied https://github.com/Pulkitwalia099/get-an-expert-web (commit 6aedaea); Citrix from the live Laoh page. Education logos: Texas A&amp;M official https://aux.tamu.edu/logos/boxTAM.svg sourced from https://marcomm.tamu.edu/creative-platform/logos/; IIT Kharagpur official emblem from the National Informatics Centre asset library https://www.uxdt.nic.in/documents/iit/iit-kharagpur/ and original image https://www.uxdt.nic.in/wp-content/uploads/2024/06/iit-khargpur-01.jpg. Texas A&amp;M SVG is rasterized only for compatibility, preserving its original artwork and colors. Complete logos retain proportions. LinkedIn profiles: https://www.linkedin.com/in/pulkitwalia/ and https://www.linkedin.com/in/rohit-jain-343437187/. Company footer logos are removed in this revision; university logos identify education, not GoLocal partnerships or endorsements.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30b885291f4d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faa5efecaf456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668df11d67e41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f6cd84686dd4f3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965ed15d484a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23d220ef3c46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0507727d704477" /><Relationship Type="http://schemas.openxmlformats.org/officeDocument/2006/relationships/slideLayout" Target="/ppt/slideLayouts/slideLayout1.xml" Id="R593a5038215c401c" /><Relationship Type="http://schemas.openxmlformats.org/officeDocument/2006/relationships/slideLayout" Target="/ppt/slideLayouts/slideLayout2.xml" Id="R2ccb2f3ef4214773" /><Relationship Type="http://schemas.openxmlformats.org/officeDocument/2006/relationships/slideLayout" Target="/ppt/slideLayouts/slideLayout3.xml" Id="Reffbc7f26f434096" /><Relationship Type="http://schemas.openxmlformats.org/officeDocument/2006/relationships/slideLayout" Target="/ppt/slideLayouts/slideLayout4.xml" Id="R97c9cb50512e4d54" /><Relationship Type="http://schemas.openxmlformats.org/officeDocument/2006/relationships/slideLayout" Target="/ppt/slideLayouts/slideLayout5.xml" Id="R981a422a17a0402c" /><Relationship Type="http://schemas.openxmlformats.org/officeDocument/2006/relationships/slideLayout" Target="/ppt/slideLayouts/slideLayout6.xml" Id="R144bafc1992f4f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93a5038215c401c"/>
    <p:sldLayoutId xmlns:r="http://schemas.openxmlformats.org/officeDocument/2006/relationships" id="2147483650" r:id="R2ccb2f3ef4214773"/>
    <p:sldLayoutId xmlns:r="http://schemas.openxmlformats.org/officeDocument/2006/relationships" id="2147483651" r:id="Reffbc7f26f434096"/>
    <p:sldLayoutId xmlns:r="http://schemas.openxmlformats.org/officeDocument/2006/relationships" id="2147483652" r:id="R97c9cb50512e4d54"/>
    <p:sldLayoutId xmlns:r="http://schemas.openxmlformats.org/officeDocument/2006/relationships" id="2147483653" r:id="R981a422a17a0402c"/>
    <p:sldLayoutId xmlns:r="http://schemas.openxmlformats.org/officeDocument/2006/relationships" id="2147483654" r:id="R144bafc1992f4f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ffc4b5bff14dfa" /><Relationship Type="http://schemas.openxmlformats.org/officeDocument/2006/relationships/notesSlide" Target="/ppt/notesSlides/notesSlide1.xml" Id="R574ace78bad940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13a49297cea4367" /><Relationship Type="http://schemas.openxmlformats.org/officeDocument/2006/relationships/notesSlide" Target="/ppt/notesSlides/notesSlide2.xml" Id="R690e9e2382b645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0ce4f17e974065" /><Relationship Type="http://schemas.openxmlformats.org/officeDocument/2006/relationships/image" Target="/ppt/media/image.png" Id="R2f3f1b6e0cb142d8" /><Relationship Type="http://schemas.openxmlformats.org/officeDocument/2006/relationships/image" Target="/ppt/media/image.jpeg" Id="Rd973c1489bf2439d" /><Relationship Type="http://schemas.openxmlformats.org/officeDocument/2006/relationships/image" Target="/ppt/media/image2.jpeg" Id="R3bde5a40ab0c4b00" /><Relationship Type="http://schemas.openxmlformats.org/officeDocument/2006/relationships/image" Target="/ppt/media/image3.jpeg" Id="Ra0996ef46b6949f1" /><Relationship Type="http://schemas.openxmlformats.org/officeDocument/2006/relationships/image" Target="/ppt/media/image2.png" Id="R81cefb3034e141bf" /><Relationship Type="http://schemas.openxmlformats.org/officeDocument/2006/relationships/notesSlide" Target="/ppt/notesSlides/notesSlide3.xml" Id="Rfcabd5e4af7e42b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df47f9912a94335" /><Relationship Type="http://schemas.openxmlformats.org/officeDocument/2006/relationships/notesSlide" Target="/ppt/notesSlides/notesSlide4.xml" Id="R3611fd86e0eb41f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ac808d935a4a8b" /><Relationship Type="http://schemas.openxmlformats.org/officeDocument/2006/relationships/notesSlide" Target="/ppt/notesSlides/notesSlide5.xml" Id="R43edff8479b148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0599051232145a0" /><Relationship Type="http://schemas.openxmlformats.org/officeDocument/2006/relationships/notesSlide" Target="/ppt/notesSlides/notesSlide6.xml" Id="R024cf843d9c444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99bb1460d34615" /><Relationship Type="http://schemas.openxmlformats.org/officeDocument/2006/relationships/image" Target="/ppt/media/image4.jpeg" Id="R789fe9cb23b04258" /><Relationship Type="http://schemas.openxmlformats.org/officeDocument/2006/relationships/image" Target="/ppt/media/image5.jpeg" Id="R425504867dcd4293" /><Relationship Type="http://schemas.openxmlformats.org/officeDocument/2006/relationships/hyperlink" Target="https://www.linkedin.com/in/pulkitwalia/" TargetMode="External" Id="R039c7973f8c14ed4" /><Relationship Type="http://schemas.openxmlformats.org/officeDocument/2006/relationships/hyperlink" Target="https://www.linkedin.com/in/rohit-jain-343437187/" TargetMode="External" Id="R5f40e427d960439e" /><Relationship Type="http://schemas.openxmlformats.org/officeDocument/2006/relationships/image" Target="/ppt/media/image6.jpeg" Id="R0e2a5ec67cb64d37" /><Relationship Type="http://schemas.openxmlformats.org/officeDocument/2006/relationships/image" Target="/ppt/media/image3.png" Id="Rb72a4677634b495f" /><Relationship Type="http://schemas.openxmlformats.org/officeDocument/2006/relationships/image" Target="/ppt/media/image7.jpeg" Id="R7e2d8be402b54a14" /><Relationship Type="http://schemas.openxmlformats.org/officeDocument/2006/relationships/notesSlide" Target="/ppt/notesSlides/notesSlide7.xml" Id="Rd8f39d497bad4177" /></Relationships>
</file>

<file path=ppt/slides/slide1.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0C41689-FC93-4969-87A5-ADB02A5F95EB}"/>
              </a:ext>
            </a:extLst>
          </p:cNvPr>
          <p:cNvSpPr>
            <a:spLocks xmlns:a="http://schemas.openxmlformats.org/drawingml/2006/main" noGrp="1"/>
          </p:cNvSpPr>
          <p:nvPr/>
        </p:nvSpPr>
        <p:spPr>
          <a:xfrm xmlns:a="http://schemas.openxmlformats.org/drawingml/2006/main">
            <a:off x="495300" y="2324100"/>
            <a:ext cx="1120140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100" b="1">
                <a:solidFill>
                  <a:srgbClr val="193C32"/>
                </a:solidFill>
                <a:latin typeface="Helvetica Neue"/>
                <a:ea typeface="Helvetica Neue"/>
                <a:cs typeface="Helvetica Neue"/>
              </a:defRPr>
            </a:defPPr>
          </a:lstStyle>
          <a:p xmlns:a="http://schemas.openxmlformats.org/drawingml/2006/main">
            <a:pPr algn="l">
              <a:defRPr sz="8100" b="1">
                <a:solidFill>
                  <a:srgbClr val="193C32"/>
                </a:solidFill>
                <a:latin typeface="Helvetica Neue"/>
                <a:ea typeface="Helvetica Neue"/>
                <a:cs typeface="Helvetica Neue"/>
              </a:defRPr>
            </a:pPr>
            <a:r>
              <a:rPr sz="8100" b="1">
                <a:solidFill>
                  <a:srgbClr val="193C32"/>
                </a:solidFill>
                <a:latin typeface="Helvetica Neue"/>
                <a:ea typeface="Helvetica Neue"/>
                <a:cs typeface="Helvetica Neue"/>
              </a:rPr>
              <a:t>GoLocal</a:t>
            </a:r>
          </a:p>
        </p:txBody>
      </p:sp>
      <p:sp>
        <p:nvSpPr>
          <p:cNvPr id="2" name="">
            <a:extLst xmlns:a="http://schemas.openxmlformats.org/drawingml/2006/main">
              <a:ext uri="{FF2B5EF4-FFF2-40B4-BE49-F238E27FC236}">
                <a16:creationId xmlns:a16="http://schemas.microsoft.com/office/drawing/2014/main" id="{D6BD690E-A487-46B6-BC21-05A027356330}"/>
              </a:ext>
            </a:extLst>
          </p:cNvPr>
          <p:cNvSpPr>
            <a:spLocks xmlns:a="http://schemas.openxmlformats.org/drawingml/2006/main" noGrp="1"/>
          </p:cNvSpPr>
          <p:nvPr/>
        </p:nvSpPr>
        <p:spPr>
          <a:xfrm xmlns:a="http://schemas.openxmlformats.org/drawingml/2006/main">
            <a:off x="533400" y="3771900"/>
            <a:ext cx="111252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36C4E"/>
                </a:solidFill>
                <a:latin typeface="Helvetica Neue"/>
                <a:ea typeface="Helvetica Neue"/>
                <a:cs typeface="Helvetica Neue"/>
              </a:defRPr>
            </a:defPPr>
          </a:lstStyle>
          <a:p xmlns:a="http://schemas.openxmlformats.org/drawingml/2006/main">
            <a:pPr algn="l">
              <a:defRPr sz="2700" b="0">
                <a:solidFill>
                  <a:srgbClr val="236C4E"/>
                </a:solidFill>
                <a:latin typeface="Helvetica Neue"/>
                <a:ea typeface="Helvetica Neue"/>
                <a:cs typeface="Helvetica Neue"/>
              </a:defRPr>
            </a:pPr>
            <a:r>
              <a:rPr sz="2700" b="0">
                <a:solidFill>
                  <a:srgbClr val="236C4E"/>
                </a:solidFill>
                <a:latin typeface="Helvetica Neue"/>
                <a:ea typeface="Helvetica Neue"/>
                <a:cs typeface="Helvetica Neue"/>
              </a:rPr>
              <a:t>Local services, booked by your personal agent.</a:t>
            </a:r>
          </a:p>
        </p:txBody>
      </p:sp>
      <p:sp>
        <p:nvSpPr>
          <p:cNvPr id="3" name="">
            <a:extLst xmlns:a="http://schemas.openxmlformats.org/drawingml/2006/main">
              <a:ext uri="{FF2B5EF4-FFF2-40B4-BE49-F238E27FC236}">
                <a16:creationId xmlns:a16="http://schemas.microsoft.com/office/drawing/2014/main" id="{87507E9F-A053-4703-A4CF-2FE76374F56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1 / 7</a:t>
            </a:r>
          </a:p>
        </p:txBody>
      </p:sp>
    </p:spTree>
    <p:extLst>
      <p:ext uri="{BB962C8B-B14F-4D97-AF65-F5344CB8AC3E}">
        <p14:creationId xmlns:p14="http://schemas.microsoft.com/office/powerpoint/2010/main" val="381375820"/>
      </p:ext>
    </p:extLst>
  </p:cSld>
</p:sld>
</file>

<file path=ppt/slides/slide2.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9" name="market-opening-0">
            <a:extLst xmlns:a="http://schemas.openxmlformats.org/drawingml/2006/main">
              <a:ext uri="{FF2B5EF4-FFF2-40B4-BE49-F238E27FC236}">
                <a16:creationId xmlns:a16="http://schemas.microsoft.com/office/drawing/2014/main" id="{8678B50B-E2F6-464D-A38E-7D65B2796897}"/>
              </a:ext>
            </a:extLst>
          </p:cNvPr>
          <p:cNvSpPr>
            <a:spLocks xmlns:a="http://schemas.openxmlformats.org/drawingml/2006/main" noGrp="1"/>
          </p:cNvSpPr>
          <p:nvPr/>
        </p:nvSpPr>
        <p:spPr>
          <a:xfrm xmlns:a="http://schemas.openxmlformats.org/drawingml/2006/main">
            <a:off x="495300" y="323850"/>
            <a:ext cx="112014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900" b="1">
                <a:solidFill>
                  <a:srgbClr val="193C32"/>
                </a:solidFill>
                <a:latin typeface="Helvetica Neue"/>
                <a:ea typeface="Helvetica Neue"/>
                <a:cs typeface="Helvetica Neue"/>
              </a:defRPr>
            </a:defPPr>
          </a:lstStyle>
          <a:p xmlns:a="http://schemas.openxmlformats.org/drawingml/2006/main">
            <a:pPr>
              <a:buNone/>
              <a:defRPr sz="3900" b="1">
                <a:solidFill>
                  <a:srgbClr val="193C32"/>
                </a:solidFill>
                <a:latin typeface="Helvetica Neue"/>
                <a:ea typeface="Helvetica Neue"/>
                <a:cs typeface="Helvetica Neue"/>
              </a:defRPr>
            </a:pPr>
            <a:r>
              <a:rPr sz="3900" b="1">
                <a:solidFill>
                  <a:srgbClr val="193C32"/>
                </a:solidFill>
                <a:latin typeface="Helvetica Neue"/>
                <a:ea typeface="Helvetica Neue"/>
                <a:cs typeface="Helvetica Neue"/>
              </a:rPr>
              <a:t>$1.2 trillion+ U.S. local-services opportunity</a:t>
            </a:r>
          </a:p>
        </p:txBody>
      </p:sp>
      <p:sp>
        <p:nvSpPr>
          <p:cNvPr id="2" name="market-opening-1">
            <a:extLst xmlns:a="http://schemas.openxmlformats.org/drawingml/2006/main">
              <a:ext uri="{FF2B5EF4-FFF2-40B4-BE49-F238E27FC236}">
                <a16:creationId xmlns:a16="http://schemas.microsoft.com/office/drawing/2014/main" id="{C9F321B0-5A38-4458-8889-8A8FCF56086A}"/>
              </a:ext>
            </a:extLst>
          </p:cNvPr>
          <p:cNvSpPr>
            <a:spLocks xmlns:a="http://schemas.openxmlformats.org/drawingml/2006/main" noGrp="1"/>
          </p:cNvSpPr>
          <p:nvPr/>
        </p:nvSpPr>
        <p:spPr>
          <a:xfrm xmlns:a="http://schemas.openxmlformats.org/drawingml/2006/main">
            <a:off x="495300" y="1114425"/>
            <a:ext cx="11201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0">
                <a:solidFill>
                  <a:srgbClr val="65746C"/>
                </a:solidFill>
                <a:latin typeface="Helvetica Neue"/>
                <a:ea typeface="Helvetica Neue"/>
                <a:cs typeface="Helvetica Neue"/>
              </a:defRPr>
            </a:defPPr>
          </a:lstStyle>
          <a:p xmlns:a="http://schemas.openxmlformats.org/drawingml/2006/main">
            <a:pPr>
              <a:buNone/>
              <a:defRPr sz="2325" b="0">
                <a:solidFill>
                  <a:srgbClr val="65746C"/>
                </a:solidFill>
                <a:latin typeface="Helvetica Neue"/>
                <a:ea typeface="Helvetica Neue"/>
                <a:cs typeface="Helvetica Neue"/>
              </a:defRPr>
            </a:pPr>
            <a:r>
              <a:rPr sz="2325" b="0">
                <a:solidFill>
                  <a:srgbClr val="65746C"/>
                </a:solidFill>
                <a:latin typeface="Helvetica Neue"/>
                <a:ea typeface="Helvetica Neue"/>
                <a:cs typeface="Helvetica Neue"/>
              </a:rPr>
              <a:t>Each new platform unlocks another step. The transaction gap remains.</a:t>
            </a:r>
          </a:p>
        </p:txBody>
      </p:sp>
      <p:graphicFrame>
        <p:nvGraphicFramePr>
          <p:cNvPr id="5" name="">
            <a:extLst xmlns:a="http://schemas.openxmlformats.org/drawingml/2006/main">
              <a:ext uri="{FF2B5EF4-FFF2-40B4-BE49-F238E27FC236}">
                <a16:creationId xmlns:a16="http://schemas.microsoft.com/office/drawing/2014/main" id="{88A15A9C-5289-4EA8-99D4-71E682ACFC32}"/>
              </a:ext>
            </a:extLst>
          </p:cNvPr>
          <p:cNvGraphicFramePr/>
          <p:nvPr/>
        </p:nvGraphicFramePr>
        <p:xfrm>
          <a:off xmlns:a="http://schemas.openxmlformats.org/drawingml/2006/main" x="495300" y="1990725"/>
          <a:ext xmlns:a="http://schemas.openxmlformats.org/drawingml/2006/main" cx="11201400" cy="3790950"/>
        </p:xfrm>
        <a:graphic xmlns:a="http://schemas.openxmlformats.org/drawingml/2006/main">
          <a:graphicData uri="http://schemas.openxmlformats.org/drawingml/2006/table">
            <a:tbl>
              <a:tblPr firstRow="0" firstCol="0" bandRow="0"/>
              <a:tblGrid>
                <a:gridCol w="2295525"/>
                <a:gridCol w="1781175"/>
                <a:gridCol w="1781175"/>
                <a:gridCol w="1781175"/>
                <a:gridCol w="1781175"/>
                <a:gridCol w="1781175"/>
              </a:tblGrid>
              <a:tr h="266700">
                <a:tc>
                  <a:txBody>
                    <a:bodyPr wrap="square">
                      <a:noAutofit/>
                    </a:bodyPr>
                    <a:lstStyle/>
                    <a:p>
                      <a:r>
                        <a:rPr sz="1575" b="1">
                          <a:solidFill>
                            <a:srgbClr val="193C32"/>
                          </a:solidFill>
                          <a:latin typeface="Helvetica Neue"/>
                          <a:ea typeface="Helvetica Neue"/>
                          <a:cs typeface="Helvetica Neue"/>
                        </a:rPr>
                        <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Pre-2000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2000–2010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2010–2020</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2020–2025</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575" b="0">
                          <a:solidFill>
                            <a:srgbClr val="65746C"/>
                          </a:solidFill>
                          <a:latin typeface="Helvetica Neue"/>
                          <a:ea typeface="Helvetica Neue"/>
                          <a:cs typeface="Helvetica Neue"/>
                        </a:rPr>
                        <a:t>2026+</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285750">
                <a:tc>
                  <a:txBody>
                    <a:bodyPr wrap="square">
                      <a:noAutofit/>
                    </a:bodyPr>
                    <a:lstStyle/>
                    <a:p>
                      <a:pPr algn="l">
                        <a:buNone/>
                      </a:pPr>
                      <a:r>
                        <a:rPr sz="1575" b="1">
                          <a:solidFill>
                            <a:srgbClr val="193C32"/>
                          </a:solidFill>
                          <a:latin typeface="Helvetica Neue"/>
                          <a:ea typeface="Helvetica Neue"/>
                          <a:cs typeface="Helvetica Neue"/>
                        </a:rPr>
                        <a:t>Technology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Telephones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Internet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Mobile + GPS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LLMs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0">
                          <a:solidFill>
                            <a:srgbClr val="193C32"/>
                          </a:solidFill>
                          <a:latin typeface="Helvetica Neue"/>
                          <a:ea typeface="Helvetica Neue"/>
                          <a:cs typeface="Helvetica Neue"/>
                        </a:rPr>
                        <a:t>AI + tools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r>
              <a:tr h="609600">
                <a:tc>
                  <a:txBody>
                    <a:bodyPr wrap="square">
                      <a:noAutofit/>
                    </a:bodyPr>
                    <a:lstStyle/>
                    <a:p>
                      <a:pPr algn="l">
                        <a:buNone/>
                      </a:pPr>
                      <a:r>
                        <a:rPr sz="1575" b="1">
                          <a:solidFill>
                            <a:srgbClr val="193C32"/>
                          </a:solidFill>
                          <a:latin typeface="Helvetica Neue"/>
                          <a:ea typeface="Helvetica Neue"/>
                          <a:cs typeface="Helvetica Neue"/>
                        </a:rPr>
                        <a:t>Platform</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Yellow Pages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a:t>
                      </a:r>
                    </a:p>
                    <a:p>
                      <a:pPr algn="ctr">
                        <a:buNone/>
                      </a:pPr>
                      <a:r>
                        <a:rPr sz="1725" b="1">
                          <a:solidFill>
                            <a:srgbClr val="193C32"/>
                          </a:solidFill>
                          <a:latin typeface="Helvetica Neue"/>
                          <a:ea typeface="Helvetica Neue"/>
                          <a:cs typeface="Helvetica Neue"/>
                        </a:rPr>
                        <a:t>Craigslist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Google Maps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193C32"/>
                          </a:solidFill>
                          <a:latin typeface="Helvetica Neue"/>
                          <a:ea typeface="Helvetica Neue"/>
                          <a:cs typeface="Helvetica Neue"/>
                        </a:rPr>
                        <a:t>AI chatbots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725" b="1">
                          <a:solidFill>
                            <a:srgbClr val="FFFFFF"/>
                          </a:solidFill>
                          <a:latin typeface="Helvetica Neue"/>
                          <a:ea typeface="Helvetica Neue"/>
                          <a:cs typeface="Helvetica Neue"/>
                        </a:rPr>
                        <a:t>Personal AI</a:t>
                      </a:r>
                    </a:p>
                    <a:p>
                      <a:pPr algn="ctr">
                        <a:buNone/>
                      </a:pPr>
                      <a:r>
                        <a:rPr sz="1725" b="1">
                          <a:solidFill>
                            <a:srgbClr val="FFFFFF"/>
                          </a:solidFill>
                          <a:latin typeface="Helvetica Neue"/>
                          <a:ea typeface="Helvetica Neue"/>
                          <a:cs typeface="Helvetica Neue"/>
                        </a:rPr>
                        <a:t>agents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193C32"/>
                          </a:solidFill>
                          <a:latin typeface="Helvetica Neue"/>
                          <a:ea typeface="Helvetica Neue"/>
                          <a:cs typeface="Helvetica Neue"/>
                        </a:rPr>
                        <a:t>Find a business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Compare options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Location &amp; reviews</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Conversational request</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c>
                  <a:txBody>
                    <a:bodyPr wrap="square">
                      <a:noAutofit/>
                    </a:bodyPr>
                    <a:lstStyle/>
                    <a:p>
                      <a:pPr algn="ctr">
                        <a:buNone/>
                      </a:pPr>
                      <a:r>
                        <a:rPr sz="1950" b="1">
                          <a:solidFill>
                            <a:srgbClr val="236C4E"/>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E3F0E6"/>
                    </a:solidFill>
                  </a:tcPr>
                </a:tc>
              </a:tr>
              <a:tr h="323850">
                <a:tc>
                  <a:txBody>
                    <a:bodyPr wrap="square">
                      <a:noAutofit/>
                    </a:bodyPr>
                    <a:lstStyle/>
                    <a:p>
                      <a:pPr algn="l">
                        <a:buNone/>
                      </a:pPr>
                      <a:r>
                        <a:rPr sz="1575" b="1">
                          <a:solidFill>
                            <a:srgbClr val="193C32"/>
                          </a:solidFill>
                          <a:latin typeface="Helvetica Neue"/>
                          <a:ea typeface="Helvetica Neue"/>
                          <a:cs typeface="Helvetica Neue"/>
                        </a:rPr>
                        <a:t>Delegate the task</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950" b="1">
                          <a:solidFill>
                            <a:srgbClr val="FFFFFF"/>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236C4E"/>
                    </a:solidFill>
                  </a:tcPr>
                </a:tc>
              </a:tr>
              <a:tr h="323850">
                <a:tc>
                  <a:txBody>
                    <a:bodyPr wrap="square">
                      <a:noAutofit/>
                    </a:bodyPr>
                    <a:lstStyle/>
                    <a:p>
                      <a:pPr algn="l">
                        <a:buNone/>
                      </a:pPr>
                      <a:r>
                        <a:rPr sz="1575" b="1">
                          <a:solidFill>
                            <a:srgbClr val="9D514B"/>
                          </a:solidFill>
                          <a:latin typeface="Helvetica Neue"/>
                          <a:ea typeface="Helvetica Neue"/>
                          <a:cs typeface="Helvetica Neue"/>
                        </a:rPr>
                        <a:t>Scope &amp; quote</a:t>
                      </a:r>
                    </a:p>
                  </a:txBody>
                  <a:tcPr marL="0"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Agent calls</a:t>
                      </a:r>
                    </a:p>
                  </a:txBody>
                  <a:tcPr marL="66675" marR="66675" marT="19050" marB="19050" anchor="ctr">
                    <a:lnL w="28575">
                      <a:solidFill>
                        <a:srgbClr val="FBF9F4"/>
                      </a:solidFill>
                    </a:lnL>
                    <a:lnR w="28575">
                      <a:solidFill>
                        <a:srgbClr val="FBF9F4"/>
                      </a:solidFill>
                    </a:lnR>
                    <a:lnT w="66675">
                      <a:solidFill>
                        <a:srgbClr val="FBF9F4"/>
                      </a:solidFill>
                    </a:lnT>
                    <a:lnB w="28575">
                      <a:solidFill>
                        <a:srgbClr val="FBF9F4"/>
                      </a:solidFill>
                    </a:lnB>
                    <a:solidFill>
                      <a:srgbClr val="F7E8E3"/>
                    </a:solidFill>
                  </a:tcPr>
                </a:tc>
              </a:tr>
              <a:tr h="323850">
                <a:tc>
                  <a:txBody>
                    <a:bodyPr wrap="square">
                      <a:noAutofit/>
                    </a:bodyPr>
                    <a:lstStyle/>
                    <a:p>
                      <a:pPr algn="l">
                        <a:buNone/>
                      </a:pPr>
                      <a:r>
                        <a:rPr sz="1575" b="1">
                          <a:solidFill>
                            <a:srgbClr val="9D514B"/>
                          </a:solidFill>
                          <a:latin typeface="Helvetica Neue"/>
                          <a:ea typeface="Helvetica Neue"/>
                          <a:cs typeface="Helvetica Neue"/>
                        </a:rPr>
                        <a:t>Live availability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Calls / sites</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r h="361950">
                <a:tc>
                  <a:txBody>
                    <a:bodyPr wrap="square">
                      <a:noAutofit/>
                    </a:bodyPr>
                    <a:lstStyle/>
                    <a:p>
                      <a:pPr algn="l">
                        <a:buNone/>
                      </a:pPr>
                      <a:r>
                        <a:rPr sz="1575" b="1">
                          <a:solidFill>
                            <a:srgbClr val="9D514B"/>
                          </a:solidFill>
                          <a:latin typeface="Helvetica Neue"/>
                          <a:ea typeface="Helvetica Neue"/>
                          <a:cs typeface="Helvetica Neue"/>
                        </a:rPr>
                        <a:t>Book &amp; pay</a:t>
                      </a:r>
                    </a:p>
                  </a:txBody>
                  <a:tcPr marL="0"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BF9F4"/>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800" b="0">
                          <a:solidFill>
                            <a:srgbClr val="9D514B"/>
                          </a:solidFill>
                          <a:latin typeface="Helvetica Neue"/>
                          <a:ea typeface="Helvetica Neue"/>
                          <a:cs typeface="Helvetica Neue"/>
                        </a:rPr>
                        <a: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c>
                  <a:txBody>
                    <a:bodyPr wrap="square">
                      <a:noAutofit/>
                    </a:bodyPr>
                    <a:lstStyle/>
                    <a:p>
                      <a:pPr algn="ctr">
                        <a:buNone/>
                      </a:pPr>
                      <a:r>
                        <a:rPr sz="1350" b="0">
                          <a:solidFill>
                            <a:srgbClr val="9D514B"/>
                          </a:solidFill>
                          <a:latin typeface="Helvetica Neue"/>
                          <a:ea typeface="Helvetica Neue"/>
                          <a:cs typeface="Helvetica Neue"/>
                        </a:rPr>
                        <a:t>Sites / checkout</a:t>
                      </a:r>
                    </a:p>
                  </a:txBody>
                  <a:tcPr marL="66675" marR="66675" marT="19050" marB="19050" anchor="ctr">
                    <a:lnL w="28575">
                      <a:solidFill>
                        <a:srgbClr val="FBF9F4"/>
                      </a:solidFill>
                    </a:lnL>
                    <a:lnR w="28575">
                      <a:solidFill>
                        <a:srgbClr val="FBF9F4"/>
                      </a:solidFill>
                    </a:lnR>
                    <a:lnT w="28575">
                      <a:solidFill>
                        <a:srgbClr val="FBF9F4"/>
                      </a:solidFill>
                    </a:lnT>
                    <a:lnB w="28575">
                      <a:solidFill>
                        <a:srgbClr val="FBF9F4"/>
                      </a:solidFill>
                    </a:lnB>
                    <a:solidFill>
                      <a:srgbClr val="F7E8E3"/>
                    </a:solidFill>
                  </a:tcPr>
                </a:tc>
              </a:tr>
            </a:tbl>
          </a:graphicData>
        </a:graphic>
      </p:graphicFrame>
      <p:sp>
        <p:nvSpPr>
          <p:cNvPr id="7" name="market-opening-5">
            <a:extLst xmlns:a="http://schemas.openxmlformats.org/drawingml/2006/main">
              <a:ext uri="{FF2B5EF4-FFF2-40B4-BE49-F238E27FC236}">
                <a16:creationId xmlns:a16="http://schemas.microsoft.com/office/drawing/2014/main" id="{8B1CF9E0-A144-47C3-9ED1-6ED735CD16A5}"/>
              </a:ext>
            </a:extLst>
          </p:cNvPr>
          <p:cNvSpPr>
            <a:spLocks xmlns:a="http://schemas.openxmlformats.org/drawingml/2006/main" noGrp="1"/>
          </p:cNvSpPr>
          <p:nvPr/>
        </p:nvSpPr>
        <p:spPr>
          <a:xfrm xmlns:a="http://schemas.openxmlformats.org/drawingml/2006/main">
            <a:off x="495300" y="6572250"/>
            <a:ext cx="10448925"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Mixed-year U.S. spending, including materials. Illustrative eras/workflows; some platforms already transact.</a:t>
            </a:r>
          </a:p>
        </p:txBody>
      </p:sp>
      <p:sp>
        <p:nvSpPr>
          <p:cNvPr id="8" name="market-opening-6">
            <a:extLst xmlns:a="http://schemas.openxmlformats.org/drawingml/2006/main">
              <a:ext uri="{FF2B5EF4-FFF2-40B4-BE49-F238E27FC236}">
                <a16:creationId xmlns:a16="http://schemas.microsoft.com/office/drawing/2014/main" id="{9C3FB550-ED41-4A8E-9B97-C88A3A6B83BB}"/>
              </a:ext>
            </a:extLst>
          </p:cNvPr>
          <p:cNvSpPr>
            <a:spLocks xmlns:a="http://schemas.openxmlformats.org/drawingml/2006/main" noGrp="1"/>
          </p:cNvSpPr>
          <p:nvPr/>
        </p:nvSpPr>
        <p:spPr>
          <a:xfrm xmlns:a="http://schemas.openxmlformats.org/drawingml/2006/main">
            <a:off x="11049000" y="657225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7</a:t>
            </a:r>
          </a:p>
        </p:txBody>
      </p:sp>
      <p:sp>
        <p:nvSpPr>
          <p:cNvPr id="10" name="opportunity-close">
            <a:extLst xmlns:a="http://schemas.openxmlformats.org/drawingml/2006/main">
              <a:ext uri="{FF2B5EF4-FFF2-40B4-BE49-F238E27FC236}">
                <a16:creationId xmlns:a16="http://schemas.microsoft.com/office/drawing/2014/main" id="{BF516B70-F7F0-4038-A880-DB5961B82CDD}"/>
              </a:ext>
            </a:extLst>
          </p:cNvPr>
          <p:cNvSpPr>
            <a:spLocks xmlns:a="http://schemas.openxmlformats.org/drawingml/2006/main" noGrp="1"/>
          </p:cNvSpPr>
          <p:nvPr/>
        </p:nvSpPr>
        <p:spPr>
          <a:xfrm xmlns:a="http://schemas.openxmlformats.org/drawingml/2006/main">
            <a:off x="495300" y="5924550"/>
            <a:ext cx="112014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950" b="1">
                <a:solidFill>
                  <a:srgbClr val="193C32"/>
                </a:solidFill>
                <a:latin typeface="Helvetica Neue"/>
                <a:ea typeface="Helvetica Neue"/>
                <a:cs typeface="Helvetica Neue"/>
              </a:defRPr>
            </a:defPPr>
          </a:lstStyle>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 platform that solves the final three steps can complete local-service bookings</a:t>
            </a:r>
          </a:p>
          <a:p xmlns:a="http://schemas.openxmlformats.org/drawingml/2006/main">
            <a:pP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and capture value in the $1.2 trillion+ U.S. market.</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57" name="">
            <a:extLst xmlns:a="http://schemas.openxmlformats.org/drawingml/2006/main">
              <a:ext uri="{FF2B5EF4-FFF2-40B4-BE49-F238E27FC236}">
                <a16:creationId xmlns:a16="http://schemas.microsoft.com/office/drawing/2014/main" id="{DBCEFF9E-46AF-4D95-95B1-91C88505566B}"/>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
            <a:extLst xmlns:a="http://schemas.openxmlformats.org/drawingml/2006/main">
              <a:ext uri="{FF2B5EF4-FFF2-40B4-BE49-F238E27FC236}">
                <a16:creationId xmlns:a16="http://schemas.microsoft.com/office/drawing/2014/main" id="{B90FFE52-07DE-4A36-99A4-5D74BFFA8A8F}"/>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
            <a:extLst xmlns:a="http://schemas.openxmlformats.org/drawingml/2006/main">
              <a:ext uri="{FF2B5EF4-FFF2-40B4-BE49-F238E27FC236}">
                <a16:creationId xmlns:a16="http://schemas.microsoft.com/office/drawing/2014/main" id="{795A6FC3-4EE0-41D3-9C7B-044336B69A07}"/>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
            <a:extLst xmlns:a="http://schemas.openxmlformats.org/drawingml/2006/main">
              <a:ext uri="{FF2B5EF4-FFF2-40B4-BE49-F238E27FC236}">
                <a16:creationId xmlns:a16="http://schemas.microsoft.com/office/drawing/2014/main" id="{82D7B557-B494-4306-A418-E1E8AE6FD2B0}"/>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
            <a:extLst xmlns:a="http://schemas.openxmlformats.org/drawingml/2006/main">
              <a:ext uri="{FF2B5EF4-FFF2-40B4-BE49-F238E27FC236}">
                <a16:creationId xmlns:a16="http://schemas.microsoft.com/office/drawing/2014/main" id="{51185C14-62C1-407F-9432-0AB00AFE4D97}"/>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
            <a:extLst xmlns:a="http://schemas.openxmlformats.org/drawingml/2006/main">
              <a:ext uri="{FF2B5EF4-FFF2-40B4-BE49-F238E27FC236}">
                <a16:creationId xmlns:a16="http://schemas.microsoft.com/office/drawing/2014/main" id="{CDB2F34D-EFFE-4268-B273-14D5AF00D090}"/>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
            <a:extLst xmlns:a="http://schemas.openxmlformats.org/drawingml/2006/main">
              <a:ext uri="{FF2B5EF4-FFF2-40B4-BE49-F238E27FC236}">
                <a16:creationId xmlns:a16="http://schemas.microsoft.com/office/drawing/2014/main" id="{1AF5E0F7-37E6-4696-8467-D5AD61211AE0}"/>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
            <a:extLst xmlns:a="http://schemas.openxmlformats.org/drawingml/2006/main">
              <a:ext uri="{FF2B5EF4-FFF2-40B4-BE49-F238E27FC236}">
                <a16:creationId xmlns:a16="http://schemas.microsoft.com/office/drawing/2014/main" id="{820F3486-D4A1-4B7D-825B-2B453262D2A4}"/>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
            <a:extLst xmlns:a="http://schemas.openxmlformats.org/drawingml/2006/main">
              <a:ext uri="{FF2B5EF4-FFF2-40B4-BE49-F238E27FC236}">
                <a16:creationId xmlns:a16="http://schemas.microsoft.com/office/drawing/2014/main" id="{DB890E9E-6670-4A58-BD6D-5BC93D15A72C}"/>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
            <a:extLst xmlns:a="http://schemas.openxmlformats.org/drawingml/2006/main">
              <a:ext uri="{FF2B5EF4-FFF2-40B4-BE49-F238E27FC236}">
                <a16:creationId xmlns:a16="http://schemas.microsoft.com/office/drawing/2014/main" id="{6162C1E6-0AAA-4DB5-8928-EA1379F47E46}"/>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
            <a:extLst xmlns:a="http://schemas.openxmlformats.org/drawingml/2006/main">
              <a:ext uri="{FF2B5EF4-FFF2-40B4-BE49-F238E27FC236}">
                <a16:creationId xmlns:a16="http://schemas.microsoft.com/office/drawing/2014/main" id="{775EE36F-E560-441B-9EC9-8D4F9659DC17}"/>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
            <a:extLst xmlns:a="http://schemas.openxmlformats.org/drawingml/2006/main">
              <a:ext uri="{FF2B5EF4-FFF2-40B4-BE49-F238E27FC236}">
                <a16:creationId xmlns:a16="http://schemas.microsoft.com/office/drawing/2014/main" id="{8566496A-9405-49B5-9DBA-9CF19A07F8B3}"/>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
            <a:extLst xmlns:a="http://schemas.openxmlformats.org/drawingml/2006/main">
              <a:ext uri="{FF2B5EF4-FFF2-40B4-BE49-F238E27FC236}">
                <a16:creationId xmlns:a16="http://schemas.microsoft.com/office/drawing/2014/main" id="{633DD15B-D7A4-4E7C-96B5-0A1C980FAF6A}"/>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GoLocal connects personal agents to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The data agents need already lives across businesses’ different software systems.</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r>
              <a:t/>
            </a: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r>
              <a:t/>
            </a: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r>
              <a:t/>
            </a: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r>
              <a:t/>
            </a: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r>
              <a:t/>
            </a:r>
          </a:p>
        </p:txBody>
      </p:sp>
      <p:pic>
        <p:nvPicPr>
          <p:cNvPr id="17" name="">
            <a:extLst xmlns:a="http://schemas.openxmlformats.org/drawingml/2006/main">
              <a:ext uri="{FF2B5EF4-FFF2-40B4-BE49-F238E27FC236}">
                <a16:creationId xmlns:a16="http://schemas.microsoft.com/office/drawing/2014/main" id="{58A6FD28-CE72-439B-B5F5-B310FBFF466B}"/>
              </a:ext>
            </a:extLst>
          </p:cNvPr>
          <p:cNvPicPr>
            <a:picLocks xmlns:a="http://schemas.openxmlformats.org/drawingml/2006/main" noChangeAspect="1"/>
          </p:cNvPicPr>
          <p:nvPr/>
        </p:nvPicPr>
        <p:blipFill>
          <a:blip xmlns:r="http://schemas.openxmlformats.org/officeDocument/2006/relationships" xmlns:a="http://schemas.openxmlformats.org/drawingml/2006/main" r:embed="R2f3f1b6e0cb142d8"/>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AADE3BFD-F11A-4518-B2A5-4B8D71FA2AED}"/>
              </a:ext>
            </a:extLst>
          </p:cNvPr>
          <p:cNvPicPr>
            <a:picLocks xmlns:a="http://schemas.openxmlformats.org/drawingml/2006/main" noChangeAspect="1"/>
          </p:cNvPicPr>
          <p:nvPr/>
        </p:nvPicPr>
        <p:blipFill>
          <a:blip xmlns:r="http://schemas.openxmlformats.org/officeDocument/2006/relationships" xmlns:a="http://schemas.openxmlformats.org/drawingml/2006/main" r:embed="Rd973c1489bf2439d"/>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0906DB0D-8F18-42EA-A953-02DC7BE1CE53}"/>
              </a:ext>
            </a:extLst>
          </p:cNvPr>
          <p:cNvPicPr>
            <a:picLocks xmlns:a="http://schemas.openxmlformats.org/drawingml/2006/main" noChangeAspect="1"/>
          </p:cNvPicPr>
          <p:nvPr/>
        </p:nvPicPr>
        <p:blipFill>
          <a:blip xmlns:r="http://schemas.openxmlformats.org/officeDocument/2006/relationships" xmlns:a="http://schemas.openxmlformats.org/drawingml/2006/main" r:embed="R3bde5a40ab0c4b00"/>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D4ECD2E4-D984-45B9-ACFB-A4A88DDEEE89}"/>
              </a:ext>
            </a:extLst>
          </p:cNvPr>
          <p:cNvPicPr>
            <a:picLocks xmlns:a="http://schemas.openxmlformats.org/drawingml/2006/main" noChangeAspect="1"/>
          </p:cNvPicPr>
          <p:nvPr/>
        </p:nvPicPr>
        <p:blipFill>
          <a:blip xmlns:r="http://schemas.openxmlformats.org/officeDocument/2006/relationships" xmlns:a="http://schemas.openxmlformats.org/drawingml/2006/main" r:embed="Ra0996ef46b6949f1"/>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
            <a:extLst xmlns:a="http://schemas.openxmlformats.org/drawingml/2006/main">
              <a:ext uri="{FF2B5EF4-FFF2-40B4-BE49-F238E27FC236}">
                <a16:creationId xmlns:a16="http://schemas.microsoft.com/office/drawing/2014/main" id="{B55D389F-BBB7-41AC-8531-E0F285D67C42}"/>
              </a:ext>
            </a:extLst>
          </p:cNvPr>
          <p:cNvPicPr>
            <a:picLocks xmlns:a="http://schemas.openxmlformats.org/drawingml/2006/main" noChangeAspect="1"/>
          </p:cNvPicPr>
          <p:nvPr/>
        </p:nvPicPr>
        <p:blipFill>
          <a:blip xmlns:r="http://schemas.openxmlformats.org/officeDocument/2006/relationships" xmlns:a="http://schemas.openxmlformats.org/drawingml/2006/main" r:embed="R81cefb3034e141bf"/>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r>
              <a:t/>
            </a: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One data &amp;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r>
              <a:t/>
            </a: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 Probook AI</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Service Fusion, Commusoft</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Joblogic, Cactus AI + others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Kickserv, Topline Pro</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many other platforms</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Just one service category: plumbing.</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The software mix changes across categories.</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We onboard businesses and connect their existing software.</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One connection for agents. One integration for participating businesses.</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*100+ listed plumbing products, Software Advice. Segment examples overlap. Merchant authorization required.</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81C4E208-4DFE-48B0-BD2F-92997F60EBBF}"/>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31257EFA-4A14-4D84-8F28-767B3D4630A3}"/>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19C4CA24-01E8-4CBD-A554-62879018DF30}"/>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Dallas tomorrow morning</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Defines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7E825D96-C70B-4B5B-99C8-3B873024DFC2}"/>
              </a:ext>
            </a:extLst>
          </p:cNvPr>
          <p:cNvCxnSpPr>
            <a:stCxn xmlns:a="http://schemas.openxmlformats.org/drawingml/2006/main" id="20" idx="0"/>
            <a:endCxn xmlns:a="http://schemas.openxmlformats.org/drawingml/2006/main" id="18" idx="2"/>
          </p:cNvCxnSpPr>
          <p:nvPr/>
        </p:nvCxnSpPr>
        <p:spPr>
          <a:xfrm xmlns:a="http://schemas.openxmlformats.org/drawingml/2006/main" flipV="1">
            <a:off x="8886825"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4" name="">
            <a:extLst xmlns:a="http://schemas.openxmlformats.org/drawingml/2006/main">
              <a:ext uri="{FF2B5EF4-FFF2-40B4-BE49-F238E27FC236}">
                <a16:creationId xmlns:a16="http://schemas.microsoft.com/office/drawing/2014/main" id="{284DF0E5-9984-4200-A68B-26FF149640F9}"/>
              </a:ext>
            </a:extLst>
          </p:cNvPr>
          <p:cNvCxnSpPr>
            <a:stCxn xmlns:a="http://schemas.openxmlformats.org/drawingml/2006/main" id="21" idx="1"/>
            <a:endCxn xmlns:a="http://schemas.openxmlformats.org/drawingml/2006/main" id="20" idx="3"/>
          </p:cNvCxnSpPr>
          <p:nvPr/>
        </p:nvCxnSpPr>
        <p:spPr>
          <a:xfrm xmlns:a="http://schemas.openxmlformats.org/drawingml/2006/main" flipH="1">
            <a:off x="9582150" y="4610100"/>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3" name="">
            <a:extLst xmlns:a="http://schemas.openxmlformats.org/drawingml/2006/main">
              <a:ext uri="{FF2B5EF4-FFF2-40B4-BE49-F238E27FC236}">
                <a16:creationId xmlns:a16="http://schemas.microsoft.com/office/drawing/2014/main" id="{4739FFBC-8E79-4AAC-8F7D-F207C1CD7502}"/>
              </a:ext>
            </a:extLst>
          </p:cNvPr>
          <p:cNvCxnSpPr>
            <a:stCxn xmlns:a="http://schemas.openxmlformats.org/drawingml/2006/main" id="19" idx="2"/>
            <a:endCxn xmlns:a="http://schemas.openxmlformats.org/drawingml/2006/main" id="21" idx="0"/>
          </p:cNvCxnSpPr>
          <p:nvPr/>
        </p:nvCxnSpPr>
        <p:spPr>
          <a:xfrm xmlns:a="http://schemas.openxmlformats.org/drawingml/2006/main">
            <a:off x="10882313" y="3895725"/>
            <a:ext cx="0" cy="4000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22" name="">
            <a:extLst xmlns:a="http://schemas.openxmlformats.org/drawingml/2006/main">
              <a:ext uri="{FF2B5EF4-FFF2-40B4-BE49-F238E27FC236}">
                <a16:creationId xmlns:a16="http://schemas.microsoft.com/office/drawing/2014/main" id="{7804CD0E-1529-4E1D-A5EC-2D14B1D7457E}"/>
              </a:ext>
            </a:extLst>
          </p:cNvPr>
          <p:cNvCxnSpPr>
            <a:stCxn xmlns:a="http://schemas.openxmlformats.org/drawingml/2006/main" id="18" idx="3"/>
            <a:endCxn xmlns:a="http://schemas.openxmlformats.org/drawingml/2006/main" id="19" idx="1"/>
          </p:cNvCxnSpPr>
          <p:nvPr/>
        </p:nvCxnSpPr>
        <p:spPr>
          <a:xfrm xmlns:a="http://schemas.openxmlformats.org/drawingml/2006/main">
            <a:off x="9582150" y="3552825"/>
            <a:ext cx="485775"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8" name="">
            <a:extLst xmlns:a="http://schemas.openxmlformats.org/drawingml/2006/main">
              <a:ext uri="{FF2B5EF4-FFF2-40B4-BE49-F238E27FC236}">
                <a16:creationId xmlns:a16="http://schemas.microsoft.com/office/drawing/2014/main" id="{AA13BAB9-54D0-44F5-BE73-D735C5BAE810}"/>
              </a:ext>
            </a:extLst>
          </p:cNvPr>
          <p:cNvCxnSpPr>
            <a:stCxn xmlns:a="http://schemas.openxmlformats.org/drawingml/2006/main" id="5" idx="3"/>
            <a:endCxn xmlns:a="http://schemas.openxmlformats.org/drawingml/2006/main" id="6" idx="1"/>
          </p:cNvCxnSpPr>
          <p:nvPr/>
        </p:nvCxnSpPr>
        <p:spPr>
          <a:xfrm xmlns:a="http://schemas.openxmlformats.org/drawingml/2006/main">
            <a:off x="76200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7" name="">
            <a:extLst xmlns:a="http://schemas.openxmlformats.org/drawingml/2006/main">
              <a:ext uri="{FF2B5EF4-FFF2-40B4-BE49-F238E27FC236}">
                <a16:creationId xmlns:a16="http://schemas.microsoft.com/office/drawing/2014/main" id="{A7C0A7DD-0A36-4991-A192-D34559C2F8A8}"/>
              </a:ext>
            </a:extLst>
          </p:cNvPr>
          <p:cNvCxnSpPr>
            <a:stCxn xmlns:a="http://schemas.openxmlformats.org/drawingml/2006/main" id="4" idx="3"/>
            <a:endCxn xmlns:a="http://schemas.openxmlformats.org/drawingml/2006/main" id="5" idx="1"/>
          </p:cNvCxnSpPr>
          <p:nvPr/>
        </p:nvCxnSpPr>
        <p:spPr>
          <a:xfrm xmlns:a="http://schemas.openxmlformats.org/drawingml/2006/main">
            <a:off x="3771900" y="21621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32" name="launch-slide4-text-0">
            <a:extLst xmlns:a="http://schemas.openxmlformats.org/drawingml/2006/main">
              <a:ext uri="{FF2B5EF4-FFF2-40B4-BE49-F238E27FC236}">
                <a16:creationId xmlns:a16="http://schemas.microsoft.com/office/drawing/2014/main" id="{CEA2F967-282E-4708-BCDC-1553E444A157}"/>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launch-slide4-text-1">
            <a:extLst xmlns:a="http://schemas.openxmlformats.org/drawingml/2006/main">
              <a:ext uri="{FF2B5EF4-FFF2-40B4-BE49-F238E27FC236}">
                <a16:creationId xmlns:a16="http://schemas.microsoft.com/office/drawing/2014/main" id="{868B8E20-C830-4A37-94C9-C15310732B90}"/>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Launch locally. Grow through completed bookings.</a:t>
            </a:r>
          </a:p>
        </p:txBody>
      </p:sp>
      <p:sp>
        <p:nvSpPr>
          <p:cNvPr id="3" name="launch-slide4-text-2">
            <a:extLst xmlns:a="http://schemas.openxmlformats.org/drawingml/2006/main">
              <a:ext uri="{FF2B5EF4-FFF2-40B4-BE49-F238E27FC236}">
                <a16:creationId xmlns:a16="http://schemas.microsoft.com/office/drawing/2014/main" id="{B052BF47-A3F4-4068-82FA-5EEB40C9624B}"/>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Build critical mass in one city-category combination.</a:t>
            </a:r>
          </a:p>
        </p:txBody>
      </p:sp>
      <p:sp>
        <p:nvSpPr>
          <p:cNvPr id="4" name="launch-slide4-band-3">
            <a:extLst xmlns:a="http://schemas.openxmlformats.org/drawingml/2006/main">
              <a:ext uri="{FF2B5EF4-FFF2-40B4-BE49-F238E27FC236}">
                <a16:creationId xmlns:a16="http://schemas.microsoft.com/office/drawing/2014/main" id="{7097C7CA-7E41-400C-85BB-CDD0310AD761}"/>
              </a:ext>
            </a:extLst>
          </p:cNvPr>
          <p:cNvSpPr>
            <a:spLocks xmlns:a="http://schemas.openxmlformats.org/drawingml/2006/main" noGrp="1"/>
          </p:cNvSpPr>
          <p:nvPr/>
        </p:nvSpPr>
        <p:spPr>
          <a:xfrm xmlns:a="http://schemas.openxmlformats.org/drawingml/2006/main">
            <a:off x="4953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5" name="launch-slide4-band-4">
            <a:extLst xmlns:a="http://schemas.openxmlformats.org/drawingml/2006/main">
              <a:ext uri="{FF2B5EF4-FFF2-40B4-BE49-F238E27FC236}">
                <a16:creationId xmlns:a16="http://schemas.microsoft.com/office/drawing/2014/main" id="{55C1B4A8-71FE-4924-9C79-E6C50742CF61}"/>
              </a:ext>
            </a:extLst>
          </p:cNvPr>
          <p:cNvSpPr>
            <a:spLocks xmlns:a="http://schemas.openxmlformats.org/drawingml/2006/main" noGrp="1"/>
          </p:cNvSpPr>
          <p:nvPr/>
        </p:nvSpPr>
        <p:spPr>
          <a:xfrm xmlns:a="http://schemas.openxmlformats.org/drawingml/2006/main">
            <a:off x="43434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6" name="launch-slide4-band-5">
            <a:extLst xmlns:a="http://schemas.openxmlformats.org/drawingml/2006/main">
              <a:ext uri="{FF2B5EF4-FFF2-40B4-BE49-F238E27FC236}">
                <a16:creationId xmlns:a16="http://schemas.microsoft.com/office/drawing/2014/main" id="{A4C9A32B-640D-4C95-98AF-419B3A9405EC}"/>
              </a:ext>
            </a:extLst>
          </p:cNvPr>
          <p:cNvSpPr>
            <a:spLocks xmlns:a="http://schemas.openxmlformats.org/drawingml/2006/main" noGrp="1"/>
          </p:cNvSpPr>
          <p:nvPr/>
        </p:nvSpPr>
        <p:spPr>
          <a:xfrm xmlns:a="http://schemas.openxmlformats.org/drawingml/2006/main">
            <a:off x="8191500" y="21526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9" name="launch-slide4-text-6">
            <a:extLst xmlns:a="http://schemas.openxmlformats.org/drawingml/2006/main">
              <a:ext uri="{FF2B5EF4-FFF2-40B4-BE49-F238E27FC236}">
                <a16:creationId xmlns:a16="http://schemas.microsoft.com/office/drawing/2014/main" id="{3D922266-1809-48B1-B6B1-E538FDA8A6A5}"/>
              </a:ext>
            </a:extLst>
          </p:cNvPr>
          <p:cNvSpPr>
            <a:spLocks xmlns:a="http://schemas.openxmlformats.org/drawingml/2006/main" noGrp="1"/>
          </p:cNvSpPr>
          <p:nvPr/>
        </p:nvSpPr>
        <p:spPr>
          <a:xfrm xmlns:a="http://schemas.openxmlformats.org/drawingml/2006/main">
            <a:off x="495300" y="243840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1  Build local supply</a:t>
            </a:r>
          </a:p>
        </p:txBody>
      </p:sp>
      <p:sp>
        <p:nvSpPr>
          <p:cNvPr id="10" name="launch-slide4-text-7">
            <a:extLst xmlns:a="http://schemas.openxmlformats.org/drawingml/2006/main">
              <a:ext uri="{FF2B5EF4-FFF2-40B4-BE49-F238E27FC236}">
                <a16:creationId xmlns:a16="http://schemas.microsoft.com/office/drawing/2014/main" id="{8ADDA327-97F4-4922-9D58-8B750055D181}"/>
              </a:ext>
            </a:extLst>
          </p:cNvPr>
          <p:cNvSpPr>
            <a:spLocks xmlns:a="http://schemas.openxmlformats.org/drawingml/2006/main" noGrp="1"/>
          </p:cNvSpPr>
          <p:nvPr/>
        </p:nvSpPr>
        <p:spPr>
          <a:xfrm xmlns:a="http://schemas.openxmlformats.org/drawingml/2006/main">
            <a:off x="4343400" y="2438400"/>
            <a:ext cx="3314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2  Connect once</a:t>
            </a:r>
          </a:p>
        </p:txBody>
      </p:sp>
      <p:sp>
        <p:nvSpPr>
          <p:cNvPr id="11" name="launch-slide4-text-8">
            <a:extLst xmlns:a="http://schemas.openxmlformats.org/drawingml/2006/main">
              <a:ext uri="{FF2B5EF4-FFF2-40B4-BE49-F238E27FC236}">
                <a16:creationId xmlns:a16="http://schemas.microsoft.com/office/drawing/2014/main" id="{D1023DDC-E33E-47DC-8C3D-F1854BA3CD32}"/>
              </a:ext>
            </a:extLst>
          </p:cNvPr>
          <p:cNvSpPr>
            <a:spLocks xmlns:a="http://schemas.openxmlformats.org/drawingml/2006/main" noGrp="1"/>
          </p:cNvSpPr>
          <p:nvPr/>
        </p:nvSpPr>
        <p:spPr>
          <a:xfrm xmlns:a="http://schemas.openxmlformats.org/drawingml/2006/main">
            <a:off x="8191500" y="243840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3  The network compounds</a:t>
            </a:r>
          </a:p>
        </p:txBody>
      </p:sp>
      <p:sp>
        <p:nvSpPr>
          <p:cNvPr id="12" name="launch-slide4-text-9">
            <a:extLst xmlns:a="http://schemas.openxmlformats.org/drawingml/2006/main">
              <a:ext uri="{FF2B5EF4-FFF2-40B4-BE49-F238E27FC236}">
                <a16:creationId xmlns:a16="http://schemas.microsoft.com/office/drawing/2014/main" id="{338DBD07-EF35-4836-B4A5-51B96BA6347B}"/>
              </a:ext>
            </a:extLst>
          </p:cNvPr>
          <p:cNvSpPr>
            <a:spLocks xmlns:a="http://schemas.openxmlformats.org/drawingml/2006/main" noGrp="1"/>
          </p:cNvSpPr>
          <p:nvPr/>
        </p:nvSpPr>
        <p:spPr>
          <a:xfrm xmlns:a="http://schemas.openxmlformats.org/drawingml/2006/main">
            <a:off x="495300" y="3133725"/>
            <a:ext cx="3276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One city</a:t>
            </a:r>
          </a:p>
        </p:txBody>
      </p:sp>
      <p:sp>
        <p:nvSpPr>
          <p:cNvPr id="13" name="launch-slide4-text-10">
            <a:extLst xmlns:a="http://schemas.openxmlformats.org/drawingml/2006/main">
              <a:ext uri="{FF2B5EF4-FFF2-40B4-BE49-F238E27FC236}">
                <a16:creationId xmlns:a16="http://schemas.microsoft.com/office/drawing/2014/main" id="{F1FB2886-3CDA-441E-91F2-1DA12B3958C8}"/>
              </a:ext>
            </a:extLst>
          </p:cNvPr>
          <p:cNvSpPr>
            <a:spLocks xmlns:a="http://schemas.openxmlformats.org/drawingml/2006/main" noGrp="1"/>
          </p:cNvSpPr>
          <p:nvPr/>
        </p:nvSpPr>
        <p:spPr>
          <a:xfrm xmlns:a="http://schemas.openxmlformats.org/drawingml/2006/main">
            <a:off x="495300" y="3638550"/>
            <a:ext cx="3276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93C32"/>
                </a:solidFill>
                <a:latin typeface="Helvetica Neue"/>
                <a:ea typeface="Helvetica Neue"/>
                <a:cs typeface="Helvetica Neue"/>
              </a:defRPr>
            </a:defPPr>
          </a:lstStyle>
          <a:p xmlns:a="http://schemas.openxmlformats.org/drawingml/2006/main">
            <a:pPr algn="l">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One service category</a:t>
            </a:r>
          </a:p>
        </p:txBody>
      </p:sp>
      <p:sp>
        <p:nvSpPr>
          <p:cNvPr id="14" name="launch-slide4-text-11">
            <a:extLst xmlns:a="http://schemas.openxmlformats.org/drawingml/2006/main">
              <a:ext uri="{FF2B5EF4-FFF2-40B4-BE49-F238E27FC236}">
                <a16:creationId xmlns:a16="http://schemas.microsoft.com/office/drawing/2014/main" id="{B4B7FC58-554C-4D9A-B1C6-B070784D12D8}"/>
              </a:ext>
            </a:extLst>
          </p:cNvPr>
          <p:cNvSpPr>
            <a:spLocks xmlns:a="http://schemas.openxmlformats.org/drawingml/2006/main" noGrp="1"/>
          </p:cNvSpPr>
          <p:nvPr/>
        </p:nvSpPr>
        <p:spPr>
          <a:xfrm xmlns:a="http://schemas.openxmlformats.org/drawingml/2006/main">
            <a:off x="495300" y="4219575"/>
            <a:ext cx="32766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93C32"/>
                </a:solidFill>
                <a:latin typeface="Helvetica Neue"/>
                <a:ea typeface="Helvetica Neue"/>
                <a:cs typeface="Helvetica Neue"/>
              </a:defRPr>
            </a:defPPr>
          </a:lstStyle>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Onboard suppliers to reach</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critical mass. Recruit users</a:t>
            </a:r>
          </a:p>
          <a:p xmlns:a="http://schemas.openxmlformats.org/drawingml/2006/main">
            <a:pPr algn="l">
              <a:buNone/>
              <a:defRPr sz="1800" b="0">
                <a:solidFill>
                  <a:srgbClr val="193C32"/>
                </a:solidFill>
                <a:latin typeface="Helvetica Neue"/>
                <a:ea typeface="Helvetica Neue"/>
                <a:cs typeface="Helvetica Neue"/>
              </a:defRPr>
            </a:pPr>
            <a:r>
              <a:rPr sz="1800" b="0">
                <a:solidFill>
                  <a:srgbClr val="193C32"/>
                </a:solidFill>
                <a:latin typeface="Helvetica Neue"/>
                <a:ea typeface="Helvetica Neue"/>
                <a:cs typeface="Helvetica Neue"/>
              </a:rPr>
              <a:t>with a specific booking need.</a:t>
            </a:r>
          </a:p>
        </p:txBody>
      </p:sp>
      <p:sp>
        <p:nvSpPr>
          <p:cNvPr id="15" name="launch-slide4-band-12">
            <a:extLst xmlns:a="http://schemas.openxmlformats.org/drawingml/2006/main">
              <a:ext uri="{FF2B5EF4-FFF2-40B4-BE49-F238E27FC236}">
                <a16:creationId xmlns:a16="http://schemas.microsoft.com/office/drawing/2014/main" id="{3710E886-6096-41FE-BB70-E39806E72CB4}"/>
              </a:ext>
            </a:extLst>
          </p:cNvPr>
          <p:cNvSpPr>
            <a:spLocks xmlns:a="http://schemas.openxmlformats.org/drawingml/2006/main" noGrp="1"/>
          </p:cNvSpPr>
          <p:nvPr/>
        </p:nvSpPr>
        <p:spPr>
          <a:xfrm xmlns:a="http://schemas.openxmlformats.org/drawingml/2006/main">
            <a:off x="4343400" y="3133725"/>
            <a:ext cx="3314700" cy="127635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16" name="launch-slide4-text-13">
            <a:extLst xmlns:a="http://schemas.openxmlformats.org/drawingml/2006/main">
              <a:ext uri="{FF2B5EF4-FFF2-40B4-BE49-F238E27FC236}">
                <a16:creationId xmlns:a16="http://schemas.microsoft.com/office/drawing/2014/main" id="{E6737A83-18CF-440F-8F95-9FABE60919D6}"/>
              </a:ext>
            </a:extLst>
          </p:cNvPr>
          <p:cNvSpPr>
            <a:spLocks xmlns:a="http://schemas.openxmlformats.org/drawingml/2006/main" noGrp="1"/>
          </p:cNvSpPr>
          <p:nvPr/>
        </p:nvSpPr>
        <p:spPr>
          <a:xfrm xmlns:a="http://schemas.openxmlformats.org/drawingml/2006/main">
            <a:off x="4505325" y="3381375"/>
            <a:ext cx="29908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 GoLocal to find</a:t>
            </a:r>
          </a:p>
          <a:p xmlns:a="http://schemas.openxmlformats.org/drawingml/2006/main">
            <a:pPr algn="l">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me local services.”</a:t>
            </a:r>
          </a:p>
        </p:txBody>
      </p:sp>
      <p:sp>
        <p:nvSpPr>
          <p:cNvPr id="17" name="launch-slide4-text-14">
            <a:extLst xmlns:a="http://schemas.openxmlformats.org/drawingml/2006/main">
              <a:ext uri="{FF2B5EF4-FFF2-40B4-BE49-F238E27FC236}">
                <a16:creationId xmlns:a16="http://schemas.microsoft.com/office/drawing/2014/main" id="{E399CA83-49A0-4257-B94B-8B718ABB530C}"/>
              </a:ext>
            </a:extLst>
          </p:cNvPr>
          <p:cNvSpPr>
            <a:spLocks xmlns:a="http://schemas.openxmlformats.org/drawingml/2006/main" noGrp="1"/>
          </p:cNvSpPr>
          <p:nvPr/>
        </p:nvSpPr>
        <p:spPr>
          <a:xfrm xmlns:a="http://schemas.openxmlformats.org/drawingml/2006/main">
            <a:off x="4343400" y="4648200"/>
            <a:ext cx="33147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93C32"/>
                </a:solidFill>
                <a:latin typeface="Helvetica Neue"/>
                <a:ea typeface="Helvetica Neue"/>
                <a:cs typeface="Helvetica Neue"/>
              </a:defRPr>
            </a:defPPr>
          </a:lstStyle>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One-time setup, with approval.</a:t>
            </a:r>
          </a:p>
          <a:p xmlns:a="http://schemas.openxmlformats.org/drawingml/2006/main">
            <a:pPr algn="l">
              <a:buNone/>
              <a:defRPr sz="1725" b="0">
                <a:solidFill>
                  <a:srgbClr val="193C32"/>
                </a:solidFill>
                <a:latin typeface="Helvetica Neue"/>
                <a:ea typeface="Helvetica Neue"/>
                <a:cs typeface="Helvetica Neue"/>
              </a:defRPr>
            </a:pPr>
            <a:r>
              <a:rPr sz="1725" b="0">
                <a:solidFill>
                  <a:srgbClr val="193C32"/>
                </a:solidFill>
                <a:latin typeface="Helvetica Neue"/>
                <a:ea typeface="Helvetica Neue"/>
                <a:cs typeface="Helvetica Neue"/>
              </a:rPr>
              <a:t>Then use it for future bookings.</a:t>
            </a:r>
          </a:p>
        </p:txBody>
      </p:sp>
      <p:sp>
        <p:nvSpPr>
          <p:cNvPr id="18" name="launch-slide4-text-15">
            <a:extLst xmlns:a="http://schemas.openxmlformats.org/drawingml/2006/main">
              <a:ext uri="{FF2B5EF4-FFF2-40B4-BE49-F238E27FC236}">
                <a16:creationId xmlns:a16="http://schemas.microsoft.com/office/drawing/2014/main" id="{AC8A5A2F-40B1-4DF0-8687-BFF43A2E69E6}"/>
              </a:ext>
            </a:extLst>
          </p:cNvPr>
          <p:cNvSpPr>
            <a:spLocks xmlns:a="http://schemas.openxmlformats.org/drawingml/2006/main" noGrp="1"/>
          </p:cNvSpPr>
          <p:nvPr/>
        </p:nvSpPr>
        <p:spPr>
          <a:xfrm xmlns:a="http://schemas.openxmlformats.org/drawingml/2006/main">
            <a:off x="8191500" y="3209925"/>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236C4E"/>
                </a:solidFill>
                <a:latin typeface="Helvetica Neue"/>
                <a:ea typeface="Helvetica Neue"/>
                <a:cs typeface="Helvetica Neue"/>
              </a:defRPr>
            </a:defPPr>
          </a:lstStyle>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Useful</a:t>
            </a:r>
          </a:p>
          <a:p xmlns:a="http://schemas.openxmlformats.org/drawingml/2006/main">
            <a:pPr algn="ctr">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bookings</a:t>
            </a:r>
          </a:p>
        </p:txBody>
      </p:sp>
      <p:sp>
        <p:nvSpPr>
          <p:cNvPr id="19" name="launch-slide4-text-16">
            <a:extLst xmlns:a="http://schemas.openxmlformats.org/drawingml/2006/main">
              <a:ext uri="{FF2B5EF4-FFF2-40B4-BE49-F238E27FC236}">
                <a16:creationId xmlns:a16="http://schemas.microsoft.com/office/drawing/2014/main" id="{BFD0A498-8959-4D75-88E0-B18BB71EF0A4}"/>
              </a:ext>
            </a:extLst>
          </p:cNvPr>
          <p:cNvSpPr>
            <a:spLocks xmlns:a="http://schemas.openxmlformats.org/drawingml/2006/main" noGrp="1"/>
          </p:cNvSpPr>
          <p:nvPr/>
        </p:nvSpPr>
        <p:spPr>
          <a:xfrm xmlns:a="http://schemas.openxmlformats.org/drawingml/2006/main">
            <a:off x="10067925" y="3209925"/>
            <a:ext cx="16287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Agent</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suggestions*</a:t>
            </a:r>
          </a:p>
        </p:txBody>
      </p:sp>
      <p:sp>
        <p:nvSpPr>
          <p:cNvPr id="20" name="launch-slide4-text-17">
            <a:extLst xmlns:a="http://schemas.openxmlformats.org/drawingml/2006/main">
              <a:ext uri="{FF2B5EF4-FFF2-40B4-BE49-F238E27FC236}">
                <a16:creationId xmlns:a16="http://schemas.microsoft.com/office/drawing/2014/main" id="{F3DDB8F6-115E-4EB9-8C43-137CA1F20102}"/>
              </a:ext>
            </a:extLst>
          </p:cNvPr>
          <p:cNvSpPr>
            <a:spLocks xmlns:a="http://schemas.openxmlformats.org/drawingml/2006/main" noGrp="1"/>
          </p:cNvSpPr>
          <p:nvPr/>
        </p:nvSpPr>
        <p:spPr>
          <a:xfrm xmlns:a="http://schemas.openxmlformats.org/drawingml/2006/main">
            <a:off x="8191500" y="4295775"/>
            <a:ext cx="13906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businesses</a:t>
            </a:r>
          </a:p>
        </p:txBody>
      </p:sp>
      <p:sp>
        <p:nvSpPr>
          <p:cNvPr id="21" name="launch-slide4-text-18">
            <a:extLst xmlns:a="http://schemas.openxmlformats.org/drawingml/2006/main">
              <a:ext uri="{FF2B5EF4-FFF2-40B4-BE49-F238E27FC236}">
                <a16:creationId xmlns:a16="http://schemas.microsoft.com/office/drawing/2014/main" id="{D138F538-3C73-4D56-B043-3E6611E330ED}"/>
              </a:ext>
            </a:extLst>
          </p:cNvPr>
          <p:cNvSpPr>
            <a:spLocks xmlns:a="http://schemas.openxmlformats.org/drawingml/2006/main" noGrp="1"/>
          </p:cNvSpPr>
          <p:nvPr/>
        </p:nvSpPr>
        <p:spPr>
          <a:xfrm xmlns:a="http://schemas.openxmlformats.org/drawingml/2006/main">
            <a:off x="10067925" y="4295775"/>
            <a:ext cx="162877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More booking</a:t>
            </a:r>
          </a:p>
          <a:p xmlns:a="http://schemas.openxmlformats.org/drawingml/2006/main">
            <a:pPr algn="ct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requests</a:t>
            </a:r>
          </a:p>
        </p:txBody>
      </p:sp>
      <p:sp>
        <p:nvSpPr>
          <p:cNvPr id="26" name="launch-slide4-text-19">
            <a:extLst xmlns:a="http://schemas.openxmlformats.org/drawingml/2006/main">
              <a:ext uri="{FF2B5EF4-FFF2-40B4-BE49-F238E27FC236}">
                <a16:creationId xmlns:a16="http://schemas.microsoft.com/office/drawing/2014/main" id="{12E564D0-ED19-4279-AD1A-3D2E1BE28FE7}"/>
              </a:ext>
            </a:extLst>
          </p:cNvPr>
          <p:cNvSpPr>
            <a:spLocks xmlns:a="http://schemas.openxmlformats.org/drawingml/2006/main" noGrp="1"/>
          </p:cNvSpPr>
          <p:nvPr/>
        </p:nvSpPr>
        <p:spPr>
          <a:xfrm xmlns:a="http://schemas.openxmlformats.org/drawingml/2006/main">
            <a:off x="8191500" y="5124450"/>
            <a:ext cx="350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Expand category by category,</a:t>
            </a:r>
          </a:p>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city by city.</a:t>
            </a:r>
          </a:p>
        </p:txBody>
      </p:sp>
      <p:sp>
        <p:nvSpPr>
          <p:cNvPr id="27" name="launch-slide4-band-20">
            <a:extLst xmlns:a="http://schemas.openxmlformats.org/drawingml/2006/main">
              <a:ext uri="{FF2B5EF4-FFF2-40B4-BE49-F238E27FC236}">
                <a16:creationId xmlns:a16="http://schemas.microsoft.com/office/drawing/2014/main" id="{D6F97F0A-8661-4984-BE8C-D88A70D4C85B}"/>
              </a:ext>
            </a:extLst>
          </p:cNvPr>
          <p:cNvSpPr>
            <a:spLocks xmlns:a="http://schemas.openxmlformats.org/drawingml/2006/main" noGrp="1"/>
          </p:cNvSpPr>
          <p:nvPr/>
        </p:nvSpPr>
        <p:spPr>
          <a:xfrm xmlns:a="http://schemas.openxmlformats.org/drawingml/2006/main">
            <a:off x="495300" y="5800725"/>
            <a:ext cx="11201400" cy="657225"/>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sp>
      <p:sp>
        <p:nvSpPr>
          <p:cNvPr id="28" name="launch-slide4-text-21">
            <a:extLst xmlns:a="http://schemas.openxmlformats.org/drawingml/2006/main">
              <a:ext uri="{FF2B5EF4-FFF2-40B4-BE49-F238E27FC236}">
                <a16:creationId xmlns:a16="http://schemas.microsoft.com/office/drawing/2014/main" id="{0CE74342-CD8D-4AC9-9C06-AA3694EECB41}"/>
              </a:ext>
            </a:extLst>
          </p:cNvPr>
          <p:cNvSpPr>
            <a:spLocks xmlns:a="http://schemas.openxmlformats.org/drawingml/2006/main" noGrp="1"/>
          </p:cNvSpPr>
          <p:nvPr/>
        </p:nvSpPr>
        <p:spPr>
          <a:xfrm xmlns:a="http://schemas.openxmlformats.org/drawingml/2006/main">
            <a:off x="666750" y="5895975"/>
            <a:ext cx="108585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FFFFFF"/>
                </a:solidFill>
                <a:latin typeface="Helvetica Neue"/>
                <a:ea typeface="Helvetica Neue"/>
                <a:cs typeface="Helvetica Neue"/>
              </a:defRPr>
            </a:defPPr>
          </a:lstStyle>
          <a:p xmlns:a="http://schemas.openxmlformats.org/drawingml/2006/main">
            <a:pPr algn="l">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REVENUE MODEL · PROPOSED</a:t>
            </a:r>
          </a:p>
        </p:txBody>
      </p:sp>
      <p:sp>
        <p:nvSpPr>
          <p:cNvPr id="29" name="launch-slide4-text-22">
            <a:extLst xmlns:a="http://schemas.openxmlformats.org/drawingml/2006/main">
              <a:ext uri="{FF2B5EF4-FFF2-40B4-BE49-F238E27FC236}">
                <a16:creationId xmlns:a16="http://schemas.microsoft.com/office/drawing/2014/main" id="{892EBB5A-25FD-44CB-9870-764F98C136F9}"/>
              </a:ext>
            </a:extLst>
          </p:cNvPr>
          <p:cNvSpPr>
            <a:spLocks xmlns:a="http://schemas.openxmlformats.org/drawingml/2006/main" noGrp="1"/>
          </p:cNvSpPr>
          <p:nvPr/>
        </p:nvSpPr>
        <p:spPr>
          <a:xfrm xmlns:a="http://schemas.openxmlformats.org/drawingml/2006/main">
            <a:off x="666750" y="6153150"/>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FFFFFF"/>
                </a:solidFill>
                <a:latin typeface="Helvetica Neue"/>
                <a:ea typeface="Helvetica Neue"/>
                <a:cs typeface="Helvetica Neue"/>
              </a:defRPr>
            </a:defPPr>
          </a:lstStyle>
          <a:p xmlns:a="http://schemas.openxmlformats.org/drawingml/2006/main">
            <a:pPr algn="l">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Businesses pay a success fee on fulfilled new-customer jobs. Revenue is shared with partners.</a:t>
            </a:r>
          </a:p>
        </p:txBody>
      </p:sp>
      <p:sp>
        <p:nvSpPr>
          <p:cNvPr id="30" name="launch-slide4-text-23">
            <a:extLst xmlns:a="http://schemas.openxmlformats.org/drawingml/2006/main">
              <a:ext uri="{FF2B5EF4-FFF2-40B4-BE49-F238E27FC236}">
                <a16:creationId xmlns:a16="http://schemas.microsoft.com/office/drawing/2014/main" id="{C691193C-BECF-4785-A1F8-77E0BB50EA46}"/>
              </a:ext>
            </a:extLst>
          </p:cNvPr>
          <p:cNvSpPr>
            <a:spLocks xmlns:a="http://schemas.openxmlformats.org/drawingml/2006/main" noGrp="1"/>
          </p:cNvSpPr>
          <p:nvPr/>
        </p:nvSpPr>
        <p:spPr>
          <a:xfrm xmlns:a="http://schemas.openxmlformats.org/drawingml/2006/main">
            <a:off x="495300" y="6619875"/>
            <a:ext cx="10429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65746C"/>
                </a:solidFill>
                <a:latin typeface="Helvetica Neue"/>
                <a:ea typeface="Helvetica Neue"/>
                <a:cs typeface="Helvetica Neue"/>
              </a:defRPr>
            </a:defPPr>
          </a:lstStyle>
          <a:p xmlns:a="http://schemas.openxmlformats.org/drawingml/2006/main">
            <a:pPr algn="l">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*Recommendations depend on usefulness, reliability and platform rules.</a:t>
            </a:r>
          </a:p>
        </p:txBody>
      </p:sp>
      <p:sp>
        <p:nvSpPr>
          <p:cNvPr id="31" name="launch-slide4-text-24">
            <a:extLst xmlns:a="http://schemas.openxmlformats.org/drawingml/2006/main">
              <a:ext uri="{FF2B5EF4-FFF2-40B4-BE49-F238E27FC236}">
                <a16:creationId xmlns:a16="http://schemas.microsoft.com/office/drawing/2014/main" id="{1C2D9FD4-CABC-4917-8B7C-DD66314B4A9C}"/>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118A1217-66DB-4C76-BECF-DEE2868E3B98}"/>
              </a:ext>
            </a:extLst>
          </p:cNvPr>
          <p:cNvCxnSpPr>
            <a:stCxn xmlns:a="http://schemas.openxmlformats.org/drawingml/2006/main" id="14" idx="3"/>
            <a:endCxn xmlns:a="http://schemas.openxmlformats.org/drawingml/2006/main" id="15" idx="1"/>
          </p:cNvCxnSpPr>
          <p:nvPr/>
        </p:nvCxnSpPr>
        <p:spPr>
          <a:xfrm xmlns:a="http://schemas.openxmlformats.org/drawingml/2006/main">
            <a:off x="76200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A4D64C67-D5B3-4350-9544-026B0771B7F1}"/>
              </a:ext>
            </a:extLst>
          </p:cNvPr>
          <p:cNvCxnSpPr>
            <a:stCxn xmlns:a="http://schemas.openxmlformats.org/drawingml/2006/main" id="13" idx="3"/>
            <a:endCxn xmlns:a="http://schemas.openxmlformats.org/drawingml/2006/main" id="14" idx="1"/>
          </p:cNvCxnSpPr>
          <p:nvPr/>
        </p:nvCxnSpPr>
        <p:spPr>
          <a:xfrm xmlns:a="http://schemas.openxmlformats.org/drawingml/2006/main">
            <a:off x="3771900" y="5781675"/>
            <a:ext cx="5715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2" name="partner-pilot-slide5-text-0">
            <a:extLst xmlns:a="http://schemas.openxmlformats.org/drawingml/2006/main">
              <a:ext uri="{FF2B5EF4-FFF2-40B4-BE49-F238E27FC236}">
                <a16:creationId xmlns:a16="http://schemas.microsoft.com/office/drawing/2014/main" id="{A35C160F-1F25-4731-8825-25CF7B72C62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PARTNERSHIPS AND PILOT</a:t>
            </a:r>
          </a:p>
        </p:txBody>
      </p:sp>
      <p:sp>
        <p:nvSpPr>
          <p:cNvPr id="2" name="partner-pilot-slide5-text-1">
            <a:extLst xmlns:a="http://schemas.openxmlformats.org/drawingml/2006/main">
              <a:ext uri="{FF2B5EF4-FFF2-40B4-BE49-F238E27FC236}">
                <a16:creationId xmlns:a16="http://schemas.microsoft.com/office/drawing/2014/main" id="{CA635701-9524-4B3F-BD58-A31E867BF72F}"/>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First proof of concept: Salt Lake City plumbing</a:t>
            </a:r>
          </a:p>
        </p:txBody>
      </p:sp>
      <p:sp>
        <p:nvSpPr>
          <p:cNvPr id="3" name="partner-pilot-slide5-text-2">
            <a:extLst xmlns:a="http://schemas.openxmlformats.org/drawingml/2006/main">
              <a:ext uri="{FF2B5EF4-FFF2-40B4-BE49-F238E27FC236}">
                <a16:creationId xmlns:a16="http://schemas.microsoft.com/office/drawing/2014/main" id="{B9752377-40F7-4987-8FA2-D34F3326D91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Two channel partnerships give us a pipeline of provider introductions.</a:t>
            </a:r>
          </a:p>
        </p:txBody>
      </p:sp>
      <p:sp>
        <p:nvSpPr>
          <p:cNvPr id="4" name="partner-pilot-slide5-text-3">
            <a:extLst xmlns:a="http://schemas.openxmlformats.org/drawingml/2006/main">
              <a:ext uri="{FF2B5EF4-FFF2-40B4-BE49-F238E27FC236}">
                <a16:creationId xmlns:a16="http://schemas.microsoft.com/office/drawing/2014/main" id="{8991B46C-7EDF-43ED-B987-4749DAC2E13A}"/>
              </a:ext>
            </a:extLst>
          </p:cNvPr>
          <p:cNvSpPr>
            <a:spLocks xmlns:a="http://schemas.openxmlformats.org/drawingml/2006/main" noGrp="1"/>
          </p:cNvSpPr>
          <p:nvPr/>
        </p:nvSpPr>
        <p:spPr>
          <a:xfrm xmlns:a="http://schemas.openxmlformats.org/drawingml/2006/main">
            <a:off x="495300" y="2181225"/>
            <a:ext cx="3667125"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50" b="1">
                <a:solidFill>
                  <a:srgbClr val="236C4E"/>
                </a:solidFill>
                <a:latin typeface="Helvetica Neue"/>
                <a:ea typeface="Helvetica Neue"/>
                <a:cs typeface="Helvetica Neue"/>
              </a:defRPr>
            </a:defPPr>
          </a:lstStyle>
          <a:p xmlns:a="http://schemas.openxmlformats.org/drawingml/2006/main">
            <a:pPr algn="l">
              <a:buNone/>
              <a:defRPr sz="9450" b="1">
                <a:solidFill>
                  <a:srgbClr val="236C4E"/>
                </a:solidFill>
                <a:latin typeface="Helvetica Neue"/>
                <a:ea typeface="Helvetica Neue"/>
                <a:cs typeface="Helvetica Neue"/>
              </a:defRPr>
            </a:pPr>
            <a:r>
              <a:rPr sz="9450" b="1">
                <a:solidFill>
                  <a:srgbClr val="236C4E"/>
                </a:solidFill>
                <a:latin typeface="Helvetica Neue"/>
                <a:ea typeface="Helvetica Neue"/>
                <a:cs typeface="Helvetica Neue"/>
              </a:rPr>
              <a:t>50+</a:t>
            </a:r>
          </a:p>
        </p:txBody>
      </p:sp>
      <p:sp>
        <p:nvSpPr>
          <p:cNvPr id="5" name="partner-pilot-slide5-text-4">
            <a:extLst xmlns:a="http://schemas.openxmlformats.org/drawingml/2006/main">
              <a:ext uri="{FF2B5EF4-FFF2-40B4-BE49-F238E27FC236}">
                <a16:creationId xmlns:a16="http://schemas.microsoft.com/office/drawing/2014/main" id="{616E785A-F15F-43DC-9EE2-A418D385A949}"/>
              </a:ext>
            </a:extLst>
          </p:cNvPr>
          <p:cNvSpPr>
            <a:spLocks xmlns:a="http://schemas.openxmlformats.org/drawingml/2006/main" noGrp="1"/>
          </p:cNvSpPr>
          <p:nvPr/>
        </p:nvSpPr>
        <p:spPr>
          <a:xfrm xmlns:a="http://schemas.openxmlformats.org/drawingml/2006/main">
            <a:off x="495300" y="3914775"/>
            <a:ext cx="371475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193C32"/>
                </a:solidFill>
                <a:latin typeface="Helvetica Neue"/>
                <a:ea typeface="Helvetica Neue"/>
                <a:cs typeface="Helvetica Neue"/>
              </a:defRPr>
            </a:defPPr>
          </a:lstStyle>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provider introductions</a:t>
            </a:r>
          </a:p>
          <a:p xmlns:a="http://schemas.openxmlformats.org/drawingml/2006/main">
            <a:pPr algn="l">
              <a:buNone/>
              <a:defRPr sz="2400" b="1">
                <a:solidFill>
                  <a:srgbClr val="193C32"/>
                </a:solidFill>
                <a:latin typeface="Helvetica Neue"/>
                <a:ea typeface="Helvetica Neue"/>
                <a:cs typeface="Helvetica Neue"/>
              </a:defRPr>
            </a:pPr>
            <a:r>
              <a:rPr sz="2400" b="1">
                <a:solidFill>
                  <a:srgbClr val="193C32"/>
                </a:solidFill>
                <a:latin typeface="Helvetica Neue"/>
                <a:ea typeface="Helvetica Neue"/>
                <a:cs typeface="Helvetica Neue"/>
              </a:rPr>
              <a:t>in the pipeline</a:t>
            </a:r>
          </a:p>
        </p:txBody>
      </p:sp>
      <p:sp>
        <p:nvSpPr>
          <p:cNvPr id="6" name="partner-pilot-slide5-text-5">
            <a:extLst xmlns:a="http://schemas.openxmlformats.org/drawingml/2006/main">
              <a:ext uri="{FF2B5EF4-FFF2-40B4-BE49-F238E27FC236}">
                <a16:creationId xmlns:a16="http://schemas.microsoft.com/office/drawing/2014/main" id="{A0F7D695-E180-4DB1-BDF5-DA1E53D32DD9}"/>
              </a:ext>
            </a:extLst>
          </p:cNvPr>
          <p:cNvSpPr>
            <a:spLocks xmlns:a="http://schemas.openxmlformats.org/drawingml/2006/main" noGrp="1"/>
          </p:cNvSpPr>
          <p:nvPr/>
        </p:nvSpPr>
        <p:spPr>
          <a:xfrm xmlns:a="http://schemas.openxmlformats.org/drawingml/2006/main">
            <a:off x="495300" y="48958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5746C"/>
                </a:solidFill>
                <a:latin typeface="Helvetica Neue"/>
                <a:ea typeface="Helvetica Neue"/>
                <a:cs typeface="Helvetica Neue"/>
              </a:defRPr>
            </a:defPPr>
          </a:lstStyle>
          <a:p xmlns:a="http://schemas.openxmlformats.org/drawingml/2006/main">
            <a:pPr algn="l">
              <a:buNone/>
              <a:defRPr sz="1725" b="0">
                <a:solidFill>
                  <a:srgbClr val="65746C"/>
                </a:solidFill>
                <a:latin typeface="Helvetica Neue"/>
                <a:ea typeface="Helvetica Neue"/>
                <a:cs typeface="Helvetica Neue"/>
              </a:defRPr>
            </a:pPr>
            <a:r>
              <a:rPr sz="1725" b="0">
                <a:solidFill>
                  <a:srgbClr val="65746C"/>
                </a:solidFill>
                <a:latin typeface="Helvetica Neue"/>
                <a:ea typeface="Helvetica Neue"/>
                <a:cs typeface="Helvetica Neue"/>
              </a:rPr>
              <a:t>Via Cactus AI</a:t>
            </a:r>
          </a:p>
        </p:txBody>
      </p:sp>
      <p:sp>
        <p:nvSpPr>
          <p:cNvPr id="7" name="partner-pilot-slide5-text-6">
            <a:extLst xmlns:a="http://schemas.openxmlformats.org/drawingml/2006/main">
              <a:ext uri="{FF2B5EF4-FFF2-40B4-BE49-F238E27FC236}">
                <a16:creationId xmlns:a16="http://schemas.microsoft.com/office/drawing/2014/main" id="{19DE7C60-8114-4494-93AA-B1D21078A062}"/>
              </a:ext>
            </a:extLst>
          </p:cNvPr>
          <p:cNvSpPr>
            <a:spLocks xmlns:a="http://schemas.openxmlformats.org/drawingml/2006/main" noGrp="1"/>
          </p:cNvSpPr>
          <p:nvPr/>
        </p:nvSpPr>
        <p:spPr>
          <a:xfrm xmlns:a="http://schemas.openxmlformats.org/drawingml/2006/main">
            <a:off x="4857750" y="2371725"/>
            <a:ext cx="68389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236C4E"/>
                </a:solidFill>
                <a:latin typeface="Helvetica Neue"/>
                <a:ea typeface="Helvetica Neue"/>
                <a:cs typeface="Helvetica Neue"/>
              </a:defRPr>
            </a:defPPr>
          </a:lstStyle>
          <a:p xmlns:a="http://schemas.openxmlformats.org/drawingml/2006/main">
            <a:pPr algn="l">
              <a:buNone/>
              <a:defRPr sz="2550" b="1">
                <a:solidFill>
                  <a:srgbClr val="236C4E"/>
                </a:solidFill>
                <a:latin typeface="Helvetica Neue"/>
                <a:ea typeface="Helvetica Neue"/>
                <a:cs typeface="Helvetica Neue"/>
              </a:defRPr>
            </a:pPr>
            <a:r>
              <a:rPr sz="2550" b="1">
                <a:solidFill>
                  <a:srgbClr val="236C4E"/>
                </a:solidFill>
                <a:latin typeface="Helvetica Neue"/>
                <a:ea typeface="Helvetica Neue"/>
                <a:cs typeface="Helvetica Neue"/>
              </a:rPr>
              <a:t>Cactus AI</a:t>
            </a:r>
          </a:p>
        </p:txBody>
      </p:sp>
      <p:sp>
        <p:nvSpPr>
          <p:cNvPr id="8" name="partner-pilot-slide5-text-7">
            <a:extLst xmlns:a="http://schemas.openxmlformats.org/drawingml/2006/main">
              <a:ext uri="{FF2B5EF4-FFF2-40B4-BE49-F238E27FC236}">
                <a16:creationId xmlns:a16="http://schemas.microsoft.com/office/drawing/2014/main" id="{C8AFDEC2-69C5-4113-A0F4-A30D539D06D1}"/>
              </a:ext>
            </a:extLst>
          </p:cNvPr>
          <p:cNvSpPr>
            <a:spLocks xmlns:a="http://schemas.openxmlformats.org/drawingml/2006/main" noGrp="1"/>
          </p:cNvSpPr>
          <p:nvPr/>
        </p:nvSpPr>
        <p:spPr>
          <a:xfrm xmlns:a="http://schemas.openxmlformats.org/drawingml/2006/main">
            <a:off x="4857750" y="2943225"/>
            <a:ext cx="68389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Agreed to introduce GoLocal</a:t>
            </a:r>
          </a:p>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to 50+ service partners.</a:t>
            </a:r>
          </a:p>
        </p:txBody>
      </p:sp>
      <p:sp>
        <p:nvSpPr>
          <p:cNvPr id="9" name="partner-pilot-slide5-text-8">
            <a:extLst xmlns:a="http://schemas.openxmlformats.org/drawingml/2006/main">
              <a:ext uri="{FF2B5EF4-FFF2-40B4-BE49-F238E27FC236}">
                <a16:creationId xmlns:a16="http://schemas.microsoft.com/office/drawing/2014/main" id="{B240812A-7539-46A6-A7F7-7D887948B9B8}"/>
              </a:ext>
            </a:extLst>
          </p:cNvPr>
          <p:cNvSpPr>
            <a:spLocks xmlns:a="http://schemas.openxmlformats.org/drawingml/2006/main" noGrp="1"/>
          </p:cNvSpPr>
          <p:nvPr/>
        </p:nvSpPr>
        <p:spPr>
          <a:xfrm xmlns:a="http://schemas.openxmlformats.org/drawingml/2006/main">
            <a:off x="4857750" y="4010025"/>
            <a:ext cx="68389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36C4E"/>
                </a:solidFill>
                <a:latin typeface="Helvetica Neue"/>
                <a:ea typeface="Helvetica Neue"/>
                <a:cs typeface="Helvetica Neue"/>
              </a:defRPr>
            </a:defPPr>
          </a:lstStyle>
          <a:p xmlns:a="http://schemas.openxmlformats.org/drawingml/2006/main">
            <a:pPr algn="l">
              <a:buNone/>
              <a:defRPr sz="2400" b="1">
                <a:solidFill>
                  <a:srgbClr val="236C4E"/>
                </a:solidFill>
                <a:latin typeface="Helvetica Neue"/>
                <a:ea typeface="Helvetica Neue"/>
                <a:cs typeface="Helvetica Neue"/>
              </a:defRPr>
            </a:pPr>
            <a:r>
              <a:rPr sz="2400" b="1">
                <a:solidFill>
                  <a:srgbClr val="236C4E"/>
                </a:solidFill>
                <a:latin typeface="Helvetica Neue"/>
                <a:ea typeface="Helvetica Neue"/>
                <a:cs typeface="Helvetica Neue"/>
              </a:rPr>
              <a:t>YourCardare</a:t>
            </a:r>
          </a:p>
        </p:txBody>
      </p:sp>
      <p:sp>
        <p:nvSpPr>
          <p:cNvPr id="10" name="partner-pilot-slide5-text-9">
            <a:extLst xmlns:a="http://schemas.openxmlformats.org/drawingml/2006/main">
              <a:ext uri="{FF2B5EF4-FFF2-40B4-BE49-F238E27FC236}">
                <a16:creationId xmlns:a16="http://schemas.microsoft.com/office/drawing/2014/main" id="{B0BF785F-3033-4384-9191-7FC45D4A3B83}"/>
              </a:ext>
            </a:extLst>
          </p:cNvPr>
          <p:cNvSpPr>
            <a:spLocks xmlns:a="http://schemas.openxmlformats.org/drawingml/2006/main" noGrp="1"/>
          </p:cNvSpPr>
          <p:nvPr/>
        </p:nvSpPr>
        <p:spPr>
          <a:xfrm xmlns:a="http://schemas.openxmlformats.org/drawingml/2006/main">
            <a:off x="4857750" y="4438650"/>
            <a:ext cx="68389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65746C"/>
                </a:solidFill>
                <a:latin typeface="Helvetica Neue"/>
                <a:ea typeface="Helvetica Neue"/>
                <a:cs typeface="Helvetica Neue"/>
              </a:defRPr>
            </a:defPPr>
          </a:lstStyle>
          <a:p xmlns:a="http://schemas.openxmlformats.org/drawingml/2006/main">
            <a:pPr algn="l">
              <a:buNone/>
              <a:defRPr sz="1650" b="0">
                <a:solidFill>
                  <a:srgbClr val="65746C"/>
                </a:solidFill>
                <a:latin typeface="Helvetica Neue"/>
                <a:ea typeface="Helvetica Neue"/>
                <a:cs typeface="Helvetica Neue"/>
              </a:defRPr>
            </a:pPr>
            <a:r>
              <a:rPr sz="1650" b="0">
                <a:solidFill>
                  <a:srgbClr val="65746C"/>
                </a:solidFill>
                <a:latin typeface="Helvetica Neue"/>
                <a:ea typeface="Helvetica Neue"/>
                <a:cs typeface="Helvetica Neue"/>
              </a:rPr>
              <a:t>Regional back-office partner</a:t>
            </a:r>
          </a:p>
        </p:txBody>
      </p:sp>
      <p:sp>
        <p:nvSpPr>
          <p:cNvPr id="11" name="partner-pilot-slide5-text-10">
            <a:extLst xmlns:a="http://schemas.openxmlformats.org/drawingml/2006/main">
              <a:ext uri="{FF2B5EF4-FFF2-40B4-BE49-F238E27FC236}">
                <a16:creationId xmlns:a16="http://schemas.microsoft.com/office/drawing/2014/main" id="{E62E593E-233D-45EF-B83A-87A2FAD2746F}"/>
              </a:ext>
            </a:extLst>
          </p:cNvPr>
          <p:cNvSpPr>
            <a:spLocks xmlns:a="http://schemas.openxmlformats.org/drawingml/2006/main" noGrp="1"/>
          </p:cNvSpPr>
          <p:nvPr/>
        </p:nvSpPr>
        <p:spPr>
          <a:xfrm xmlns:a="http://schemas.openxmlformats.org/drawingml/2006/main">
            <a:off x="4857750" y="4800600"/>
            <a:ext cx="6838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algn="l">
              <a:buNone/>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Another 10+ providers in the pipeline.</a:t>
            </a:r>
          </a:p>
        </p:txBody>
      </p:sp>
      <p:sp>
        <p:nvSpPr>
          <p:cNvPr id="12" name="partner-pilot-slide5-text-11">
            <a:extLst xmlns:a="http://schemas.openxmlformats.org/drawingml/2006/main">
              <a:ext uri="{FF2B5EF4-FFF2-40B4-BE49-F238E27FC236}">
                <a16:creationId xmlns:a16="http://schemas.microsoft.com/office/drawing/2014/main" id="{4B485A28-747E-43D2-9A74-667A12E57091}"/>
              </a:ext>
            </a:extLst>
          </p:cNvPr>
          <p:cNvSpPr>
            <a:spLocks xmlns:a="http://schemas.openxmlformats.org/drawingml/2006/main" noGrp="1"/>
          </p:cNvSpPr>
          <p:nvPr/>
        </p:nvSpPr>
        <p:spPr>
          <a:xfrm xmlns:a="http://schemas.openxmlformats.org/drawingml/2006/main">
            <a:off x="495300" y="5276850"/>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Pilot goal: turn agent requests into confirmed bookings.</a:t>
            </a:r>
          </a:p>
        </p:txBody>
      </p:sp>
      <p:sp>
        <p:nvSpPr>
          <p:cNvPr id="13" name="partner-pilot-slide5-rule-12">
            <a:extLst xmlns:a="http://schemas.openxmlformats.org/drawingml/2006/main">
              <a:ext uri="{FF2B5EF4-FFF2-40B4-BE49-F238E27FC236}">
                <a16:creationId xmlns:a16="http://schemas.microsoft.com/office/drawing/2014/main" id="{A91DE01D-56EA-4781-8398-E0D4EEE5E7C2}"/>
              </a:ext>
            </a:extLst>
          </p:cNvPr>
          <p:cNvSpPr>
            <a:spLocks xmlns:a="http://schemas.openxmlformats.org/drawingml/2006/main" noGrp="1"/>
          </p:cNvSpPr>
          <p:nvPr/>
        </p:nvSpPr>
        <p:spPr>
          <a:xfrm xmlns:a="http://schemas.openxmlformats.org/drawingml/2006/main">
            <a:off x="4953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4" name="partner-pilot-slide5-rule-13">
            <a:extLst xmlns:a="http://schemas.openxmlformats.org/drawingml/2006/main">
              <a:ext uri="{FF2B5EF4-FFF2-40B4-BE49-F238E27FC236}">
                <a16:creationId xmlns:a16="http://schemas.microsoft.com/office/drawing/2014/main" id="{119584AC-2F36-43AD-927E-B3AE38225FF4}"/>
              </a:ext>
            </a:extLst>
          </p:cNvPr>
          <p:cNvSpPr>
            <a:spLocks xmlns:a="http://schemas.openxmlformats.org/drawingml/2006/main" noGrp="1"/>
          </p:cNvSpPr>
          <p:nvPr/>
        </p:nvSpPr>
        <p:spPr>
          <a:xfrm xmlns:a="http://schemas.openxmlformats.org/drawingml/2006/main">
            <a:off x="43434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5" name="partner-pilot-slide5-rule-14">
            <a:extLst xmlns:a="http://schemas.openxmlformats.org/drawingml/2006/main">
              <a:ext uri="{FF2B5EF4-FFF2-40B4-BE49-F238E27FC236}">
                <a16:creationId xmlns:a16="http://schemas.microsoft.com/office/drawing/2014/main" id="{17D2EE46-97D0-4EAC-AB6E-C1F4FCFCBA5F}"/>
              </a:ext>
            </a:extLst>
          </p:cNvPr>
          <p:cNvSpPr>
            <a:spLocks xmlns:a="http://schemas.openxmlformats.org/drawingml/2006/main" noGrp="1"/>
          </p:cNvSpPr>
          <p:nvPr/>
        </p:nvSpPr>
        <p:spPr>
          <a:xfrm xmlns:a="http://schemas.openxmlformats.org/drawingml/2006/main">
            <a:off x="8191500" y="5772150"/>
            <a:ext cx="327660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sp>
      <p:sp>
        <p:nvSpPr>
          <p:cNvPr id="18" name="partner-pilot-slide5-text-15">
            <a:extLst xmlns:a="http://schemas.openxmlformats.org/drawingml/2006/main">
              <a:ext uri="{FF2B5EF4-FFF2-40B4-BE49-F238E27FC236}">
                <a16:creationId xmlns:a16="http://schemas.microsoft.com/office/drawing/2014/main" id="{9FD66AE8-D6AB-49FE-888E-1A268A772EAC}"/>
              </a:ext>
            </a:extLst>
          </p:cNvPr>
          <p:cNvSpPr>
            <a:spLocks xmlns:a="http://schemas.openxmlformats.org/drawingml/2006/main" noGrp="1"/>
          </p:cNvSpPr>
          <p:nvPr/>
        </p:nvSpPr>
        <p:spPr>
          <a:xfrm xmlns:a="http://schemas.openxmlformats.org/drawingml/2006/main">
            <a:off x="4953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Provider introductions</a:t>
            </a:r>
          </a:p>
        </p:txBody>
      </p:sp>
      <p:sp>
        <p:nvSpPr>
          <p:cNvPr id="19" name="partner-pilot-slide5-text-16">
            <a:extLst xmlns:a="http://schemas.openxmlformats.org/drawingml/2006/main">
              <a:ext uri="{FF2B5EF4-FFF2-40B4-BE49-F238E27FC236}">
                <a16:creationId xmlns:a16="http://schemas.microsoft.com/office/drawing/2014/main" id="{5B1BD860-6328-4C4F-B959-4D2A9DD21530}"/>
              </a:ext>
            </a:extLst>
          </p:cNvPr>
          <p:cNvSpPr>
            <a:spLocks xmlns:a="http://schemas.openxmlformats.org/drawingml/2006/main" noGrp="1"/>
          </p:cNvSpPr>
          <p:nvPr/>
        </p:nvSpPr>
        <p:spPr>
          <a:xfrm xmlns:a="http://schemas.openxmlformats.org/drawingml/2006/main">
            <a:off x="4343400" y="6000750"/>
            <a:ext cx="3276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93C32"/>
                </a:solidFill>
                <a:latin typeface="Helvetica Neue"/>
                <a:ea typeface="Helvetica Neue"/>
                <a:cs typeface="Helvetica Neue"/>
              </a:defRPr>
            </a:defPPr>
          </a:lstStyle>
          <a:p xmlns:a="http://schemas.openxmlformats.org/drawingml/2006/main">
            <a:pPr algn="l">
              <a:buNone/>
              <a:defRPr sz="2025" b="1">
                <a:solidFill>
                  <a:srgbClr val="193C32"/>
                </a:solidFill>
                <a:latin typeface="Helvetica Neue"/>
                <a:ea typeface="Helvetica Neue"/>
                <a:cs typeface="Helvetica Neue"/>
              </a:defRPr>
            </a:pPr>
            <a:r>
              <a:rPr sz="2025" b="1">
                <a:solidFill>
                  <a:srgbClr val="193C32"/>
                </a:solidFill>
                <a:latin typeface="Helvetica Neue"/>
                <a:ea typeface="Helvetica Neue"/>
                <a:cs typeface="Helvetica Neue"/>
              </a:rPr>
              <a:t>Onboard and connect</a:t>
            </a:r>
          </a:p>
        </p:txBody>
      </p:sp>
      <p:sp>
        <p:nvSpPr>
          <p:cNvPr id="20" name="partner-pilot-slide5-text-17">
            <a:extLst xmlns:a="http://schemas.openxmlformats.org/drawingml/2006/main">
              <a:ext uri="{FF2B5EF4-FFF2-40B4-BE49-F238E27FC236}">
                <a16:creationId xmlns:a16="http://schemas.microsoft.com/office/drawing/2014/main" id="{524E0E8D-DB94-423B-8ED7-30D05241773E}"/>
              </a:ext>
            </a:extLst>
          </p:cNvPr>
          <p:cNvSpPr>
            <a:spLocks xmlns:a="http://schemas.openxmlformats.org/drawingml/2006/main" noGrp="1"/>
          </p:cNvSpPr>
          <p:nvPr/>
        </p:nvSpPr>
        <p:spPr>
          <a:xfrm xmlns:a="http://schemas.openxmlformats.org/drawingml/2006/main">
            <a:off x="8191500" y="6000750"/>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Test first agent bookings</a:t>
            </a:r>
          </a:p>
        </p:txBody>
      </p:sp>
      <p:sp>
        <p:nvSpPr>
          <p:cNvPr id="21" name="partner-pilot-slide5-text-18">
            <a:extLst xmlns:a="http://schemas.openxmlformats.org/drawingml/2006/main">
              <a:ext uri="{FF2B5EF4-FFF2-40B4-BE49-F238E27FC236}">
                <a16:creationId xmlns:a16="http://schemas.microsoft.com/office/drawing/2014/main" id="{240C600E-6FEB-4C6C-9119-7A716988611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BF9F4"/>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
            <a:extLst xmlns:a="http://schemas.openxmlformats.org/drawingml/2006/main">
              <a:ext uri="{FF2B5EF4-FFF2-40B4-BE49-F238E27FC236}">
                <a16:creationId xmlns:a16="http://schemas.microsoft.com/office/drawing/2014/main" id="{3329CDD6-5FBF-400F-9E97-565852D7F0B6}"/>
              </a:ext>
            </a:extLst>
          </p:cNvPr>
          <p:cNvPicPr>
            <a:picLocks xmlns:a="http://schemas.openxmlformats.org/drawingml/2006/main" noChangeAspect="1"/>
          </p:cNvPicPr>
          <p:nvPr/>
        </p:nvPicPr>
        <p:blipFill>
          <a:blip xmlns:r="http://schemas.openxmlformats.org/officeDocument/2006/relationships" xmlns:a="http://schemas.openxmlformats.org/drawingml/2006/main" r:embed="R789fe9cb23b04258"/>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
            <a:extLst xmlns:a="http://schemas.openxmlformats.org/drawingml/2006/main">
              <a:ext uri="{FF2B5EF4-FFF2-40B4-BE49-F238E27FC236}">
                <a16:creationId xmlns:a16="http://schemas.microsoft.com/office/drawing/2014/main" id="{DD638E0C-1A0F-453B-AD57-829F804E3DF2}"/>
              </a:ext>
            </a:extLst>
          </p:cNvPr>
          <p:cNvPicPr>
            <a:picLocks xmlns:a="http://schemas.openxmlformats.org/drawingml/2006/main" noChangeAspect="1"/>
          </p:cNvPicPr>
          <p:nvPr/>
        </p:nvPicPr>
        <p:blipFill>
          <a:blip xmlns:r="http://schemas.openxmlformats.org/officeDocument/2006/relationships" xmlns:a="http://schemas.openxmlformats.org/drawingml/2006/main" r:embed="R425504867dcd4293"/>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3810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236C4E"/>
                </a:solidFill>
                <a:latin typeface="Helvetica Neue"/>
                <a:ea typeface="Helvetica Neue"/>
                <a:cs typeface="Helvetica Neue"/>
              </a:defRPr>
            </a:defPPr>
          </a:lstStyle>
          <a:p xmlns:a="http://schemas.openxmlformats.org/drawingml/2006/main">
            <a:pPr algn="l">
              <a:buNone/>
              <a:defRPr sz="1650" b="0">
                <a:solidFill>
                  <a:srgbClr val="236C4E"/>
                </a:solidFill>
                <a:latin typeface="Helvetica Neue"/>
                <a:ea typeface="Helvetica Neue"/>
                <a:cs typeface="Helvetica Neue"/>
              </a:defRPr>
            </a:pPr>
            <a:r>
              <a:rPr sz="1650" b="0">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039c7973f8c14ed4"/>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36385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096500" y="22002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5f40e427d960439e"/>
              </a:rPr>
              <a:t>LinkedIn</a:t>
            </a:r>
          </a:p>
        </p:txBody>
      </p:sp>
      <p:pic>
        <p:nvPicPr>
          <p:cNvPr id="11" name="">
            <a:extLst xmlns:a="http://schemas.openxmlformats.org/drawingml/2006/main">
              <a:ext uri="{FF2B5EF4-FFF2-40B4-BE49-F238E27FC236}">
                <a16:creationId xmlns:a16="http://schemas.microsoft.com/office/drawing/2014/main" id="{9B9E835F-C3E2-43CC-94F9-407D4EAFE4F1}"/>
              </a:ext>
            </a:extLst>
          </p:cNvPr>
          <p:cNvPicPr>
            <a:picLocks xmlns:a="http://schemas.openxmlformats.org/drawingml/2006/main" noChangeAspect="1"/>
          </p:cNvPicPr>
          <p:nvPr/>
        </p:nvPicPr>
        <p:blipFill>
          <a:blip xmlns:r="http://schemas.openxmlformats.org/officeDocument/2006/relationships" xmlns:a="http://schemas.openxmlformats.org/drawingml/2006/main" r:embed="R0e2a5ec67cb64d37"/>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
            <a:extLst xmlns:a="http://schemas.openxmlformats.org/drawingml/2006/main">
              <a:ext uri="{FF2B5EF4-FFF2-40B4-BE49-F238E27FC236}">
                <a16:creationId xmlns:a16="http://schemas.microsoft.com/office/drawing/2014/main" id="{F21B0871-53BB-4277-ACAD-BAECCAA1F1F2}"/>
              </a:ext>
            </a:extLst>
          </p:cNvPr>
          <p:cNvPicPr>
            <a:picLocks xmlns:a="http://schemas.openxmlformats.org/drawingml/2006/main" noChangeAspect="1"/>
          </p:cNvPicPr>
          <p:nvPr/>
        </p:nvPicPr>
        <p:blipFill>
          <a:blip xmlns:r="http://schemas.openxmlformats.org/officeDocument/2006/relationships" xmlns:a="http://schemas.openxmlformats.org/drawingml/2006/main" r:embed="Rb72a4677634b495f"/>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
            <a:extLst xmlns:a="http://schemas.openxmlformats.org/drawingml/2006/main">
              <a:ext uri="{FF2B5EF4-FFF2-40B4-BE49-F238E27FC236}">
                <a16:creationId xmlns:a16="http://schemas.microsoft.com/office/drawing/2014/main" id="{B99BAA74-FD8F-473A-A17D-D77528B0F65F}"/>
              </a:ext>
            </a:extLst>
          </p:cNvPr>
          <p:cNvPicPr>
            <a:picLocks xmlns:a="http://schemas.openxmlformats.org/drawingml/2006/main" noChangeAspect="1"/>
          </p:cNvPicPr>
          <p:nvPr/>
        </p:nvPicPr>
        <p:blipFill>
          <a:blip xmlns:r="http://schemas.openxmlformats.org/officeDocument/2006/relationships" xmlns:a="http://schemas.openxmlformats.org/drawingml/2006/main" r:embed="R7e2d8be402b54a14"/>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Asia’s largest home services marketplace from zero to a </a:t>
            </a:r>
            <a:r>
              <a:rPr sz="1950" b="1">
                <a:solidFill>
                  <a:srgbClr val="193C32"/>
                </a:solidFill>
                <a:latin typeface="Helvetica Neue"/>
                <a:ea typeface="Helvetica Neue"/>
                <a:cs typeface="Helvetica Neue"/>
              </a:rPr>
              <a:t>$3B IPO</a:t>
            </a:r>
            <a:r>
              <a:rPr sz="1950" b="0">
                <a:solidFill>
                  <a:srgbClr val="193C32"/>
                </a:solidFill>
                <a:latin typeface="Helvetica Neue"/>
                <a:ea typeface="Helvetica Neue"/>
                <a:cs typeface="Helvetica Neue"/>
              </a:rPr>
              <a:t> as an Urban Company founding team member.</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scaling it to $700K in revenue.</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Investor at Bessemer Venture Partners, deploying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SWE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#1 system design tutor on Udemy, with 2,500 engineers taught.</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production-grade </a:t>
            </a:r>
            <a:r>
              <a:rPr sz="1950" b="1">
                <a:solidFill>
                  <a:srgbClr val="193C32"/>
                </a:solidFill>
                <a:latin typeface="Helvetica Neue"/>
                <a:ea typeface="Helvetica Neue"/>
                <a:cs typeface="Helvetica Neue"/>
              </a:rPr>
              <a:t>MCP integrations</a:t>
            </a:r>
            <a:r>
              <a:rPr sz="1950" b="0">
                <a:solidFill>
                  <a:srgbClr val="193C32"/>
                </a:solidFill>
                <a:latin typeface="Helvetica Neue"/>
                <a:ea typeface="Helvetica Neue"/>
                <a:cs typeface="Helvetica Neue"/>
              </a:rPr>
              <a:t>.</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2026-10-11T01:06:33.3060000Z</dcterms:created>
  <dcterms:modified xsi:type="dcterms:W3CDTF">2026-10-11T01:06:33.3060000Z</dcterms:modified>
</coreProperties>
</file>