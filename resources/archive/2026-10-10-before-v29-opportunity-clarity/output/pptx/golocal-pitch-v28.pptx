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1f71c38b2c44b0" /><Relationship Type="http://schemas.openxmlformats.org/officeDocument/2006/relationships/extended-properties" Target="/docProps/app.xml" Id="R76cc0dbfbbd144d3" /><Relationship Type="http://schemas.openxmlformats.org/officeDocument/2006/relationships/officeDocument" Target="/ppt/presentation.xml" Id="Rc00d1c6139c4451a" /></Relationships>
</file>

<file path=ppt/presentation.xml><?xml version="1.0" encoding="utf-8"?>
<p:presentation xmlns:p="http://schemas.openxmlformats.org/presentationml/2006/main">
  <p:sldMasterIdLst>
    <p:sldMasterId xmlns:r="http://schemas.openxmlformats.org/officeDocument/2006/relationships" id="2147483648" r:id="R1fe274f50380416c"/>
  </p:sldMasterIdLst>
  <p:notesMasterIdLst>
    <p:notesMasterId xmlns:r="http://schemas.openxmlformats.org/officeDocument/2006/relationships" r:id="Rd60631e57b0c46b7"/>
  </p:notesMasterIdLst>
  <p:sldIdLst>
    <p:sldId xmlns:r="http://schemas.openxmlformats.org/officeDocument/2006/relationships" id="256" r:id="R8e6fe88da3f441aa"/>
    <p:sldId xmlns:r="http://schemas.openxmlformats.org/officeDocument/2006/relationships" id="257" r:id="R9243b90975734b30"/>
    <p:sldId xmlns:r="http://schemas.openxmlformats.org/officeDocument/2006/relationships" id="258" r:id="Ra712ffc99ad84680"/>
    <p:sldId xmlns:r="http://schemas.openxmlformats.org/officeDocument/2006/relationships" id="259" r:id="R0f05ef03d3d648a0"/>
    <p:sldId xmlns:r="http://schemas.openxmlformats.org/officeDocument/2006/relationships" id="260" r:id="Rcca5aa0cc8f64355"/>
    <p:sldId xmlns:r="http://schemas.openxmlformats.org/officeDocument/2006/relationships" id="261" r:id="R3c2f4c8afd944931"/>
    <p:sldId xmlns:r="http://schemas.openxmlformats.org/officeDocument/2006/relationships" id="262" r:id="R3f41a9289df8463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b196137e27a4cc6" /><Relationship Type="http://schemas.openxmlformats.org/officeDocument/2006/relationships/slideMaster" Target="/ppt/slideMasters/slideMaster1.xml" Id="R1fe274f50380416c" /><Relationship Type="http://schemas.openxmlformats.org/officeDocument/2006/relationships/notesMaster" Target="/ppt/notesMasters/notesMaster1.xml" Id="Rd60631e57b0c46b7" /><Relationship Type="http://schemas.openxmlformats.org/officeDocument/2006/relationships/presProps" Target="/ppt/presProps.xml" Id="R104a16d0dae9474e" /><Relationship Type="http://schemas.openxmlformats.org/officeDocument/2006/relationships/viewProps" Target="/ppt/viewProps.xml" Id="Rdefc59ea063441b8" /><Relationship Type="http://schemas.openxmlformats.org/officeDocument/2006/relationships/tableStyles" Target="/ppt/tableStyles.xml" Id="R19fe4f87bb4c4659" /><Relationship Type="http://schemas.openxmlformats.org/officeDocument/2006/relationships/slide" Target="/ppt/slides/slide1.xml" Id="R8e6fe88da3f441aa" /><Relationship Type="http://schemas.openxmlformats.org/officeDocument/2006/relationships/slide" Target="/ppt/slides/slide2.xml" Id="R9243b90975734b30" /><Relationship Type="http://schemas.openxmlformats.org/officeDocument/2006/relationships/slide" Target="/ppt/slides/slide3.xml" Id="Ra712ffc99ad84680" /><Relationship Type="http://schemas.openxmlformats.org/officeDocument/2006/relationships/slide" Target="/ppt/slides/slide4.xml" Id="R0f05ef03d3d648a0" /><Relationship Type="http://schemas.openxmlformats.org/officeDocument/2006/relationships/slide" Target="/ppt/slides/slide5.xml" Id="Rcca5aa0cc8f64355" /><Relationship Type="http://schemas.openxmlformats.org/officeDocument/2006/relationships/slide" Target="/ppt/slides/slide6.xml" Id="R3c2f4c8afd944931" /><Relationship Type="http://schemas.openxmlformats.org/officeDocument/2006/relationships/slide" Target="/ppt/slides/slide7.xml" Id="R3f41a9289df846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191155b1c041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24edf50ff74368" /><Relationship Type="http://schemas.openxmlformats.org/officeDocument/2006/relationships/notesMaster" Target="/ppt/notesMasters/notesMaster1.xml" Id="R46ace9511d064c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3b0ab41329485d" /><Relationship Type="http://schemas.openxmlformats.org/officeDocument/2006/relationships/notesMaster" Target="/ppt/notesMasters/notesMaster1.xml" Id="R775f0d0127d64f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61960e0fb849b1" /><Relationship Type="http://schemas.openxmlformats.org/officeDocument/2006/relationships/notesMaster" Target="/ppt/notesMasters/notesMaster1.xml" Id="R7f4a8ede425646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e6b7fe92a41ba" /><Relationship Type="http://schemas.openxmlformats.org/officeDocument/2006/relationships/notesMaster" Target="/ppt/notesMasters/notesMaster1.xml" Id="Rcd2033cdab7a47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71d8b0796c4d97" /><Relationship Type="http://schemas.openxmlformats.org/officeDocument/2006/relationships/notesMaster" Target="/ppt/notesMasters/notesMaster1.xml" Id="Rbf859ef41ce54e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e12a1d56904171" /><Relationship Type="http://schemas.openxmlformats.org/officeDocument/2006/relationships/notesMaster" Target="/ppt/notesMasters/notesMaster1.xml" Id="R2fdc3aa7d1f546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9f5108acf441ba" /><Relationship Type="http://schemas.openxmlformats.org/officeDocument/2006/relationships/notesMaster" Target="/ppt/notesMasters/notesMaster1.xml" Id="R46aabd5eb90f4f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agents create additional starting points for service requests. The platform matrix describes an illustrative progression of dominant customer experiences rather than exact launch dates or an exhaustive product audit. Find/compare includes location and review-based filtering when supported. Describe the need consolidates conversational input; delegate describes action-capable agents. The two transaction rows consolidate scoping/quote and availability/scheduling into Get quote &amp; schedule, followed by Book &amp; pay. Their merged cells show shared provider fragmentation rather than claiming that no platform has ever supported these actions.</a:t>
            </a:r>
          </a:p>
          <a:p xmlns:a="http://schemas.openxmlformats.org/drawingml/2006/main">
            <a:r>
              <a:t>The local-service opportunity is to connect fragmented provider pricing/availability and booking/payment flows. A platform that helps complete eligible bookings can potentially charge for that outcome. This is a proposed business model, not measured capture or a guarantee of scale. The approximately $1.2T figure is a broad underlying spending pool, not annual GoLocal transactions, the transactionable portion, or potential fee revenue. No market-share, take-rate or revenue forecast is implied. No absence-of-competition claim.</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e2f5d74bc24c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d8fde5356f4b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89122af8f948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2ab3f8e1e94a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acf6f3cf2946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1357b42f524f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d1cd1f9e2045ce" /><Relationship Type="http://schemas.openxmlformats.org/officeDocument/2006/relationships/slideLayout" Target="/ppt/slideLayouts/slideLayout1.xml" Id="Rf0988910d6094129" /><Relationship Type="http://schemas.openxmlformats.org/officeDocument/2006/relationships/slideLayout" Target="/ppt/slideLayouts/slideLayout2.xml" Id="R3d9840229bdc4404" /><Relationship Type="http://schemas.openxmlformats.org/officeDocument/2006/relationships/slideLayout" Target="/ppt/slideLayouts/slideLayout3.xml" Id="Rd2fd1a2f71954aec" /><Relationship Type="http://schemas.openxmlformats.org/officeDocument/2006/relationships/slideLayout" Target="/ppt/slideLayouts/slideLayout4.xml" Id="R63df42c8b90f480d" /><Relationship Type="http://schemas.openxmlformats.org/officeDocument/2006/relationships/slideLayout" Target="/ppt/slideLayouts/slideLayout5.xml" Id="R54a84b71322747d3" /><Relationship Type="http://schemas.openxmlformats.org/officeDocument/2006/relationships/slideLayout" Target="/ppt/slideLayouts/slideLayout6.xml" Id="R348eaaf859804d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988910d6094129"/>
    <p:sldLayoutId xmlns:r="http://schemas.openxmlformats.org/officeDocument/2006/relationships" id="2147483650" r:id="R3d9840229bdc4404"/>
    <p:sldLayoutId xmlns:r="http://schemas.openxmlformats.org/officeDocument/2006/relationships" id="2147483651" r:id="Rd2fd1a2f71954aec"/>
    <p:sldLayoutId xmlns:r="http://schemas.openxmlformats.org/officeDocument/2006/relationships" id="2147483652" r:id="R63df42c8b90f480d"/>
    <p:sldLayoutId xmlns:r="http://schemas.openxmlformats.org/officeDocument/2006/relationships" id="2147483653" r:id="R54a84b71322747d3"/>
    <p:sldLayoutId xmlns:r="http://schemas.openxmlformats.org/officeDocument/2006/relationships" id="2147483654" r:id="R348eaaf859804d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5523582d0b4c94" /><Relationship Type="http://schemas.openxmlformats.org/officeDocument/2006/relationships/image" Target="/ppt/media/image.png" Id="Rdc9213c7c8fd42ea" /><Relationship Type="http://schemas.openxmlformats.org/officeDocument/2006/relationships/notesSlide" Target="/ppt/notesSlides/notesSlide1.xml" Id="R1f639f9929d643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aea2ca2e4748bb" /><Relationship Type="http://schemas.openxmlformats.org/officeDocument/2006/relationships/notesSlide" Target="/ppt/notesSlides/notesSlide2.xml" Id="R08805621440c43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5157b677b5a44b4" /><Relationship Type="http://schemas.openxmlformats.org/officeDocument/2006/relationships/image" Target="/ppt/media/image2.png" Id="R08535fe5eaa442ef" /><Relationship Type="http://schemas.openxmlformats.org/officeDocument/2006/relationships/image" Target="/ppt/media/image.jpeg" Id="Raad71c2fe5a0436a" /><Relationship Type="http://schemas.openxmlformats.org/officeDocument/2006/relationships/image" Target="/ppt/media/image2.jpeg" Id="Rcb3326ad005d4f23" /><Relationship Type="http://schemas.openxmlformats.org/officeDocument/2006/relationships/image" Target="/ppt/media/image3.jpeg" Id="R7d38d1990a89410f" /><Relationship Type="http://schemas.openxmlformats.org/officeDocument/2006/relationships/image" Target="/ppt/media/image3.png" Id="R181c8891782e4dab" /><Relationship Type="http://schemas.openxmlformats.org/officeDocument/2006/relationships/notesSlide" Target="/ppt/notesSlides/notesSlide3.xml" Id="R0ed20870663f48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a45d5295594f0f" /><Relationship Type="http://schemas.openxmlformats.org/officeDocument/2006/relationships/notesSlide" Target="/ppt/notesSlides/notesSlide4.xml" Id="Rbde9f8c8c71f45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ca4941d78d4807" /><Relationship Type="http://schemas.openxmlformats.org/officeDocument/2006/relationships/notesSlide" Target="/ppt/notesSlides/notesSlide5.xml" Id="Rdaafd3a9120d43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549675d51f4d80" /><Relationship Type="http://schemas.openxmlformats.org/officeDocument/2006/relationships/notesSlide" Target="/ppt/notesSlides/notesSlide6.xml" Id="R632a1745968243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d22005ce5bc484a" /><Relationship Type="http://schemas.openxmlformats.org/officeDocument/2006/relationships/image" Target="/ppt/media/image4.jpeg" Id="R5f257323daf84f0f" /><Relationship Type="http://schemas.openxmlformats.org/officeDocument/2006/relationships/image" Target="/ppt/media/image5.jpeg" Id="Rde2812bad5974458" /><Relationship Type="http://schemas.openxmlformats.org/officeDocument/2006/relationships/hyperlink" Target="https://www.linkedin.com/in/pulkitwalia/" TargetMode="External" Id="R8d69e13e66954da6" /><Relationship Type="http://schemas.openxmlformats.org/officeDocument/2006/relationships/hyperlink" Target="https://www.linkedin.com/in/rohit-jain-343437187/" TargetMode="External" Id="Rd16abd2fe645483d" /><Relationship Type="http://schemas.openxmlformats.org/officeDocument/2006/relationships/image" Target="/ppt/media/image6.jpeg" Id="R5b15c188f47b4381" /><Relationship Type="http://schemas.openxmlformats.org/officeDocument/2006/relationships/image" Target="/ppt/media/image4.png" Id="R3e3b73b3f9854e47" /><Relationship Type="http://schemas.openxmlformats.org/officeDocument/2006/relationships/image" Target="/ppt/media/image7.jpeg" Id="Rb6f27f6f859e44a9" /><Relationship Type="http://schemas.openxmlformats.org/officeDocument/2006/relationships/notesSlide" Target="/ppt/notesSlides/notesSlide7.xml" Id="Re8b4fb998f424d17" /></Relationships>
</file>

<file path=ppt/slides/slide1.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19B82B2-D376-4BA2-AAF3-BAD9BDE8BF03}"/>
              </a:ext>
            </a:extLst>
          </p:cNvPr>
          <p:cNvPicPr>
            <a:picLocks xmlns:a="http://schemas.openxmlformats.org/drawingml/2006/main" noChangeAspect="1"/>
          </p:cNvPicPr>
          <p:nvPr/>
        </p:nvPicPr>
        <p:blipFill>
          <a:blip xmlns:r="http://schemas.openxmlformats.org/officeDocument/2006/relationships" xmlns:a="http://schemas.openxmlformats.org/drawingml/2006/main" r:embed="Rdc9213c7c8fd42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v28-text-3">
            <a:extLst xmlns:a="http://schemas.openxmlformats.org/drawingml/2006/main">
              <a:ext uri="{FF2B5EF4-FFF2-40B4-BE49-F238E27FC236}">
                <a16:creationId xmlns:a16="http://schemas.microsoft.com/office/drawing/2014/main" id="{3329D116-2276-441F-B48B-8F4D894901D3}"/>
              </a:ext>
            </a:extLst>
          </p:cNvPr>
          <p:cNvSpPr>
            <a:spLocks xmlns:a="http://schemas.openxmlformats.org/drawingml/2006/main" noGrp="1"/>
          </p:cNvSpPr>
          <p:nvPr/>
        </p:nvSpPr>
        <p:spPr>
          <a:xfrm xmlns:a="http://schemas.openxmlformats.org/drawingml/2006/main">
            <a:off x="609600" y="30480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28-text-4">
            <a:extLst xmlns:a="http://schemas.openxmlformats.org/drawingml/2006/main">
              <a:ext uri="{FF2B5EF4-FFF2-40B4-BE49-F238E27FC236}">
                <a16:creationId xmlns:a16="http://schemas.microsoft.com/office/drawing/2014/main" id="{D41BED7C-B99B-48CC-A21D-4FAFC9DACDF6}"/>
              </a:ext>
            </a:extLst>
          </p:cNvPr>
          <p:cNvSpPr>
            <a:spLocks xmlns:a="http://schemas.openxmlformats.org/drawingml/2006/main" noGrp="1"/>
          </p:cNvSpPr>
          <p:nvPr/>
        </p:nvSpPr>
        <p:spPr>
          <a:xfrm xmlns:a="http://schemas.openxmlformats.org/drawingml/2006/main">
            <a:off x="609600" y="838200"/>
            <a:ext cx="7905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change discovery.</a:t>
            </a:r>
          </a:p>
          <a:p xmlns:a="http://schemas.openxmlformats.org/drawingml/2006/main">
            <a:pPr algn="l">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Local booking is still fragmented.</a:t>
            </a:r>
          </a:p>
        </p:txBody>
      </p:sp>
      <p:sp>
        <p:nvSpPr>
          <p:cNvPr id="3" name="v28-text-5">
            <a:extLst xmlns:a="http://schemas.openxmlformats.org/drawingml/2006/main">
              <a:ext uri="{FF2B5EF4-FFF2-40B4-BE49-F238E27FC236}">
                <a16:creationId xmlns:a16="http://schemas.microsoft.com/office/drawing/2014/main" id="{6C4D26C5-A70B-4D1B-849F-D17BE1C64FBF}"/>
              </a:ext>
            </a:extLst>
          </p:cNvPr>
          <p:cNvSpPr>
            <a:spLocks xmlns:a="http://schemas.openxmlformats.org/drawingml/2006/main" noGrp="1"/>
          </p:cNvSpPr>
          <p:nvPr/>
        </p:nvSpPr>
        <p:spPr>
          <a:xfrm xmlns:a="http://schemas.openxmlformats.org/drawingml/2006/main">
            <a:off x="8963025" y="838200"/>
            <a:ext cx="26193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250" b="1">
                <a:solidFill>
                  <a:srgbClr val="103D3B"/>
                </a:solidFill>
                <a:latin typeface="Helvetica Neue"/>
                <a:ea typeface="Helvetica Neue"/>
                <a:cs typeface="Helvetica Neue"/>
              </a:defRPr>
            </a:defPPr>
          </a:lstStyle>
          <a:p xmlns:a="http://schemas.openxmlformats.org/drawingml/2006/main">
            <a:pPr algn="l">
              <a:defRPr sz="5250" b="1">
                <a:solidFill>
                  <a:srgbClr val="103D3B"/>
                </a:solidFill>
                <a:latin typeface="Helvetica Neue"/>
                <a:ea typeface="Helvetica Neue"/>
                <a:cs typeface="Helvetica Neue"/>
              </a:defRPr>
            </a:pPr>
            <a:r>
              <a:rPr sz="5250" b="1">
                <a:solidFill>
                  <a:srgbClr val="103D3B"/>
                </a:solidFill>
                <a:latin typeface="Helvetica Neue"/>
                <a:ea typeface="Helvetica Neue"/>
                <a:cs typeface="Helvetica Neue"/>
              </a:rPr>
              <a:t>≈$1.2T</a:t>
            </a:r>
          </a:p>
        </p:txBody>
      </p:sp>
      <p:sp>
        <p:nvSpPr>
          <p:cNvPr id="4" name="v28-text-6">
            <a:extLst xmlns:a="http://schemas.openxmlformats.org/drawingml/2006/main">
              <a:ext uri="{FF2B5EF4-FFF2-40B4-BE49-F238E27FC236}">
                <a16:creationId xmlns:a16="http://schemas.microsoft.com/office/drawing/2014/main" id="{ECBC1062-AF68-45CD-936A-13DB7A059E62}"/>
              </a:ext>
            </a:extLst>
          </p:cNvPr>
          <p:cNvSpPr>
            <a:spLocks xmlns:a="http://schemas.openxmlformats.org/drawingml/2006/main" noGrp="1"/>
          </p:cNvSpPr>
          <p:nvPr/>
        </p:nvSpPr>
        <p:spPr>
          <a:xfrm xmlns:a="http://schemas.openxmlformats.org/drawingml/2006/main">
            <a:off x="8982075" y="1724025"/>
            <a:ext cx="26003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716A"/>
                </a:solidFill>
                <a:latin typeface="Helvetica Neue"/>
                <a:ea typeface="Helvetica Neue"/>
                <a:cs typeface="Helvetica Neue"/>
              </a:defRPr>
            </a:defPPr>
          </a:lstStyle>
          <a:p xmlns:a="http://schemas.openxmlformats.org/drawingml/2006/main">
            <a:pPr algn="l">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Annual U.S. spending</a:t>
            </a:r>
          </a:p>
          <a:p xmlns:a="http://schemas.openxmlformats.org/drawingml/2006/main">
            <a:pPr algn="l">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across selected categories</a:t>
            </a:r>
          </a:p>
        </p:txBody>
      </p:sp>
      <p:sp>
        <p:nvSpPr>
          <p:cNvPr id="5" name="v28-text-7">
            <a:extLst xmlns:a="http://schemas.openxmlformats.org/drawingml/2006/main">
              <a:ext uri="{FF2B5EF4-FFF2-40B4-BE49-F238E27FC236}">
                <a16:creationId xmlns:a16="http://schemas.microsoft.com/office/drawing/2014/main" id="{2BBE0AE8-BEEF-4C1E-976D-107329F13C58}"/>
              </a:ext>
            </a:extLst>
          </p:cNvPr>
          <p:cNvSpPr>
            <a:spLocks xmlns:a="http://schemas.openxmlformats.org/drawingml/2006/main" noGrp="1"/>
          </p:cNvSpPr>
          <p:nvPr/>
        </p:nvSpPr>
        <p:spPr>
          <a:xfrm xmlns:a="http://schemas.openxmlformats.org/drawingml/2006/main">
            <a:off x="609600" y="2143125"/>
            <a:ext cx="78962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3716A"/>
                </a:solidFill>
                <a:latin typeface="Helvetica Neue"/>
                <a:ea typeface="Helvetica Neue"/>
                <a:cs typeface="Helvetica Neue"/>
              </a:defRPr>
            </a:defPPr>
          </a:lstStyle>
          <a:p xmlns:a="http://schemas.openxmlformats.org/drawingml/2006/main">
            <a:pPr algn="l">
              <a:defRPr sz="1875" b="0">
                <a:solidFill>
                  <a:srgbClr val="53716A"/>
                </a:solidFill>
                <a:latin typeface="Helvetica Neue"/>
                <a:ea typeface="Helvetica Neue"/>
                <a:cs typeface="Helvetica Neue"/>
              </a:defRPr>
            </a:pPr>
            <a:r>
              <a:rPr sz="1875" b="0">
                <a:solidFill>
                  <a:srgbClr val="53716A"/>
                </a:solidFill>
                <a:latin typeface="Helvetica Neue"/>
                <a:ea typeface="Helvetica Neue"/>
                <a:cs typeface="Helvetica Neue"/>
              </a:rPr>
              <a:t>Each platform makes more of the customer’s task possible.</a:t>
            </a:r>
          </a:p>
        </p:txBody>
      </p:sp>
      <p:graphicFrame>
        <p:nvGraphicFramePr>
          <p:cNvPr id="6" name="">
            <a:extLst xmlns:a="http://schemas.openxmlformats.org/drawingml/2006/main">
              <a:ext uri="{FF2B5EF4-FFF2-40B4-BE49-F238E27FC236}">
                <a16:creationId xmlns:a16="http://schemas.microsoft.com/office/drawing/2014/main" id="{9171991A-420A-4F97-861A-74250699A3EB}"/>
              </a:ext>
            </a:extLst>
          </p:cNvPr>
          <p:cNvGraphicFramePr/>
          <p:nvPr/>
        </p:nvGraphicFramePr>
        <p:xfrm>
          <a:off xmlns:a="http://schemas.openxmlformats.org/drawingml/2006/main" x="609600" y="2686050"/>
          <a:ext xmlns:a="http://schemas.openxmlformats.org/drawingml/2006/main" cx="10972800" cy="2571750"/>
        </p:xfrm>
        <a:graphic xmlns:a="http://schemas.openxmlformats.org/drawingml/2006/main">
          <a:graphicData uri="http://schemas.openxmlformats.org/drawingml/2006/table">
            <a:tbl>
              <a:tblPr firstRow="0" firstCol="0" bandRow="0"/>
              <a:tblGrid>
                <a:gridCol w="2476500"/>
                <a:gridCol w="1699260"/>
                <a:gridCol w="1699260"/>
                <a:gridCol w="1699260"/>
                <a:gridCol w="1699260"/>
                <a:gridCol w="1699260"/>
              </a:tblGrid>
              <a:tr h="571500">
                <a:tc>
                  <a:txBody>
                    <a:bodyPr wrap="square">
                      <a:noAutofit/>
                    </a:bodyPr>
                    <a:lstStyle/>
                    <a:p>
                      <a:pPr algn="l"/>
                      <a:r>
                        <a:rPr sz="1200" b="1">
                          <a:solidFill>
                            <a:srgbClr val="53716A"/>
                          </a:solidFill>
                          <a:latin typeface="Helvetica Neue"/>
                          <a:ea typeface="Helvetica Neue"/>
                          <a:cs typeface="Helvetica Neue"/>
                        </a:rPr>
                        <a:t>CUSTOMER TASK</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Yellow</a:t>
                      </a:r>
                    </a:p>
                    <a:p>
                      <a:pPr algn="ctr"/>
                      <a:r>
                        <a:rPr sz="1575" b="1">
                          <a:solidFill>
                            <a:srgbClr val="103D3B"/>
                          </a:solidFill>
                          <a:latin typeface="Helvetica Neue"/>
                          <a:ea typeface="Helvetica Neue"/>
                          <a:cs typeface="Helvetica Neue"/>
                        </a:rPr>
                        <a:t>Pages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a:t>
                      </a:r>
                    </a:p>
                    <a:p>
                      <a:pPr algn="ctr"/>
                      <a:r>
                        <a:rPr sz="1575" b="1">
                          <a:solidFill>
                            <a:srgbClr val="103D3B"/>
                          </a:solidFill>
                          <a:latin typeface="Helvetica Neue"/>
                          <a:ea typeface="Helvetica Neue"/>
                          <a:cs typeface="Helvetica Neue"/>
                        </a:rPr>
                        <a:t>Craigslist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a:t>
                      </a:r>
                    </a:p>
                    <a:p>
                      <a:pPr algn="ctr"/>
                      <a:r>
                        <a:rPr sz="1575" b="1">
                          <a:solidFill>
                            <a:srgbClr val="103D3B"/>
                          </a:solidFill>
                          <a:latin typeface="Helvetica Neue"/>
                          <a:ea typeface="Helvetica Neue"/>
                          <a:cs typeface="Helvetica Neue"/>
                        </a:rPr>
                        <a:t>Maps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AI</a:t>
                      </a:r>
                    </a:p>
                    <a:p>
                      <a:pPr algn="ctr"/>
                      <a:r>
                        <a:rPr sz="1575" b="1">
                          <a:solidFill>
                            <a:srgbClr val="103D3B"/>
                          </a:solidFill>
                          <a:latin typeface="Helvetica Neue"/>
                          <a:ea typeface="Helvetica Neue"/>
                          <a:cs typeface="Helvetica Neue"/>
                        </a:rPr>
                        <a:t>chatbots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FFFFFF"/>
                          </a:solidFill>
                          <a:latin typeface="Helvetica Neue"/>
                          <a:ea typeface="Helvetica Neue"/>
                          <a:cs typeface="Helvetica Neue"/>
                        </a:rPr>
                        <a:t>Personal</a:t>
                      </a:r>
                    </a:p>
                    <a:p>
                      <a:pPr algn="ctr"/>
                      <a:r>
                        <a:rPr sz="1575" b="1">
                          <a:solidFill>
                            <a:srgbClr val="FFFFFF"/>
                          </a:solidFill>
                          <a:latin typeface="Helvetica Neue"/>
                          <a:ea typeface="Helvetica Neue"/>
                          <a:cs typeface="Helvetica Neue"/>
                        </a:rPr>
                        <a:t>agents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400050">
                <a:tc>
                  <a:txBody>
                    <a:bodyPr wrap="square">
                      <a:noAutofit/>
                    </a:bodyPr>
                    <a:lstStyle/>
                    <a:p>
                      <a:pPr algn="l"/>
                      <a:r>
                        <a:rPr sz="1575" b="1">
                          <a:solidFill>
                            <a:srgbClr val="103D3B"/>
                          </a:solidFill>
                          <a:latin typeface="Helvetica Neue"/>
                          <a:ea typeface="Helvetica Neue"/>
                          <a:cs typeface="Helvetica Neue"/>
                        </a:rPr>
                        <a:t>Find &amp; compare</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0">
                          <a:solidFill>
                            <a:srgbClr val="103D3B"/>
                          </a:solidFill>
                          <a:latin typeface="Helvetica Neue"/>
                          <a:ea typeface="Helvetica Neue"/>
                          <a:cs typeface="Helvetica Neue"/>
                        </a:rPr>
                        <a:t>Find</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875" b="1">
                          <a:solidFill>
                            <a:srgbClr val="FFFFFF"/>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400050">
                <a:tc>
                  <a:txBody>
                    <a:bodyPr wrap="square">
                      <a:noAutofit/>
                    </a:bodyPr>
                    <a:lstStyle/>
                    <a:p>
                      <a:pPr algn="l"/>
                      <a:r>
                        <a:rPr sz="1575" b="1">
                          <a:solidFill>
                            <a:srgbClr val="103D3B"/>
                          </a:solidFill>
                          <a:latin typeface="Helvetica Neue"/>
                          <a:ea typeface="Helvetica Neue"/>
                          <a:cs typeface="Helvetica Neue"/>
                        </a:rPr>
                        <a:t>Describe the need</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875" b="1">
                          <a:solidFill>
                            <a:srgbClr val="FFFFFF"/>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875" b="1">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400050">
                <a:tc>
                  <a:txBody>
                    <a:bodyPr wrap="square">
                      <a:noAutofit/>
                    </a:bodyPr>
                    <a:lstStyle/>
                    <a:p>
                      <a:pPr algn="l"/>
                      <a:r>
                        <a:rPr sz="1575" b="1">
                          <a:solidFill>
                            <a:srgbClr val="103D3B"/>
                          </a:solidFill>
                          <a:latin typeface="Helvetica Neue"/>
                          <a:ea typeface="Helvetica Neue"/>
                          <a:cs typeface="Helvetica Neue"/>
                        </a:rPr>
                        <a:t>Delegate the task</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75" b="0">
                          <a:solidFill>
                            <a:srgbClr val="103D3B"/>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875" b="1">
                          <a:solidFill>
                            <a:srgbClr val="FFFFFF"/>
                          </a:solidFill>
                          <a:latin typeface="Helvetica Neue"/>
                          <a:ea typeface="Helvetica Neue"/>
                          <a:cs typeface="Helvetica Neue"/>
                        </a:rPr>
                        <a:t>✓</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0050">
                <a:tc>
                  <a:txBody>
                    <a:bodyPr wrap="square">
                      <a:noAutofit/>
                    </a:bodyPr>
                    <a:lstStyle/>
                    <a:p>
                      <a:pPr algn="l"/>
                      <a:r>
                        <a:rPr sz="1575" b="1">
                          <a:solidFill>
                            <a:srgbClr val="A34E3F"/>
                          </a:solidFill>
                          <a:latin typeface="Helvetica Neue"/>
                          <a:ea typeface="Helvetica Neue"/>
                          <a:cs typeface="Helvetica Neue"/>
                        </a:rPr>
                        <a:t>Get quote &amp; schedule</a:t>
                      </a:r>
                    </a:p>
                  </a:txBody>
                  <a:tcPr marL="0"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5F2E9"/>
                    </a:solidFill>
                  </a:tcPr>
                </a:tc>
                <a:tc gridSpan="5">
                  <a:txBody>
                    <a:bodyPr wrap="square">
                      <a:noAutofit/>
                    </a:bodyPr>
                    <a:lstStyle/>
                    <a:p>
                      <a:pPr algn="ctr"/>
                      <a:r>
                        <a:rPr sz="1575" b="0">
                          <a:solidFill>
                            <a:srgbClr val="A34E3F"/>
                          </a:solidFill>
                          <a:latin typeface="Helvetica Neue"/>
                          <a:ea typeface="Helvetica Neue"/>
                          <a:cs typeface="Helvetica Neue"/>
                        </a:rPr>
                        <a:t>Provider-specific pricing and availability</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0050">
                <a:tc>
                  <a:txBody>
                    <a:bodyPr wrap="square">
                      <a:noAutofit/>
                    </a:bodyPr>
                    <a:lstStyle/>
                    <a:p>
                      <a:pPr algn="l"/>
                      <a:r>
                        <a:rPr sz="1575" b="1">
                          <a:solidFill>
                            <a:srgbClr val="A34E3F"/>
                          </a:solidFill>
                          <a:latin typeface="Helvetica Neue"/>
                          <a:ea typeface="Helvetica Neue"/>
                          <a:cs typeface="Helvetica Neue"/>
                        </a:rPr>
                        <a:t>Book &amp; pay</a:t>
                      </a:r>
                    </a:p>
                  </a:txBody>
                  <a:tcPr marL="0"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gridSpan="5">
                  <a:txBody>
                    <a:bodyPr wrap="square">
                      <a:noAutofit/>
                    </a:bodyPr>
                    <a:lstStyle/>
                    <a:p>
                      <a:pPr algn="ctr"/>
                      <a:r>
                        <a:rPr sz="1575" b="0">
                          <a:solidFill>
                            <a:srgbClr val="A34E3F"/>
                          </a:solidFill>
                          <a:latin typeface="Helvetica Neue"/>
                          <a:ea typeface="Helvetica Neue"/>
                          <a:cs typeface="Helvetica Neue"/>
                        </a:rPr>
                        <a:t>Separate booking and payment flows</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a:txBody>
                    <a:bodyPr wrap="square">
                      <a:noAutofit/>
                    </a:bodyPr>
                    <a:lstStyle/>
                    <a:p>
                      <a:r>
                        <a:rPr sz="1575" b="0">
                          <a:solidFill>
                            <a:srgbClr val="A34E3F"/>
                          </a:solidFill>
                          <a:latin typeface="Helvetica Neue"/>
                          <a:ea typeface="Helvetica Neue"/>
                          <a:cs typeface="Helvetica Neue"/>
                        </a:rPr>
                        <a:t/>
                      </a:r>
                    </a:p>
                  </a:txBody>
                  <a:tcPr marL="66675" marR="66675" marT="28575" marB="28575"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7" name="v28-text-8">
            <a:extLst xmlns:a="http://schemas.openxmlformats.org/drawingml/2006/main">
              <a:ext uri="{FF2B5EF4-FFF2-40B4-BE49-F238E27FC236}">
                <a16:creationId xmlns:a16="http://schemas.microsoft.com/office/drawing/2014/main" id="{C694962A-3065-4860-85D1-05624490E13B}"/>
              </a:ext>
            </a:extLst>
          </p:cNvPr>
          <p:cNvSpPr>
            <a:spLocks xmlns:a="http://schemas.openxmlformats.org/drawingml/2006/main" noGrp="1"/>
          </p:cNvSpPr>
          <p:nvPr/>
        </p:nvSpPr>
        <p:spPr>
          <a:xfrm xmlns:a="http://schemas.openxmlformats.org/drawingml/2006/main">
            <a:off x="609600" y="5495925"/>
            <a:ext cx="10972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03D3B"/>
                </a:solidFill>
                <a:latin typeface="Helvetica Neue"/>
                <a:ea typeface="Helvetica Neue"/>
                <a:cs typeface="Helvetica Neue"/>
              </a:defRPr>
            </a:defPPr>
          </a:lstStyle>
          <a:p xmlns:a="http://schemas.openxmlformats.org/drawingml/2006/main">
            <a:pPr algn="l">
              <a:defRPr sz="2250" b="1">
                <a:solidFill>
                  <a:srgbClr val="103D3B"/>
                </a:solidFill>
                <a:latin typeface="Helvetica Neue"/>
                <a:ea typeface="Helvetica Neue"/>
                <a:cs typeface="Helvetica Neue"/>
              </a:defRPr>
            </a:pPr>
            <a:r>
              <a:rPr sz="2250" b="1">
                <a:solidFill>
                  <a:srgbClr val="103D3B"/>
                </a:solidFill>
                <a:latin typeface="Helvetica Neue"/>
                <a:ea typeface="Helvetica Neue"/>
                <a:cs typeface="Helvetica Neue"/>
              </a:rPr>
              <a:t>A platform that closes the last two steps can earn</a:t>
            </a:r>
          </a:p>
          <a:p xmlns:a="http://schemas.openxmlformats.org/drawingml/2006/main">
            <a:pPr algn="l">
              <a:defRPr sz="2250" b="1">
                <a:solidFill>
                  <a:srgbClr val="103D3B"/>
                </a:solidFill>
                <a:latin typeface="Helvetica Neue"/>
                <a:ea typeface="Helvetica Neue"/>
                <a:cs typeface="Helvetica Neue"/>
              </a:defRPr>
            </a:pPr>
            <a:r>
              <a:rPr sz="2250" b="1">
                <a:solidFill>
                  <a:srgbClr val="103D3B"/>
                </a:solidFill>
                <a:latin typeface="Helvetica Neue"/>
                <a:ea typeface="Helvetica Neue"/>
                <a:cs typeface="Helvetica Neue"/>
              </a:rPr>
              <a:t>a share of completed local-service bookings.</a:t>
            </a:r>
          </a:p>
        </p:txBody>
      </p:sp>
      <p:sp>
        <p:nvSpPr>
          <p:cNvPr id="8" name="v28-text-9">
            <a:extLst xmlns:a="http://schemas.openxmlformats.org/drawingml/2006/main">
              <a:ext uri="{FF2B5EF4-FFF2-40B4-BE49-F238E27FC236}">
                <a16:creationId xmlns:a16="http://schemas.microsoft.com/office/drawing/2014/main" id="{3C98108F-E9BA-4FF5-B708-8D5B0BD8E287}"/>
              </a:ext>
            </a:extLst>
          </p:cNvPr>
          <p:cNvSpPr>
            <a:spLocks xmlns:a="http://schemas.openxmlformats.org/drawingml/2006/main" noGrp="1"/>
          </p:cNvSpPr>
          <p:nvPr/>
        </p:nvSpPr>
        <p:spPr>
          <a:xfrm xmlns:a="http://schemas.openxmlformats.org/drawingml/2006/main">
            <a:off x="609600" y="6372225"/>
            <a:ext cx="1064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53716A"/>
                </a:solidFill>
                <a:latin typeface="Helvetica Neue"/>
                <a:ea typeface="Helvetica Neue"/>
                <a:cs typeface="Helvetica Neue"/>
              </a:defRPr>
            </a:defPPr>
          </a:lstStyle>
          <a:p xmlns:a="http://schemas.openxmlformats.org/drawingml/2006/main">
            <a:pPr algn="l">
              <a:defRPr sz="1013" b="0">
                <a:solidFill>
                  <a:srgbClr val="53716A"/>
                </a:solidFill>
                <a:latin typeface="Helvetica Neue"/>
                <a:ea typeface="Helvetica Neue"/>
                <a:cs typeface="Helvetica Neue"/>
              </a:defRPr>
            </a:pPr>
            <a:r>
              <a:rPr sz="1013" b="0">
                <a:solidFill>
                  <a:srgbClr val="53716A"/>
                </a:solidFill>
                <a:latin typeface="Helvetica Neue"/>
                <a:ea typeface="Helvetica Neue"/>
                <a:cs typeface="Helvetica Neue"/>
              </a:rPr>
              <a:t>Selected-category spending, mixed 2023–25 sources; includes materials/DIY. Illustrative capabilities. Integration scope varies.</a:t>
            </a:r>
          </a:p>
        </p:txBody>
      </p:sp>
      <p:sp>
        <p:nvSpPr>
          <p:cNvPr id="9" name="v28-text-10">
            <a:extLst xmlns:a="http://schemas.openxmlformats.org/drawingml/2006/main">
              <a:ext uri="{FF2B5EF4-FFF2-40B4-BE49-F238E27FC236}">
                <a16:creationId xmlns:a16="http://schemas.microsoft.com/office/drawing/2014/main" id="{2FB67EC9-E792-41B8-9680-87C08A4A9862}"/>
              </a:ext>
            </a:extLst>
          </p:cNvPr>
          <p:cNvSpPr>
            <a:spLocks xmlns:a="http://schemas.openxmlformats.org/drawingml/2006/main" noGrp="1"/>
          </p:cNvSpPr>
          <p:nvPr/>
        </p:nvSpPr>
        <p:spPr>
          <a:xfrm xmlns:a="http://schemas.openxmlformats.org/drawingml/2006/main">
            <a:off x="11049000" y="6629400"/>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53716A"/>
                </a:solidFill>
                <a:latin typeface="Helvetica Neue"/>
                <a:ea typeface="Helvetica Neue"/>
                <a:cs typeface="Helvetica Neue"/>
              </a:defRPr>
            </a:defPPr>
          </a:lstStyle>
          <a:p xmlns:a="http://schemas.openxmlformats.org/drawingml/2006/main">
            <a:pPr algn="l">
              <a:defRPr sz="1275" b="0">
                <a:solidFill>
                  <a:srgbClr val="53716A"/>
                </a:solidFill>
                <a:latin typeface="Helvetica Neue"/>
                <a:ea typeface="Helvetica Neue"/>
                <a:cs typeface="Helvetica Neue"/>
              </a:defRPr>
            </a:pPr>
            <a:r>
              <a:rPr sz="127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E4146F1E-6F27-4502-896C-1AFA31B65B74}"/>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9287F6C5-0B4E-48E6-B8A0-0F2EE67CDC61}"/>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72BC5A22-4FC7-49C5-808C-C3186EB4E1AB}"/>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7923D493-C9D9-48EC-AD03-B04956359372}"/>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1B801D57-9986-4E19-A8A2-7A6D4238B4BC}"/>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06E52BFC-71F5-47B8-879C-0379576CF73B}"/>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000A36FD-5F41-4218-A8EA-89A2442C9A39}"/>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8848CF09-AC6E-4570-AF1B-B95998AA6C6C}"/>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7EF082F4-C24B-4087-BA40-8E77EDD422F9}"/>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9B8CF932-932D-424C-9171-959C00DA47ED}"/>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8DC8E507-FB80-452B-9D99-A42097659A3E}"/>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F24D3A83-1B4C-4D4F-96A2-3B135DD0B427}"/>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A779FB1A-F55B-4219-A30E-4E4822AE574A}"/>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D620BB5F-DCB9-4359-A9C9-8E136B9C970F}"/>
              </a:ext>
            </a:extLst>
          </p:cNvPr>
          <p:cNvPicPr>
            <a:picLocks xmlns:a="http://schemas.openxmlformats.org/drawingml/2006/main" noChangeAspect="1"/>
          </p:cNvPicPr>
          <p:nvPr/>
        </p:nvPicPr>
        <p:blipFill>
          <a:blip xmlns:r="http://schemas.openxmlformats.org/officeDocument/2006/relationships" xmlns:a="http://schemas.openxmlformats.org/drawingml/2006/main" r:embed="R08535fe5eaa442ef"/>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E7CFB014-9579-4EC7-9A3A-D36CEAA60682}"/>
              </a:ext>
            </a:extLst>
          </p:cNvPr>
          <p:cNvPicPr>
            <a:picLocks xmlns:a="http://schemas.openxmlformats.org/drawingml/2006/main" noChangeAspect="1"/>
          </p:cNvPicPr>
          <p:nvPr/>
        </p:nvPicPr>
        <p:blipFill>
          <a:blip xmlns:r="http://schemas.openxmlformats.org/officeDocument/2006/relationships" xmlns:a="http://schemas.openxmlformats.org/drawingml/2006/main" r:embed="Raad71c2fe5a0436a"/>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C8F51C12-C351-49A4-953A-2E6F0B86FF1C}"/>
              </a:ext>
            </a:extLst>
          </p:cNvPr>
          <p:cNvPicPr>
            <a:picLocks xmlns:a="http://schemas.openxmlformats.org/drawingml/2006/main" noChangeAspect="1"/>
          </p:cNvPicPr>
          <p:nvPr/>
        </p:nvPicPr>
        <p:blipFill>
          <a:blip xmlns:r="http://schemas.openxmlformats.org/officeDocument/2006/relationships" xmlns:a="http://schemas.openxmlformats.org/drawingml/2006/main" r:embed="Rcb3326ad005d4f23"/>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15CE3459-ED46-4B30-8533-A54E4B025414}"/>
              </a:ext>
            </a:extLst>
          </p:cNvPr>
          <p:cNvPicPr>
            <a:picLocks xmlns:a="http://schemas.openxmlformats.org/drawingml/2006/main" noChangeAspect="1"/>
          </p:cNvPicPr>
          <p:nvPr/>
        </p:nvPicPr>
        <p:blipFill>
          <a:blip xmlns:r="http://schemas.openxmlformats.org/officeDocument/2006/relationships" xmlns:a="http://schemas.openxmlformats.org/drawingml/2006/main" r:embed="R7d38d1990a89410f"/>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C8B6E916-19B5-474E-80B8-3C30C2E8B61B}"/>
              </a:ext>
            </a:extLst>
          </p:cNvPr>
          <p:cNvPicPr>
            <a:picLocks xmlns:a="http://schemas.openxmlformats.org/drawingml/2006/main" noChangeAspect="1"/>
          </p:cNvPicPr>
          <p:nvPr/>
        </p:nvPicPr>
        <p:blipFill>
          <a:blip xmlns:r="http://schemas.openxmlformats.org/officeDocument/2006/relationships" xmlns:a="http://schemas.openxmlformats.org/drawingml/2006/main" r:embed="R181c8891782e4dab"/>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9AA88966-9CB4-4DD3-9FB3-E1C4FDC16464}"/>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825108EA-B94D-4690-8FF3-30ED382E1072}"/>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D4356E91-5D4D-4413-8D2C-07A165919F9B}"/>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30995E3C-330F-47F5-9E3B-F2E8DB49D2AB}"/>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F5716B89-7E27-45E3-A5F8-E1B46C18F7CB}"/>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7DD980D0-F202-4317-8308-BB0767D2EE3A}"/>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C30D337-8608-49F3-AF62-63D47ACE4997}"/>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CE8F1B7-59B0-492E-AAFB-90F7F5FB48AB}"/>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70D98EC5-A261-477C-8D52-51505EAF3687}"/>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45DED83C-A224-4586-81CF-BA08B36BCC5F}"/>
              </a:ext>
            </a:extLst>
          </p:cNvPr>
          <p:cNvPicPr>
            <a:picLocks xmlns:a="http://schemas.openxmlformats.org/drawingml/2006/main" noChangeAspect="1"/>
          </p:cNvPicPr>
          <p:nvPr/>
        </p:nvPicPr>
        <p:blipFill>
          <a:blip xmlns:r="http://schemas.openxmlformats.org/officeDocument/2006/relationships" xmlns:a="http://schemas.openxmlformats.org/drawingml/2006/main" r:embed="R5f257323daf84f0f"/>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01D7C436-D349-4F26-A919-C7AC57E14E14}"/>
              </a:ext>
            </a:extLst>
          </p:cNvPr>
          <p:cNvPicPr>
            <a:picLocks xmlns:a="http://schemas.openxmlformats.org/drawingml/2006/main" noChangeAspect="1"/>
          </p:cNvPicPr>
          <p:nvPr/>
        </p:nvPicPr>
        <p:blipFill>
          <a:blip xmlns:r="http://schemas.openxmlformats.org/officeDocument/2006/relationships" xmlns:a="http://schemas.openxmlformats.org/drawingml/2006/main" r:embed="Rde2812bad5974458"/>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8d69e13e66954da6"/>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d16abd2fe645483d"/>
              </a:rPr>
              <a:t>LinkedIn</a:t>
            </a:r>
          </a:p>
        </p:txBody>
      </p:sp>
      <p:pic>
        <p:nvPicPr>
          <p:cNvPr id="11" name="Picture 10">
            <a:extLst xmlns:a="http://schemas.openxmlformats.org/drawingml/2006/main">
              <a:ext uri="{FF2B5EF4-FFF2-40B4-BE49-F238E27FC236}">
                <a16:creationId xmlns:a16="http://schemas.microsoft.com/office/drawing/2014/main" id="{E92EEB5D-46D8-4128-86AF-34C6B7DF5DFE}"/>
              </a:ext>
            </a:extLst>
          </p:cNvPr>
          <p:cNvPicPr>
            <a:picLocks xmlns:a="http://schemas.openxmlformats.org/drawingml/2006/main" noChangeAspect="1"/>
          </p:cNvPicPr>
          <p:nvPr/>
        </p:nvPicPr>
        <p:blipFill>
          <a:blip xmlns:r="http://schemas.openxmlformats.org/officeDocument/2006/relationships" xmlns:a="http://schemas.openxmlformats.org/drawingml/2006/main" r:embed="R5b15c188f47b4381"/>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052E9E98-F21B-448B-A073-D8B32CB64604}"/>
              </a:ext>
            </a:extLst>
          </p:cNvPr>
          <p:cNvPicPr>
            <a:picLocks xmlns:a="http://schemas.openxmlformats.org/drawingml/2006/main" noChangeAspect="1"/>
          </p:cNvPicPr>
          <p:nvPr/>
        </p:nvPicPr>
        <p:blipFill>
          <a:blip xmlns:r="http://schemas.openxmlformats.org/officeDocument/2006/relationships" xmlns:a="http://schemas.openxmlformats.org/drawingml/2006/main" r:embed="R3e3b73b3f9854e47"/>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681A5953-B180-4385-9F87-8D34101FAF35}"/>
              </a:ext>
            </a:extLst>
          </p:cNvPr>
          <p:cNvPicPr>
            <a:picLocks xmlns:a="http://schemas.openxmlformats.org/drawingml/2006/main" noChangeAspect="1"/>
          </p:cNvPicPr>
          <p:nvPr/>
        </p:nvPicPr>
        <p:blipFill>
          <a:blip xmlns:r="http://schemas.openxmlformats.org/officeDocument/2006/relationships" xmlns:a="http://schemas.openxmlformats.org/drawingml/2006/main" r:embed="Rb6f27f6f859e44a9"/>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2026-10-11T01:35:39.8310000Z</dcterms:created>
  <dcterms:modified xsi:type="dcterms:W3CDTF">2026-10-11T01:35:39.8310000Z</dcterms:modified>
</coreProperties>
</file>