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bca7a977934fad" /><Relationship Type="http://schemas.openxmlformats.org/officeDocument/2006/relationships/extended-properties" Target="/docProps/app.xml" Id="R68171a0275bf436d" /><Relationship Type="http://schemas.openxmlformats.org/officeDocument/2006/relationships/officeDocument" Target="/ppt/presentation.xml" Id="Rf5ddba61e0dc4192" /></Relationships>
</file>

<file path=ppt/presentation.xml><?xml version="1.0" encoding="utf-8"?>
<p:presentation xmlns:p="http://schemas.openxmlformats.org/presentationml/2006/main">
  <p:sldMasterIdLst>
    <p:sldMasterId xmlns:r="http://schemas.openxmlformats.org/officeDocument/2006/relationships" id="2147483648" r:id="R9a3de8293b9c4b6e"/>
  </p:sldMasterIdLst>
  <p:notesMasterIdLst>
    <p:notesMasterId xmlns:r="http://schemas.openxmlformats.org/officeDocument/2006/relationships" r:id="R3d1c2e344ea746ff"/>
  </p:notesMasterIdLst>
  <p:sldIdLst>
    <p:sldId xmlns:r="http://schemas.openxmlformats.org/officeDocument/2006/relationships" id="256" r:id="R3901de250f404959"/>
    <p:sldId xmlns:r="http://schemas.openxmlformats.org/officeDocument/2006/relationships" id="257" r:id="R5d58071bb2d64738"/>
    <p:sldId xmlns:r="http://schemas.openxmlformats.org/officeDocument/2006/relationships" id="258" r:id="R1221b33738254f96"/>
    <p:sldId xmlns:r="http://schemas.openxmlformats.org/officeDocument/2006/relationships" id="259" r:id="Rea4beee9fab54121"/>
    <p:sldId xmlns:r="http://schemas.openxmlformats.org/officeDocument/2006/relationships" id="260" r:id="R7bdf0e8a9aa54b8b"/>
    <p:sldId xmlns:r="http://schemas.openxmlformats.org/officeDocument/2006/relationships" id="261" r:id="Rcb26b940b83c45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b083d585b0405f" /><Relationship Type="http://schemas.openxmlformats.org/officeDocument/2006/relationships/slideMaster" Target="/ppt/slideMasters/slideMaster1.xml" Id="R9a3de8293b9c4b6e" /><Relationship Type="http://schemas.openxmlformats.org/officeDocument/2006/relationships/notesMaster" Target="/ppt/notesMasters/notesMaster1.xml" Id="R3d1c2e344ea746ff" /><Relationship Type="http://schemas.openxmlformats.org/officeDocument/2006/relationships/presProps" Target="/ppt/presProps.xml" Id="Rb7813215940f4e77" /><Relationship Type="http://schemas.openxmlformats.org/officeDocument/2006/relationships/tableStyles" Target="/ppt/tableStyles.xml" Id="Rf398fc61fa304e1f" /><Relationship Type="http://schemas.openxmlformats.org/officeDocument/2006/relationships/slide" Target="/ppt/slides/slide1.xml" Id="R3901de250f404959" /><Relationship Type="http://schemas.openxmlformats.org/officeDocument/2006/relationships/slide" Target="/ppt/slides/slide2.xml" Id="R5d58071bb2d64738" /><Relationship Type="http://schemas.openxmlformats.org/officeDocument/2006/relationships/slide" Target="/ppt/slides/slide3.xml" Id="R1221b33738254f96" /><Relationship Type="http://schemas.openxmlformats.org/officeDocument/2006/relationships/slide" Target="/ppt/slides/slide4.xml" Id="Rea4beee9fab54121" /><Relationship Type="http://schemas.openxmlformats.org/officeDocument/2006/relationships/slide" Target="/ppt/slides/slide5.xml" Id="R7bdf0e8a9aa54b8b" /><Relationship Type="http://schemas.openxmlformats.org/officeDocument/2006/relationships/slide" Target="/ppt/slides/slide6.xml" Id="Rcb26b940b83c45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d3e97b03694a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f3786b622c402d" /><Relationship Type="http://schemas.openxmlformats.org/officeDocument/2006/relationships/notesMaster" Target="/ppt/notesMasters/notesMaster1.xml" Id="R13be152d7fb846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9ba3872a824734" /><Relationship Type="http://schemas.openxmlformats.org/officeDocument/2006/relationships/notesMaster" Target="/ppt/notesMasters/notesMaster1.xml" Id="R25a1250b67bd4e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d5286259654453" /><Relationship Type="http://schemas.openxmlformats.org/officeDocument/2006/relationships/notesMaster" Target="/ppt/notesMasters/notesMaster1.xml" Id="R75de0a32a75349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05daabd8714845" /><Relationship Type="http://schemas.openxmlformats.org/officeDocument/2006/relationships/notesMaster" Target="/ppt/notesMasters/notesMaster1.xml" Id="R8db9754e573246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4309f7634d4f87" /><Relationship Type="http://schemas.openxmlformats.org/officeDocument/2006/relationships/notesMaster" Target="/ppt/notesMasters/notesMaster1.xml" Id="Rca952f9a04a14c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02af06771c4f9c" /><Relationship Type="http://schemas.openxmlformats.org/officeDocument/2006/relationships/notesMaster" Target="/ppt/notesMasters/notesMaster1.xml" Id="R6b398d1dbe294c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now explicitly shows plumbing as one category. Founder requested several equally weighted vendor examples per provider segment so ServiceTitan is not visually presented as the single main platform. Illustrative enterprise row: BuildOps, ServiceTitan, Simpro, Probook AI and other platforms. Mid-market row: Housecall Pro, FieldEdge, Service Fusion, Commusoft, Joblogic, Cactus AI and others. Small-business row: Jobber, Workiz, ServiceM8, Kickserv, Topline Pro and many other platforms. These are overlapping segment examples, not exclusive customer tiers, an exhaustive vendor taxonomy, signed GoLocal integrations or a measured concentration claim. BuildOps explicitly serves commercial plumbing, Simpro Premium explicitly supports complex enterprise operations including plumbing; other named vendors advertise plumbing workflows. Probook and Cactus are AI operations/booking tools alongside field-service software. Category-level count: 100+ listed plumbing software options across all provider sizes. Software Advice category page shows 186 products in its listing, 212 in introductory copy, and 180 in the buyer guide/FAQ. The conservative 100+ wording avoids relying on an inconsistent exact count. This is a software-directory product count, including tools with differing scopes and geography, not a count of independent firms, production booking APIs, exclusively small-business vendors or enterprise providers. No separate 20+, 50+ or 100+ tier total established. Source accessed October 10 2026: https://www.softwareadvice.com/field-service/plumbing-software-comparison/ . New official vendor pages: https://buildops.com/industries/plumbing ; https://www.simprogroup.com/industries/plumbing-software ; https://www.simprogroup.com/solutions/simpro-premium ; https://www.commusoft.com/en-us/industries/plumbing-software/ ; https://www.servicefusion.com/plumbing-software ; https://www.joblogic.com/industries/plumbing-software/ ; https://www.kickserv.com/industries/plumbing . Prior sources and qualifications preserved in resources/software-stack-segments-2026-10-10.json and resources/plumbing-vendor-depth-evidence-2026-10-10.json. Character AI not added because no verified plumbing software role; the existing verified Cactus AI example is retained. Robinline excluded per founder direction. Topline Pro retained. Every category has its own software mix; Launch27 cleaning and LMN landscaping are existing source examples. Supplier authorization, supported actions and integrations remain required. No production or market-share claim. Left funnel, central GoLocal data/actions and bottom business message retained. $2B+ selected-company funding caption retains the basis in resources/agent-funding-evidence-2026-10-10.json and is not last-month-only or local-service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proposed customer journey, October 10 2026. This replaces the architecture repeated on slide 3 with a concrete request-to-confirmation example. A customer in Dallas asks their personal agent to book a plumber tomorrow morning for a leaking kitchen tap. The agent collects address, a photo and necessary access information, then scopes a diagnostic visit. GoLocal queries participating, authorized business systems for eligible providers, service coverage, live slots and visit fees. The agent presents a bookable option, and the customer explicitly approves the provider, fee and payment authorization. GoLocal rechecks availability, uses the permitted booking operation in the provider system, and returns a confirmed booking ID and payment status only after the provider system accepts the booking. If availability changes or no suitable option exists, the agent offers another option instead of claiming success. Booking GL-1042, Oak Plumbing, $79 and 9–11 am are invented illustrative values, not an actual merchant, offer, market price or completed transaction. The $79 covers a diagnostic visit only. Repairs require a later provider quote and customer approval. Payment authorization is distinct from a settled payment and requires supported payment capabilities and customer consent. Actual quote, schedule, payment and booking capabilities vary across providers and software. The slide presents the intended experience and does not imply production readiness or automatic access to every merchant. Sources of the proposed product scope are resources/business-thesis.md and resources/current-thesis.md; no new factual performance, transaction volume or speed claim is introduced. Existing slides, user-supplied thesis facts and 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replaces the earlier two-route distribution comparison with the founder-approved launch and growth plan. Proposed Salt Lake City pilot: one city and one service category. Service category and first audience remain to be selected; no live pilot transactions are asserted. Channel partners onboard participating businesses while GoLocal recruits users with a specific booking need. Concentrating supply and demand is the cold-start strategy, not evidence that cold start is already solved. The highlighted prompt expresses the intended one-time connector setup experience on compatible agent platforms; platform sign-in/authorization can follow, and transaction approvals are separate from connector installation. Setup, directory approval and native agent selection need to be verified on each target platform. The growth loop is a strategy: useful fulfilled bookings can support wider discovery and recommendations, which can bring more requests and attract more participating supply. It does not claim an automatic cross-user learning/ranking mechanism, universal recommendation eligibility or guaranteed agent traffic. OpenAI official plugin guidelines say plugins demonstrating strong real-world utility and high user satisfaction may be eligible for enhanced distribution such as directory placement or proactive suggestions: https://developers.openai.com/plugins/plugin-guidelines . OpenAI announcement describes discovery signals including conversational context, app usage patterns and user preferences: https://openai.com/index/developers-can-now-submit-apps-to-chatgpt/ . Muse guidelines say approved connectors are discoverable by its agent and in Settings; as users connect and get value more people discover them; featuring considers usefulness, completion, reliability and maintenance and is not guaranteed: https://muse.ai/platform/docs . Sources reviewed October 10 2026. Expansion category by category and city by city is planned after the first useful local coverage and booking outcomes. Supporting tactic, not on slide: invite a relevant provider to connect when there is a genuine customer-authorized request it can fulfill; sharing and routing require permission and support. Longer-term goal: direct personal-agent integration to become a default choice for relevant covered requests, not guaranteed routing of every search. Proposed business-paid success fee applies to fulfilled new-customer jobs, with a commercial share for contributing partners. Price, split, attributable volume, paid continuation and margins remain unagreed/unmeasured; no invented revenue mix or forecast. Existing-customer management is a separate commercial hypothesis. Founder latest update reports channel partnerships to onboard 50 service providers; preserve as a future onboarding commitment, not live supply, and reconcile the exact partner identities/counts when revising slide 5. That slide remains unchanged in this revision. No claim that Cactus is the dominant overall mid-market vendor. Slides 1–3 and 5–6 preserved. No outreach, bookings, application attachment change or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correction to slide 5 on October 10 2026: the Cactus AI partnership is an agreement to introduce GoLocal to 50+ service partners, not a commitment that providers will onboard. The regional back-office partner is named YourCardare and the founder states another 10+ potential introductions will come from it. Use 10+ as supplied; do not invent a different count, sum to a unique provider total, or infer signed onboarding commitments. Primary 50+ pipeline figure is explicitly attributed to Cactus AI; YourCardare additional 10+ is displayed separately. These are private founder-reported introductions in the pipeline, not completed introductions, authorized merchant integrations, live supply, confirmed bookings or revenue. This correction supersedes prior combined 50-provider onboarding-commitment framing in v16 and supporting records, which remain archived as historical. Planned Salt Lake City pilot is one city and one service category. Next-step sequence: provider introductions, onboard willing businesses and connect their authorized systems, test first customer-authorized agent bookings. Supplier access is distinct from demand distribution. No market dominance claim or booking-volume promise. Exact name YourCardare follows the latest founder instruction. Earlier Cactus 100+ customer reach and 20-client back-office count are historical and not summed. Slides 1–4 and 6 retained. Main short thesis and online Page unchanged; no application, outreach or bookings. Latest annotated founder correction: YourCardare figure is 10+ providers in the pipeline. This supersedes the former 56 figure in v17; original source and version archived. Only the annotated text and these notes changed; remaining slide elements and other slides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slide, October 10, 2026. Pulkit Walia is the GoLocal founder and an Urban Company founding team member, not an Urban Company founder. The decade building local services in Asia and helping scale the company from zero to a $3B IPO are founder-supplied credentials. The $3B describes the company IPO milestone, not personal revenue or a GoLocal valuation. HBS MBA and the Urban Company company milestone are also stated on the public team page https://laoh.ai/ (reviewed October 10, 2026). Rohit Jain is shown as Engineering, without an inferred CTO/cofounder title or specific full-time commitment. Backend experience at Amazon and Square and system-design instruction are supported by https://laoh.ai/. Production MCP experience is founder-reported: Rohit built products on MCPs and was an early adopter of deploying them in production. No independent public production audit has been established. The green capability lines connect these experiences to the proposed GoLocal roles: provider networks/service operations and agent integrations/reliable systems. This is an editorial assessment of fit, not measured GoLocal production performance. Supplied profile links: https://www.linkedin.com/in/pulkitwalia/ and https://www.linkedin.com/in/rohit-jain-343437187/. Direct LinkedIn profiles have not been independently read. Slides 1–5 retain their approved visible content. No live integrations, paid demand, completed GoLocal bookings or agreed pricing implied. No application submission, Page synchronization or outreach. Latest founder additions during the same team-slide turn: first venture launched a consumer brand for home security systems and scaled it to $700K in revenue; investor at Bessemer Venture Partners deploying $50 million in consumer AI startups. These are founder-supplied facts and preserved as given, not independently audited or reclassified. Rohit education: Texas A&amp;M Computer Science and IIT Kharagpur, confirmed by the supplied screenshot and live team page. Public source states 25,000+ engineers trained and Amazon/Square/Citrix work history. No degree type or extra institution inferred. User requested assets from https://github.com/RohitJain1103/laoh-web. The main branch 9f2bc05d1fde9cb3f60d1762e78405614778bc04 and inspected site-improvement/email-asset branches do not include the photographed team section. Exact original headshots and company icons were therefore extracted from inline image assets on https://laoh.ai/, the live page matching the supplied screenshot, without altering portraits. User was informed of that source fallback. Both supplied LinkedIn profile URLs are linked from the slide. The proposed GoLocal engineering focus is editorial fit, not an inferred cofounder title or full-time commitment.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402d8054684c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7ee9d5ae6c43e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042147d2fc435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8919b843f434f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8df279fc474ce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3e13ff33f2745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52a2e364034326" /><Relationship Type="http://schemas.openxmlformats.org/officeDocument/2006/relationships/slideLayout" Target="/ppt/slideLayouts/slideLayout1.xml" Id="R83bea62e37a94f45" /><Relationship Type="http://schemas.openxmlformats.org/officeDocument/2006/relationships/slideLayout" Target="/ppt/slideLayouts/slideLayout2.xml" Id="R8185896242af403e" /><Relationship Type="http://schemas.openxmlformats.org/officeDocument/2006/relationships/slideLayout" Target="/ppt/slideLayouts/slideLayout3.xml" Id="R232518c8eab44b53" /><Relationship Type="http://schemas.openxmlformats.org/officeDocument/2006/relationships/slideLayout" Target="/ppt/slideLayouts/slideLayout4.xml" Id="Rd969d9dc16dc4bdd" /><Relationship Type="http://schemas.openxmlformats.org/officeDocument/2006/relationships/slideLayout" Target="/ppt/slideLayouts/slideLayout5.xml" Id="R820e6d79c53d429d" /><Relationship Type="http://schemas.openxmlformats.org/officeDocument/2006/relationships/slideLayout" Target="/ppt/slideLayouts/slideLayout6.xml" Id="R5fff5f341bbf48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bea62e37a94f45"/>
    <p:sldLayoutId xmlns:r="http://schemas.openxmlformats.org/officeDocument/2006/relationships" id="2147483650" r:id="R8185896242af403e"/>
    <p:sldLayoutId xmlns:r="http://schemas.openxmlformats.org/officeDocument/2006/relationships" id="2147483651" r:id="R232518c8eab44b53"/>
    <p:sldLayoutId xmlns:r="http://schemas.openxmlformats.org/officeDocument/2006/relationships" id="2147483652" r:id="Rd969d9dc16dc4bdd"/>
    <p:sldLayoutId xmlns:r="http://schemas.openxmlformats.org/officeDocument/2006/relationships" id="2147483653" r:id="R820e6d79c53d429d"/>
    <p:sldLayoutId xmlns:r="http://schemas.openxmlformats.org/officeDocument/2006/relationships" id="2147483654" r:id="R5fff5f341bbf48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81430a602943d7" /><Relationship Type="http://schemas.openxmlformats.org/officeDocument/2006/relationships/notesSlide" Target="/ppt/notesSlides/notesSlide1.xml" Id="Rcafe4a5658354f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c2d259e3eb643d6" /><Relationship Type="http://schemas.openxmlformats.org/officeDocument/2006/relationships/notesSlide" Target="/ppt/notesSlides/notesSlide2.xml" Id="R5857b42d7b1949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167a4cf2a21425d" /><Relationship Type="http://schemas.openxmlformats.org/officeDocument/2006/relationships/notesSlide" Target="/ppt/notesSlides/notesSlide3.xml" Id="R3d7f3be86a5949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6067f65d85e448f" /><Relationship Type="http://schemas.openxmlformats.org/officeDocument/2006/relationships/notesSlide" Target="/ppt/notesSlides/notesSlide4.xml" Id="Rf716105eeca24c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f23f2810ffa423b" /><Relationship Type="http://schemas.openxmlformats.org/officeDocument/2006/relationships/notesSlide" Target="/ppt/notesSlides/notesSlide5.xml" Id="R1b8d0bfa921a40e3" /></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6.xml" Id="R42f565c6eb9b45b3" /><ns0:Relationship Type="http://schemas.openxmlformats.org/officeDocument/2006/relationships/image" Target="/ppt/media/image.jpeg" Id="Radeb1698e88c4338" /><ns0:Relationship Type="http://schemas.openxmlformats.org/officeDocument/2006/relationships/image" Target="/ppt/media/image2.jpeg" Id="Ra1546854c5424e61" /><ns0:Relationship Type="http://schemas.openxmlformats.org/officeDocument/2006/relationships/image" Target="/ppt/media/image.png" Id="Re688961ad3f74513" /><ns0:Relationship Type="http://schemas.openxmlformats.org/officeDocument/2006/relationships/image" Target="/ppt/media/image2.png" Id="Re85f12e6873d4597" /><ns0:Relationship Type="http://schemas.openxmlformats.org/officeDocument/2006/relationships/image" Target="/ppt/media/image3.png" Id="Rb3dd2c0736044a18" /><ns0:Relationship Type="http://schemas.openxmlformats.org/officeDocument/2006/relationships/image" Target="/ppt/media/image4.png" Id="Re1a8ecd99a044099" /><ns0:Relationship Type="http://schemas.openxmlformats.org/officeDocument/2006/relationships/image" Target="/ppt/media/image5.png" Id="R170973b786814f89" /><ns0:Relationship Type="http://schemas.openxmlformats.org/officeDocument/2006/relationships/notesSlide" Target="/ppt/notesSlides/notesSlide6.xml" Id="R3fa0dbcdcd764e24" /><ns0:Relationship Id="rId1000" Type="http://schemas.openxmlformats.org/officeDocument/2006/relationships/hyperlink" Target="https://www.linkedin.com/in/pulkitwalia/" TargetMode="External" /><ns0:Relationship Id="rId1001" Type="http://schemas.openxmlformats.org/officeDocument/2006/relationships/hyperlink" Target="https://www.linkedin.com/in/pulkitwalia/" TargetMode="External" /><ns0:Relationship Id="rId1002" Type="http://schemas.openxmlformats.org/officeDocument/2006/relationships/hyperlink" Target="https://www.linkedin.com/in/rohit-jain-343437187/" TargetMode="External" /><ns0:Relationship Id="rId1003" Type="http://schemas.openxmlformats.org/officeDocument/2006/relationships/hyperlink" Target="https://www.linkedin.com/in/rohit-jain-343437187/" TargetMode="External" /></ns0: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7557B253-09CE-41C8-8DD7-B7F5DD2AD042}"/>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A889045D-4EB9-4773-B43A-A80919B4F0AD}"/>
              </a:ext>
            </a:extLst>
          </p:cNvPr>
          <p:cNvCxnSpPr>
            <a:stCxn xmlns:a="http://schemas.openxmlformats.org/drawingml/2006/main" id="22" idx="3"/>
            <a:endCxn xmlns:a="http://schemas.openxmlformats.org/drawingml/2006/main" id="3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4" name="">
            <a:extLst xmlns:a="http://schemas.openxmlformats.org/drawingml/2006/main">
              <a:ext uri="{FF2B5EF4-FFF2-40B4-BE49-F238E27FC236}">
                <a16:creationId xmlns:a16="http://schemas.microsoft.com/office/drawing/2014/main" id="{8E6C606D-2636-418B-BE59-54840155FA95}"/>
              </a:ext>
            </a:extLst>
          </p:cNvPr>
          <p:cNvCxnSpPr>
            <a:stCxn xmlns:a="http://schemas.openxmlformats.org/drawingml/2006/main" id="15" idx="3"/>
            <a:endCxn xmlns:a="http://schemas.openxmlformats.org/drawingml/2006/main" id="2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3" name="">
            <a:extLst xmlns:a="http://schemas.openxmlformats.org/drawingml/2006/main">
              <a:ext uri="{FF2B5EF4-FFF2-40B4-BE49-F238E27FC236}">
                <a16:creationId xmlns:a16="http://schemas.microsoft.com/office/drawing/2014/main" id="{7EF20FB8-6265-483E-BC89-CFD03153FEA7}"/>
              </a:ext>
            </a:extLst>
          </p:cNvPr>
          <p:cNvCxnSpPr>
            <a:stCxn xmlns:a="http://schemas.openxmlformats.org/drawingml/2006/main" id="21" idx="3"/>
            <a:endCxn xmlns:a="http://schemas.openxmlformats.org/drawingml/2006/main" id="3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2" name="">
            <a:extLst xmlns:a="http://schemas.openxmlformats.org/drawingml/2006/main">
              <a:ext uri="{FF2B5EF4-FFF2-40B4-BE49-F238E27FC236}">
                <a16:creationId xmlns:a16="http://schemas.microsoft.com/office/drawing/2014/main" id="{85734910-CF24-4855-A462-DD59ECB4A493}"/>
              </a:ext>
            </a:extLst>
          </p:cNvPr>
          <p:cNvCxnSpPr>
            <a:stCxn xmlns:a="http://schemas.openxmlformats.org/drawingml/2006/main" id="15" idx="3"/>
            <a:endCxn xmlns:a="http://schemas.openxmlformats.org/drawingml/2006/main" id="2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1" name="">
            <a:extLst xmlns:a="http://schemas.openxmlformats.org/drawingml/2006/main">
              <a:ext uri="{FF2B5EF4-FFF2-40B4-BE49-F238E27FC236}">
                <a16:creationId xmlns:a16="http://schemas.microsoft.com/office/drawing/2014/main" id="{28251578-ED93-4369-AB70-DEF9D13BB692}"/>
              </a:ext>
            </a:extLst>
          </p:cNvPr>
          <p:cNvCxnSpPr>
            <a:stCxn xmlns:a="http://schemas.openxmlformats.org/drawingml/2006/main" id="20" idx="3"/>
            <a:endCxn xmlns:a="http://schemas.openxmlformats.org/drawingml/2006/main" id="3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0" name="">
            <a:extLst xmlns:a="http://schemas.openxmlformats.org/drawingml/2006/main">
              <a:ext uri="{FF2B5EF4-FFF2-40B4-BE49-F238E27FC236}">
                <a16:creationId xmlns:a16="http://schemas.microsoft.com/office/drawing/2014/main" id="{68FACCA1-250A-441A-9F45-CE0B11670F83}"/>
              </a:ext>
            </a:extLst>
          </p:cNvPr>
          <p:cNvCxnSpPr>
            <a:stCxn xmlns:a="http://schemas.openxmlformats.org/drawingml/2006/main" id="15" idx="3"/>
            <a:endCxn xmlns:a="http://schemas.openxmlformats.org/drawingml/2006/main" id="2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9" name="">
            <a:extLst xmlns:a="http://schemas.openxmlformats.org/drawingml/2006/main">
              <a:ext uri="{FF2B5EF4-FFF2-40B4-BE49-F238E27FC236}">
                <a16:creationId xmlns:a16="http://schemas.microsoft.com/office/drawing/2014/main" id="{4F713556-D6DF-4A2F-8561-DFEA08626632}"/>
              </a:ext>
            </a:extLst>
          </p:cNvPr>
          <p:cNvCxnSpPr>
            <a:stCxn xmlns:a="http://schemas.openxmlformats.org/drawingml/2006/main" id="14" idx="3"/>
            <a:endCxn xmlns:a="http://schemas.openxmlformats.org/drawingml/2006/main" id="15" idx="1"/>
          </p:cNvCxnSpPr>
          <p:nvPr/>
        </p:nvCxnSpPr>
        <p:spPr>
          <a:xfrm xmlns:a="http://schemas.openxmlformats.org/drawingml/2006/main" flipV="1">
            <a:off x="2362200" y="4133850"/>
            <a:ext cx="838200" cy="10525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8" name="">
            <a:extLst xmlns:a="http://schemas.openxmlformats.org/drawingml/2006/main">
              <a:ext uri="{FF2B5EF4-FFF2-40B4-BE49-F238E27FC236}">
                <a16:creationId xmlns:a16="http://schemas.microsoft.com/office/drawing/2014/main" id="{50D8F00C-51D5-44EC-A229-C55F51FF5330}"/>
              </a:ext>
            </a:extLst>
          </p:cNvPr>
          <p:cNvCxnSpPr>
            <a:stCxn xmlns:a="http://schemas.openxmlformats.org/drawingml/2006/main" id="13" idx="3"/>
            <a:endCxn xmlns:a="http://schemas.openxmlformats.org/drawingml/2006/main" id="15" idx="1"/>
          </p:cNvCxnSpPr>
          <p:nvPr/>
        </p:nvCxnSpPr>
        <p:spPr>
          <a:xfrm xmlns:a="http://schemas.openxmlformats.org/drawingml/2006/main" flipV="1">
            <a:off x="2362200" y="4133850"/>
            <a:ext cx="838200" cy="5191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7" name="">
            <a:extLst xmlns:a="http://schemas.openxmlformats.org/drawingml/2006/main">
              <a:ext uri="{FF2B5EF4-FFF2-40B4-BE49-F238E27FC236}">
                <a16:creationId xmlns:a16="http://schemas.microsoft.com/office/drawing/2014/main" id="{716AF058-74C4-470B-8A3D-3D6A0C13B5CA}"/>
              </a:ext>
            </a:extLst>
          </p:cNvPr>
          <p:cNvCxnSpPr>
            <a:stCxn xmlns:a="http://schemas.openxmlformats.org/drawingml/2006/main" id="12" idx="3"/>
            <a:endCxn xmlns:a="http://schemas.openxmlformats.org/drawingml/2006/main" id="15" idx="1"/>
          </p:cNvCxnSpPr>
          <p:nvPr/>
        </p:nvCxnSpPr>
        <p:spPr>
          <a:xfrm xmlns:a="http://schemas.openxmlformats.org/drawingml/2006/main">
            <a:off x="2362200" y="4119563"/>
            <a:ext cx="838200" cy="142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6" name="">
            <a:extLst xmlns:a="http://schemas.openxmlformats.org/drawingml/2006/main">
              <a:ext uri="{FF2B5EF4-FFF2-40B4-BE49-F238E27FC236}">
                <a16:creationId xmlns:a16="http://schemas.microsoft.com/office/drawing/2014/main" id="{336B6527-E10A-4BBA-8B19-0D1621DD4150}"/>
              </a:ext>
            </a:extLst>
          </p:cNvPr>
          <p:cNvCxnSpPr>
            <a:stCxn xmlns:a="http://schemas.openxmlformats.org/drawingml/2006/main" id="11" idx="3"/>
            <a:endCxn xmlns:a="http://schemas.openxmlformats.org/drawingml/2006/main" id="15" idx="1"/>
          </p:cNvCxnSpPr>
          <p:nvPr/>
        </p:nvCxnSpPr>
        <p:spPr>
          <a:xfrm xmlns:a="http://schemas.openxmlformats.org/drawingml/2006/main">
            <a:off x="2362200" y="3586163"/>
            <a:ext cx="838200" cy="5476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5" name="">
            <a:extLst xmlns:a="http://schemas.openxmlformats.org/drawingml/2006/main">
              <a:ext uri="{FF2B5EF4-FFF2-40B4-BE49-F238E27FC236}">
                <a16:creationId xmlns:a16="http://schemas.microsoft.com/office/drawing/2014/main" id="{0DF2635A-BC7D-479C-8795-4689081FBE8E}"/>
              </a:ext>
            </a:extLst>
          </p:cNvPr>
          <p:cNvCxnSpPr>
            <a:stCxn xmlns:a="http://schemas.openxmlformats.org/drawingml/2006/main" id="10" idx="3"/>
            <a:endCxn xmlns:a="http://schemas.openxmlformats.org/drawingml/2006/main" id="15" idx="1"/>
          </p:cNvCxnSpPr>
          <p:nvPr/>
        </p:nvCxnSpPr>
        <p:spPr>
          <a:xfrm xmlns:a="http://schemas.openxmlformats.org/drawingml/2006/main">
            <a:off x="2362200" y="3052763"/>
            <a:ext cx="838200" cy="10810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51" name="booking-layer-text-0">
            <a:extLst xmlns:a="http://schemas.openxmlformats.org/drawingml/2006/main">
              <a:ext uri="{FF2B5EF4-FFF2-40B4-BE49-F238E27FC236}">
                <a16:creationId xmlns:a16="http://schemas.microsoft.com/office/drawing/2014/main" id="{E48F8FED-A27D-4DAB-BAA5-227699B5518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847E04A8-178B-452D-9E97-6F9C254DAA27}"/>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xmlns:a="http://schemas.openxmlformats.org/drawingml/2006/main">
              <a:ext uri="{FF2B5EF4-FFF2-40B4-BE49-F238E27FC236}">
                <a16:creationId xmlns:a16="http://schemas.microsoft.com/office/drawing/2014/main" id="{F41CB013-7BCB-4338-9964-739C89976BB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xmlns:a="http://schemas.openxmlformats.org/drawingml/2006/main">
              <a:ext uri="{FF2B5EF4-FFF2-40B4-BE49-F238E27FC236}">
                <a16:creationId xmlns:a16="http://schemas.microsoft.com/office/drawing/2014/main" id="{11480297-1624-4B2F-AA7F-6DA576664535}"/>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8118EB35-3C07-4ECE-86DE-BB3D42CA7B19}"/>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526ACE38-5FE5-4CC9-874C-00F6D439DCEB}"/>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9B1276D4-3C06-4E58-9D58-6316F85BF4D1}"/>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AF49FDB8-FC61-478D-BF7A-24F1590254B6}"/>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076E897A-EBF8-4C29-9183-B6958AECC17E}"/>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2AB778B6-875B-4ED6-A364-8E44E43FAFE3}"/>
              </a:ext>
            </a:extLst>
          </p:cNvPr>
          <p:cNvSpPr>
            <a:spLocks xmlns:a="http://schemas.openxmlformats.org/drawingml/2006/main" noGrp="1"/>
          </p:cNvSpPr>
          <p:nvPr/>
        </p:nvSpPr>
        <p:spPr>
          <a:xfrm xmlns:a="http://schemas.openxmlformats.org/drawingml/2006/main">
            <a:off x="495300" y="28479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9D01749D-9EFB-4256-A5E0-4C0034A587AD}"/>
              </a:ext>
            </a:extLst>
          </p:cNvPr>
          <p:cNvSpPr>
            <a:spLocks xmlns:a="http://schemas.openxmlformats.org/drawingml/2006/main" noGrp="1"/>
          </p:cNvSpPr>
          <p:nvPr/>
        </p:nvSpPr>
        <p:spPr>
          <a:xfrm xmlns:a="http://schemas.openxmlformats.org/drawingml/2006/main">
            <a:off x="495300" y="33813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Muse</a:t>
            </a:r>
          </a:p>
        </p:txBody>
      </p:sp>
      <p:sp>
        <p:nvSpPr>
          <p:cNvPr id="12" name="booking-layer-node-11">
            <a:extLst xmlns:a="http://schemas.openxmlformats.org/drawingml/2006/main">
              <a:ext uri="{FF2B5EF4-FFF2-40B4-BE49-F238E27FC236}">
                <a16:creationId xmlns:a16="http://schemas.microsoft.com/office/drawing/2014/main" id="{18038CCA-6A3F-4C89-B05F-812B5257161B}"/>
              </a:ext>
            </a:extLst>
          </p:cNvPr>
          <p:cNvSpPr>
            <a:spLocks xmlns:a="http://schemas.openxmlformats.org/drawingml/2006/main" noGrp="1"/>
          </p:cNvSpPr>
          <p:nvPr/>
        </p:nvSpPr>
        <p:spPr>
          <a:xfrm xmlns:a="http://schemas.openxmlformats.org/drawingml/2006/main">
            <a:off x="495300" y="39147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E24133FC-A3EA-40E4-B045-AE2185BD864D}"/>
              </a:ext>
            </a:extLst>
          </p:cNvPr>
          <p:cNvSpPr>
            <a:spLocks xmlns:a="http://schemas.openxmlformats.org/drawingml/2006/main" noGrp="1"/>
          </p:cNvSpPr>
          <p:nvPr/>
        </p:nvSpPr>
        <p:spPr>
          <a:xfrm xmlns:a="http://schemas.openxmlformats.org/drawingml/2006/main">
            <a:off x="495300" y="44481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Town</a:t>
            </a:r>
          </a:p>
        </p:txBody>
      </p:sp>
      <p:sp>
        <p:nvSpPr>
          <p:cNvPr id="14" name="booking-layer-node-13">
            <a:extLst xmlns:a="http://schemas.openxmlformats.org/drawingml/2006/main">
              <a:ext uri="{FF2B5EF4-FFF2-40B4-BE49-F238E27FC236}">
                <a16:creationId xmlns:a16="http://schemas.microsoft.com/office/drawing/2014/main" id="{551D03ED-4E70-40E0-9E14-9FAB67EB24EC}"/>
              </a:ext>
            </a:extLst>
          </p:cNvPr>
          <p:cNvSpPr>
            <a:spLocks xmlns:a="http://schemas.openxmlformats.org/drawingml/2006/main" noGrp="1"/>
          </p:cNvSpPr>
          <p:nvPr/>
        </p:nvSpPr>
        <p:spPr>
          <a:xfrm xmlns:a="http://schemas.openxmlformats.org/drawingml/2006/main">
            <a:off x="495300" y="49815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Hark</a:t>
            </a:r>
          </a:p>
        </p:txBody>
      </p:sp>
      <p:sp>
        <p:nvSpPr>
          <p:cNvPr id="15" name="booking-layer-node-14">
            <a:extLst xmlns:a="http://schemas.openxmlformats.org/drawingml/2006/main">
              <a:ext uri="{FF2B5EF4-FFF2-40B4-BE49-F238E27FC236}">
                <a16:creationId xmlns:a16="http://schemas.microsoft.com/office/drawing/2014/main" id="{5E9A89A4-410D-4776-A3A5-65A28AA6ACEF}"/>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r>
              <a:t/>
            </a:r>
          </a:p>
        </p:txBody>
      </p:sp>
      <p:sp>
        <p:nvSpPr>
          <p:cNvPr id="16" name="booking-layer-text-15">
            <a:extLst xmlns:a="http://schemas.openxmlformats.org/drawingml/2006/main">
              <a:ext uri="{FF2B5EF4-FFF2-40B4-BE49-F238E27FC236}">
                <a16:creationId xmlns:a16="http://schemas.microsoft.com/office/drawing/2014/main" id="{42A437C3-A855-4B7F-BF02-8819C5F9EEEB}"/>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17" name="booking-layer-text-16">
            <a:extLst xmlns:a="http://schemas.openxmlformats.org/drawingml/2006/main">
              <a:ext uri="{FF2B5EF4-FFF2-40B4-BE49-F238E27FC236}">
                <a16:creationId xmlns:a16="http://schemas.microsoft.com/office/drawing/2014/main" id="{10E4E30B-1C07-445C-8C93-D6991D7C17ED}"/>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18" name="booking-layer-text-17">
            <a:extLst xmlns:a="http://schemas.openxmlformats.org/drawingml/2006/main">
              <a:ext uri="{FF2B5EF4-FFF2-40B4-BE49-F238E27FC236}">
                <a16:creationId xmlns:a16="http://schemas.microsoft.com/office/drawing/2014/main" id="{8AF19F7C-207F-4F91-9F31-1FD8EA4DCCEB}"/>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19" name="booking-layer-text-18">
            <a:extLst xmlns:a="http://schemas.openxmlformats.org/drawingml/2006/main">
              <a:ext uri="{FF2B5EF4-FFF2-40B4-BE49-F238E27FC236}">
                <a16:creationId xmlns:a16="http://schemas.microsoft.com/office/drawing/2014/main" id="{A4481C7C-A26E-45C0-800C-66645FAFEE8C}"/>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20" name="booking-layer-node-19">
            <a:extLst xmlns:a="http://schemas.openxmlformats.org/drawingml/2006/main">
              <a:ext uri="{FF2B5EF4-FFF2-40B4-BE49-F238E27FC236}">
                <a16:creationId xmlns:a16="http://schemas.microsoft.com/office/drawing/2014/main" id="{CA8B52ED-4E79-486F-B789-F639748FC37D}"/>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1" name="booking-layer-node-20">
            <a:extLst xmlns:a="http://schemas.openxmlformats.org/drawingml/2006/main">
              <a:ext uri="{FF2B5EF4-FFF2-40B4-BE49-F238E27FC236}">
                <a16:creationId xmlns:a16="http://schemas.microsoft.com/office/drawing/2014/main" id="{B86FF550-1F39-404A-829B-365F8874C247}"/>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2" name="booking-layer-node-21">
            <a:extLst xmlns:a="http://schemas.openxmlformats.org/drawingml/2006/main">
              <a:ext uri="{FF2B5EF4-FFF2-40B4-BE49-F238E27FC236}">
                <a16:creationId xmlns:a16="http://schemas.microsoft.com/office/drawing/2014/main" id="{AE10DE1D-185F-4DD5-AB1D-0CB8154E1B0D}"/>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3" name="booking-layer-text-22">
            <a:extLst xmlns:a="http://schemas.openxmlformats.org/drawingml/2006/main">
              <a:ext uri="{FF2B5EF4-FFF2-40B4-BE49-F238E27FC236}">
                <a16:creationId xmlns:a16="http://schemas.microsoft.com/office/drawing/2014/main" id="{8C888CA3-5A25-4006-9481-C512DA4CCD69}"/>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24" name="booking-layer-text-23">
            <a:extLst xmlns:a="http://schemas.openxmlformats.org/drawingml/2006/main">
              <a:ext uri="{FF2B5EF4-FFF2-40B4-BE49-F238E27FC236}">
                <a16:creationId xmlns:a16="http://schemas.microsoft.com/office/drawing/2014/main" id="{2D22DA33-4A8F-4504-ADFB-7835538CF535}"/>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 Probook AI</a:t>
            </a:r>
          </a:p>
        </p:txBody>
      </p:sp>
      <p:sp>
        <p:nvSpPr>
          <p:cNvPr id="25" name="booking-layer-text-24">
            <a:extLst xmlns:a="http://schemas.openxmlformats.org/drawingml/2006/main">
              <a:ext uri="{FF2B5EF4-FFF2-40B4-BE49-F238E27FC236}">
                <a16:creationId xmlns:a16="http://schemas.microsoft.com/office/drawing/2014/main" id="{DB5E1D30-0BBE-4BF9-8633-85A4F0A89B70}"/>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26" name="booking-layer-text-25">
            <a:extLst xmlns:a="http://schemas.openxmlformats.org/drawingml/2006/main">
              <a:ext uri="{FF2B5EF4-FFF2-40B4-BE49-F238E27FC236}">
                <a16:creationId xmlns:a16="http://schemas.microsoft.com/office/drawing/2014/main" id="{ED3DC251-1D71-4F7B-98D1-94EDBF2FEC3D}"/>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27" name="booking-layer-text-26">
            <a:extLst xmlns:a="http://schemas.openxmlformats.org/drawingml/2006/main">
              <a:ext uri="{FF2B5EF4-FFF2-40B4-BE49-F238E27FC236}">
                <a16:creationId xmlns:a16="http://schemas.microsoft.com/office/drawing/2014/main" id="{28485419-5976-43A7-8365-2836F667759C}"/>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Service Fusion, Commusoft</a:t>
            </a:r>
          </a:p>
        </p:txBody>
      </p:sp>
      <p:sp>
        <p:nvSpPr>
          <p:cNvPr id="28" name="booking-layer-text-27">
            <a:extLst xmlns:a="http://schemas.openxmlformats.org/drawingml/2006/main">
              <a:ext uri="{FF2B5EF4-FFF2-40B4-BE49-F238E27FC236}">
                <a16:creationId xmlns:a16="http://schemas.microsoft.com/office/drawing/2014/main" id="{42D549FE-457E-4639-AABD-4A50873A4BC6}"/>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Joblogic, Cactus AI + others</a:t>
            </a:r>
          </a:p>
        </p:txBody>
      </p:sp>
      <p:sp>
        <p:nvSpPr>
          <p:cNvPr id="29" name="booking-layer-text-28">
            <a:extLst xmlns:a="http://schemas.openxmlformats.org/drawingml/2006/main">
              <a:ext uri="{FF2B5EF4-FFF2-40B4-BE49-F238E27FC236}">
                <a16:creationId xmlns:a16="http://schemas.microsoft.com/office/drawing/2014/main" id="{9E62A082-F9B1-4EF9-81EF-CE86D0D5E325}"/>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30" name="booking-layer-text-29">
            <a:extLst xmlns:a="http://schemas.openxmlformats.org/drawingml/2006/main">
              <a:ext uri="{FF2B5EF4-FFF2-40B4-BE49-F238E27FC236}">
                <a16:creationId xmlns:a16="http://schemas.microsoft.com/office/drawing/2014/main" id="{FE0D6D2A-9B24-4CC7-9A42-E410B3B9F978}"/>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Kickserv, Topline Pro</a:t>
            </a:r>
          </a:p>
        </p:txBody>
      </p:sp>
      <p:sp>
        <p:nvSpPr>
          <p:cNvPr id="31" name="booking-layer-text-30">
            <a:extLst xmlns:a="http://schemas.openxmlformats.org/drawingml/2006/main">
              <a:ext uri="{FF2B5EF4-FFF2-40B4-BE49-F238E27FC236}">
                <a16:creationId xmlns:a16="http://schemas.microsoft.com/office/drawing/2014/main" id="{8F9DC5F5-33A1-44F6-99B5-A1386363DA38}"/>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many other platforms</a:t>
            </a:r>
          </a:p>
        </p:txBody>
      </p:sp>
      <p:sp>
        <p:nvSpPr>
          <p:cNvPr id="32" name="booking-layer-node-31">
            <a:extLst xmlns:a="http://schemas.openxmlformats.org/drawingml/2006/main">
              <a:ext uri="{FF2B5EF4-FFF2-40B4-BE49-F238E27FC236}">
                <a16:creationId xmlns:a16="http://schemas.microsoft.com/office/drawing/2014/main" id="{22534275-2037-4372-B4AA-99276706AD25}"/>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33" name="booking-layer-node-32">
            <a:extLst xmlns:a="http://schemas.openxmlformats.org/drawingml/2006/main">
              <a:ext uri="{FF2B5EF4-FFF2-40B4-BE49-F238E27FC236}">
                <a16:creationId xmlns:a16="http://schemas.microsoft.com/office/drawing/2014/main" id="{22158200-9CF0-45C2-B5FB-AECB78BCFCEC}"/>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34" name="booking-layer-node-33">
            <a:extLst xmlns:a="http://schemas.openxmlformats.org/drawingml/2006/main">
              <a:ext uri="{FF2B5EF4-FFF2-40B4-BE49-F238E27FC236}">
                <a16:creationId xmlns:a16="http://schemas.microsoft.com/office/drawing/2014/main" id="{D935F2EC-F9E7-47A0-B17F-92B9E10554C4}"/>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46" name="booking-layer-text-34">
            <a:extLst xmlns:a="http://schemas.openxmlformats.org/drawingml/2006/main">
              <a:ext uri="{FF2B5EF4-FFF2-40B4-BE49-F238E27FC236}">
                <a16:creationId xmlns:a16="http://schemas.microsoft.com/office/drawing/2014/main" id="{17BD1668-5623-4794-B75A-2CB93B455F1F}"/>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Just one service category: plumbing.</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The software mix changes across categories.</a:t>
            </a:r>
          </a:p>
        </p:txBody>
      </p:sp>
      <p:sp>
        <p:nvSpPr>
          <p:cNvPr id="47" name="booking-layer-text-35">
            <a:extLst xmlns:a="http://schemas.openxmlformats.org/drawingml/2006/main">
              <a:ext uri="{FF2B5EF4-FFF2-40B4-BE49-F238E27FC236}">
                <a16:creationId xmlns:a16="http://schemas.microsoft.com/office/drawing/2014/main" id="{507761E5-07C0-4C5E-92CA-388DBE8F1EAB}"/>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48" name="booking-layer-text-36">
            <a:extLst xmlns:a="http://schemas.openxmlformats.org/drawingml/2006/main">
              <a:ext uri="{FF2B5EF4-FFF2-40B4-BE49-F238E27FC236}">
                <a16:creationId xmlns:a16="http://schemas.microsoft.com/office/drawing/2014/main" id="{977DDB26-300D-4BA2-86FA-511EC7ED9CC2}"/>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49" name="booking-layer-text-37">
            <a:extLst xmlns:a="http://schemas.openxmlformats.org/drawingml/2006/main">
              <a:ext uri="{FF2B5EF4-FFF2-40B4-BE49-F238E27FC236}">
                <a16:creationId xmlns:a16="http://schemas.microsoft.com/office/drawing/2014/main" id="{D6CE6ECA-42DB-4B2F-9624-2DB6E08C7D65}"/>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*100+ listed plumbing products, Software Advice. Segment examples overlap. Merchant authorization required.</a:t>
            </a:r>
          </a:p>
        </p:txBody>
      </p:sp>
      <p:sp>
        <p:nvSpPr>
          <p:cNvPr id="50" name="booking-layer-text-38">
            <a:extLst xmlns:a="http://schemas.openxmlformats.org/drawingml/2006/main">
              <a:ext uri="{FF2B5EF4-FFF2-40B4-BE49-F238E27FC236}">
                <a16:creationId xmlns:a16="http://schemas.microsoft.com/office/drawing/2014/main" id="{D4FDBEAF-9FA7-4811-95E9-09304600C5C2}"/>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9B9B6D4F-6E7E-4972-9E6C-8B7874A975C1}"/>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6BD9D1BF-5088-4AA5-84A4-F7E9F2E5E0AE}"/>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C2111F48-D84C-4EF2-972E-6E842F885BBC}"/>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Dallas tomorrow morning</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Defines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6B7DD9A5-6A4E-4604-85E6-D46452EEF4A9}"/>
              </a:ext>
            </a:extLst>
          </p:cNvPr>
          <p:cNvCxnSpPr>
            <a:stCxn xmlns:a="http://schemas.openxmlformats.org/drawingml/2006/main" id="20" idx="0"/>
            <a:endCxn xmlns:a="http://schemas.openxmlformats.org/drawingml/2006/main" id="18" idx="2"/>
          </p:cNvCxnSpPr>
          <p:nvPr/>
        </p:nvCxnSpPr>
        <p:spPr>
          <a:xfrm xmlns:a="http://schemas.openxmlformats.org/drawingml/2006/main" flipV="1">
            <a:off x="8886825"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4" name="">
            <a:extLst xmlns:a="http://schemas.openxmlformats.org/drawingml/2006/main">
              <a:ext uri="{FF2B5EF4-FFF2-40B4-BE49-F238E27FC236}">
                <a16:creationId xmlns:a16="http://schemas.microsoft.com/office/drawing/2014/main" id="{9AB8F963-AACA-4E94-9689-DC74ACE8B72C}"/>
              </a:ext>
            </a:extLst>
          </p:cNvPr>
          <p:cNvCxnSpPr>
            <a:stCxn xmlns:a="http://schemas.openxmlformats.org/drawingml/2006/main" id="21" idx="1"/>
            <a:endCxn xmlns:a="http://schemas.openxmlformats.org/drawingml/2006/main" id="20" idx="3"/>
          </p:cNvCxnSpPr>
          <p:nvPr/>
        </p:nvCxnSpPr>
        <p:spPr>
          <a:xfrm xmlns:a="http://schemas.openxmlformats.org/drawingml/2006/main" flipH="1">
            <a:off x="9582150" y="4610100"/>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3" name="">
            <a:extLst xmlns:a="http://schemas.openxmlformats.org/drawingml/2006/main">
              <a:ext uri="{FF2B5EF4-FFF2-40B4-BE49-F238E27FC236}">
                <a16:creationId xmlns:a16="http://schemas.microsoft.com/office/drawing/2014/main" id="{F1C241B6-08A5-445A-9275-65FD4316F697}"/>
              </a:ext>
            </a:extLst>
          </p:cNvPr>
          <p:cNvCxnSpPr>
            <a:stCxn xmlns:a="http://schemas.openxmlformats.org/drawingml/2006/main" id="19" idx="2"/>
            <a:endCxn xmlns:a="http://schemas.openxmlformats.org/drawingml/2006/main" id="21" idx="0"/>
          </p:cNvCxnSpPr>
          <p:nvPr/>
        </p:nvCxnSpPr>
        <p:spPr>
          <a:xfrm xmlns:a="http://schemas.openxmlformats.org/drawingml/2006/main">
            <a:off x="10882313"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2" name="">
            <a:extLst xmlns:a="http://schemas.openxmlformats.org/drawingml/2006/main">
              <a:ext uri="{FF2B5EF4-FFF2-40B4-BE49-F238E27FC236}">
                <a16:creationId xmlns:a16="http://schemas.microsoft.com/office/drawing/2014/main" id="{85BB7AA6-5B6B-4F92-AF92-15718AE8FAA0}"/>
              </a:ext>
            </a:extLst>
          </p:cNvPr>
          <p:cNvCxnSpPr>
            <a:stCxn xmlns:a="http://schemas.openxmlformats.org/drawingml/2006/main" id="18" idx="3"/>
            <a:endCxn xmlns:a="http://schemas.openxmlformats.org/drawingml/2006/main" id="19" idx="1"/>
          </p:cNvCxnSpPr>
          <p:nvPr/>
        </p:nvCxnSpPr>
        <p:spPr>
          <a:xfrm xmlns:a="http://schemas.openxmlformats.org/drawingml/2006/main">
            <a:off x="9582150" y="3552825"/>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8" name="">
            <a:extLst xmlns:a="http://schemas.openxmlformats.org/drawingml/2006/main">
              <a:ext uri="{FF2B5EF4-FFF2-40B4-BE49-F238E27FC236}">
                <a16:creationId xmlns:a16="http://schemas.microsoft.com/office/drawing/2014/main" id="{F872D879-5D65-406B-87F3-5AEEA2F5CB54}"/>
              </a:ext>
            </a:extLst>
          </p:cNvPr>
          <p:cNvCxnSpPr>
            <a:stCxn xmlns:a="http://schemas.openxmlformats.org/drawingml/2006/main" id="5" idx="3"/>
            <a:endCxn xmlns:a="http://schemas.openxmlformats.org/drawingml/2006/main" id="6" idx="1"/>
          </p:cNvCxnSpPr>
          <p:nvPr/>
        </p:nvCxnSpPr>
        <p:spPr>
          <a:xfrm xmlns:a="http://schemas.openxmlformats.org/drawingml/2006/main">
            <a:off x="76200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7" name="">
            <a:extLst xmlns:a="http://schemas.openxmlformats.org/drawingml/2006/main">
              <a:ext uri="{FF2B5EF4-FFF2-40B4-BE49-F238E27FC236}">
                <a16:creationId xmlns:a16="http://schemas.microsoft.com/office/drawing/2014/main" id="{A35E3DFE-4F6A-414C-9E53-811D95D37B5F}"/>
              </a:ext>
            </a:extLst>
          </p:cNvPr>
          <p:cNvCxnSpPr>
            <a:stCxn xmlns:a="http://schemas.openxmlformats.org/drawingml/2006/main" id="4" idx="3"/>
            <a:endCxn xmlns:a="http://schemas.openxmlformats.org/drawingml/2006/main" id="5" idx="1"/>
          </p:cNvCxnSpPr>
          <p:nvPr/>
        </p:nvCxnSpPr>
        <p:spPr>
          <a:xfrm xmlns:a="http://schemas.openxmlformats.org/drawingml/2006/main">
            <a:off x="37719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32" name="launch-slide4-text-0">
            <a:extLst xmlns:a="http://schemas.openxmlformats.org/drawingml/2006/main">
              <a:ext uri="{FF2B5EF4-FFF2-40B4-BE49-F238E27FC236}">
                <a16:creationId xmlns:a16="http://schemas.microsoft.com/office/drawing/2014/main" id="{CEA2F967-282E-4708-BCDC-1553E444A157}"/>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launch-slide4-text-1">
            <a:extLst xmlns:a="http://schemas.openxmlformats.org/drawingml/2006/main">
              <a:ext uri="{FF2B5EF4-FFF2-40B4-BE49-F238E27FC236}">
                <a16:creationId xmlns:a16="http://schemas.microsoft.com/office/drawing/2014/main" id="{868B8E20-C830-4A37-94C9-C15310732B90}"/>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Launch locally. Grow through completed bookings.</a:t>
            </a:r>
          </a:p>
        </p:txBody>
      </p:sp>
      <p:sp>
        <p:nvSpPr>
          <p:cNvPr id="3" name="launch-slide4-text-2">
            <a:extLst xmlns:a="http://schemas.openxmlformats.org/drawingml/2006/main">
              <a:ext uri="{FF2B5EF4-FFF2-40B4-BE49-F238E27FC236}">
                <a16:creationId xmlns:a16="http://schemas.microsoft.com/office/drawing/2014/main" id="{B052BF47-A3F4-4068-82FA-5EEB40C9624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Salt Lake City pilot · One city, one service category</a:t>
            </a:r>
          </a:p>
        </p:txBody>
      </p:sp>
      <p:sp>
        <p:nvSpPr>
          <p:cNvPr id="4" name="launch-slide4-band-3">
            <a:extLst xmlns:a="http://schemas.openxmlformats.org/drawingml/2006/main">
              <a:ext uri="{FF2B5EF4-FFF2-40B4-BE49-F238E27FC236}">
                <a16:creationId xmlns:a16="http://schemas.microsoft.com/office/drawing/2014/main" id="{7097C7CA-7E41-400C-85BB-CDD0310AD761}"/>
              </a:ext>
            </a:extLst>
          </p:cNvPr>
          <p:cNvSpPr>
            <a:spLocks xmlns:a="http://schemas.openxmlformats.org/drawingml/2006/main" noGrp="1"/>
          </p:cNvSpPr>
          <p:nvPr/>
        </p:nvSpPr>
        <p:spPr>
          <a:xfrm xmlns:a="http://schemas.openxmlformats.org/drawingml/2006/main">
            <a:off x="4953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5" name="launch-slide4-band-4">
            <a:extLst xmlns:a="http://schemas.openxmlformats.org/drawingml/2006/main">
              <a:ext uri="{FF2B5EF4-FFF2-40B4-BE49-F238E27FC236}">
                <a16:creationId xmlns:a16="http://schemas.microsoft.com/office/drawing/2014/main" id="{55C1B4A8-71FE-4924-9C79-E6C50742CF61}"/>
              </a:ext>
            </a:extLst>
          </p:cNvPr>
          <p:cNvSpPr>
            <a:spLocks xmlns:a="http://schemas.openxmlformats.org/drawingml/2006/main" noGrp="1"/>
          </p:cNvSpPr>
          <p:nvPr/>
        </p:nvSpPr>
        <p:spPr>
          <a:xfrm xmlns:a="http://schemas.openxmlformats.org/drawingml/2006/main">
            <a:off x="43434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launch-slide4-band-5">
            <a:extLst xmlns:a="http://schemas.openxmlformats.org/drawingml/2006/main">
              <a:ext uri="{FF2B5EF4-FFF2-40B4-BE49-F238E27FC236}">
                <a16:creationId xmlns:a16="http://schemas.microsoft.com/office/drawing/2014/main" id="{A4C9A32B-640D-4C95-98AF-419B3A9405EC}"/>
              </a:ext>
            </a:extLst>
          </p:cNvPr>
          <p:cNvSpPr>
            <a:spLocks xmlns:a="http://schemas.openxmlformats.org/drawingml/2006/main" noGrp="1"/>
          </p:cNvSpPr>
          <p:nvPr/>
        </p:nvSpPr>
        <p:spPr>
          <a:xfrm xmlns:a="http://schemas.openxmlformats.org/drawingml/2006/main">
            <a:off x="81915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9" name="launch-slide4-text-6">
            <a:extLst xmlns:a="http://schemas.openxmlformats.org/drawingml/2006/main">
              <a:ext uri="{FF2B5EF4-FFF2-40B4-BE49-F238E27FC236}">
                <a16:creationId xmlns:a16="http://schemas.microsoft.com/office/drawing/2014/main" id="{3D922266-1809-48B1-B6B1-E538FDA8A6A5}"/>
              </a:ext>
            </a:extLst>
          </p:cNvPr>
          <p:cNvSpPr>
            <a:spLocks xmlns:a="http://schemas.openxmlformats.org/drawingml/2006/main" noGrp="1"/>
          </p:cNvSpPr>
          <p:nvPr/>
        </p:nvSpPr>
        <p:spPr>
          <a:xfrm xmlns:a="http://schemas.openxmlformats.org/drawingml/2006/main">
            <a:off x="495300" y="243840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1  Start with one market</a:t>
            </a:r>
          </a:p>
        </p:txBody>
      </p:sp>
      <p:sp>
        <p:nvSpPr>
          <p:cNvPr id="10" name="launch-slide4-text-7">
            <a:extLst xmlns:a="http://schemas.openxmlformats.org/drawingml/2006/main">
              <a:ext uri="{FF2B5EF4-FFF2-40B4-BE49-F238E27FC236}">
                <a16:creationId xmlns:a16="http://schemas.microsoft.com/office/drawing/2014/main" id="{8ADDA327-97F4-4922-9D58-8B750055D181}"/>
              </a:ext>
            </a:extLst>
          </p:cNvPr>
          <p:cNvSpPr>
            <a:spLocks xmlns:a="http://schemas.openxmlformats.org/drawingml/2006/main" noGrp="1"/>
          </p:cNvSpPr>
          <p:nvPr/>
        </p:nvSpPr>
        <p:spPr>
          <a:xfrm xmlns:a="http://schemas.openxmlformats.org/drawingml/2006/main">
            <a:off x="4343400" y="2438400"/>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2  Connect once</a:t>
            </a:r>
          </a:p>
        </p:txBody>
      </p:sp>
      <p:sp>
        <p:nvSpPr>
          <p:cNvPr id="11" name="launch-slide4-text-8">
            <a:extLst xmlns:a="http://schemas.openxmlformats.org/drawingml/2006/main">
              <a:ext uri="{FF2B5EF4-FFF2-40B4-BE49-F238E27FC236}">
                <a16:creationId xmlns:a16="http://schemas.microsoft.com/office/drawing/2014/main" id="{D1023DDC-E33E-47DC-8C3D-F1854BA3CD32}"/>
              </a:ext>
            </a:extLst>
          </p:cNvPr>
          <p:cNvSpPr>
            <a:spLocks xmlns:a="http://schemas.openxmlformats.org/drawingml/2006/main" noGrp="1"/>
          </p:cNvSpPr>
          <p:nvPr/>
        </p:nvSpPr>
        <p:spPr>
          <a:xfrm xmlns:a="http://schemas.openxmlformats.org/drawingml/2006/main">
            <a:off x="8191500" y="243840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3  Grow through bookings</a:t>
            </a:r>
          </a:p>
        </p:txBody>
      </p:sp>
      <p:sp>
        <p:nvSpPr>
          <p:cNvPr id="12" name="launch-slide4-text-9">
            <a:extLst xmlns:a="http://schemas.openxmlformats.org/drawingml/2006/main">
              <a:ext uri="{FF2B5EF4-FFF2-40B4-BE49-F238E27FC236}">
                <a16:creationId xmlns:a16="http://schemas.microsoft.com/office/drawing/2014/main" id="{338DBD07-EF35-4836-B4A5-51B96BA6347B}"/>
              </a:ext>
            </a:extLst>
          </p:cNvPr>
          <p:cNvSpPr>
            <a:spLocks xmlns:a="http://schemas.openxmlformats.org/drawingml/2006/main" noGrp="1"/>
          </p:cNvSpPr>
          <p:nvPr/>
        </p:nvSpPr>
        <p:spPr>
          <a:xfrm xmlns:a="http://schemas.openxmlformats.org/drawingml/2006/main">
            <a:off x="495300" y="3133725"/>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Salt Lake City</a:t>
            </a:r>
          </a:p>
        </p:txBody>
      </p:sp>
      <p:sp>
        <p:nvSpPr>
          <p:cNvPr id="13" name="launch-slide4-text-10">
            <a:extLst xmlns:a="http://schemas.openxmlformats.org/drawingml/2006/main">
              <a:ext uri="{FF2B5EF4-FFF2-40B4-BE49-F238E27FC236}">
                <a16:creationId xmlns:a16="http://schemas.microsoft.com/office/drawing/2014/main" id="{F1FB2886-3CDA-441E-91F2-1DA12B3958C8}"/>
              </a:ext>
            </a:extLst>
          </p:cNvPr>
          <p:cNvSpPr>
            <a:spLocks xmlns:a="http://schemas.openxmlformats.org/drawingml/2006/main" noGrp="1"/>
          </p:cNvSpPr>
          <p:nvPr/>
        </p:nvSpPr>
        <p:spPr>
          <a:xfrm xmlns:a="http://schemas.openxmlformats.org/drawingml/2006/main">
            <a:off x="495300" y="3638550"/>
            <a:ext cx="3276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C32"/>
                </a:solidFill>
                <a:latin typeface="Helvetica Neue"/>
                <a:ea typeface="Helvetica Neue"/>
                <a:cs typeface="Helvetica Neue"/>
              </a:defRPr>
            </a:defPPr>
          </a:lstStyle>
          <a:p xmlns:a="http://schemas.openxmlformats.org/drawingml/2006/main">
            <a:pPr algn="l">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One service category</a:t>
            </a:r>
          </a:p>
        </p:txBody>
      </p:sp>
      <p:sp>
        <p:nvSpPr>
          <p:cNvPr id="14" name="launch-slide4-text-11">
            <a:extLst xmlns:a="http://schemas.openxmlformats.org/drawingml/2006/main">
              <a:ext uri="{FF2B5EF4-FFF2-40B4-BE49-F238E27FC236}">
                <a16:creationId xmlns:a16="http://schemas.microsoft.com/office/drawing/2014/main" id="{B4B7FC58-554C-4D9A-B1C6-B070784D12D8}"/>
              </a:ext>
            </a:extLst>
          </p:cNvPr>
          <p:cNvSpPr>
            <a:spLocks xmlns:a="http://schemas.openxmlformats.org/drawingml/2006/main" noGrp="1"/>
          </p:cNvSpPr>
          <p:nvPr/>
        </p:nvSpPr>
        <p:spPr>
          <a:xfrm xmlns:a="http://schemas.openxmlformats.org/drawingml/2006/main">
            <a:off x="495300" y="4219575"/>
            <a:ext cx="3276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93C32"/>
                </a:solidFill>
                <a:latin typeface="Helvetica Neue"/>
                <a:ea typeface="Helvetica Neue"/>
                <a:cs typeface="Helvetica Neue"/>
              </a:defRPr>
            </a:defPPr>
          </a:lstStyle>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Partners onboard businesses.</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We recruit users with a</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specific booking need.</a:t>
            </a:r>
          </a:p>
        </p:txBody>
      </p:sp>
      <p:sp>
        <p:nvSpPr>
          <p:cNvPr id="15" name="launch-slide4-band-12">
            <a:extLst xmlns:a="http://schemas.openxmlformats.org/drawingml/2006/main">
              <a:ext uri="{FF2B5EF4-FFF2-40B4-BE49-F238E27FC236}">
                <a16:creationId xmlns:a16="http://schemas.microsoft.com/office/drawing/2014/main" id="{3710E886-6096-41FE-BB70-E39806E72CB4}"/>
              </a:ext>
            </a:extLst>
          </p:cNvPr>
          <p:cNvSpPr>
            <a:spLocks xmlns:a="http://schemas.openxmlformats.org/drawingml/2006/main" noGrp="1"/>
          </p:cNvSpPr>
          <p:nvPr/>
        </p:nvSpPr>
        <p:spPr>
          <a:xfrm xmlns:a="http://schemas.openxmlformats.org/drawingml/2006/main">
            <a:off x="4343400" y="3133725"/>
            <a:ext cx="3314700" cy="127635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16" name="launch-slide4-text-13">
            <a:extLst xmlns:a="http://schemas.openxmlformats.org/drawingml/2006/main">
              <a:ext uri="{FF2B5EF4-FFF2-40B4-BE49-F238E27FC236}">
                <a16:creationId xmlns:a16="http://schemas.microsoft.com/office/drawing/2014/main" id="{E6737A83-18CF-440F-8F95-9FABE60919D6}"/>
              </a:ext>
            </a:extLst>
          </p:cNvPr>
          <p:cNvSpPr>
            <a:spLocks xmlns:a="http://schemas.openxmlformats.org/drawingml/2006/main" noGrp="1"/>
          </p:cNvSpPr>
          <p:nvPr/>
        </p:nvSpPr>
        <p:spPr>
          <a:xfrm xmlns:a="http://schemas.openxmlformats.org/drawingml/2006/main">
            <a:off x="4505325" y="338137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Helvetica Neue"/>
                <a:ea typeface="Helvetica Neue"/>
                <a:cs typeface="Helvetica Neue"/>
              </a:defRPr>
            </a:defPPr>
          </a:lstStyle>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“Add GoLocal to book</a:t>
            </a:r>
          </a:p>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local services for me.”</a:t>
            </a:r>
          </a:p>
        </p:txBody>
      </p:sp>
      <p:sp>
        <p:nvSpPr>
          <p:cNvPr id="17" name="launch-slide4-text-14">
            <a:extLst xmlns:a="http://schemas.openxmlformats.org/drawingml/2006/main">
              <a:ext uri="{FF2B5EF4-FFF2-40B4-BE49-F238E27FC236}">
                <a16:creationId xmlns:a16="http://schemas.microsoft.com/office/drawing/2014/main" id="{E399CA83-49A0-4257-B94B-8B718ABB530C}"/>
              </a:ext>
            </a:extLst>
          </p:cNvPr>
          <p:cNvSpPr>
            <a:spLocks xmlns:a="http://schemas.openxmlformats.org/drawingml/2006/main" noGrp="1"/>
          </p:cNvSpPr>
          <p:nvPr/>
        </p:nvSpPr>
        <p:spPr>
          <a:xfrm xmlns:a="http://schemas.openxmlformats.org/drawingml/2006/main">
            <a:off x="4343400" y="4648200"/>
            <a:ext cx="33147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93C32"/>
                </a:solidFill>
                <a:latin typeface="Helvetica Neue"/>
                <a:ea typeface="Helvetica Neue"/>
                <a:cs typeface="Helvetica Neue"/>
              </a:defRPr>
            </a:defPPr>
          </a:lstStyle>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One-time setup, with approval.</a:t>
            </a:r>
          </a:p>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Then book through your agent.</a:t>
            </a:r>
          </a:p>
        </p:txBody>
      </p:sp>
      <p:sp>
        <p:nvSpPr>
          <p:cNvPr id="18" name="launch-slide4-text-15">
            <a:extLst xmlns:a="http://schemas.openxmlformats.org/drawingml/2006/main">
              <a:ext uri="{FF2B5EF4-FFF2-40B4-BE49-F238E27FC236}">
                <a16:creationId xmlns:a16="http://schemas.microsoft.com/office/drawing/2014/main" id="{AC8A5A2F-40B1-4DF0-8687-BFF43A2E69E6}"/>
              </a:ext>
            </a:extLst>
          </p:cNvPr>
          <p:cNvSpPr>
            <a:spLocks xmlns:a="http://schemas.openxmlformats.org/drawingml/2006/main" noGrp="1"/>
          </p:cNvSpPr>
          <p:nvPr/>
        </p:nvSpPr>
        <p:spPr>
          <a:xfrm xmlns:a="http://schemas.openxmlformats.org/drawingml/2006/main">
            <a:off x="8191500" y="3209925"/>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236C4E"/>
                </a:solidFill>
                <a:latin typeface="Helvetica Neue"/>
                <a:ea typeface="Helvetica Neue"/>
                <a:cs typeface="Helvetica Neue"/>
              </a:defRPr>
            </a:defPPr>
          </a:lstStyle>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Useful</a:t>
            </a:r>
          </a:p>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bookings</a:t>
            </a:r>
          </a:p>
        </p:txBody>
      </p:sp>
      <p:sp>
        <p:nvSpPr>
          <p:cNvPr id="19" name="launch-slide4-text-16">
            <a:extLst xmlns:a="http://schemas.openxmlformats.org/drawingml/2006/main">
              <a:ext uri="{FF2B5EF4-FFF2-40B4-BE49-F238E27FC236}">
                <a16:creationId xmlns:a16="http://schemas.microsoft.com/office/drawing/2014/main" id="{BFD0A498-8959-4D75-88E0-B18BB71EF0A4}"/>
              </a:ext>
            </a:extLst>
          </p:cNvPr>
          <p:cNvSpPr>
            <a:spLocks xmlns:a="http://schemas.openxmlformats.org/drawingml/2006/main" noGrp="1"/>
          </p:cNvSpPr>
          <p:nvPr/>
        </p:nvSpPr>
        <p:spPr>
          <a:xfrm xmlns:a="http://schemas.openxmlformats.org/drawingml/2006/main">
            <a:off x="10067925" y="3209925"/>
            <a:ext cx="16287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Agent</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suggestions*</a:t>
            </a:r>
          </a:p>
        </p:txBody>
      </p:sp>
      <p:sp>
        <p:nvSpPr>
          <p:cNvPr id="20" name="launch-slide4-text-17">
            <a:extLst xmlns:a="http://schemas.openxmlformats.org/drawingml/2006/main">
              <a:ext uri="{FF2B5EF4-FFF2-40B4-BE49-F238E27FC236}">
                <a16:creationId xmlns:a16="http://schemas.microsoft.com/office/drawing/2014/main" id="{F3DDB8F6-115E-4EB9-8C43-137CA1F20102}"/>
              </a:ext>
            </a:extLst>
          </p:cNvPr>
          <p:cNvSpPr>
            <a:spLocks xmlns:a="http://schemas.openxmlformats.org/drawingml/2006/main" noGrp="1"/>
          </p:cNvSpPr>
          <p:nvPr/>
        </p:nvSpPr>
        <p:spPr>
          <a:xfrm xmlns:a="http://schemas.openxmlformats.org/drawingml/2006/main">
            <a:off x="8191500" y="4295775"/>
            <a:ext cx="1390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businesses</a:t>
            </a:r>
          </a:p>
        </p:txBody>
      </p:sp>
      <p:sp>
        <p:nvSpPr>
          <p:cNvPr id="21" name="launch-slide4-text-18">
            <a:extLst xmlns:a="http://schemas.openxmlformats.org/drawingml/2006/main">
              <a:ext uri="{FF2B5EF4-FFF2-40B4-BE49-F238E27FC236}">
                <a16:creationId xmlns:a16="http://schemas.microsoft.com/office/drawing/2014/main" id="{D138F538-3C73-4D56-B043-3E6611E330ED}"/>
              </a:ext>
            </a:extLst>
          </p:cNvPr>
          <p:cNvSpPr>
            <a:spLocks xmlns:a="http://schemas.openxmlformats.org/drawingml/2006/main" noGrp="1"/>
          </p:cNvSpPr>
          <p:nvPr/>
        </p:nvSpPr>
        <p:spPr>
          <a:xfrm xmlns:a="http://schemas.openxmlformats.org/drawingml/2006/main">
            <a:off x="10067925" y="4295775"/>
            <a:ext cx="16287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More booking</a:t>
            </a:r>
          </a:p>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requests</a:t>
            </a:r>
          </a:p>
        </p:txBody>
      </p:sp>
      <p:sp>
        <p:nvSpPr>
          <p:cNvPr id="26" name="launch-slide4-text-19">
            <a:extLst xmlns:a="http://schemas.openxmlformats.org/drawingml/2006/main">
              <a:ext uri="{FF2B5EF4-FFF2-40B4-BE49-F238E27FC236}">
                <a16:creationId xmlns:a16="http://schemas.microsoft.com/office/drawing/2014/main" id="{12E564D0-ED19-4279-AD1A-3D2E1BE28FE7}"/>
              </a:ext>
            </a:extLst>
          </p:cNvPr>
          <p:cNvSpPr>
            <a:spLocks xmlns:a="http://schemas.openxmlformats.org/drawingml/2006/main" noGrp="1"/>
          </p:cNvSpPr>
          <p:nvPr/>
        </p:nvSpPr>
        <p:spPr>
          <a:xfrm xmlns:a="http://schemas.openxmlformats.org/drawingml/2006/main">
            <a:off x="8191500" y="5124450"/>
            <a:ext cx="350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Expand category by category,</a:t>
            </a:r>
          </a:p>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city by city.</a:t>
            </a:r>
          </a:p>
        </p:txBody>
      </p:sp>
      <p:sp>
        <p:nvSpPr>
          <p:cNvPr id="27" name="launch-slide4-band-20">
            <a:extLst xmlns:a="http://schemas.openxmlformats.org/drawingml/2006/main">
              <a:ext uri="{FF2B5EF4-FFF2-40B4-BE49-F238E27FC236}">
                <a16:creationId xmlns:a16="http://schemas.microsoft.com/office/drawing/2014/main" id="{D6F97F0A-8661-4984-BE8C-D88A70D4C85B}"/>
              </a:ext>
            </a:extLst>
          </p:cNvPr>
          <p:cNvSpPr>
            <a:spLocks xmlns:a="http://schemas.openxmlformats.org/drawingml/2006/main" noGrp="1"/>
          </p:cNvSpPr>
          <p:nvPr/>
        </p:nvSpPr>
        <p:spPr>
          <a:xfrm xmlns:a="http://schemas.openxmlformats.org/drawingml/2006/main">
            <a:off x="495300" y="5800725"/>
            <a:ext cx="11201400" cy="657225"/>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8" name="launch-slide4-text-21">
            <a:extLst xmlns:a="http://schemas.openxmlformats.org/drawingml/2006/main">
              <a:ext uri="{FF2B5EF4-FFF2-40B4-BE49-F238E27FC236}">
                <a16:creationId xmlns:a16="http://schemas.microsoft.com/office/drawing/2014/main" id="{0CE74342-CD8D-4AC9-9C06-AA3694EECB41}"/>
              </a:ext>
            </a:extLst>
          </p:cNvPr>
          <p:cNvSpPr>
            <a:spLocks xmlns:a="http://schemas.openxmlformats.org/drawingml/2006/main" noGrp="1"/>
          </p:cNvSpPr>
          <p:nvPr/>
        </p:nvSpPr>
        <p:spPr>
          <a:xfrm xmlns:a="http://schemas.openxmlformats.org/drawingml/2006/main">
            <a:off x="666750" y="5895975"/>
            <a:ext cx="10858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Helvetica Neue"/>
                <a:ea typeface="Helvetica Neue"/>
                <a:cs typeface="Helvetica Neue"/>
              </a:defRPr>
            </a:defPPr>
          </a:lstStyle>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REVENUE MODEL · PROPOSED</a:t>
            </a:r>
          </a:p>
        </p:txBody>
      </p:sp>
      <p:sp>
        <p:nvSpPr>
          <p:cNvPr id="29" name="launch-slide4-text-22">
            <a:extLst xmlns:a="http://schemas.openxmlformats.org/drawingml/2006/main">
              <a:ext uri="{FF2B5EF4-FFF2-40B4-BE49-F238E27FC236}">
                <a16:creationId xmlns:a16="http://schemas.microsoft.com/office/drawing/2014/main" id="{892EBB5A-25FD-44CB-9870-764F98C136F9}"/>
              </a:ext>
            </a:extLst>
          </p:cNvPr>
          <p:cNvSpPr>
            <a:spLocks xmlns:a="http://schemas.openxmlformats.org/drawingml/2006/main" noGrp="1"/>
          </p:cNvSpPr>
          <p:nvPr/>
        </p:nvSpPr>
        <p:spPr>
          <a:xfrm xmlns:a="http://schemas.openxmlformats.org/drawingml/2006/main">
            <a:off x="666750" y="615315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Helvetica Neue"/>
                <a:ea typeface="Helvetica Neue"/>
                <a:cs typeface="Helvetica Neue"/>
              </a:defRPr>
            </a:defPPr>
          </a:lstStyle>
          <a:p xmlns:a="http://schemas.openxmlformats.org/drawingml/2006/main">
            <a:pPr algn="l">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Businesses pay a success fee on fulfilled new-customer jobs. Revenue is shared with partners.</a:t>
            </a:r>
          </a:p>
        </p:txBody>
      </p:sp>
      <p:sp>
        <p:nvSpPr>
          <p:cNvPr id="30" name="launch-slide4-text-23">
            <a:extLst xmlns:a="http://schemas.openxmlformats.org/drawingml/2006/main">
              <a:ext uri="{FF2B5EF4-FFF2-40B4-BE49-F238E27FC236}">
                <a16:creationId xmlns:a16="http://schemas.microsoft.com/office/drawing/2014/main" id="{C691193C-BECF-4785-A1F8-77E0BB50EA46}"/>
              </a:ext>
            </a:extLst>
          </p:cNvPr>
          <p:cNvSpPr>
            <a:spLocks xmlns:a="http://schemas.openxmlformats.org/drawingml/2006/main" noGrp="1"/>
          </p:cNvSpPr>
          <p:nvPr/>
        </p:nvSpPr>
        <p:spPr>
          <a:xfrm xmlns:a="http://schemas.openxmlformats.org/drawingml/2006/main">
            <a:off x="495300" y="6619875"/>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5746C"/>
                </a:solidFill>
                <a:latin typeface="Helvetica Neue"/>
                <a:ea typeface="Helvetica Neue"/>
                <a:cs typeface="Helvetica Neue"/>
              </a:defRPr>
            </a:defPPr>
          </a:lstStyle>
          <a:p xmlns:a="http://schemas.openxmlformats.org/drawingml/2006/main">
            <a:pPr algn="l">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*Recommendations depend on usefulness, reliability and platform rules.</a:t>
            </a:r>
          </a:p>
        </p:txBody>
      </p:sp>
      <p:sp>
        <p:nvSpPr>
          <p:cNvPr id="31" name="launch-slide4-text-24">
            <a:extLst xmlns:a="http://schemas.openxmlformats.org/drawingml/2006/main">
              <a:ext uri="{FF2B5EF4-FFF2-40B4-BE49-F238E27FC236}">
                <a16:creationId xmlns:a16="http://schemas.microsoft.com/office/drawing/2014/main" id="{1C2D9FD4-CABC-4917-8B7C-DD66314B4A9C}"/>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6</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511E679A-FE4D-4754-9313-AE73CDECDFDE}"/>
              </a:ext>
            </a:extLst>
          </p:cNvPr>
          <p:cNvCxnSpPr>
            <a:stCxn xmlns:a="http://schemas.openxmlformats.org/drawingml/2006/main" id="14" idx="3"/>
            <a:endCxn xmlns:a="http://schemas.openxmlformats.org/drawingml/2006/main" id="15" idx="1"/>
          </p:cNvCxnSpPr>
          <p:nvPr/>
        </p:nvCxnSpPr>
        <p:spPr>
          <a:xfrm xmlns:a="http://schemas.openxmlformats.org/drawingml/2006/main">
            <a:off x="76200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826502CD-F280-415C-8C56-1C24DDB21040}"/>
              </a:ext>
            </a:extLst>
          </p:cNvPr>
          <p:cNvCxnSpPr>
            <a:stCxn xmlns:a="http://schemas.openxmlformats.org/drawingml/2006/main" id="13" idx="3"/>
            <a:endCxn xmlns:a="http://schemas.openxmlformats.org/drawingml/2006/main" id="14" idx="1"/>
          </p:cNvCxnSpPr>
          <p:nvPr/>
        </p:nvCxnSpPr>
        <p:spPr>
          <a:xfrm xmlns:a="http://schemas.openxmlformats.org/drawingml/2006/main">
            <a:off x="37719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2" name="partner-pilot-slide5-text-0">
            <a:extLst xmlns:a="http://schemas.openxmlformats.org/drawingml/2006/main">
              <a:ext uri="{FF2B5EF4-FFF2-40B4-BE49-F238E27FC236}">
                <a16:creationId xmlns:a16="http://schemas.microsoft.com/office/drawing/2014/main" id="{A35C160F-1F25-4731-8825-25CF7B72C62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PARTNERSHIPS AND PILOT</a:t>
            </a:r>
          </a:p>
        </p:txBody>
      </p:sp>
      <p:sp>
        <p:nvSpPr>
          <p:cNvPr id="2" name="partner-pilot-slide5-text-1">
            <a:extLst xmlns:a="http://schemas.openxmlformats.org/drawingml/2006/main">
              <a:ext uri="{FF2B5EF4-FFF2-40B4-BE49-F238E27FC236}">
                <a16:creationId xmlns:a16="http://schemas.microsoft.com/office/drawing/2014/main" id="{CA635701-9524-4B3F-BD58-A31E867BF72F}"/>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Partnerships to launch the Salt Lake City pilot</a:t>
            </a:r>
          </a:p>
        </p:txBody>
      </p:sp>
      <p:sp>
        <p:nvSpPr>
          <p:cNvPr id="3" name="partner-pilot-slide5-text-2">
            <a:extLst xmlns:a="http://schemas.openxmlformats.org/drawingml/2006/main">
              <a:ext uri="{FF2B5EF4-FFF2-40B4-BE49-F238E27FC236}">
                <a16:creationId xmlns:a16="http://schemas.microsoft.com/office/drawing/2014/main" id="{B9752377-40F7-4987-8FA2-D34F3326D91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Channel partnerships give GoLocal a pipeline of provider introductions.</a:t>
            </a:r>
          </a:p>
        </p:txBody>
      </p:sp>
      <p:sp>
        <p:nvSpPr>
          <p:cNvPr id="4" name="partner-pilot-slide5-text-3">
            <a:extLst xmlns:a="http://schemas.openxmlformats.org/drawingml/2006/main">
              <a:ext uri="{FF2B5EF4-FFF2-40B4-BE49-F238E27FC236}">
                <a16:creationId xmlns:a16="http://schemas.microsoft.com/office/drawing/2014/main" id="{8991B46C-7EDF-43ED-B987-4749DAC2E13A}"/>
              </a:ext>
            </a:extLst>
          </p:cNvPr>
          <p:cNvSpPr>
            <a:spLocks xmlns:a="http://schemas.openxmlformats.org/drawingml/2006/main" noGrp="1"/>
          </p:cNvSpPr>
          <p:nvPr/>
        </p:nvSpPr>
        <p:spPr>
          <a:xfrm xmlns:a="http://schemas.openxmlformats.org/drawingml/2006/main">
            <a:off x="495300" y="2181225"/>
            <a:ext cx="3667125"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50" b="1">
                <a:solidFill>
                  <a:srgbClr val="236C4E"/>
                </a:solidFill>
                <a:latin typeface="Helvetica Neue"/>
                <a:ea typeface="Helvetica Neue"/>
                <a:cs typeface="Helvetica Neue"/>
              </a:defRPr>
            </a:defPPr>
          </a:lstStyle>
          <a:p xmlns:a="http://schemas.openxmlformats.org/drawingml/2006/main">
            <a:pPr algn="l">
              <a:buNone/>
              <a:defRPr sz="9450" b="1">
                <a:solidFill>
                  <a:srgbClr val="236C4E"/>
                </a:solidFill>
                <a:latin typeface="Helvetica Neue"/>
                <a:ea typeface="Helvetica Neue"/>
                <a:cs typeface="Helvetica Neue"/>
              </a:defRPr>
            </a:pPr>
            <a:r>
              <a:rPr sz="9450" b="1">
                <a:solidFill>
                  <a:srgbClr val="236C4E"/>
                </a:solidFill>
                <a:latin typeface="Helvetica Neue"/>
                <a:ea typeface="Helvetica Neue"/>
                <a:cs typeface="Helvetica Neue"/>
              </a:rPr>
              <a:t>50+</a:t>
            </a:r>
          </a:p>
        </p:txBody>
      </p:sp>
      <p:sp>
        <p:nvSpPr>
          <p:cNvPr id="5" name="partner-pilot-slide5-text-4">
            <a:extLst xmlns:a="http://schemas.openxmlformats.org/drawingml/2006/main">
              <a:ext uri="{FF2B5EF4-FFF2-40B4-BE49-F238E27FC236}">
                <a16:creationId xmlns:a16="http://schemas.microsoft.com/office/drawing/2014/main" id="{616E785A-F15F-43DC-9EE2-A418D385A949}"/>
              </a:ext>
            </a:extLst>
          </p:cNvPr>
          <p:cNvSpPr>
            <a:spLocks xmlns:a="http://schemas.openxmlformats.org/drawingml/2006/main" noGrp="1"/>
          </p:cNvSpPr>
          <p:nvPr/>
        </p:nvSpPr>
        <p:spPr>
          <a:xfrm xmlns:a="http://schemas.openxmlformats.org/drawingml/2006/main">
            <a:off x="495300" y="3914775"/>
            <a:ext cx="3714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93C32"/>
                </a:solidFill>
                <a:latin typeface="Helvetica Neue"/>
                <a:ea typeface="Helvetica Neue"/>
                <a:cs typeface="Helvetica Neue"/>
              </a:defRPr>
            </a:defPPr>
          </a:lstStyle>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provider introductions</a:t>
            </a:r>
          </a:p>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in the pipeline</a:t>
            </a:r>
          </a:p>
        </p:txBody>
      </p:sp>
      <p:sp>
        <p:nvSpPr>
          <p:cNvPr id="6" name="partner-pilot-slide5-text-5">
            <a:extLst xmlns:a="http://schemas.openxmlformats.org/drawingml/2006/main">
              <a:ext uri="{FF2B5EF4-FFF2-40B4-BE49-F238E27FC236}">
                <a16:creationId xmlns:a16="http://schemas.microsoft.com/office/drawing/2014/main" id="{A0F7D695-E180-4DB1-BDF5-DA1E53D32DD9}"/>
              </a:ext>
            </a:extLst>
          </p:cNvPr>
          <p:cNvSpPr>
            <a:spLocks xmlns:a="http://schemas.openxmlformats.org/drawingml/2006/main" noGrp="1"/>
          </p:cNvSpPr>
          <p:nvPr/>
        </p:nvSpPr>
        <p:spPr>
          <a:xfrm xmlns:a="http://schemas.openxmlformats.org/drawingml/2006/main">
            <a:off x="495300" y="48958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5746C"/>
                </a:solidFill>
                <a:latin typeface="Helvetica Neue"/>
                <a:ea typeface="Helvetica Neue"/>
                <a:cs typeface="Helvetica Neue"/>
              </a:defRPr>
            </a:defPPr>
          </a:lstStyle>
          <a:p xmlns:a="http://schemas.openxmlformats.org/drawingml/2006/main">
            <a:pPr algn="l">
              <a:buNone/>
              <a:defRPr sz="1725" b="0">
                <a:solidFill>
                  <a:srgbClr val="65746C"/>
                </a:solidFill>
                <a:latin typeface="Helvetica Neue"/>
                <a:ea typeface="Helvetica Neue"/>
                <a:cs typeface="Helvetica Neue"/>
              </a:defRPr>
            </a:pPr>
            <a:r>
              <a:rPr sz="1725" b="0">
                <a:solidFill>
                  <a:srgbClr val="65746C"/>
                </a:solidFill>
                <a:latin typeface="Helvetica Neue"/>
                <a:ea typeface="Helvetica Neue"/>
                <a:cs typeface="Helvetica Neue"/>
              </a:rPr>
              <a:t>Via Cactus AI</a:t>
            </a:r>
          </a:p>
        </p:txBody>
      </p:sp>
      <p:sp>
        <p:nvSpPr>
          <p:cNvPr id="7" name="partner-pilot-slide5-text-6">
            <a:extLst xmlns:a="http://schemas.openxmlformats.org/drawingml/2006/main">
              <a:ext uri="{FF2B5EF4-FFF2-40B4-BE49-F238E27FC236}">
                <a16:creationId xmlns:a16="http://schemas.microsoft.com/office/drawing/2014/main" id="{19DE7C60-8114-4494-93AA-B1D21078A062}"/>
              </a:ext>
            </a:extLst>
          </p:cNvPr>
          <p:cNvSpPr>
            <a:spLocks xmlns:a="http://schemas.openxmlformats.org/drawingml/2006/main" noGrp="1"/>
          </p:cNvSpPr>
          <p:nvPr/>
        </p:nvSpPr>
        <p:spPr>
          <a:xfrm xmlns:a="http://schemas.openxmlformats.org/drawingml/2006/main">
            <a:off x="4857750" y="2371725"/>
            <a:ext cx="6838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Cactus AI</a:t>
            </a:r>
          </a:p>
        </p:txBody>
      </p:sp>
      <p:sp>
        <p:nvSpPr>
          <p:cNvPr id="8" name="partner-pilot-slide5-text-7">
            <a:extLst xmlns:a="http://schemas.openxmlformats.org/drawingml/2006/main">
              <a:ext uri="{FF2B5EF4-FFF2-40B4-BE49-F238E27FC236}">
                <a16:creationId xmlns:a16="http://schemas.microsoft.com/office/drawing/2014/main" id="{C8AFDEC2-69C5-4113-A0F4-A30D539D06D1}"/>
              </a:ext>
            </a:extLst>
          </p:cNvPr>
          <p:cNvSpPr>
            <a:spLocks xmlns:a="http://schemas.openxmlformats.org/drawingml/2006/main" noGrp="1"/>
          </p:cNvSpPr>
          <p:nvPr/>
        </p:nvSpPr>
        <p:spPr>
          <a:xfrm xmlns:a="http://schemas.openxmlformats.org/drawingml/2006/main">
            <a:off x="4857750" y="2943225"/>
            <a:ext cx="68389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Agreed to introduce GoLocal</a:t>
            </a:r>
          </a:p>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to 50+ service partners.</a:t>
            </a:r>
          </a:p>
        </p:txBody>
      </p:sp>
      <p:sp>
        <p:nvSpPr>
          <p:cNvPr id="9" name="partner-pilot-slide5-text-8">
            <a:extLst xmlns:a="http://schemas.openxmlformats.org/drawingml/2006/main">
              <a:ext uri="{FF2B5EF4-FFF2-40B4-BE49-F238E27FC236}">
                <a16:creationId xmlns:a16="http://schemas.microsoft.com/office/drawing/2014/main" id="{B240812A-7539-46A6-A7F7-7D887948B9B8}"/>
              </a:ext>
            </a:extLst>
          </p:cNvPr>
          <p:cNvSpPr>
            <a:spLocks xmlns:a="http://schemas.openxmlformats.org/drawingml/2006/main" noGrp="1"/>
          </p:cNvSpPr>
          <p:nvPr/>
        </p:nvSpPr>
        <p:spPr>
          <a:xfrm xmlns:a="http://schemas.openxmlformats.org/drawingml/2006/main">
            <a:off x="4857750" y="4010025"/>
            <a:ext cx="6838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36C4E"/>
                </a:solidFill>
                <a:latin typeface="Helvetica Neue"/>
                <a:ea typeface="Helvetica Neue"/>
                <a:cs typeface="Helvetica Neue"/>
              </a:defRPr>
            </a:defPPr>
          </a:lstStyle>
          <a:p xmlns:a="http://schemas.openxmlformats.org/drawingml/2006/main">
            <a:pPr algn="l">
              <a:buNone/>
              <a:defRPr sz="2400" b="1">
                <a:solidFill>
                  <a:srgbClr val="236C4E"/>
                </a:solidFill>
                <a:latin typeface="Helvetica Neue"/>
                <a:ea typeface="Helvetica Neue"/>
                <a:cs typeface="Helvetica Neue"/>
              </a:defRPr>
            </a:pPr>
            <a:r>
              <a:rPr sz="2400" b="1">
                <a:solidFill>
                  <a:srgbClr val="236C4E"/>
                </a:solidFill>
                <a:latin typeface="Helvetica Neue"/>
                <a:ea typeface="Helvetica Neue"/>
                <a:cs typeface="Helvetica Neue"/>
              </a:rPr>
              <a:t>YourCardare</a:t>
            </a:r>
          </a:p>
        </p:txBody>
      </p:sp>
      <p:sp>
        <p:nvSpPr>
          <p:cNvPr id="10" name="partner-pilot-slide5-text-9">
            <a:extLst xmlns:a="http://schemas.openxmlformats.org/drawingml/2006/main">
              <a:ext uri="{FF2B5EF4-FFF2-40B4-BE49-F238E27FC236}">
                <a16:creationId xmlns:a16="http://schemas.microsoft.com/office/drawing/2014/main" id="{B0BF785F-3033-4384-9191-7FC45D4A3B83}"/>
              </a:ext>
            </a:extLst>
          </p:cNvPr>
          <p:cNvSpPr>
            <a:spLocks xmlns:a="http://schemas.openxmlformats.org/drawingml/2006/main" noGrp="1"/>
          </p:cNvSpPr>
          <p:nvPr/>
        </p:nvSpPr>
        <p:spPr>
          <a:xfrm xmlns:a="http://schemas.openxmlformats.org/drawingml/2006/main">
            <a:off x="4857750" y="4438650"/>
            <a:ext cx="683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5746C"/>
                </a:solidFill>
                <a:latin typeface="Helvetica Neue"/>
                <a:ea typeface="Helvetica Neue"/>
                <a:cs typeface="Helvetica Neue"/>
              </a:defRPr>
            </a:defPPr>
          </a:lstStyle>
          <a:p xmlns:a="http://schemas.openxmlformats.org/drawingml/2006/main">
            <a:pPr algn="l">
              <a:buNone/>
              <a:defRPr sz="1650" b="0">
                <a:solidFill>
                  <a:srgbClr val="65746C"/>
                </a:solidFill>
                <a:latin typeface="Helvetica Neue"/>
                <a:ea typeface="Helvetica Neue"/>
                <a:cs typeface="Helvetica Neue"/>
              </a:defRPr>
            </a:pPr>
            <a:r>
              <a:rPr sz="1650" b="0">
                <a:solidFill>
                  <a:srgbClr val="65746C"/>
                </a:solidFill>
                <a:latin typeface="Helvetica Neue"/>
                <a:ea typeface="Helvetica Neue"/>
                <a:cs typeface="Helvetica Neue"/>
              </a:rPr>
              <a:t>Regional back-office partner</a:t>
            </a:r>
          </a:p>
        </p:txBody>
      </p:sp>
      <p:sp>
        <p:nvSpPr>
          <p:cNvPr id="11" name="partner-pilot-slide5-text-10">
            <a:extLst xmlns:a="http://schemas.openxmlformats.org/drawingml/2006/main">
              <a:ext uri="{FF2B5EF4-FFF2-40B4-BE49-F238E27FC236}">
                <a16:creationId xmlns:a16="http://schemas.microsoft.com/office/drawing/2014/main" id="{E62E593E-233D-45EF-B83A-87A2FAD2746F}"/>
              </a:ext>
            </a:extLst>
          </p:cNvPr>
          <p:cNvSpPr>
            <a:spLocks xmlns:a="http://schemas.openxmlformats.org/drawingml/2006/main" noGrp="1"/>
          </p:cNvSpPr>
          <p:nvPr/>
        </p:nvSpPr>
        <p:spPr>
          <a:xfrm xmlns:a="http://schemas.openxmlformats.org/drawingml/2006/main">
            <a:off x="4857750" y="4800600"/>
            <a:ext cx="6838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Another 10+ providers in the pipeline.</a:t>
            </a:r>
          </a:p>
        </p:txBody>
      </p:sp>
      <p:sp>
        <p:nvSpPr>
          <p:cNvPr id="12" name="partner-pilot-slide5-text-11">
            <a:extLst xmlns:a="http://schemas.openxmlformats.org/drawingml/2006/main">
              <a:ext uri="{FF2B5EF4-FFF2-40B4-BE49-F238E27FC236}">
                <a16:creationId xmlns:a16="http://schemas.microsoft.com/office/drawing/2014/main" id="{4B485A28-747E-43D2-9A74-667A12E57091}"/>
              </a:ext>
            </a:extLst>
          </p:cNvPr>
          <p:cNvSpPr>
            <a:spLocks xmlns:a="http://schemas.openxmlformats.org/drawingml/2006/main" noGrp="1"/>
          </p:cNvSpPr>
          <p:nvPr/>
        </p:nvSpPr>
        <p:spPr>
          <a:xfrm xmlns:a="http://schemas.openxmlformats.org/drawingml/2006/main">
            <a:off x="495300" y="5276850"/>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One city. One service category.</a:t>
            </a:r>
          </a:p>
        </p:txBody>
      </p:sp>
      <p:sp>
        <p:nvSpPr>
          <p:cNvPr id="13" name="partner-pilot-slide5-rule-12">
            <a:extLst xmlns:a="http://schemas.openxmlformats.org/drawingml/2006/main">
              <a:ext uri="{FF2B5EF4-FFF2-40B4-BE49-F238E27FC236}">
                <a16:creationId xmlns:a16="http://schemas.microsoft.com/office/drawing/2014/main" id="{A91DE01D-56EA-4781-8398-E0D4EEE5E7C2}"/>
              </a:ext>
            </a:extLst>
          </p:cNvPr>
          <p:cNvSpPr>
            <a:spLocks xmlns:a="http://schemas.openxmlformats.org/drawingml/2006/main" noGrp="1"/>
          </p:cNvSpPr>
          <p:nvPr/>
        </p:nvSpPr>
        <p:spPr>
          <a:xfrm xmlns:a="http://schemas.openxmlformats.org/drawingml/2006/main">
            <a:off x="4953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4" name="partner-pilot-slide5-rule-13">
            <a:extLst xmlns:a="http://schemas.openxmlformats.org/drawingml/2006/main">
              <a:ext uri="{FF2B5EF4-FFF2-40B4-BE49-F238E27FC236}">
                <a16:creationId xmlns:a16="http://schemas.microsoft.com/office/drawing/2014/main" id="{119584AC-2F36-43AD-927E-B3AE38225FF4}"/>
              </a:ext>
            </a:extLst>
          </p:cNvPr>
          <p:cNvSpPr>
            <a:spLocks xmlns:a="http://schemas.openxmlformats.org/drawingml/2006/main" noGrp="1"/>
          </p:cNvSpPr>
          <p:nvPr/>
        </p:nvSpPr>
        <p:spPr>
          <a:xfrm xmlns:a="http://schemas.openxmlformats.org/drawingml/2006/main">
            <a:off x="43434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5" name="partner-pilot-slide5-rule-14">
            <a:extLst xmlns:a="http://schemas.openxmlformats.org/drawingml/2006/main">
              <a:ext uri="{FF2B5EF4-FFF2-40B4-BE49-F238E27FC236}">
                <a16:creationId xmlns:a16="http://schemas.microsoft.com/office/drawing/2014/main" id="{17D2EE46-97D0-4EAC-AB6E-C1F4FCFCBA5F}"/>
              </a:ext>
            </a:extLst>
          </p:cNvPr>
          <p:cNvSpPr>
            <a:spLocks xmlns:a="http://schemas.openxmlformats.org/drawingml/2006/main" noGrp="1"/>
          </p:cNvSpPr>
          <p:nvPr/>
        </p:nvSpPr>
        <p:spPr>
          <a:xfrm xmlns:a="http://schemas.openxmlformats.org/drawingml/2006/main">
            <a:off x="81915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8" name="partner-pilot-slide5-text-15">
            <a:extLst xmlns:a="http://schemas.openxmlformats.org/drawingml/2006/main">
              <a:ext uri="{FF2B5EF4-FFF2-40B4-BE49-F238E27FC236}">
                <a16:creationId xmlns:a16="http://schemas.microsoft.com/office/drawing/2014/main" id="{9FD66AE8-D6AB-49FE-888E-1A268A772EAC}"/>
              </a:ext>
            </a:extLst>
          </p:cNvPr>
          <p:cNvSpPr>
            <a:spLocks xmlns:a="http://schemas.openxmlformats.org/drawingml/2006/main" noGrp="1"/>
          </p:cNvSpPr>
          <p:nvPr/>
        </p:nvSpPr>
        <p:spPr>
          <a:xfrm xmlns:a="http://schemas.openxmlformats.org/drawingml/2006/main">
            <a:off x="4953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Provider introductions</a:t>
            </a:r>
          </a:p>
        </p:txBody>
      </p:sp>
      <p:sp>
        <p:nvSpPr>
          <p:cNvPr id="19" name="partner-pilot-slide5-text-16">
            <a:extLst xmlns:a="http://schemas.openxmlformats.org/drawingml/2006/main">
              <a:ext uri="{FF2B5EF4-FFF2-40B4-BE49-F238E27FC236}">
                <a16:creationId xmlns:a16="http://schemas.microsoft.com/office/drawing/2014/main" id="{5B1BD860-6328-4C4F-B959-4D2A9DD21530}"/>
              </a:ext>
            </a:extLst>
          </p:cNvPr>
          <p:cNvSpPr>
            <a:spLocks xmlns:a="http://schemas.openxmlformats.org/drawingml/2006/main" noGrp="1"/>
          </p:cNvSpPr>
          <p:nvPr/>
        </p:nvSpPr>
        <p:spPr>
          <a:xfrm xmlns:a="http://schemas.openxmlformats.org/drawingml/2006/main">
            <a:off x="43434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Onboard and connect</a:t>
            </a:r>
          </a:p>
        </p:txBody>
      </p:sp>
      <p:sp>
        <p:nvSpPr>
          <p:cNvPr id="20" name="partner-pilot-slide5-text-17">
            <a:extLst xmlns:a="http://schemas.openxmlformats.org/drawingml/2006/main">
              <a:ext uri="{FF2B5EF4-FFF2-40B4-BE49-F238E27FC236}">
                <a16:creationId xmlns:a16="http://schemas.microsoft.com/office/drawing/2014/main" id="{524E0E8D-DB94-423B-8ED7-30D05241773E}"/>
              </a:ext>
            </a:extLst>
          </p:cNvPr>
          <p:cNvSpPr>
            <a:spLocks xmlns:a="http://schemas.openxmlformats.org/drawingml/2006/main" noGrp="1"/>
          </p:cNvSpPr>
          <p:nvPr/>
        </p:nvSpPr>
        <p:spPr>
          <a:xfrm xmlns:a="http://schemas.openxmlformats.org/drawingml/2006/main">
            <a:off x="8191500" y="600075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Test first agent bookings</a:t>
            </a:r>
          </a:p>
        </p:txBody>
      </p:sp>
      <p:sp>
        <p:nvSpPr>
          <p:cNvPr id="21" name="partner-pilot-slide5-text-18">
            <a:extLst xmlns:a="http://schemas.openxmlformats.org/drawingml/2006/main">
              <a:ext uri="{FF2B5EF4-FFF2-40B4-BE49-F238E27FC236}">
                <a16:creationId xmlns:a16="http://schemas.microsoft.com/office/drawing/2014/main" id="{240C600E-6FEB-4C6C-9119-7A716988611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6</a:t>
            </a:r>
          </a:p>
        </p:txBody>
      </p:sp>
    </p:spTree>
    <p:extLst>
      <p:ext uri="{BB962C8B-B14F-4D97-AF65-F5344CB8AC3E}">
        <p14:creationId xmlns:p14="http://schemas.microsoft.com/office/powerpoint/2010/main" val="22905360"/>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9F4"/>
        </a:solidFill>
      </p:bgPr>
    </p:bg>
    <p:spTree>
      <p:nvGrpSpPr>
        <p:cNvPr id="1" name=""/>
        <p:cNvGrpSpPr/>
        <p:nvPr/>
      </p:nvGrpSpPr>
      <p:grpSpPr>
        <a:xfrm/>
      </p:grpSpPr>
      <p:sp>
        <p:nvSpPr>
          <p:cNvPr id="37" name="team-slide6-text-0">
            <a:extLst>
              <a:ext uri="{FF2B5EF4-FFF2-40B4-BE49-F238E27FC236}">
                <ns2:creationId id="{38EE994F-AF77-4326-97C8-BA63A4380E5F}"/>
              </a:ext>
            </a:extLst>
          </p:cNvPr>
          <p:cNvSpPr>
            <a:spLocks noGrp="1"/>
          </p:cNvSpPr>
          <p:nvPr/>
        </p:nvSpPr>
        <p:spPr>
          <a:xfrm>
            <a:off x="495300" y="257175"/>
            <a:ext cx="11201400" cy="238125"/>
          </a:xfrm>
          <a:prstGeom prst="rect">
            <a:avLst/>
          </a:prstGeom>
          <a:noFill/>
          <a:ln w="0">
            <a:noFill/>
            <a:prstDash val="solid"/>
          </a:ln>
        </p:spPr>
        <p:txBody>
          <a:bodyPr wrap="square" lIns="0" tIns="0" rIns="0" bIns="0" anchor="t">
            <a:noAutofit/>
          </a:bodyPr>
          <a:lstStyle>
            <a:defPPr algn="l">
              <a:defRPr sz="1275" b="1">
                <a:solidFill>
                  <a:srgbClr val="65746C"/>
                </a:solidFill>
                <a:latin typeface="Helvetica Neue"/>
                <a:ea typeface="Helvetica Neue"/>
                <a:cs typeface="Helvetica Neue"/>
              </a:defRPr>
            </a:defPPr>
          </a:lstStyle>
          <a:p>
            <a:pPr algn="l">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slide6-text-1">
            <a:extLst>
              <a:ext uri="{FF2B5EF4-FFF2-40B4-BE49-F238E27FC236}">
                <ns2:creationId id="{6BA31ACE-E141-4246-B8BC-5433D71AE72F}"/>
              </a:ext>
            </a:extLst>
          </p:cNvPr>
          <p:cNvSpPr>
            <a:spLocks noGrp="1"/>
          </p:cNvSpPr>
          <p:nvPr/>
        </p:nvSpPr>
        <p:spPr>
          <a:xfrm>
            <a:off x="495300" y="619125"/>
            <a:ext cx="11201400" cy="628650"/>
          </a:xfrm>
          <a:prstGeom prst="rect">
            <a:avLst/>
          </a:prstGeom>
          <a:noFill/>
          <a:ln w="0">
            <a:noFill/>
            <a:prstDash val="solid"/>
          </a:ln>
        </p:spPr>
        <p:txBody>
          <a:bodyPr wrap="square" lIns="0" tIns="0" rIns="0" bIns="0" anchor="t">
            <a:noAutofit/>
          </a:bodyPr>
          <a:lstStyle>
            <a:defPPr algn="l">
              <a:defRPr sz="3300" b="1">
                <a:solidFill>
                  <a:srgbClr val="193C32"/>
                </a:solidFill>
                <a:latin typeface="Helvetica Neue"/>
                <a:ea typeface="Helvetica Neue"/>
                <a:cs typeface="Helvetica Neue"/>
              </a:defRPr>
            </a:defPPr>
          </a:lstStyle>
          <a:p>
            <a:pPr algn="l">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services experience meets agent engineering.</a:t>
            </a:r>
          </a:p>
        </p:txBody>
      </p:sp>
      <p:sp>
        <p:nvSpPr>
          <p:cNvPr id="3" name="team-slide6-text-2">
            <a:extLst>
              <a:ext uri="{FF2B5EF4-FFF2-40B4-BE49-F238E27FC236}">
                <ns2:creationId id="{EA8FBA6A-946C-4ABC-B0FB-64F0F3988135}"/>
              </a:ext>
            </a:extLst>
          </p:cNvPr>
          <p:cNvSpPr>
            <a:spLocks noGrp="1"/>
          </p:cNvSpPr>
          <p:nvPr/>
        </p:nvSpPr>
        <p:spPr>
          <a:xfrm>
            <a:off x="495300" y="1362075"/>
            <a:ext cx="11201400" cy="419100"/>
          </a:xfrm>
          <a:prstGeom prst="rect">
            <a:avLst/>
          </a:prstGeom>
          <a:noFill/>
          <a:ln w="0">
            <a:noFill/>
            <a:prstDash val="solid"/>
          </a:ln>
        </p:spPr>
        <p:txBody>
          <a:bodyPr wrap="square" lIns="0" tIns="0" rIns="0" bIns="0" anchor="t">
            <a:noAutofit/>
          </a:bodyPr>
          <a:lstStyle>
            <a:defPPr algn="l">
              <a:defRPr sz="2025" b="0">
                <a:solidFill>
                  <a:srgbClr val="65746C"/>
                </a:solidFill>
                <a:latin typeface="Helvetica Neue"/>
                <a:ea typeface="Helvetica Neue"/>
                <a:cs typeface="Helvetica Neue"/>
              </a:defRPr>
            </a:defPPr>
          </a:lstStyle>
          <a:p>
            <a:pPr algn="l">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Experience building both sides of GoLocal.</a:t>
            </a:r>
          </a:p>
        </p:txBody>
      </p:sp>
      <p:pic>
        <p:nvPicPr>
          <p:cNvPr id="4" name="">
            <a:extLst>
              <a:ext uri="{FF2B5EF4-FFF2-40B4-BE49-F238E27FC236}">
                <ns2:creationId id="{A16E05CA-7197-4FBD-BFA8-8C47EF8C6576}"/>
              </a:ext>
            </a:extLst>
          </p:cNvPr>
          <p:cNvPicPr>
            <a:picLocks noChangeAspect="1"/>
          </p:cNvPicPr>
          <p:nvPr/>
        </p:nvPicPr>
        <p:blipFill>
          <a:blip r:embed="Radeb1698e88c4338"/>
          <a:stretch/>
        </p:blipFill>
        <p:spPr>
          <a:xfrm>
            <a:off x="495300" y="1924050"/>
            <a:ext cx="1066800" cy="1066800"/>
          </a:xfrm>
          <a:prstGeom prst="rect">
            <a:avLst/>
          </a:prstGeom>
        </p:spPr>
      </p:pic>
      <p:pic>
        <p:nvPicPr>
          <p:cNvPr id="5" name="">
            <a:extLst>
              <a:ext uri="{FF2B5EF4-FFF2-40B4-BE49-F238E27FC236}">
                <ns2:creationId id="{C4AD470F-DFDF-4551-BDF4-70F5E4B283CF}"/>
              </a:ext>
            </a:extLst>
          </p:cNvPr>
          <p:cNvPicPr>
            <a:picLocks noChangeAspect="1"/>
          </p:cNvPicPr>
          <p:nvPr/>
        </p:nvPicPr>
        <p:blipFill>
          <a:blip r:embed="Ra1546854c5424e61"/>
          <a:stretch/>
        </p:blipFill>
        <p:spPr>
          <a:xfrm>
            <a:off x="6553200" y="1924050"/>
            <a:ext cx="1066800" cy="1066800"/>
          </a:xfrm>
          <a:prstGeom prst="rect">
            <a:avLst/>
          </a:prstGeom>
        </p:spPr>
      </p:pic>
      <p:sp>
        <p:nvSpPr>
          <p:cNvPr id="6" name="team-slide6-text-3">
            <a:extLst>
              <a:ext uri="{FF2B5EF4-FFF2-40B4-BE49-F238E27FC236}">
                <ns2:creationId id="{9E45F87B-28AC-4FBC-87AA-CBF556410845}"/>
              </a:ext>
            </a:extLst>
          </p:cNvPr>
          <p:cNvSpPr>
            <a:spLocks noGrp="1"/>
          </p:cNvSpPr>
          <p:nvPr/>
        </p:nvSpPr>
        <p:spPr>
          <a:xfrm>
            <a:off x="1752600" y="1933575"/>
            <a:ext cx="4019550" cy="457200"/>
          </a:xfrm>
          <a:prstGeom prst="rect">
            <a:avLst/>
          </a:prstGeom>
          <a:noFill/>
          <a:ln w="0">
            <a:noFill/>
            <a:prstDash val="solid"/>
          </a:ln>
        </p:spPr>
        <p:txBody>
          <a:bodyPr wrap="square" lIns="0" tIns="0" rIns="0" bIns="0" anchor="t">
            <a:noAutofit/>
          </a:bodyPr>
          <a:lstStyle>
            <a:defPPr algn="l">
              <a:defRPr sz="2700" b="1">
                <a:solidFill>
                  <a:srgbClr val="193C32"/>
                </a:solidFill>
                <a:latin typeface="Helvetica Neue"/>
                <a:ea typeface="Helvetica Neue"/>
                <a:cs typeface="Helvetica Neue"/>
              </a:defRPr>
            </a:defPPr>
          </a:lstStyle>
          <a:p>
            <a:pPr algn="l">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hlinkClick r:id="rId1000"/>
              </a:rPr>
              <a:t>Pulkit Walia</a:t>
            </a:r>
          </a:p>
        </p:txBody>
      </p:sp>
      <p:sp>
        <p:nvSpPr>
          <p:cNvPr id="7" name="team-slide6-text-4">
            <a:extLst>
              <a:ext uri="{FF2B5EF4-FFF2-40B4-BE49-F238E27FC236}">
                <ns2:creationId id="{1C744301-76D0-44EB-8A07-D4EA18D7BEAB}"/>
              </a:ext>
            </a:extLst>
          </p:cNvPr>
          <p:cNvSpPr>
            <a:spLocks noGrp="1"/>
          </p:cNvSpPr>
          <p:nvPr/>
        </p:nvSpPr>
        <p:spPr>
          <a:xfrm>
            <a:off x="1752600" y="2400300"/>
            <a:ext cx="4019550" cy="304800"/>
          </a:xfrm>
          <a:prstGeom prst="rect">
            <a:avLst/>
          </a:prstGeom>
          <a:noFill/>
          <a:ln w="0">
            <a:noFill/>
            <a:prstDash val="solid"/>
          </a:ln>
        </p:spPr>
        <p:txBody>
          <a:bodyPr wrap="square" lIns="0" tIns="0" rIns="0" bIns="0" anchor="t">
            <a:noAutofit/>
          </a:bodyPr>
          <a:lstStyle>
            <a:defPPr algn="l">
              <a:defRPr sz="1725" b="1">
                <a:solidFill>
                  <a:srgbClr val="236C4E"/>
                </a:solidFill>
                <a:latin typeface="Helvetica Neue"/>
                <a:ea typeface="Helvetica Neue"/>
                <a:cs typeface="Helvetica Neue"/>
              </a:defRPr>
            </a:defPPr>
          </a:lstStyle>
          <a:p>
            <a:pPr algn="l">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Founder</a:t>
            </a:r>
          </a:p>
        </p:txBody>
      </p:sp>
      <p:sp>
        <p:nvSpPr>
          <p:cNvPr id="8" name="team-slide6-text-5">
            <a:extLst>
              <a:ext uri="{FF2B5EF4-FFF2-40B4-BE49-F238E27FC236}">
                <ns2:creationId id="{B9672DB1-2A6D-47B3-AABB-3B325AB6E2C3}"/>
              </a:ext>
            </a:extLst>
          </p:cNvPr>
          <p:cNvSpPr>
            <a:spLocks noGrp="1"/>
          </p:cNvSpPr>
          <p:nvPr/>
        </p:nvSpPr>
        <p:spPr>
          <a:xfrm>
            <a:off x="1752600" y="2743200"/>
            <a:ext cx="4019550" cy="266700"/>
          </a:xfrm>
          <a:prstGeom prst="rect">
            <a:avLst/>
          </a:prstGeom>
          <a:noFill/>
          <a:ln w="0">
            <a:noFill/>
            <a:prstDash val="solid"/>
          </a:ln>
        </p:spPr>
        <p:txBody>
          <a:bodyPr wrap="square" lIns="0" tIns="0" rIns="0" bIns="0" anchor="t">
            <a:noAutofit/>
          </a:bodyPr>
          <a:lstStyle>
            <a:defPPr algn="l">
              <a:defRPr sz="1350" b="0">
                <a:solidFill>
                  <a:srgbClr val="65746C"/>
                </a:solidFill>
                <a:latin typeface="Helvetica Neue"/>
                <a:ea typeface="Helvetica Neue"/>
                <a:cs typeface="Helvetica Neue"/>
              </a:defRPr>
            </a:defPPr>
          </a:lstStyle>
          <a:p>
            <a:pPr algn="l">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r:id="rId1001"/>
              </a:rPr>
              <a:t>LinkedIn: pulkitwalia</a:t>
            </a:r>
          </a:p>
        </p:txBody>
      </p:sp>
      <p:sp>
        <p:nvSpPr>
          <p:cNvPr id="9" name="team-slide6-text-6">
            <a:extLst>
              <a:ext uri="{FF2B5EF4-FFF2-40B4-BE49-F238E27FC236}">
                <ns2:creationId id="{82C11CD6-6B27-438B-9C3C-D585CE0481F6}"/>
              </a:ext>
            </a:extLst>
          </p:cNvPr>
          <p:cNvSpPr>
            <a:spLocks noGrp="1"/>
          </p:cNvSpPr>
          <p:nvPr/>
        </p:nvSpPr>
        <p:spPr>
          <a:xfrm>
            <a:off x="7810500" y="1933575"/>
            <a:ext cx="3886200" cy="457200"/>
          </a:xfrm>
          <a:prstGeom prst="rect">
            <a:avLst/>
          </a:prstGeom>
          <a:noFill/>
          <a:ln w="0">
            <a:noFill/>
            <a:prstDash val="solid"/>
          </a:ln>
        </p:spPr>
        <p:txBody>
          <a:bodyPr wrap="square" lIns="0" tIns="0" rIns="0" bIns="0" anchor="t">
            <a:noAutofit/>
          </a:bodyPr>
          <a:lstStyle>
            <a:defPPr algn="l">
              <a:defRPr sz="2700" b="1">
                <a:solidFill>
                  <a:srgbClr val="193C32"/>
                </a:solidFill>
                <a:latin typeface="Helvetica Neue"/>
                <a:ea typeface="Helvetica Neue"/>
                <a:cs typeface="Helvetica Neue"/>
              </a:defRPr>
            </a:defPPr>
          </a:lstStyle>
          <a:p>
            <a:pPr algn="l">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hlinkClick r:id="rId1002"/>
              </a:rPr>
              <a:t>Rohit Jain</a:t>
            </a:r>
          </a:p>
        </p:txBody>
      </p:sp>
      <p:sp>
        <p:nvSpPr>
          <p:cNvPr id="10" name="team-slide6-text-7">
            <a:extLst>
              <a:ext uri="{FF2B5EF4-FFF2-40B4-BE49-F238E27FC236}">
                <ns2:creationId id="{763E4342-BDC6-4471-8FBF-2225ABFB7485}"/>
              </a:ext>
            </a:extLst>
          </p:cNvPr>
          <p:cNvSpPr>
            <a:spLocks noGrp="1"/>
          </p:cNvSpPr>
          <p:nvPr/>
        </p:nvSpPr>
        <p:spPr>
          <a:xfrm>
            <a:off x="7810500" y="2400300"/>
            <a:ext cx="3886200" cy="304800"/>
          </a:xfrm>
          <a:prstGeom prst="rect">
            <a:avLst/>
          </a:prstGeom>
          <a:noFill/>
          <a:ln w="0">
            <a:noFill/>
            <a:prstDash val="solid"/>
          </a:ln>
        </p:spPr>
        <p:txBody>
          <a:bodyPr wrap="square" lIns="0" tIns="0" rIns="0" bIns="0" anchor="t">
            <a:noAutofit/>
          </a:bodyPr>
          <a:lstStyle>
            <a:defPPr algn="l">
              <a:defRPr sz="1725" b="1">
                <a:solidFill>
                  <a:srgbClr val="236C4E"/>
                </a:solidFill>
                <a:latin typeface="Helvetica Neue"/>
                <a:ea typeface="Helvetica Neue"/>
                <a:cs typeface="Helvetica Neue"/>
              </a:defRPr>
            </a:defPPr>
          </a:lstStyle>
          <a:p>
            <a:pPr algn="l">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Engineering</a:t>
            </a:r>
          </a:p>
        </p:txBody>
      </p:sp>
      <p:sp>
        <p:nvSpPr>
          <p:cNvPr id="11" name="team-slide6-text-8">
            <a:extLst>
              <a:ext uri="{FF2B5EF4-FFF2-40B4-BE49-F238E27FC236}">
                <ns2:creationId id="{F71B4993-E7E3-43F9-9BDD-366EE5AAE9E9}"/>
              </a:ext>
            </a:extLst>
          </p:cNvPr>
          <p:cNvSpPr>
            <a:spLocks noGrp="1"/>
          </p:cNvSpPr>
          <p:nvPr/>
        </p:nvSpPr>
        <p:spPr>
          <a:xfrm>
            <a:off x="7810500" y="2743200"/>
            <a:ext cx="3886200" cy="266700"/>
          </a:xfrm>
          <a:prstGeom prst="rect">
            <a:avLst/>
          </a:prstGeom>
          <a:noFill/>
          <a:ln w="0">
            <a:noFill/>
            <a:prstDash val="solid"/>
          </a:ln>
        </p:spPr>
        <p:txBody>
          <a:bodyPr wrap="square" lIns="0" tIns="0" rIns="0" bIns="0" anchor="t">
            <a:noAutofit/>
          </a:bodyPr>
          <a:lstStyle>
            <a:defPPr algn="l">
              <a:defRPr sz="1350" b="0">
                <a:solidFill>
                  <a:srgbClr val="65746C"/>
                </a:solidFill>
                <a:latin typeface="Helvetica Neue"/>
                <a:ea typeface="Helvetica Neue"/>
                <a:cs typeface="Helvetica Neue"/>
              </a:defRPr>
            </a:defPPr>
          </a:lstStyle>
          <a:p>
            <a:pPr algn="l">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r:id="rId1003"/>
              </a:rPr>
              <a:t>LinkedIn: rohit-jain-343437187</a:t>
            </a:r>
          </a:p>
        </p:txBody>
      </p:sp>
      <p:sp>
        <p:nvSpPr>
          <p:cNvPr id="12" name="team-slide6-text-9">
            <a:extLst>
              <a:ext uri="{FF2B5EF4-FFF2-40B4-BE49-F238E27FC236}">
                <ns2:creationId id="{291FE341-DFD2-47B9-94F9-EF7FC22DBAF7}"/>
              </a:ext>
            </a:extLst>
          </p:cNvPr>
          <p:cNvSpPr>
            <a:spLocks noGrp="1"/>
          </p:cNvSpPr>
          <p:nvPr/>
        </p:nvSpPr>
        <p:spPr>
          <a:xfrm>
            <a:off x="495300" y="3171825"/>
            <a:ext cx="5286375" cy="333375"/>
          </a:xfrm>
          <a:prstGeom prst="rect">
            <a:avLst/>
          </a:prstGeom>
          <a:noFill/>
          <a:ln w="0">
            <a:noFill/>
            <a:prstDash val="solid"/>
          </a:ln>
        </p:spPr>
        <p:txBody>
          <a:bodyPr wrap="square" lIns="0" tIns="0" rIns="0" bIns="0" anchor="t">
            <a:noAutofit/>
          </a:bodyPr>
          <a:lstStyle>
            <a:defPPr algn="l">
              <a:defRPr sz="1725" b="1">
                <a:solidFill>
                  <a:srgbClr val="236C4E"/>
                </a:solidFill>
                <a:latin typeface="Helvetica Neue"/>
                <a:ea typeface="Helvetica Neue"/>
                <a:cs typeface="Helvetica Neue"/>
              </a:defRPr>
            </a:defPPr>
          </a:lstStyle>
          <a:p>
            <a:pPr algn="l">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Harvard Business School MBA</a:t>
            </a:r>
          </a:p>
        </p:txBody>
      </p:sp>
      <p:sp>
        <p:nvSpPr>
          <p:cNvPr id="13" name="team-slide6-text-10">
            <a:extLst>
              <a:ext uri="{FF2B5EF4-FFF2-40B4-BE49-F238E27FC236}">
                <ns2:creationId id="{3AF69E90-40FC-4B88-B8B2-07CF59F66CE1}"/>
              </a:ext>
            </a:extLst>
          </p:cNvPr>
          <p:cNvSpPr>
            <a:spLocks noGrp="1"/>
          </p:cNvSpPr>
          <p:nvPr/>
        </p:nvSpPr>
        <p:spPr>
          <a:xfrm>
            <a:off x="6553200" y="3095625"/>
            <a:ext cx="5143500" cy="552450"/>
          </a:xfrm>
          <a:prstGeom prst="rect">
            <a:avLst/>
          </a:prstGeom>
          <a:noFill/>
          <a:ln w="0">
            <a:noFill/>
            <a:prstDash val="solid"/>
          </a:ln>
        </p:spPr>
        <p:txBody>
          <a:bodyPr wrap="square" lIns="0" tIns="0" rIns="0" bIns="0" anchor="t">
            <a:noAutofit/>
          </a:bodyPr>
          <a:lstStyle>
            <a:defPPr algn="l">
              <a:defRPr sz="1650" b="1">
                <a:solidFill>
                  <a:srgbClr val="236C4E"/>
                </a:solidFill>
                <a:latin typeface="Helvetica Neue"/>
                <a:ea typeface="Helvetica Neue"/>
                <a:cs typeface="Helvetica Neue"/>
              </a:defRPr>
            </a:defPPr>
          </a:lstStyle>
          <a:p>
            <a:pPr algn="l">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Texas A&amp;M, Computer Science</a:t>
            </a:r>
          </a:p>
          <a:p>
            <a:pPr algn="l">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IIT Kharagpur</a:t>
            </a:r>
          </a:p>
        </p:txBody>
      </p:sp>
      <p:pic>
        <p:nvPicPr>
          <p:cNvPr id="14" name="">
            <a:extLst>
              <a:ext uri="{FF2B5EF4-FFF2-40B4-BE49-F238E27FC236}">
                <ns2:creationId id="{13E055D4-CA5D-42BE-8720-DE5A90759333}"/>
              </a:ext>
            </a:extLst>
          </p:cNvPr>
          <p:cNvPicPr>
            <a:picLocks noChangeAspect="1"/>
          </p:cNvPicPr>
          <p:nvPr/>
        </p:nvPicPr>
        <p:blipFill>
          <a:blip r:embed="Re688961ad3f74513"/>
          <a:stretch/>
        </p:blipFill>
        <p:spPr>
          <a:xfrm>
            <a:off x="495300" y="3733800"/>
            <a:ext cx="238125" cy="238125"/>
          </a:xfrm>
          <a:prstGeom prst="rect">
            <a:avLst/>
          </a:prstGeom>
        </p:spPr>
      </p:pic>
      <p:sp>
        <p:nvSpPr>
          <p:cNvPr id="15" name="team-slide6-text-11">
            <a:extLst>
              <a:ext uri="{FF2B5EF4-FFF2-40B4-BE49-F238E27FC236}">
                <ns2:creationId id="{D0C6E03B-248F-4916-9D33-522029C04475}"/>
              </a:ext>
            </a:extLst>
          </p:cNvPr>
          <p:cNvSpPr>
            <a:spLocks noGrp="1"/>
          </p:cNvSpPr>
          <p:nvPr/>
        </p:nvSpPr>
        <p:spPr>
          <a:xfrm>
            <a:off x="838200" y="3695700"/>
            <a:ext cx="1714500" cy="323850"/>
          </a:xfrm>
          <a:prstGeom prst="rect">
            <a:avLst/>
          </a:prstGeom>
          <a:noFill/>
          <a:ln w="0">
            <a:noFill/>
            <a:prstDash val="solid"/>
          </a:ln>
        </p:spPr>
        <p:txBody>
          <a:bodyPr wrap="square" lIns="0" tIns="0" rIns="0" bIns="0" anchor="t">
            <a:noAutofit/>
          </a:bodyPr>
          <a:lstStyle>
            <a:defPPr algn="l">
              <a:defRPr sz="1500" b="0">
                <a:solidFill>
                  <a:srgbClr val="65746C"/>
                </a:solidFill>
                <a:latin typeface="Helvetica Neue"/>
                <a:ea typeface="Helvetica Neue"/>
                <a:cs typeface="Helvetica Neue"/>
              </a:defRPr>
            </a:defPPr>
          </a:lstStyle>
          <a:p>
            <a:pPr algn="l">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Urban Company</a:t>
            </a:r>
          </a:p>
        </p:txBody>
      </p:sp>
      <p:pic>
        <p:nvPicPr>
          <p:cNvPr id="16" name="">
            <a:extLst>
              <a:ext uri="{FF2B5EF4-FFF2-40B4-BE49-F238E27FC236}">
                <ns2:creationId id="{0418B5B6-C0D3-4E8C-8F03-85F1FB0E15E8}"/>
              </a:ext>
            </a:extLst>
          </p:cNvPr>
          <p:cNvPicPr>
            <a:picLocks noChangeAspect="1"/>
          </p:cNvPicPr>
          <p:nvPr/>
        </p:nvPicPr>
        <p:blipFill>
          <a:blip r:embed="Re85f12e6873d4597"/>
          <a:stretch/>
        </p:blipFill>
        <p:spPr>
          <a:xfrm>
            <a:off x="2667000" y="3733800"/>
            <a:ext cx="238125" cy="238125"/>
          </a:xfrm>
          <a:prstGeom prst="rect">
            <a:avLst/>
          </a:prstGeom>
        </p:spPr>
      </p:pic>
      <p:sp>
        <p:nvSpPr>
          <p:cNvPr id="17" name="team-slide6-text-12">
            <a:extLst>
              <a:ext uri="{FF2B5EF4-FFF2-40B4-BE49-F238E27FC236}">
                <ns2:creationId id="{A5153CD1-938D-4600-BEBA-000AA057CAB6}"/>
              </a:ext>
            </a:extLst>
          </p:cNvPr>
          <p:cNvSpPr>
            <a:spLocks noGrp="1"/>
          </p:cNvSpPr>
          <p:nvPr/>
        </p:nvSpPr>
        <p:spPr>
          <a:xfrm>
            <a:off x="3009900" y="3705225"/>
            <a:ext cx="2952750" cy="323850"/>
          </a:xfrm>
          <a:prstGeom prst="rect">
            <a:avLst/>
          </a:prstGeom>
          <a:noFill/>
          <a:ln w="0">
            <a:noFill/>
            <a:prstDash val="solid"/>
          </a:ln>
        </p:spPr>
        <p:txBody>
          <a:bodyPr wrap="square" lIns="0" tIns="0" rIns="0" bIns="0" anchor="t">
            <a:noAutofit/>
          </a:bodyPr>
          <a:lstStyle>
            <a:defPPr algn="l">
              <a:defRPr sz="1425" b="0">
                <a:solidFill>
                  <a:srgbClr val="65746C"/>
                </a:solidFill>
                <a:latin typeface="Helvetica Neue"/>
                <a:ea typeface="Helvetica Neue"/>
                <a:cs typeface="Helvetica Neue"/>
              </a:defRPr>
            </a:defPPr>
          </a:lstStyle>
          <a:p>
            <a:pPr algn="l">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Bessemer Venture Partners</a:t>
            </a:r>
          </a:p>
        </p:txBody>
      </p:sp>
      <p:pic>
        <p:nvPicPr>
          <p:cNvPr id="18" name="">
            <a:extLst>
              <a:ext uri="{FF2B5EF4-FFF2-40B4-BE49-F238E27FC236}">
                <ns2:creationId id="{822CE0BF-354F-4CEF-BA06-CD5689320917}"/>
              </a:ext>
            </a:extLst>
          </p:cNvPr>
          <p:cNvPicPr>
            <a:picLocks noChangeAspect="1"/>
          </p:cNvPicPr>
          <p:nvPr/>
        </p:nvPicPr>
        <p:blipFill>
          <a:blip r:embed="Rb3dd2c0736044a18"/>
          <a:stretch/>
        </p:blipFill>
        <p:spPr>
          <a:xfrm>
            <a:off x="6553200" y="3733800"/>
            <a:ext cx="238125" cy="238125"/>
          </a:xfrm>
          <a:prstGeom prst="rect">
            <a:avLst/>
          </a:prstGeom>
        </p:spPr>
      </p:pic>
      <p:sp>
        <p:nvSpPr>
          <p:cNvPr id="19" name="team-slide6-text-13">
            <a:extLst>
              <a:ext uri="{FF2B5EF4-FFF2-40B4-BE49-F238E27FC236}">
                <ns2:creationId id="{DDE110ED-216E-438C-B8BE-FCBA5FF236DB}"/>
              </a:ext>
            </a:extLst>
          </p:cNvPr>
          <p:cNvSpPr>
            <a:spLocks noGrp="1"/>
          </p:cNvSpPr>
          <p:nvPr/>
        </p:nvSpPr>
        <p:spPr>
          <a:xfrm>
            <a:off x="6896100" y="3695700"/>
            <a:ext cx="1238250" cy="323850"/>
          </a:xfrm>
          <a:prstGeom prst="rect">
            <a:avLst/>
          </a:prstGeom>
          <a:noFill/>
          <a:ln w="0">
            <a:noFill/>
            <a:prstDash val="solid"/>
          </a:ln>
        </p:spPr>
        <p:txBody>
          <a:bodyPr wrap="square" lIns="0" tIns="0" rIns="0" bIns="0" anchor="t">
            <a:noAutofit/>
          </a:bodyPr>
          <a:lstStyle>
            <a:defPPr algn="l">
              <a:defRPr sz="1500" b="0">
                <a:solidFill>
                  <a:srgbClr val="65746C"/>
                </a:solidFill>
                <a:latin typeface="Helvetica Neue"/>
                <a:ea typeface="Helvetica Neue"/>
                <a:cs typeface="Helvetica Neue"/>
              </a:defRPr>
            </a:defPPr>
          </a:lstStyle>
          <a:p>
            <a:pPr algn="l">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Amazon</a:t>
            </a:r>
          </a:p>
        </p:txBody>
      </p:sp>
      <p:pic>
        <p:nvPicPr>
          <p:cNvPr id="20" name="">
            <a:extLst>
              <a:ext uri="{FF2B5EF4-FFF2-40B4-BE49-F238E27FC236}">
                <ns2:creationId id="{F9413213-0C15-488C-AD85-2CC5C1890BA0}"/>
              </a:ext>
            </a:extLst>
          </p:cNvPr>
          <p:cNvPicPr>
            <a:picLocks noChangeAspect="1"/>
          </p:cNvPicPr>
          <p:nvPr/>
        </p:nvPicPr>
        <p:blipFill>
          <a:blip r:embed="Re1a8ecd99a044099"/>
          <a:stretch/>
        </p:blipFill>
        <p:spPr>
          <a:xfrm>
            <a:off x="8201025" y="3733800"/>
            <a:ext cx="238125" cy="238125"/>
          </a:xfrm>
          <a:prstGeom prst="rect">
            <a:avLst/>
          </a:prstGeom>
        </p:spPr>
      </p:pic>
      <p:sp>
        <p:nvSpPr>
          <p:cNvPr id="21" name="team-slide6-text-14">
            <a:extLst>
              <a:ext uri="{FF2B5EF4-FFF2-40B4-BE49-F238E27FC236}">
                <ns2:creationId id="{1D044AE9-A797-4C6E-BAD7-1C41E44BF828}"/>
              </a:ext>
            </a:extLst>
          </p:cNvPr>
          <p:cNvSpPr>
            <a:spLocks noGrp="1"/>
          </p:cNvSpPr>
          <p:nvPr/>
        </p:nvSpPr>
        <p:spPr>
          <a:xfrm>
            <a:off x="8543925" y="3695700"/>
            <a:ext cx="1143000" cy="323850"/>
          </a:xfrm>
          <a:prstGeom prst="rect">
            <a:avLst/>
          </a:prstGeom>
          <a:noFill/>
          <a:ln w="0">
            <a:noFill/>
            <a:prstDash val="solid"/>
          </a:ln>
        </p:spPr>
        <p:txBody>
          <a:bodyPr wrap="square" lIns="0" tIns="0" rIns="0" bIns="0" anchor="t">
            <a:noAutofit/>
          </a:bodyPr>
          <a:lstStyle>
            <a:defPPr algn="l">
              <a:defRPr sz="1500" b="0">
                <a:solidFill>
                  <a:srgbClr val="65746C"/>
                </a:solidFill>
                <a:latin typeface="Helvetica Neue"/>
                <a:ea typeface="Helvetica Neue"/>
                <a:cs typeface="Helvetica Neue"/>
              </a:defRPr>
            </a:defPPr>
          </a:lstStyle>
          <a:p>
            <a:pPr algn="l">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Square</a:t>
            </a:r>
          </a:p>
        </p:txBody>
      </p:sp>
      <p:pic>
        <p:nvPicPr>
          <p:cNvPr id="22" name="">
            <a:extLst>
              <a:ext uri="{FF2B5EF4-FFF2-40B4-BE49-F238E27FC236}">
                <ns2:creationId id="{C8F6DF6D-8E6C-4596-A35A-04934F616581}"/>
              </a:ext>
            </a:extLst>
          </p:cNvPr>
          <p:cNvPicPr>
            <a:picLocks noChangeAspect="1"/>
          </p:cNvPicPr>
          <p:nvPr/>
        </p:nvPicPr>
        <p:blipFill>
          <a:blip r:embed="R170973b786814f89"/>
          <a:stretch/>
        </p:blipFill>
        <p:spPr>
          <a:xfrm>
            <a:off x="9848850" y="3733800"/>
            <a:ext cx="238125" cy="238125"/>
          </a:xfrm>
          <a:prstGeom prst="rect">
            <a:avLst/>
          </a:prstGeom>
        </p:spPr>
      </p:pic>
      <p:sp>
        <p:nvSpPr>
          <p:cNvPr id="23" name="team-slide6-text-15">
            <a:extLst>
              <a:ext uri="{FF2B5EF4-FFF2-40B4-BE49-F238E27FC236}">
                <ns2:creationId id="{19B64094-18E4-4BB4-B2CE-A3352C5D59E5}"/>
              </a:ext>
            </a:extLst>
          </p:cNvPr>
          <p:cNvSpPr>
            <a:spLocks noGrp="1"/>
          </p:cNvSpPr>
          <p:nvPr/>
        </p:nvSpPr>
        <p:spPr>
          <a:xfrm>
            <a:off x="10191750" y="3695700"/>
            <a:ext cx="1238250" cy="323850"/>
          </a:xfrm>
          <a:prstGeom prst="rect">
            <a:avLst/>
          </a:prstGeom>
          <a:noFill/>
          <a:ln w="0">
            <a:noFill/>
            <a:prstDash val="solid"/>
          </a:ln>
        </p:spPr>
        <p:txBody>
          <a:bodyPr wrap="square" lIns="0" tIns="0" rIns="0" bIns="0" anchor="t">
            <a:noAutofit/>
          </a:bodyPr>
          <a:lstStyle>
            <a:defPPr algn="l">
              <a:defRPr sz="1500" b="0">
                <a:solidFill>
                  <a:srgbClr val="65746C"/>
                </a:solidFill>
                <a:latin typeface="Helvetica Neue"/>
                <a:ea typeface="Helvetica Neue"/>
                <a:cs typeface="Helvetica Neue"/>
              </a:defRPr>
            </a:defPPr>
          </a:lstStyle>
          <a:p>
            <a:pPr algn="l">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Citrix</a:t>
            </a:r>
          </a:p>
        </p:txBody>
      </p:sp>
      <p:sp>
        <p:nvSpPr>
          <p:cNvPr id="24" name="team-slide6-text-16">
            <a:extLst>
              <a:ext uri="{FF2B5EF4-FFF2-40B4-BE49-F238E27FC236}">
                <ns2:creationId id="{7EA41C63-B344-4C0C-B751-FCBBD50DADC8}"/>
              </a:ext>
            </a:extLst>
          </p:cNvPr>
          <p:cNvSpPr>
            <a:spLocks noGrp="1"/>
          </p:cNvSpPr>
          <p:nvPr/>
        </p:nvSpPr>
        <p:spPr>
          <a:xfrm>
            <a:off x="495300" y="4210050"/>
            <a:ext cx="5286375" cy="352425"/>
          </a:xfrm>
          <a:prstGeom prst="rect">
            <a:avLst/>
          </a:prstGeom>
          <a:noFill/>
          <a:ln w="0">
            <a:noFill/>
            <a:prstDash val="solid"/>
          </a:ln>
        </p:spPr>
        <p:txBody>
          <a:bodyPr wrap="square" lIns="0" tIns="0" rIns="0" bIns="0" anchor="t">
            <a:noAutofit/>
          </a:bodyPr>
          <a:lstStyle>
            <a:defPPr algn="l">
              <a:defRPr sz="1875" b="1">
                <a:solidFill>
                  <a:srgbClr val="193C32"/>
                </a:solidFill>
                <a:latin typeface="Helvetica Neue"/>
                <a:ea typeface="Helvetica Neue"/>
                <a:cs typeface="Helvetica Neue"/>
              </a:defRPr>
            </a:defPPr>
          </a:lstStyle>
          <a:p>
            <a:pPr algn="l">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Urban Company founding team</a:t>
            </a:r>
          </a:p>
        </p:txBody>
      </p:sp>
      <p:sp>
        <p:nvSpPr>
          <p:cNvPr id="25" name="team-slide6-text-17">
            <a:extLst>
              <a:ext uri="{FF2B5EF4-FFF2-40B4-BE49-F238E27FC236}">
                <ns2:creationId id="{FFEA2B4C-B666-4992-89B7-CC6B1916FAAB}"/>
              </a:ext>
            </a:extLst>
          </p:cNvPr>
          <p:cNvSpPr>
            <a:spLocks noGrp="1"/>
          </p:cNvSpPr>
          <p:nvPr/>
        </p:nvSpPr>
        <p:spPr>
          <a:xfrm>
            <a:off x="495300" y="4552950"/>
            <a:ext cx="5286375" cy="342900"/>
          </a:xfrm>
          <a:prstGeom prst="rect">
            <a:avLst/>
          </a:prstGeom>
          <a:noFill/>
          <a:ln w="0">
            <a:noFill/>
            <a:prstDash val="solid"/>
          </a:ln>
        </p:spPr>
        <p:txBody>
          <a:bodyPr wrap="square" lIns="0" tIns="0" rIns="0" bIns="0" anchor="t">
            <a:noAutofit/>
          </a:bodyPr>
          <a:lstStyle>
            <a:defPPr algn="l">
              <a:defRPr sz="1800" b="0">
                <a:solidFill>
                  <a:srgbClr val="193C32"/>
                </a:solidFill>
                <a:latin typeface="Helvetica Neue"/>
                <a:ea typeface="Helvetica Neue"/>
                <a:cs typeface="Helvetica Neue"/>
              </a:defRPr>
            </a:defPPr>
          </a:lstStyle>
          <a:p>
            <a:pPr algn="l">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A decade scaling from zero to a $3B IPO.</a:t>
            </a:r>
          </a:p>
        </p:txBody>
      </p:sp>
      <p:sp>
        <p:nvSpPr>
          <p:cNvPr id="26" name="team-slide6-text-18">
            <a:extLst>
              <a:ext uri="{FF2B5EF4-FFF2-40B4-BE49-F238E27FC236}">
                <ns2:creationId id="{C0013155-A417-4996-8FFD-DF0E07043F1B}"/>
              </a:ext>
            </a:extLst>
          </p:cNvPr>
          <p:cNvSpPr>
            <a:spLocks noGrp="1"/>
          </p:cNvSpPr>
          <p:nvPr/>
        </p:nvSpPr>
        <p:spPr>
          <a:xfrm>
            <a:off x="495300" y="4933950"/>
            <a:ext cx="5286375" cy="352425"/>
          </a:xfrm>
          <a:prstGeom prst="rect">
            <a:avLst/>
          </a:prstGeom>
          <a:noFill/>
          <a:ln w="0">
            <a:noFill/>
            <a:prstDash val="solid"/>
          </a:ln>
        </p:spPr>
        <p:txBody>
          <a:bodyPr wrap="square" lIns="0" tIns="0" rIns="0" bIns="0" anchor="t">
            <a:noAutofit/>
          </a:bodyPr>
          <a:lstStyle>
            <a:defPPr algn="l">
              <a:defRPr sz="1875" b="1">
                <a:solidFill>
                  <a:srgbClr val="193C32"/>
                </a:solidFill>
                <a:latin typeface="Helvetica Neue"/>
                <a:ea typeface="Helvetica Neue"/>
                <a:cs typeface="Helvetica Neue"/>
              </a:defRPr>
            </a:defPPr>
          </a:lstStyle>
          <a:p>
            <a:pPr algn="l">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Home security consumer brand</a:t>
            </a:r>
          </a:p>
        </p:txBody>
      </p:sp>
      <p:sp>
        <p:nvSpPr>
          <p:cNvPr id="27" name="team-slide6-text-19">
            <a:extLst>
              <a:ext uri="{FF2B5EF4-FFF2-40B4-BE49-F238E27FC236}">
                <ns2:creationId id="{474E98D0-02F1-4E82-A39C-49D4B79D020E}"/>
              </a:ext>
            </a:extLst>
          </p:cNvPr>
          <p:cNvSpPr>
            <a:spLocks noGrp="1"/>
          </p:cNvSpPr>
          <p:nvPr/>
        </p:nvSpPr>
        <p:spPr>
          <a:xfrm>
            <a:off x="495300" y="5276850"/>
            <a:ext cx="5286375" cy="342900"/>
          </a:xfrm>
          <a:prstGeom prst="rect">
            <a:avLst/>
          </a:prstGeom>
          <a:noFill/>
          <a:ln w="0">
            <a:noFill/>
            <a:prstDash val="solid"/>
          </a:ln>
        </p:spPr>
        <p:txBody>
          <a:bodyPr wrap="square" lIns="0" tIns="0" rIns="0" bIns="0" anchor="t">
            <a:noAutofit/>
          </a:bodyPr>
          <a:lstStyle>
            <a:defPPr algn="l">
              <a:defRPr sz="1800" b="0">
                <a:solidFill>
                  <a:srgbClr val="193C32"/>
                </a:solidFill>
                <a:latin typeface="Helvetica Neue"/>
                <a:ea typeface="Helvetica Neue"/>
                <a:cs typeface="Helvetica Neue"/>
              </a:defRPr>
            </a:defPPr>
          </a:lstStyle>
          <a:p>
            <a:pPr algn="l">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Scaled first venture to $700K in revenue.</a:t>
            </a:r>
          </a:p>
        </p:txBody>
      </p:sp>
      <p:sp>
        <p:nvSpPr>
          <p:cNvPr id="28" name="team-slide6-text-20">
            <a:extLst>
              <a:ext uri="{FF2B5EF4-FFF2-40B4-BE49-F238E27FC236}">
                <ns2:creationId id="{27E5D3FA-4337-49F7-AE12-46BD89B13F32}"/>
              </a:ext>
            </a:extLst>
          </p:cNvPr>
          <p:cNvSpPr>
            <a:spLocks noGrp="1"/>
          </p:cNvSpPr>
          <p:nvPr/>
        </p:nvSpPr>
        <p:spPr>
          <a:xfrm>
            <a:off x="495300" y="5657850"/>
            <a:ext cx="5286375" cy="352425"/>
          </a:xfrm>
          <a:prstGeom prst="rect">
            <a:avLst/>
          </a:prstGeom>
          <a:noFill/>
          <a:ln w="0">
            <a:noFill/>
            <a:prstDash val="solid"/>
          </a:ln>
        </p:spPr>
        <p:txBody>
          <a:bodyPr wrap="square" lIns="0" tIns="0" rIns="0" bIns="0" anchor="t">
            <a:noAutofit/>
          </a:bodyPr>
          <a:lstStyle>
            <a:defPPr algn="l">
              <a:defRPr sz="1875" b="1">
                <a:solidFill>
                  <a:srgbClr val="193C32"/>
                </a:solidFill>
                <a:latin typeface="Helvetica Neue"/>
                <a:ea typeface="Helvetica Neue"/>
                <a:cs typeface="Helvetica Neue"/>
              </a:defRPr>
            </a:defPPr>
          </a:lstStyle>
          <a:p>
            <a:pPr algn="l">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Investor at Bessemer</a:t>
            </a:r>
          </a:p>
        </p:txBody>
      </p:sp>
      <p:sp>
        <p:nvSpPr>
          <p:cNvPr id="29" name="team-slide6-text-21">
            <a:extLst>
              <a:ext uri="{FF2B5EF4-FFF2-40B4-BE49-F238E27FC236}">
                <ns2:creationId id="{C6F33314-7438-401E-904B-47A8FAF534D8}"/>
              </a:ext>
            </a:extLst>
          </p:cNvPr>
          <p:cNvSpPr>
            <a:spLocks noGrp="1"/>
          </p:cNvSpPr>
          <p:nvPr/>
        </p:nvSpPr>
        <p:spPr>
          <a:xfrm>
            <a:off x="495300" y="6000750"/>
            <a:ext cx="5286375" cy="333375"/>
          </a:xfrm>
          <a:prstGeom prst="rect">
            <a:avLst/>
          </a:prstGeom>
          <a:noFill/>
          <a:ln w="0">
            <a:noFill/>
            <a:prstDash val="solid"/>
          </a:ln>
        </p:spPr>
        <p:txBody>
          <a:bodyPr wrap="square" lIns="0" tIns="0" rIns="0" bIns="0" anchor="t">
            <a:noAutofit/>
          </a:bodyPr>
          <a:lstStyle>
            <a:defPPr algn="l">
              <a:defRPr sz="1800" b="0">
                <a:solidFill>
                  <a:srgbClr val="193C32"/>
                </a:solidFill>
                <a:latin typeface="Helvetica Neue"/>
                <a:ea typeface="Helvetica Neue"/>
                <a:cs typeface="Helvetica Neue"/>
              </a:defRPr>
            </a:defPPr>
          </a:lstStyle>
          <a:p>
            <a:pPr algn="l">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Deployed $50M in consumer AI startups.</a:t>
            </a:r>
          </a:p>
        </p:txBody>
      </p:sp>
      <p:sp>
        <p:nvSpPr>
          <p:cNvPr id="30" name="team-slide6-text-22">
            <a:extLst>
              <a:ext uri="{FF2B5EF4-FFF2-40B4-BE49-F238E27FC236}">
                <ns2:creationId id="{65F45F4B-CB1F-4237-936C-82755119D505}"/>
              </a:ext>
            </a:extLst>
          </p:cNvPr>
          <p:cNvSpPr>
            <a:spLocks noGrp="1"/>
          </p:cNvSpPr>
          <p:nvPr/>
        </p:nvSpPr>
        <p:spPr>
          <a:xfrm>
            <a:off x="6553200" y="4210050"/>
            <a:ext cx="5143500" cy="352425"/>
          </a:xfrm>
          <a:prstGeom prst="rect">
            <a:avLst/>
          </a:prstGeom>
          <a:noFill/>
          <a:ln w="0">
            <a:noFill/>
            <a:prstDash val="solid"/>
          </a:ln>
        </p:spPr>
        <p:txBody>
          <a:bodyPr wrap="square" lIns="0" tIns="0" rIns="0" bIns="0" anchor="t">
            <a:noAutofit/>
          </a:bodyPr>
          <a:lstStyle>
            <a:defPPr algn="l">
              <a:defRPr sz="1875" b="1">
                <a:solidFill>
                  <a:srgbClr val="193C32"/>
                </a:solidFill>
                <a:latin typeface="Helvetica Neue"/>
                <a:ea typeface="Helvetica Neue"/>
                <a:cs typeface="Helvetica Neue"/>
              </a:defRPr>
            </a:defPPr>
          </a:lstStyle>
          <a:p>
            <a:pPr algn="l">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Backend engineer</a:t>
            </a:r>
          </a:p>
        </p:txBody>
      </p:sp>
      <p:sp>
        <p:nvSpPr>
          <p:cNvPr id="31" name="team-slide6-text-23">
            <a:extLst>
              <a:ext uri="{FF2B5EF4-FFF2-40B4-BE49-F238E27FC236}">
                <ns2:creationId id="{0C75C7A7-8D61-4319-9DAD-7D24853F8C16}"/>
              </a:ext>
            </a:extLst>
          </p:cNvPr>
          <p:cNvSpPr>
            <a:spLocks noGrp="1"/>
          </p:cNvSpPr>
          <p:nvPr/>
        </p:nvSpPr>
        <p:spPr>
          <a:xfrm>
            <a:off x="6553200" y="4552950"/>
            <a:ext cx="5143500" cy="342900"/>
          </a:xfrm>
          <a:prstGeom prst="rect">
            <a:avLst/>
          </a:prstGeom>
          <a:noFill/>
          <a:ln w="0">
            <a:noFill/>
            <a:prstDash val="solid"/>
          </a:ln>
        </p:spPr>
        <p:txBody>
          <a:bodyPr wrap="square" lIns="0" tIns="0" rIns="0" bIns="0" anchor="t">
            <a:noAutofit/>
          </a:bodyPr>
          <a:lstStyle>
            <a:defPPr algn="l">
              <a:defRPr sz="1800" b="0">
                <a:solidFill>
                  <a:srgbClr val="193C32"/>
                </a:solidFill>
                <a:latin typeface="Helvetica Neue"/>
                <a:ea typeface="Helvetica Neue"/>
                <a:cs typeface="Helvetica Neue"/>
              </a:defRPr>
            </a:defPPr>
          </a:lstStyle>
          <a:p>
            <a:pPr algn="l">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Built production MCP integrations.</a:t>
            </a:r>
          </a:p>
        </p:txBody>
      </p:sp>
      <p:sp>
        <p:nvSpPr>
          <p:cNvPr id="32" name="team-slide6-text-24">
            <a:extLst>
              <a:ext uri="{FF2B5EF4-FFF2-40B4-BE49-F238E27FC236}">
                <ns2:creationId id="{939824E6-D174-48DF-8DE3-26896435A01B}"/>
              </a:ext>
            </a:extLst>
          </p:cNvPr>
          <p:cNvSpPr>
            <a:spLocks noGrp="1"/>
          </p:cNvSpPr>
          <p:nvPr/>
        </p:nvSpPr>
        <p:spPr>
          <a:xfrm>
            <a:off x="6553200" y="4933950"/>
            <a:ext cx="5143500" cy="352425"/>
          </a:xfrm>
          <a:prstGeom prst="rect">
            <a:avLst/>
          </a:prstGeom>
          <a:noFill/>
          <a:ln w="0">
            <a:noFill/>
            <a:prstDash val="solid"/>
          </a:ln>
        </p:spPr>
        <p:txBody>
          <a:bodyPr wrap="square" lIns="0" tIns="0" rIns="0" bIns="0" anchor="t">
            <a:noAutofit/>
          </a:bodyPr>
          <a:lstStyle>
            <a:defPPr algn="l">
              <a:defRPr sz="1875" b="1">
                <a:solidFill>
                  <a:srgbClr val="193C32"/>
                </a:solidFill>
                <a:latin typeface="Helvetica Neue"/>
                <a:ea typeface="Helvetica Neue"/>
                <a:cs typeface="Helvetica Neue"/>
              </a:defRPr>
            </a:defPPr>
          </a:lstStyle>
          <a:p>
            <a:pPr algn="l">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System design instructor</a:t>
            </a:r>
          </a:p>
        </p:txBody>
      </p:sp>
      <p:sp>
        <p:nvSpPr>
          <p:cNvPr id="33" name="team-slide6-text-25">
            <a:extLst>
              <a:ext uri="{FF2B5EF4-FFF2-40B4-BE49-F238E27FC236}">
                <ns2:creationId id="{844B78E4-C83C-4C6D-B8C6-9D778C33B599}"/>
              </a:ext>
            </a:extLst>
          </p:cNvPr>
          <p:cNvSpPr>
            <a:spLocks noGrp="1"/>
          </p:cNvSpPr>
          <p:nvPr/>
        </p:nvSpPr>
        <p:spPr>
          <a:xfrm>
            <a:off x="6553200" y="5276850"/>
            <a:ext cx="5143500" cy="342900"/>
          </a:xfrm>
          <a:prstGeom prst="rect">
            <a:avLst/>
          </a:prstGeom>
          <a:noFill/>
          <a:ln w="0">
            <a:noFill/>
            <a:prstDash val="solid"/>
          </a:ln>
        </p:spPr>
        <p:txBody>
          <a:bodyPr wrap="square" lIns="0" tIns="0" rIns="0" bIns="0" anchor="t">
            <a:noAutofit/>
          </a:bodyPr>
          <a:lstStyle>
            <a:defPPr algn="l">
              <a:defRPr sz="1800" b="0">
                <a:solidFill>
                  <a:srgbClr val="193C32"/>
                </a:solidFill>
                <a:latin typeface="Helvetica Neue"/>
                <a:ea typeface="Helvetica Neue"/>
                <a:cs typeface="Helvetica Neue"/>
              </a:defRPr>
            </a:defPPr>
          </a:lstStyle>
          <a:p>
            <a:pPr algn="l">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Taught 25,000+ engineers.</a:t>
            </a:r>
          </a:p>
        </p:txBody>
      </p:sp>
      <p:sp>
        <p:nvSpPr>
          <p:cNvPr id="34" name="team-slide6-text-26">
            <a:extLst>
              <a:ext uri="{FF2B5EF4-FFF2-40B4-BE49-F238E27FC236}">
                <ns2:creationId id="{6E60A840-1DCC-4DB0-9888-A242AAB98577}"/>
              </a:ext>
            </a:extLst>
          </p:cNvPr>
          <p:cNvSpPr>
            <a:spLocks noGrp="1"/>
          </p:cNvSpPr>
          <p:nvPr/>
        </p:nvSpPr>
        <p:spPr>
          <a:xfrm>
            <a:off x="6553200" y="5657850"/>
            <a:ext cx="5143500" cy="352425"/>
          </a:xfrm>
          <a:prstGeom prst="rect">
            <a:avLst/>
          </a:prstGeom>
          <a:noFill/>
          <a:ln w="0">
            <a:noFill/>
            <a:prstDash val="solid"/>
          </a:ln>
        </p:spPr>
        <p:txBody>
          <a:bodyPr wrap="square" lIns="0" tIns="0" rIns="0" bIns="0" anchor="t">
            <a:noAutofit/>
          </a:bodyPr>
          <a:lstStyle>
            <a:defPPr algn="l">
              <a:defRPr sz="1875" b="1">
                <a:solidFill>
                  <a:srgbClr val="193C32"/>
                </a:solidFill>
                <a:latin typeface="Helvetica Neue"/>
                <a:ea typeface="Helvetica Neue"/>
                <a:cs typeface="Helvetica Neue"/>
              </a:defRPr>
            </a:defPPr>
          </a:lstStyle>
          <a:p>
            <a:pPr algn="l">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Engineering for GoLocal</a:t>
            </a:r>
          </a:p>
        </p:txBody>
      </p:sp>
      <p:sp>
        <p:nvSpPr>
          <p:cNvPr id="35" name="team-slide6-text-27">
            <a:extLst>
              <a:ext uri="{FF2B5EF4-FFF2-40B4-BE49-F238E27FC236}">
                <ns2:creationId id="{B4C0550B-3A99-4201-8885-B9D83F96DB88}"/>
              </a:ext>
            </a:extLst>
          </p:cNvPr>
          <p:cNvSpPr>
            <a:spLocks noGrp="1"/>
          </p:cNvSpPr>
          <p:nvPr/>
        </p:nvSpPr>
        <p:spPr>
          <a:xfrm>
            <a:off x="6553200" y="6000750"/>
            <a:ext cx="5143500" cy="333375"/>
          </a:xfrm>
          <a:prstGeom prst="rect">
            <a:avLst/>
          </a:prstGeom>
          <a:noFill/>
          <a:ln w="0">
            <a:noFill/>
            <a:prstDash val="solid"/>
          </a:ln>
        </p:spPr>
        <p:txBody>
          <a:bodyPr wrap="square" lIns="0" tIns="0" rIns="0" bIns="0" anchor="t">
            <a:noAutofit/>
          </a:bodyPr>
          <a:lstStyle>
            <a:defPPr algn="l">
              <a:defRPr sz="1800" b="0">
                <a:solidFill>
                  <a:srgbClr val="193C32"/>
                </a:solidFill>
                <a:latin typeface="Helvetica Neue"/>
                <a:ea typeface="Helvetica Neue"/>
                <a:cs typeface="Helvetica Neue"/>
              </a:defRPr>
            </a:defPPr>
          </a:lstStyle>
          <a:p>
            <a:pPr algn="l">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Agent integrations and reliable systems.</a:t>
            </a:r>
          </a:p>
        </p:txBody>
      </p:sp>
      <p:sp>
        <p:nvSpPr>
          <p:cNvPr id="36" name="team-slide6-text-28">
            <a:extLst>
              <a:ext uri="{FF2B5EF4-FFF2-40B4-BE49-F238E27FC236}">
                <ns2:creationId id="{6EA663E4-517A-40F9-8A2B-AD5BE044EC53}"/>
              </a:ext>
            </a:extLst>
          </p:cNvPr>
          <p:cNvSpPr>
            <a:spLocks noGrp="1"/>
          </p:cNvSpPr>
          <p:nvPr/>
        </p:nvSpPr>
        <p:spPr>
          <a:xfrm>
            <a:off x="11049000" y="6619875"/>
            <a:ext cx="666750" cy="200025"/>
          </a:xfrm>
          <a:prstGeom prst="rect">
            <a:avLst/>
          </a:prstGeom>
          <a:noFill/>
          <a:ln w="0">
            <a:noFill/>
            <a:prstDash val="solid"/>
          </a:ln>
        </p:spPr>
        <p:txBody>
          <a:bodyPr wrap="square" lIns="0" tIns="0" rIns="0" bIns="0" anchor="t">
            <a:noAutofit/>
          </a:bodyPr>
          <a:lstStyle>
            <a:defPPr algn="l">
              <a:defRPr sz="1275" b="0">
                <a:solidFill>
                  <a:srgbClr val="65746C"/>
                </a:solidFill>
                <a:latin typeface="Helvetica Neue"/>
                <a:ea typeface="Helvetica Neue"/>
                <a:cs typeface="Helvetica Neue"/>
              </a:defRPr>
            </a:defPPr>
          </a:lstStyle>
          <a:p>
            <a:pPr algn="l">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6 / 6</a:t>
            </a:r>
          </a:p>
        </p:txBody>
      </p:sp>
    </p:spTree>
    <p:extLst>
      <p:ext uri="{BB962C8B-B14F-4D97-AF65-F5344CB8AC3E}">
        <ns4:creationId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2026-10-11T00:41:17.7660000Z</dcterms:created>
  <dcterms:modified xsi:type="dcterms:W3CDTF">2026-10-11T00:41:17.7660000Z</dcterms:modified>
</coreProperties>
</file>