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e5f332bb674d50" /><Relationship Type="http://schemas.openxmlformats.org/officeDocument/2006/relationships/extended-properties" Target="/docProps/app.xml" Id="R383bb63222b6421f" /><Relationship Type="http://schemas.openxmlformats.org/officeDocument/2006/relationships/officeDocument" Target="/ppt/presentation.xml" Id="R4313bce6e65d4f26" /></Relationships>
</file>

<file path=ppt/presentation.xml><?xml version="1.0" encoding="utf-8"?>
<p:presentation xmlns:p="http://schemas.openxmlformats.org/presentationml/2006/main">
  <p:sldMasterIdLst>
    <p:sldMasterId xmlns:r="http://schemas.openxmlformats.org/officeDocument/2006/relationships" id="2147483648" r:id="Ree0b8d384cae4530"/>
  </p:sldMasterIdLst>
  <p:notesMasterIdLst>
    <p:notesMasterId xmlns:r="http://schemas.openxmlformats.org/officeDocument/2006/relationships" r:id="Rae4810ab8c8c42d7"/>
  </p:notesMasterIdLst>
  <p:sldIdLst>
    <p:sldId xmlns:r="http://schemas.openxmlformats.org/officeDocument/2006/relationships" id="256" r:id="Rfdb337f00ff24d13"/>
    <p:sldId xmlns:r="http://schemas.openxmlformats.org/officeDocument/2006/relationships" id="257" r:id="Rf2a54fabaf3c4774"/>
    <p:sldId xmlns:r="http://schemas.openxmlformats.org/officeDocument/2006/relationships" id="258" r:id="R41bf61bec5df481c"/>
    <p:sldId xmlns:r="http://schemas.openxmlformats.org/officeDocument/2006/relationships" id="259" r:id="Rff41c41b35824a47"/>
    <p:sldId xmlns:r="http://schemas.openxmlformats.org/officeDocument/2006/relationships" id="260" r:id="Rca948bbed9904e18"/>
    <p:sldId xmlns:r="http://schemas.openxmlformats.org/officeDocument/2006/relationships" id="261" r:id="Rcdd5e6f3c4a841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f1ed8ef4934b7c" /><Relationship Type="http://schemas.openxmlformats.org/officeDocument/2006/relationships/slideMaster" Target="/ppt/slideMasters/slideMaster1.xml" Id="Ree0b8d384cae4530" /><Relationship Type="http://schemas.openxmlformats.org/officeDocument/2006/relationships/notesMaster" Target="/ppt/notesMasters/notesMaster1.xml" Id="Rae4810ab8c8c42d7" /><Relationship Type="http://schemas.openxmlformats.org/officeDocument/2006/relationships/presProps" Target="/ppt/presProps.xml" Id="Rf2ddf868e83c417e" /><Relationship Type="http://schemas.openxmlformats.org/officeDocument/2006/relationships/tableStyles" Target="/ppt/tableStyles.xml" Id="R5f9f10e8a2b64ace" /><Relationship Type="http://schemas.openxmlformats.org/officeDocument/2006/relationships/slide" Target="/ppt/slides/slide1.xml" Id="Rfdb337f00ff24d13" /><Relationship Type="http://schemas.openxmlformats.org/officeDocument/2006/relationships/slide" Target="/ppt/slides/slide2.xml" Id="Rf2a54fabaf3c4774" /><Relationship Type="http://schemas.openxmlformats.org/officeDocument/2006/relationships/slide" Target="/ppt/slides/slide3.xml" Id="R41bf61bec5df481c" /><Relationship Type="http://schemas.openxmlformats.org/officeDocument/2006/relationships/slide" Target="/ppt/slides/slide4.xml" Id="Rff41c41b35824a47" /><Relationship Type="http://schemas.openxmlformats.org/officeDocument/2006/relationships/slide" Target="/ppt/slides/slide5.xml" Id="Rca948bbed9904e18" /><Relationship Type="http://schemas.openxmlformats.org/officeDocument/2006/relationships/slide" Target="/ppt/slides/slide6.xml" Id="Rcdd5e6f3c4a841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37e54ea65f4f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1726cbb602482d" /><Relationship Type="http://schemas.openxmlformats.org/officeDocument/2006/relationships/notesMaster" Target="/ppt/notesMasters/notesMaster1.xml" Id="Reccaecf1e8884f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29fd6a26c240ca" /><Relationship Type="http://schemas.openxmlformats.org/officeDocument/2006/relationships/notesMaster" Target="/ppt/notesMasters/notesMaster1.xml" Id="R9ab2a98cdf3a4d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7f4102d21f4e56" /><Relationship Type="http://schemas.openxmlformats.org/officeDocument/2006/relationships/notesMaster" Target="/ppt/notesMasters/notesMaster1.xml" Id="R95a753f2323a4e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a80cd205a54b9e" /><Relationship Type="http://schemas.openxmlformats.org/officeDocument/2006/relationships/notesMaster" Target="/ppt/notesMasters/notesMaster1.xml" Id="R09298a3d08f944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fede8a942a4f27" /><Relationship Type="http://schemas.openxmlformats.org/officeDocument/2006/relationships/notesMaster" Target="/ppt/notesMasters/notesMaster1.xml" Id="Ra7fcd7364c6443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e733f43aed4e62" /><Relationship Type="http://schemas.openxmlformats.org/officeDocument/2006/relationships/notesMaster" Target="/ppt/notesMasters/notesMaster1.xml" Id="R75f7a353605c4e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refinement requested by founder, October 10 2026. Existing agent funnel, GoLocal block and bottom messages retained. The right side now shows several software and AI tool examples by local-provider size. Enterprise example: ServiceTitan (field-service management) and Probook AI (AI operations and dispatch). Probook site features large providers including 220-technician and 170-technician examples, and the ServiceTitan marketplace lists its integration. Mid-market illustration: Housecall Pro, FieldEdge, and Cactus AI as an AI booking layer. Small-business illustration: Jobber, Workiz, ServiceM8, Topline Pro and many others. Topline Pro advertises AI marketing, job qualification, quoting and payments for solo operators and growing teams. Robinline was researched but excluded at the founder request because its current focus is cleaning. Topline Pro inclusion follows the founder instruction. Role descriptions are vendor self-descriptions, not independent verification of production performance. These are overlapping segment examples, not a market-share taxonomy, exclusive tier allocation or proof that each business uses every named tool. Housecall Pro explicitly serves teams of 1 to 100+, and providers can choose different stacks. Probook and Cactus are labeled AI tools rather than substituting for the authoritative FSM system. User clarified Pro AI means Probook AI. Cactus mid-market access is founder supplied from the partnership conversation; public site establishes AI call handling and CRM booking. The software mix changes across service categories: Launch27 advertises cleaning software and LMN landscape management, supporting category-specific choices in addition to general-purpose systems. Many others is qualitative; no 500+ count or concentration statistic established. Software examples do not imply signed GoLocal integrations, universal API access or merchant authorization. GoLocal proposed data/actions unchanged. Cactus partner access does not establish demand routing or production bookings. Evidence snapshot: resources/software-stack-segments-2026-10-10.json. Official sources accessed October 10 2026: https://www.probook.ai/ ; https://marketplace.servicetitan.com/partner/probook ; https://www.servicetitan.com/industries/plumbing-software ; https://www.housecallpro.com/ ; https://fieldedge.com/ ; https://www.oncactus.com/ ; https://www.ycombinator.com/companies/oncactus ; https://developer.getjobber.com/docs/ ; https://www.workiz.com/features/dispatching/ ; https://www.servicem8.com/ ; https://www.launch27.com/ ; https://granum.com/lmn/ ; https://www.toplinepro.com/ ; https://www.robinline.com/ . Existing $2B+ selected-company funding caption retained, not last-month-only or local-service demand. Funding evidence resources/agent-funding-evidence-2026-10-10.json covers Hark, Instinct and Town; no unverified product-specific OpenAI/Meta funding 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5f62cebf794e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b9e34bf28444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276c5767334b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79db59e99c4a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a11fe9773a48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63af1c05614c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0dcff9077e485b" /><Relationship Type="http://schemas.openxmlformats.org/officeDocument/2006/relationships/slideLayout" Target="/ppt/slideLayouts/slideLayout1.xml" Id="Re654f83fd9a54399" /><Relationship Type="http://schemas.openxmlformats.org/officeDocument/2006/relationships/slideLayout" Target="/ppt/slideLayouts/slideLayout2.xml" Id="Rf24ec786853143b8" /><Relationship Type="http://schemas.openxmlformats.org/officeDocument/2006/relationships/slideLayout" Target="/ppt/slideLayouts/slideLayout3.xml" Id="Rfbd561ea37314e2c" /><Relationship Type="http://schemas.openxmlformats.org/officeDocument/2006/relationships/slideLayout" Target="/ppt/slideLayouts/slideLayout4.xml" Id="Rae5937536aa842e0" /><Relationship Type="http://schemas.openxmlformats.org/officeDocument/2006/relationships/slideLayout" Target="/ppt/slideLayouts/slideLayout5.xml" Id="R187ca14007224e57" /><Relationship Type="http://schemas.openxmlformats.org/officeDocument/2006/relationships/slideLayout" Target="/ppt/slideLayouts/slideLayout6.xml" Id="Rca31a1986f174e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54f83fd9a54399"/>
    <p:sldLayoutId xmlns:r="http://schemas.openxmlformats.org/officeDocument/2006/relationships" id="2147483650" r:id="Rf24ec786853143b8"/>
    <p:sldLayoutId xmlns:r="http://schemas.openxmlformats.org/officeDocument/2006/relationships" id="2147483651" r:id="Rfbd561ea37314e2c"/>
    <p:sldLayoutId xmlns:r="http://schemas.openxmlformats.org/officeDocument/2006/relationships" id="2147483652" r:id="Rae5937536aa842e0"/>
    <p:sldLayoutId xmlns:r="http://schemas.openxmlformats.org/officeDocument/2006/relationships" id="2147483653" r:id="R187ca14007224e57"/>
    <p:sldLayoutId xmlns:r="http://schemas.openxmlformats.org/officeDocument/2006/relationships" id="2147483654" r:id="Rca31a1986f174e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3f1820278a4af5" /><Relationship Type="http://schemas.openxmlformats.org/officeDocument/2006/relationships/notesSlide" Target="/ppt/notesSlides/notesSlide1.xml" Id="R778af1e7fdc545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3906f306a04c6c" /><Relationship Type="http://schemas.openxmlformats.org/officeDocument/2006/relationships/notesSlide" Target="/ppt/notesSlides/notesSlide2.xml" Id="R79d876e8fe264c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3645c3fad04bd3" /><Relationship Type="http://schemas.openxmlformats.org/officeDocument/2006/relationships/notesSlide" Target="/ppt/notesSlides/notesSlide3.xml" Id="Rea1aa8ca8ad84b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a1ea8c61914921" /><Relationship Type="http://schemas.openxmlformats.org/officeDocument/2006/relationships/notesSlide" Target="/ppt/notesSlides/notesSlide4.xml" Id="Rb35d6a9fd9d742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0a8568aac8484b" /><Relationship Type="http://schemas.openxmlformats.org/officeDocument/2006/relationships/notesSlide" Target="/ppt/notesSlides/notesSlide5.xml" Id="R77ced2ddc29c41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ba5a8538574c50" /><Relationship Type="http://schemas.openxmlformats.org/officeDocument/2006/relationships/notesSlide" Target="/ppt/notesSlides/notesSlide6.xml" Id="R4bec68f36f11467d"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2702A3E5-DDB1-4565-917C-72D253BC3994}"/>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2" name="">
            <a:extLst xmlns:a="http://schemas.openxmlformats.org/drawingml/2006/main">
              <a:ext uri="{FF2B5EF4-FFF2-40B4-BE49-F238E27FC236}">
                <a16:creationId xmlns:a16="http://schemas.microsoft.com/office/drawing/2014/main" id="{FFD5DDD5-8243-4602-9E16-E7BF66EFED69}"/>
              </a:ext>
            </a:extLst>
          </p:cNvPr>
          <p:cNvCxnSpPr>
            <a:stCxn xmlns:a="http://schemas.openxmlformats.org/drawingml/2006/main" id="21" idx="3"/>
            <a:endCxn xmlns:a="http://schemas.openxmlformats.org/drawingml/2006/main" id="31"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C2774DE4-FEE4-406D-8EE8-7F90E0E36847}"/>
              </a:ext>
            </a:extLst>
          </p:cNvPr>
          <p:cNvCxnSpPr>
            <a:stCxn xmlns:a="http://schemas.openxmlformats.org/drawingml/2006/main" id="14" idx="3"/>
            <a:endCxn xmlns:a="http://schemas.openxmlformats.org/drawingml/2006/main" id="21"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84E5F6BE-348B-403E-9D95-6240217E4897}"/>
              </a:ext>
            </a:extLst>
          </p:cNvPr>
          <p:cNvCxnSpPr>
            <a:stCxn xmlns:a="http://schemas.openxmlformats.org/drawingml/2006/main" id="20" idx="3"/>
            <a:endCxn xmlns:a="http://schemas.openxmlformats.org/drawingml/2006/main" id="30" idx="1"/>
          </p:cNvCxnSpPr>
          <p:nvPr/>
        </p:nvCxnSpPr>
        <p:spPr>
          <a:xfrm xmlns:a="http://schemas.openxmlformats.org/drawingml/2006/main">
            <a:off x="9810750" y="39624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02465259-C3F9-4170-BB9F-EA6088447C07}"/>
              </a:ext>
            </a:extLst>
          </p:cNvPr>
          <p:cNvCxnSpPr>
            <a:stCxn xmlns:a="http://schemas.openxmlformats.org/drawingml/2006/main" id="14" idx="3"/>
            <a:endCxn xmlns:a="http://schemas.openxmlformats.org/drawingml/2006/main" id="20" idx="1"/>
          </p:cNvCxnSpPr>
          <p:nvPr/>
        </p:nvCxnSpPr>
        <p:spPr>
          <a:xfrm xmlns:a="http://schemas.openxmlformats.org/drawingml/2006/main" flipV="1">
            <a:off x="6610350" y="3962400"/>
            <a:ext cx="533400" cy="1714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B5EF3523-C89C-464C-8040-C5E3D52FDF32}"/>
              </a:ext>
            </a:extLst>
          </p:cNvPr>
          <p:cNvCxnSpPr>
            <a:stCxn xmlns:a="http://schemas.openxmlformats.org/drawingml/2006/main" id="19" idx="3"/>
            <a:endCxn xmlns:a="http://schemas.openxmlformats.org/drawingml/2006/main" id="29" idx="1"/>
          </p:cNvCxnSpPr>
          <p:nvPr/>
        </p:nvCxnSpPr>
        <p:spPr>
          <a:xfrm xmlns:a="http://schemas.openxmlformats.org/drawingml/2006/main">
            <a:off x="9810750" y="30861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65C7DFBA-D08C-41A6-AEE9-37C1FEAE9222}"/>
              </a:ext>
            </a:extLst>
          </p:cNvPr>
          <p:cNvCxnSpPr>
            <a:stCxn xmlns:a="http://schemas.openxmlformats.org/drawingml/2006/main" id="14" idx="3"/>
            <a:endCxn xmlns:a="http://schemas.openxmlformats.org/drawingml/2006/main" id="19" idx="1"/>
          </p:cNvCxnSpPr>
          <p:nvPr/>
        </p:nvCxnSpPr>
        <p:spPr>
          <a:xfrm xmlns:a="http://schemas.openxmlformats.org/drawingml/2006/main" flipV="1">
            <a:off x="6610350" y="3086100"/>
            <a:ext cx="533400" cy="10477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25E2059B-5DD9-44D3-9566-20BF2BCD1975}"/>
              </a:ext>
            </a:extLst>
          </p:cNvPr>
          <p:cNvCxnSpPr>
            <a:stCxn xmlns:a="http://schemas.openxmlformats.org/drawingml/2006/main" id="13" idx="3"/>
            <a:endCxn xmlns:a="http://schemas.openxmlformats.org/drawingml/2006/main" id="14"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0B389737-7599-4B05-8A80-4428243E96BA}"/>
              </a:ext>
            </a:extLst>
          </p:cNvPr>
          <p:cNvCxnSpPr>
            <a:stCxn xmlns:a="http://schemas.openxmlformats.org/drawingml/2006/main" id="12" idx="3"/>
            <a:endCxn xmlns:a="http://schemas.openxmlformats.org/drawingml/2006/main" id="14"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4" name="">
            <a:extLst xmlns:a="http://schemas.openxmlformats.org/drawingml/2006/main">
              <a:ext uri="{FF2B5EF4-FFF2-40B4-BE49-F238E27FC236}">
                <a16:creationId xmlns:a16="http://schemas.microsoft.com/office/drawing/2014/main" id="{910CE9C8-A7D1-4B40-83E3-D24BFF66629A}"/>
              </a:ext>
            </a:extLst>
          </p:cNvPr>
          <p:cNvCxnSpPr>
            <a:stCxn xmlns:a="http://schemas.openxmlformats.org/drawingml/2006/main" id="11" idx="3"/>
            <a:endCxn xmlns:a="http://schemas.openxmlformats.org/drawingml/2006/main" id="14"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3" name="">
            <a:extLst xmlns:a="http://schemas.openxmlformats.org/drawingml/2006/main">
              <a:ext uri="{FF2B5EF4-FFF2-40B4-BE49-F238E27FC236}">
                <a16:creationId xmlns:a16="http://schemas.microsoft.com/office/drawing/2014/main" id="{EFB7E944-66E8-4A4E-92DE-1307D159C28B}"/>
              </a:ext>
            </a:extLst>
          </p:cNvPr>
          <p:cNvCxnSpPr>
            <a:stCxn xmlns:a="http://schemas.openxmlformats.org/drawingml/2006/main" id="10" idx="3"/>
            <a:endCxn xmlns:a="http://schemas.openxmlformats.org/drawingml/2006/main" id="14"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2" name="">
            <a:extLst xmlns:a="http://schemas.openxmlformats.org/drawingml/2006/main">
              <a:ext uri="{FF2B5EF4-FFF2-40B4-BE49-F238E27FC236}">
                <a16:creationId xmlns:a16="http://schemas.microsoft.com/office/drawing/2014/main" id="{E690C017-61F3-4DD5-A754-330900C2882B}"/>
              </a:ext>
            </a:extLst>
          </p:cNvPr>
          <p:cNvCxnSpPr>
            <a:stCxn xmlns:a="http://schemas.openxmlformats.org/drawingml/2006/main" id="9" idx="3"/>
            <a:endCxn xmlns:a="http://schemas.openxmlformats.org/drawingml/2006/main" id="14"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48" name="booking-layer-text-0">
            <a:extLst xmlns:a="http://schemas.openxmlformats.org/drawingml/2006/main">
              <a:ext uri="{FF2B5EF4-FFF2-40B4-BE49-F238E27FC236}">
                <a16:creationId xmlns:a16="http://schemas.microsoft.com/office/drawing/2014/main" id="{D6FE3F08-B979-4CF2-909F-2EF11668FF9F}"/>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C7B53652-CD69-44F1-A757-0F0D19448B9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D3B066FB-B7C5-4465-8165-EEECDD63210D}"/>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8D05135-76BD-485C-9422-EF363F4BC00E}"/>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6E12A5B-2FF1-409A-A77E-28FB16C8A45E}"/>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CDAE23D4-EDBA-4B77-9056-5217C1B8E9D2}"/>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459A8AA7-5297-45FF-A7E5-F7C8C2F58EAF}"/>
              </a:ext>
            </a:extLst>
          </p:cNvPr>
          <p:cNvSpPr>
            <a:spLocks xmlns:a="http://schemas.openxmlformats.org/drawingml/2006/main" noGrp="1"/>
          </p:cNvSpPr>
          <p:nvPr/>
        </p:nvSpPr>
        <p:spPr>
          <a:xfrm xmlns:a="http://schemas.openxmlformats.org/drawingml/2006/main">
            <a:off x="7143750" y="212407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Fragmented software</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Field service + AI tools</a:t>
            </a:r>
          </a:p>
        </p:txBody>
      </p:sp>
      <p:sp>
        <p:nvSpPr>
          <p:cNvPr id="8" name="booking-layer-text-7">
            <a:extLst xmlns:a="http://schemas.openxmlformats.org/drawingml/2006/main">
              <a:ext uri="{FF2B5EF4-FFF2-40B4-BE49-F238E27FC236}">
                <a16:creationId xmlns:a16="http://schemas.microsoft.com/office/drawing/2014/main" id="{1CF88F29-7DD9-4A2B-9FF8-279BC664AAB0}"/>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Local service</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providers</a:t>
            </a:r>
          </a:p>
        </p:txBody>
      </p:sp>
      <p:sp>
        <p:nvSpPr>
          <p:cNvPr id="9" name="booking-layer-node-8">
            <a:extLst xmlns:a="http://schemas.openxmlformats.org/drawingml/2006/main">
              <a:ext uri="{FF2B5EF4-FFF2-40B4-BE49-F238E27FC236}">
                <a16:creationId xmlns:a16="http://schemas.microsoft.com/office/drawing/2014/main" id="{3D8A6537-5A30-4736-8E33-0F469E28D1FA}"/>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0" name="booking-layer-node-9">
            <a:extLst xmlns:a="http://schemas.openxmlformats.org/drawingml/2006/main">
              <a:ext uri="{FF2B5EF4-FFF2-40B4-BE49-F238E27FC236}">
                <a16:creationId xmlns:a16="http://schemas.microsoft.com/office/drawing/2014/main" id="{B171A5B5-62FE-424B-9BB0-3D5998065EBF}"/>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1" name="booking-layer-node-10">
            <a:extLst xmlns:a="http://schemas.openxmlformats.org/drawingml/2006/main">
              <a:ext uri="{FF2B5EF4-FFF2-40B4-BE49-F238E27FC236}">
                <a16:creationId xmlns:a16="http://schemas.microsoft.com/office/drawing/2014/main" id="{39B2C328-990B-4F8E-A5FE-BA17E6032772}"/>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2" name="booking-layer-node-11">
            <a:extLst xmlns:a="http://schemas.openxmlformats.org/drawingml/2006/main">
              <a:ext uri="{FF2B5EF4-FFF2-40B4-BE49-F238E27FC236}">
                <a16:creationId xmlns:a16="http://schemas.microsoft.com/office/drawing/2014/main" id="{F29DA0C0-CED3-4CEA-A98D-2E275A0030F8}"/>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3" name="booking-layer-node-12">
            <a:extLst xmlns:a="http://schemas.openxmlformats.org/drawingml/2006/main">
              <a:ext uri="{FF2B5EF4-FFF2-40B4-BE49-F238E27FC236}">
                <a16:creationId xmlns:a16="http://schemas.microsoft.com/office/drawing/2014/main" id="{2BFE6495-BB91-4815-A8C4-ED3F805C3CFD}"/>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4" name="booking-layer-node-13">
            <a:extLst xmlns:a="http://schemas.openxmlformats.org/drawingml/2006/main">
              <a:ext uri="{FF2B5EF4-FFF2-40B4-BE49-F238E27FC236}">
                <a16:creationId xmlns:a16="http://schemas.microsoft.com/office/drawing/2014/main" id="{A6385B02-ACBB-450E-B89B-67D6379C96D8}"/>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5" name="booking-layer-text-14">
            <a:extLst xmlns:a="http://schemas.openxmlformats.org/drawingml/2006/main">
              <a:ext uri="{FF2B5EF4-FFF2-40B4-BE49-F238E27FC236}">
                <a16:creationId xmlns:a16="http://schemas.microsoft.com/office/drawing/2014/main" id="{FAD0635D-3319-4D1F-8D9D-80270E9760DA}"/>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6" name="booking-layer-text-15">
            <a:extLst xmlns:a="http://schemas.openxmlformats.org/drawingml/2006/main">
              <a:ext uri="{FF2B5EF4-FFF2-40B4-BE49-F238E27FC236}">
                <a16:creationId xmlns:a16="http://schemas.microsoft.com/office/drawing/2014/main" id="{CEC711DF-2D17-4251-AA3E-65E1DB73F2BC}"/>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7" name="booking-layer-text-16">
            <a:extLst xmlns:a="http://schemas.openxmlformats.org/drawingml/2006/main">
              <a:ext uri="{FF2B5EF4-FFF2-40B4-BE49-F238E27FC236}">
                <a16:creationId xmlns:a16="http://schemas.microsoft.com/office/drawing/2014/main" id="{4FEDF718-E177-459D-8E14-31311C1FD0C0}"/>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8" name="booking-layer-text-17">
            <a:extLst xmlns:a="http://schemas.openxmlformats.org/drawingml/2006/main">
              <a:ext uri="{FF2B5EF4-FFF2-40B4-BE49-F238E27FC236}">
                <a16:creationId xmlns:a16="http://schemas.microsoft.com/office/drawing/2014/main" id="{6EE7923E-AD51-4AA1-BE88-F8736FB5743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19" name="booking-layer-node-18">
            <a:extLst xmlns:a="http://schemas.openxmlformats.org/drawingml/2006/main">
              <a:ext uri="{FF2B5EF4-FFF2-40B4-BE49-F238E27FC236}">
                <a16:creationId xmlns:a16="http://schemas.microsoft.com/office/drawing/2014/main" id="{3697CD0F-2DA1-4D5D-825F-E46C6E918AF2}"/>
              </a:ext>
            </a:extLst>
          </p:cNvPr>
          <p:cNvSpPr>
            <a:spLocks xmlns:a="http://schemas.openxmlformats.org/drawingml/2006/main" noGrp="1"/>
          </p:cNvSpPr>
          <p:nvPr/>
        </p:nvSpPr>
        <p:spPr>
          <a:xfrm xmlns:a="http://schemas.openxmlformats.org/drawingml/2006/main">
            <a:off x="7143750" y="2752725"/>
            <a:ext cx="2667000" cy="6667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0" name="booking-layer-node-19">
            <a:extLst xmlns:a="http://schemas.openxmlformats.org/drawingml/2006/main">
              <a:ext uri="{FF2B5EF4-FFF2-40B4-BE49-F238E27FC236}">
                <a16:creationId xmlns:a16="http://schemas.microsoft.com/office/drawing/2014/main" id="{4A7F5DB6-9990-4CC5-9B59-0EC3E936645D}"/>
              </a:ext>
            </a:extLst>
          </p:cNvPr>
          <p:cNvSpPr>
            <a:spLocks xmlns:a="http://schemas.openxmlformats.org/drawingml/2006/main" noGrp="1"/>
          </p:cNvSpPr>
          <p:nvPr/>
        </p:nvSpPr>
        <p:spPr>
          <a:xfrm xmlns:a="http://schemas.openxmlformats.org/drawingml/2006/main">
            <a:off x="7143750" y="3629025"/>
            <a:ext cx="2667000" cy="6667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2B4A28DD-5252-47E9-AA8A-89975E54B0AF}"/>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text-21">
            <a:extLst xmlns:a="http://schemas.openxmlformats.org/drawingml/2006/main">
              <a:ext uri="{FF2B5EF4-FFF2-40B4-BE49-F238E27FC236}">
                <a16:creationId xmlns:a16="http://schemas.microsoft.com/office/drawing/2014/main" id="{FA02D16D-7E64-489B-8838-612CDBEC53BA}"/>
              </a:ext>
            </a:extLst>
          </p:cNvPr>
          <p:cNvSpPr>
            <a:spLocks xmlns:a="http://schemas.openxmlformats.org/drawingml/2006/main" noGrp="1"/>
          </p:cNvSpPr>
          <p:nvPr/>
        </p:nvSpPr>
        <p:spPr>
          <a:xfrm xmlns:a="http://schemas.openxmlformats.org/drawingml/2006/main">
            <a:off x="7258050" y="2847975"/>
            <a:ext cx="2438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ServiceTitan</a:t>
            </a:r>
          </a:p>
        </p:txBody>
      </p:sp>
      <p:sp>
        <p:nvSpPr>
          <p:cNvPr id="23" name="booking-layer-text-22">
            <a:extLst xmlns:a="http://schemas.openxmlformats.org/drawingml/2006/main">
              <a:ext uri="{FF2B5EF4-FFF2-40B4-BE49-F238E27FC236}">
                <a16:creationId xmlns:a16="http://schemas.microsoft.com/office/drawing/2014/main" id="{DC763CC5-1D3D-40D6-919B-36B523D63C62}"/>
              </a:ext>
            </a:extLst>
          </p:cNvPr>
          <p:cNvSpPr>
            <a:spLocks xmlns:a="http://schemas.openxmlformats.org/drawingml/2006/main" noGrp="1"/>
          </p:cNvSpPr>
          <p:nvPr/>
        </p:nvSpPr>
        <p:spPr>
          <a:xfrm xmlns:a="http://schemas.openxmlformats.org/drawingml/2006/main">
            <a:off x="7258050" y="315277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193C32"/>
                </a:solidFill>
                <a:latin typeface="Helvetica Neue"/>
                <a:ea typeface="Helvetica Neue"/>
                <a:cs typeface="Helvetica Neue"/>
              </a:defRPr>
            </a:defPPr>
          </a:lstStyle>
          <a:p xmlns:a="http://schemas.openxmlformats.org/drawingml/2006/main">
            <a:pPr>
              <a:defRPr sz="1350" b="0">
                <a:solidFill>
                  <a:srgbClr val="193C32"/>
                </a:solidFill>
                <a:latin typeface="Helvetica Neue"/>
                <a:ea typeface="Helvetica Neue"/>
                <a:cs typeface="Helvetica Neue"/>
              </a:defRPr>
            </a:pPr>
            <a:r>
              <a:rPr sz="1350" b="0">
                <a:solidFill>
                  <a:srgbClr val="193C32"/>
                </a:solidFill>
                <a:latin typeface="Helvetica Neue"/>
                <a:ea typeface="Helvetica Neue"/>
                <a:cs typeface="Helvetica Neue"/>
              </a:rPr>
              <a:t>Probook AI (AI operations)</a:t>
            </a:r>
          </a:p>
        </p:txBody>
      </p:sp>
      <p:sp>
        <p:nvSpPr>
          <p:cNvPr id="24" name="booking-layer-text-23">
            <a:extLst xmlns:a="http://schemas.openxmlformats.org/drawingml/2006/main">
              <a:ext uri="{FF2B5EF4-FFF2-40B4-BE49-F238E27FC236}">
                <a16:creationId xmlns:a16="http://schemas.microsoft.com/office/drawing/2014/main" id="{B8085429-E35D-4C88-9E03-F7490622E051}"/>
              </a:ext>
            </a:extLst>
          </p:cNvPr>
          <p:cNvSpPr>
            <a:spLocks xmlns:a="http://schemas.openxmlformats.org/drawingml/2006/main" noGrp="1"/>
          </p:cNvSpPr>
          <p:nvPr/>
        </p:nvSpPr>
        <p:spPr>
          <a:xfrm xmlns:a="http://schemas.openxmlformats.org/drawingml/2006/main">
            <a:off x="7258050" y="3724275"/>
            <a:ext cx="2438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193C32"/>
                </a:solidFill>
                <a:latin typeface="Helvetica Neue"/>
                <a:ea typeface="Helvetica Neue"/>
                <a:cs typeface="Helvetica Neue"/>
              </a:defRPr>
            </a:defPPr>
          </a:lstStyle>
          <a:p xmlns:a="http://schemas.openxmlformats.org/drawingml/2006/main">
            <a:pPr>
              <a:defRPr sz="1500" b="1">
                <a:solidFill>
                  <a:srgbClr val="193C32"/>
                </a:solidFill>
                <a:latin typeface="Helvetica Neue"/>
                <a:ea typeface="Helvetica Neue"/>
                <a:cs typeface="Helvetica Neue"/>
              </a:defRPr>
            </a:pPr>
            <a:r>
              <a:rPr sz="1500" b="1">
                <a:solidFill>
                  <a:srgbClr val="193C32"/>
                </a:solidFill>
                <a:latin typeface="Helvetica Neue"/>
                <a:ea typeface="Helvetica Neue"/>
                <a:cs typeface="Helvetica Neue"/>
              </a:rPr>
              <a:t>Housecall Pro, FieldEdge</a:t>
            </a:r>
          </a:p>
        </p:txBody>
      </p:sp>
      <p:sp>
        <p:nvSpPr>
          <p:cNvPr id="25" name="booking-layer-text-24">
            <a:extLst xmlns:a="http://schemas.openxmlformats.org/drawingml/2006/main">
              <a:ext uri="{FF2B5EF4-FFF2-40B4-BE49-F238E27FC236}">
                <a16:creationId xmlns:a16="http://schemas.microsoft.com/office/drawing/2014/main" id="{88AD02D5-47D8-408B-B361-B97DC8E19A71}"/>
              </a:ext>
            </a:extLst>
          </p:cNvPr>
          <p:cNvSpPr>
            <a:spLocks xmlns:a="http://schemas.openxmlformats.org/drawingml/2006/main" noGrp="1"/>
          </p:cNvSpPr>
          <p:nvPr/>
        </p:nvSpPr>
        <p:spPr>
          <a:xfrm xmlns:a="http://schemas.openxmlformats.org/drawingml/2006/main">
            <a:off x="7258050" y="402907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193C32"/>
                </a:solidFill>
                <a:latin typeface="Helvetica Neue"/>
                <a:ea typeface="Helvetica Neue"/>
                <a:cs typeface="Helvetica Neue"/>
              </a:defRPr>
            </a:defPPr>
          </a:lstStyle>
          <a:p xmlns:a="http://schemas.openxmlformats.org/drawingml/2006/main">
            <a:pPr>
              <a:defRPr sz="1350" b="0">
                <a:solidFill>
                  <a:srgbClr val="193C32"/>
                </a:solidFill>
                <a:latin typeface="Helvetica Neue"/>
                <a:ea typeface="Helvetica Neue"/>
                <a:cs typeface="Helvetica Neue"/>
              </a:defRPr>
            </a:pPr>
            <a:r>
              <a:rPr sz="1350" b="0">
                <a:solidFill>
                  <a:srgbClr val="193C32"/>
                </a:solidFill>
                <a:latin typeface="Helvetica Neue"/>
                <a:ea typeface="Helvetica Neue"/>
                <a:cs typeface="Helvetica Neue"/>
              </a:rPr>
              <a:t>Cactus AI (AI booking)</a:t>
            </a:r>
          </a:p>
        </p:txBody>
      </p:sp>
      <p:sp>
        <p:nvSpPr>
          <p:cNvPr id="26" name="booking-layer-text-25">
            <a:extLst xmlns:a="http://schemas.openxmlformats.org/drawingml/2006/main">
              <a:ext uri="{FF2B5EF4-FFF2-40B4-BE49-F238E27FC236}">
                <a16:creationId xmlns:a16="http://schemas.microsoft.com/office/drawing/2014/main" id="{0A8A319B-D155-47C7-9E3B-F12A33B35C3D}"/>
              </a:ext>
            </a:extLst>
          </p:cNvPr>
          <p:cNvSpPr>
            <a:spLocks xmlns:a="http://schemas.openxmlformats.org/drawingml/2006/main" noGrp="1"/>
          </p:cNvSpPr>
          <p:nvPr/>
        </p:nvSpPr>
        <p:spPr>
          <a:xfrm xmlns:a="http://schemas.openxmlformats.org/drawingml/2006/main">
            <a:off x="7258050" y="4572000"/>
            <a:ext cx="2438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27" name="booking-layer-text-26">
            <a:extLst xmlns:a="http://schemas.openxmlformats.org/drawingml/2006/main">
              <a:ext uri="{FF2B5EF4-FFF2-40B4-BE49-F238E27FC236}">
                <a16:creationId xmlns:a16="http://schemas.microsoft.com/office/drawing/2014/main" id="{D2D46E98-9E3C-43F2-B385-652BCD437C50}"/>
              </a:ext>
            </a:extLst>
          </p:cNvPr>
          <p:cNvSpPr>
            <a:spLocks xmlns:a="http://schemas.openxmlformats.org/drawingml/2006/main" noGrp="1"/>
          </p:cNvSpPr>
          <p:nvPr/>
        </p:nvSpPr>
        <p:spPr>
          <a:xfrm xmlns:a="http://schemas.openxmlformats.org/drawingml/2006/main">
            <a:off x="7258050" y="481965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193C32"/>
                </a:solidFill>
                <a:latin typeface="Helvetica Neue"/>
                <a:ea typeface="Helvetica Neue"/>
                <a:cs typeface="Helvetica Neue"/>
              </a:defRPr>
            </a:defPPr>
          </a:lstStyle>
          <a:p xmlns:a="http://schemas.openxmlformats.org/drawingml/2006/main">
            <a:pPr>
              <a:defRPr sz="1425" b="0">
                <a:solidFill>
                  <a:srgbClr val="193C32"/>
                </a:solidFill>
                <a:latin typeface="Helvetica Neue"/>
                <a:ea typeface="Helvetica Neue"/>
                <a:cs typeface="Helvetica Neue"/>
              </a:defRPr>
            </a:pPr>
            <a:r>
              <a:rPr sz="1425" b="0">
                <a:solidFill>
                  <a:srgbClr val="193C32"/>
                </a:solidFill>
                <a:latin typeface="Helvetica Neue"/>
                <a:ea typeface="Helvetica Neue"/>
                <a:cs typeface="Helvetica Neue"/>
              </a:rPr>
              <a:t>Topline Pro</a:t>
            </a:r>
          </a:p>
        </p:txBody>
      </p:sp>
      <p:sp>
        <p:nvSpPr>
          <p:cNvPr id="28" name="booking-layer-text-27">
            <a:extLst xmlns:a="http://schemas.openxmlformats.org/drawingml/2006/main">
              <a:ext uri="{FF2B5EF4-FFF2-40B4-BE49-F238E27FC236}">
                <a16:creationId xmlns:a16="http://schemas.microsoft.com/office/drawing/2014/main" id="{960C1CFC-F488-4C2B-A5F6-C9DDEDB9DB0B}"/>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and many others</a:t>
            </a:r>
          </a:p>
        </p:txBody>
      </p:sp>
      <p:sp>
        <p:nvSpPr>
          <p:cNvPr id="29" name="booking-layer-node-28">
            <a:extLst xmlns:a="http://schemas.openxmlformats.org/drawingml/2006/main">
              <a:ext uri="{FF2B5EF4-FFF2-40B4-BE49-F238E27FC236}">
                <a16:creationId xmlns:a16="http://schemas.microsoft.com/office/drawing/2014/main" id="{2F8A9036-2B9E-419F-84A6-B80E41AC9028}"/>
              </a:ext>
            </a:extLst>
          </p:cNvPr>
          <p:cNvSpPr>
            <a:spLocks xmlns:a="http://schemas.openxmlformats.org/drawingml/2006/main" noGrp="1"/>
          </p:cNvSpPr>
          <p:nvPr/>
        </p:nvSpPr>
        <p:spPr>
          <a:xfrm xmlns:a="http://schemas.openxmlformats.org/drawingml/2006/main">
            <a:off x="10363200" y="2752725"/>
            <a:ext cx="1333500" cy="6667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0" name="booking-layer-node-29">
            <a:extLst xmlns:a="http://schemas.openxmlformats.org/drawingml/2006/main">
              <a:ext uri="{FF2B5EF4-FFF2-40B4-BE49-F238E27FC236}">
                <a16:creationId xmlns:a16="http://schemas.microsoft.com/office/drawing/2014/main" id="{8AF0CFE5-5874-41FD-8E58-F1D4B47EB0F2}"/>
              </a:ext>
            </a:extLst>
          </p:cNvPr>
          <p:cNvSpPr>
            <a:spLocks xmlns:a="http://schemas.openxmlformats.org/drawingml/2006/main" noGrp="1"/>
          </p:cNvSpPr>
          <p:nvPr/>
        </p:nvSpPr>
        <p:spPr>
          <a:xfrm xmlns:a="http://schemas.openxmlformats.org/drawingml/2006/main">
            <a:off x="10363200" y="3629025"/>
            <a:ext cx="1333500" cy="6667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1" name="booking-layer-node-30">
            <a:extLst xmlns:a="http://schemas.openxmlformats.org/drawingml/2006/main">
              <a:ext uri="{FF2B5EF4-FFF2-40B4-BE49-F238E27FC236}">
                <a16:creationId xmlns:a16="http://schemas.microsoft.com/office/drawing/2014/main" id="{2B49A83C-3C56-4079-8281-EDCBEEF77AF6}"/>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3" name="booking-layer-text-31">
            <a:extLst xmlns:a="http://schemas.openxmlformats.org/drawingml/2006/main">
              <a:ext uri="{FF2B5EF4-FFF2-40B4-BE49-F238E27FC236}">
                <a16:creationId xmlns:a16="http://schemas.microsoft.com/office/drawing/2014/main" id="{19CB73B6-568D-4CA9-92E5-6C7D16667215}"/>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A different software mix</a:t>
            </a:r>
          </a:p>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for every service category.</a:t>
            </a:r>
          </a:p>
        </p:txBody>
      </p:sp>
      <p:sp>
        <p:nvSpPr>
          <p:cNvPr id="44" name="booking-layer-text-32">
            <a:extLst xmlns:a="http://schemas.openxmlformats.org/drawingml/2006/main">
              <a:ext uri="{FF2B5EF4-FFF2-40B4-BE49-F238E27FC236}">
                <a16:creationId xmlns:a16="http://schemas.microsoft.com/office/drawing/2014/main" id="{A2CB6D44-88DC-4E9D-894B-0EF7DE87E600}"/>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5" name="booking-layer-text-33">
            <a:extLst xmlns:a="http://schemas.openxmlformats.org/drawingml/2006/main">
              <a:ext uri="{FF2B5EF4-FFF2-40B4-BE49-F238E27FC236}">
                <a16:creationId xmlns:a16="http://schemas.microsoft.com/office/drawing/2014/main" id="{5524A4D9-6796-4DD1-97F3-ED6D5E63C4AE}"/>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6" name="booking-layer-text-34">
            <a:extLst xmlns:a="http://schemas.openxmlformats.org/drawingml/2006/main">
              <a:ext uri="{FF2B5EF4-FFF2-40B4-BE49-F238E27FC236}">
                <a16:creationId xmlns:a16="http://schemas.microsoft.com/office/drawing/2014/main" id="{504EE0A4-57ED-4E51-A41A-8361A8A28776}"/>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stacks; vendors serve overlapping segments. Connections require merchant authorization.</a:t>
            </a:r>
          </a:p>
        </p:txBody>
      </p:sp>
      <p:sp>
        <p:nvSpPr>
          <p:cNvPr id="47" name="booking-layer-text-35">
            <a:extLst xmlns:a="http://schemas.openxmlformats.org/drawingml/2006/main">
              <a:ext uri="{FF2B5EF4-FFF2-40B4-BE49-F238E27FC236}">
                <a16:creationId xmlns:a16="http://schemas.microsoft.com/office/drawing/2014/main" id="{17F2289E-6FA0-49C9-ADD7-CB392589C8BB}"/>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EB6D381-C933-446F-A108-FBB0933189C5}"/>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D93F90B5-74FB-4AA3-8821-E7EC25CFBB7C}"/>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644B48E9-F649-47CA-9F6A-CFC8F0CDFF4F}"/>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0E5CAF5-BAEF-45EC-A7D9-CE358E4E4F7F}"/>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A21031B0-4D69-41A8-AEE4-FDD3BDD3DAD8}"/>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078A418-B4F5-4758-97FD-58936B0BD6C0}"/>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A7B67614-6548-4665-A9D5-D8C79404282E}"/>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2026-10-11T00:00:46.9540000Z</dcterms:created>
  <dcterms:modified xsi:type="dcterms:W3CDTF">2026-10-11T00:00:46.9540000Z</dcterms:modified>
</coreProperties>
</file>