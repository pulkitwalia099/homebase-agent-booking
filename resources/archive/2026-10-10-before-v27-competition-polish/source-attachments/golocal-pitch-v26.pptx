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5"/>
  </p:normalViewPr>
  <p:slideViewPr>
    <p:cSldViewPr snapToGrid="0">
      <p:cViewPr varScale="1">
        <p:scale>
          <a:sx n="117" d="100"/>
          <a:sy n="117" d="100"/>
        </p:scale>
        <p:origin x="5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Requested introductory cover, October 10 2026. Uses approved business name GoLocal and existing tagline: Local services, booked by your personal agent. The six approved content slides follow unchanged except pagination. Seven total slides exceed the application six-page maximum; this is a separate cover version, not a replacement of the six-page application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a:p>
            <a:r>
              <a:t>October 10 logo update: agent rows show Instinct, Muse, Dots, Town, Hark, OpenClaw and Hermes as illustrative demand-side products/frameworks, not signed partners or completed GoLocal integrations. Claude and Gemini are additional examples of the broader assistant/agent landscape. Their inclusion is supported by https://claude.com/resources/articles/dispatch-and-computer-use and https://gemini.google/about/ . No niche-by-niche count or market-share claim added. Original founder-supplied assets are embedded without redrawing or recoloring; native crop removes blank image margins and extracts the original OpenClaw symbol for use with an editable name. Dots images are promotional collages and remain unused to preserve consistency; Instinct and Dots use text. Duplicate Town/Hark attachments not repeated. Selected-startup $2B+ funding basis unchanged, not funding for all pictured examples or the last month. All prior business-software examples, supplier permissions and source qualifications retained.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GoLocal repeatable growth model, updated from the founder request October 10, 2026. This slide deliberately contains no named pilot city or category. Pick one city-category combination, onboard enough participating suppliers for useful local coverage and recruit users with the relevant booking need. This is the proposed cold-start strategy, not evidence that critical mass or demand already exists. Users can start setup by asking their personal agent: "Add GoLocal to find me local services." One-time connector setup can require sign-in and approval on a compatible platform; each transaction retains its own authorization. The installed connector can then serve future eligible requests. The diagram represents the proposed network effect: useful bookings support agent suggestions, more booking requests attract more businesses, better supply supports useful bookings. Recommendations depend on usefulness, reliability and platform rules, not guaranteed automatic cross-user learning, ranking or traffic. Source basis retained from the approved slide: https://developers.openai.com/plugins/plugin-guidelines ; https://openai.com/index/developers-can-now-submit-apps-to-chatgpt/ ; https://muse.ai/platform/docs . These primary sources were reviewed for the prior approved October 10 slide; this revision changes the framing, not their evidence level. Expand category by category and city by city after demonstrating useful supply and booking outcomes. Proposed revenue remains a business-paid success fee on fulfilled new-customer jobs, shared with contributing partners. Prices, shares, paid continuation and margins remain unmeasured/unagreed. The concrete Salt Lake City plumbing proof of concept and existing channel partnerships are on slide 5. No named city/category should be inferred from this general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Planned proof of concept: Salt Lake City, plumbing. Latest founder instruction October 10, 2026 specifies this city-category combination and asks that it be introduced on slide 5 rather than slide 4. This updates the prior unspecified-category pilot plan, without asserting a live integration, completed GoLocal booking, paid revenue or proven demand. Two founder-reported channel partnerships are already secured for provider introductions: Cactus AI agreed to introduce GoLocal to 50+ service partners; YourCardare, the regional back-office partner, has another 10+ providers in the pipeline. These figures are kept separate, are not inferred to be all unique, all Salt Lake City plumbers, committed onboardings or live supply. The latest pipeline framing supersedes prior commitment language and the historical YourCardare 56 figure; original evidence remains archived. The planned sequence is partner introductions, onboard consenting providers and connect supported software, then test customer-authorized personal-agent bookings. Pilot goal is to turn eligible agent requests into actual provider-confirmed bookings. Merchant booking permissions, supported actions, usable plumbing coverage, a reachable first audience and customer demand still need to be established. The general supply/demand model, one-time connector setup and conditional network effect are shown on slide 4. Partner names and counts are founder-supplied facts, not new public-source claims or platform endorsements.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credentials as supplied and corrected by the founder on October 10, 2026. Pulkit Walia role "Operations and Partnerships" follows the latest annotated instruction; body text uses limited emphasis and company names are written out. The founder describes Urban Company as Asia's largest home services marketplace and his role as founding team member helping build from zero to a $3 billion IPO. Company IPO milestone is not GoLocal revenue/valuation. First venture at age 19: consumer home security systems brand, $700K revenue. Investor at Bessemer Venture Partners, deploying $50M in consumer AI startups. All facts preserved as supplied; no independent audit inferred. Rohit Jain latest founder description: five years as a Senior SWE at Amazon, Square and Citrix; #1 system design tutor on Udemy; 2,500 engineers taught; built production-grade MCP integrations. The latest 2,500 supersedes the prior 25,000+ in this deck. Exact basis and date of the #1 ranking are founder-supplied rather than independently established, and it is not reframed as a different ranking. Education from founder screenshot/live page https://laoh.ai/: Pulkit Harvard Business School MBA; Rohit Texas A&amp;M Computer Science and IIT Kharagpur. No extra degree type, CTO/cofounder title or commitment inferred. Photos are original screenshot versions from live Laoh assets, with native rounded image geometry. Original company marks and HBS mark are from public/team in the founder-supplied https://github.com/Pulkitwalia099/get-an-expert-web (commit 6aedaea); Citrix from the live Laoh page. Education logos: Texas A&amp;M official https://aux.tamu.edu/logos/boxTAM.svg sourced from https://marcomm.tamu.edu/creative-platform/logos/; IIT Kharagpur official emblem from the National Informatics Centre asset library https://www.uxdt.nic.in/documents/iit/iit-kharagpur/ and original image https://www.uxdt.nic.in/wp-content/uploads/2024/06/iit-khargpur-01.jpg. Texas A&amp;M SVG is rasterized only for compatibility, preserving its original artwork and colors. Complete logos retain proportions. LinkedIn profiles: https://www.linkedin.com/in/pulkitwalia/ and https://www.linkedin.com/in/rohit-jain-343437187/. Company footer logos are removed in this revision; university logos identify education, not GoLocal partnerships or endorsements.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DEA33C-04CC-4142-BE91-C830BDD080A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D5F36821-6108-4999-8623-899E645C5CF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E3E9C23-F88E-4B26-9ED1-FF13C3B3F94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877624-7B75-4ABB-9549-98AB4E404E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6582531E-58F9-4E97-BEE2-A5AF64392BA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3E7F64E-40F6-4EAB-88FF-C6221C1BD3E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472CB5DF-9F2E-44B8-9CE9-7A995A3B050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1FBAF9DD-0EFA-424A-B9BC-62623C9B06D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3F0720-9661-4BC8-BA55-1F49ED7D6AF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82CA2249-D475-4C73-BF2C-30661840F52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eg"/><Relationship Id="rId7"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hyperlink" Target="https://www.linkedin.com/in/rohit-jain-343437187/" TargetMode="External"/><Relationship Id="rId5" Type="http://schemas.openxmlformats.org/officeDocument/2006/relationships/hyperlink" Target="https://www.linkedin.com/in/pulkitwalia/" TargetMode="External"/><Relationship Id="rId4" Type="http://schemas.openxmlformats.org/officeDocument/2006/relationships/image" Target="../media/image7.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C41689-FC93-4969-87A5-ADB02A5F95EB}"/>
              </a:ext>
            </a:extLst>
          </p:cNvPr>
          <p:cNvSpPr>
            <a:spLocks noGrp="1"/>
          </p:cNvSpPr>
          <p:nvPr/>
        </p:nvSpPr>
        <p:spPr>
          <a:xfrm>
            <a:off x="495300" y="2324100"/>
            <a:ext cx="11201400" cy="1304925"/>
          </a:xfrm>
          <a:prstGeom prst="rect">
            <a:avLst/>
          </a:prstGeom>
          <a:noFill/>
          <a:ln w="0">
            <a:noFill/>
            <a:prstDash val="solid"/>
          </a:ln>
        </p:spPr>
        <p:txBody>
          <a:bodyPr wrap="square" lIns="0" tIns="0" rIns="0" bIns="0" anchor="t">
            <a:noAutofit/>
          </a:bodyPr>
          <a:lstStyle>
            <a:defPPr algn="l">
              <a:defRPr sz="8100" b="1">
                <a:solidFill>
                  <a:srgbClr val="193C32"/>
                </a:solidFill>
                <a:latin typeface="Helvetica Neue"/>
                <a:ea typeface="Helvetica Neue"/>
                <a:cs typeface="Helvetica Neue"/>
              </a:defRPr>
            </a:defPPr>
          </a:lstStyle>
          <a:p>
            <a:pPr algn="l">
              <a:defRPr sz="8100" b="1">
                <a:solidFill>
                  <a:srgbClr val="193C32"/>
                </a:solidFill>
                <a:latin typeface="Helvetica Neue"/>
                <a:ea typeface="Helvetica Neue"/>
                <a:cs typeface="Helvetica Neue"/>
              </a:defRPr>
            </a:pPr>
            <a:r>
              <a:rPr sz="8100" b="1">
                <a:solidFill>
                  <a:srgbClr val="193C32"/>
                </a:solidFill>
                <a:latin typeface="Helvetica Neue"/>
                <a:ea typeface="Helvetica Neue"/>
                <a:cs typeface="Helvetica Neue"/>
              </a:rPr>
              <a:t>GoLocal</a:t>
            </a:r>
          </a:p>
        </p:txBody>
      </p:sp>
      <p:sp>
        <p:nvSpPr>
          <p:cNvPr id="2" name="Rectangle 1">
            <a:extLst>
              <a:ext uri="{FF2B5EF4-FFF2-40B4-BE49-F238E27FC236}">
                <a16:creationId xmlns:a16="http://schemas.microsoft.com/office/drawing/2014/main" id="{D6BD690E-A487-46B6-BC21-05A027356330}"/>
              </a:ext>
            </a:extLst>
          </p:cNvPr>
          <p:cNvSpPr>
            <a:spLocks noGrp="1"/>
          </p:cNvSpPr>
          <p:nvPr/>
        </p:nvSpPr>
        <p:spPr>
          <a:xfrm>
            <a:off x="533400" y="3771900"/>
            <a:ext cx="11125200" cy="590550"/>
          </a:xfrm>
          <a:prstGeom prst="rect">
            <a:avLst/>
          </a:prstGeom>
          <a:noFill/>
          <a:ln w="0">
            <a:noFill/>
            <a:prstDash val="solid"/>
          </a:ln>
        </p:spPr>
        <p:txBody>
          <a:bodyPr wrap="square" lIns="0" tIns="0" rIns="0" bIns="0" anchor="t">
            <a:noAutofit/>
          </a:bodyPr>
          <a:lstStyle>
            <a:defPPr algn="l">
              <a:defRPr sz="2700" b="0">
                <a:solidFill>
                  <a:srgbClr val="236C4E"/>
                </a:solidFill>
                <a:latin typeface="Helvetica Neue"/>
                <a:ea typeface="Helvetica Neue"/>
                <a:cs typeface="Helvetica Neue"/>
              </a:defRPr>
            </a:defPPr>
          </a:lstStyle>
          <a:p>
            <a:pPr algn="l">
              <a:defRPr sz="2700" b="0">
                <a:solidFill>
                  <a:srgbClr val="236C4E"/>
                </a:solidFill>
                <a:latin typeface="Helvetica Neue"/>
                <a:ea typeface="Helvetica Neue"/>
                <a:cs typeface="Helvetica Neue"/>
              </a:defRPr>
            </a:pPr>
            <a:r>
              <a:rPr sz="2700" b="0">
                <a:solidFill>
                  <a:srgbClr val="236C4E"/>
                </a:solidFill>
                <a:latin typeface="Helvetica Neue"/>
                <a:ea typeface="Helvetica Neue"/>
                <a:cs typeface="Helvetica Neue"/>
              </a:rPr>
              <a:t>Local services, booked by your personal agent.</a:t>
            </a:r>
          </a:p>
        </p:txBody>
      </p:sp>
      <p:sp>
        <p:nvSpPr>
          <p:cNvPr id="3" name="Rectangle 2">
            <a:extLst>
              <a:ext uri="{FF2B5EF4-FFF2-40B4-BE49-F238E27FC236}">
                <a16:creationId xmlns:a16="http://schemas.microsoft.com/office/drawing/2014/main" id="{87507E9F-A053-4703-A4CF-2FE76374F56C}"/>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7</a:t>
            </a:r>
          </a:p>
        </p:txBody>
      </p:sp>
    </p:spTree>
    <p:extLst>
      <p:ext uri="{BB962C8B-B14F-4D97-AF65-F5344CB8AC3E}">
        <p14:creationId xmlns:p14="http://schemas.microsoft.com/office/powerpoint/2010/main" val="381375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9" name="market-opening-0">
            <a:extLst>
              <a:ext uri="{FF2B5EF4-FFF2-40B4-BE49-F238E27FC236}">
                <a16:creationId xmlns:a16="http://schemas.microsoft.com/office/drawing/2014/main" id="{8678B50B-E2F6-464D-A38E-7D65B2796897}"/>
              </a:ext>
            </a:extLst>
          </p:cNvPr>
          <p:cNvSpPr>
            <a:spLocks noGrp="1"/>
          </p:cNvSpPr>
          <p:nvPr/>
        </p:nvSpPr>
        <p:spPr>
          <a:xfrm>
            <a:off x="495300" y="323850"/>
            <a:ext cx="11201400" cy="742950"/>
          </a:xfrm>
          <a:prstGeom prst="rect">
            <a:avLst/>
          </a:prstGeom>
          <a:noFill/>
          <a:ln w="0">
            <a:noFill/>
            <a:prstDash val="solid"/>
          </a:ln>
        </p:spPr>
        <p:txBody>
          <a:bodyPr wrap="square" lIns="0" tIns="0" rIns="0" bIns="0" anchor="t">
            <a:noAutofit/>
          </a:bodyPr>
          <a:lstStyle>
            <a:defPPr>
              <a:defRPr sz="3900" b="1">
                <a:solidFill>
                  <a:srgbClr val="193C32"/>
                </a:solidFill>
                <a:latin typeface="Helvetica Neue"/>
                <a:ea typeface="Helvetica Neue"/>
                <a:cs typeface="Helvetica Neue"/>
              </a:defRPr>
            </a:defPPr>
          </a:lstStyle>
          <a:p>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a:ext uri="{FF2B5EF4-FFF2-40B4-BE49-F238E27FC236}">
                <a16:creationId xmlns:a16="http://schemas.microsoft.com/office/drawing/2014/main" id="{C9F321B0-5A38-4458-8889-8A8FCF56086A}"/>
              </a:ext>
            </a:extLst>
          </p:cNvPr>
          <p:cNvSpPr>
            <a:spLocks noGrp="1"/>
          </p:cNvSpPr>
          <p:nvPr/>
        </p:nvSpPr>
        <p:spPr>
          <a:xfrm>
            <a:off x="495300" y="1114425"/>
            <a:ext cx="11201400" cy="409575"/>
          </a:xfrm>
          <a:prstGeom prst="rect">
            <a:avLst/>
          </a:prstGeom>
          <a:noFill/>
          <a:ln w="0">
            <a:noFill/>
            <a:prstDash val="solid"/>
          </a:ln>
        </p:spPr>
        <p:txBody>
          <a:bodyPr wrap="square" lIns="0" tIns="0" rIns="0" bIns="0" anchor="t">
            <a:noAutofit/>
          </a:bodyPr>
          <a:lstStyle>
            <a:defPPr>
              <a:defRPr sz="2325" b="0">
                <a:solidFill>
                  <a:srgbClr val="65746C"/>
                </a:solidFill>
                <a:latin typeface="Helvetica Neue"/>
                <a:ea typeface="Helvetica Neue"/>
                <a:cs typeface="Helvetica Neue"/>
              </a:defRPr>
            </a:defPPr>
          </a:lstStyle>
          <a:p>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Table 4">
            <a:extLst>
              <a:ext uri="{FF2B5EF4-FFF2-40B4-BE49-F238E27FC236}">
                <a16:creationId xmlns:a16="http://schemas.microsoft.com/office/drawing/2014/main" id="{88A15A9C-5289-4EA8-99D4-71E682ACFC32}"/>
              </a:ext>
            </a:extLst>
          </p:cNvPr>
          <p:cNvGraphicFramePr/>
          <p:nvPr>
            <p:extLst>
              <p:ext uri="{D42A27DB-BD31-4B8C-83A1-F6EECF244321}">
                <p14:modId xmlns:p14="http://schemas.microsoft.com/office/powerpoint/2010/main" val="529395808"/>
              </p:ext>
            </p:extLst>
          </p:nvPr>
        </p:nvGraphicFramePr>
        <p:xfrm>
          <a:off x="495300" y="1990725"/>
          <a:ext cx="11201400" cy="3909060"/>
        </p:xfrm>
        <a:graphic>
          <a:graphicData uri="http://schemas.openxmlformats.org/drawingml/2006/table">
            <a:tbl>
              <a:tblPr/>
              <a:tblGrid>
                <a:gridCol w="2295525">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1781175">
                  <a:extLst>
                    <a:ext uri="{9D8B030D-6E8A-4147-A177-3AD203B41FA5}">
                      <a16:colId xmlns:a16="http://schemas.microsoft.com/office/drawing/2014/main" val="20003"/>
                    </a:ext>
                  </a:extLst>
                </a:gridCol>
                <a:gridCol w="1781175">
                  <a:extLst>
                    <a:ext uri="{9D8B030D-6E8A-4147-A177-3AD203B41FA5}">
                      <a16:colId xmlns:a16="http://schemas.microsoft.com/office/drawing/2014/main" val="20004"/>
                    </a:ext>
                  </a:extLst>
                </a:gridCol>
                <a:gridCol w="1781175">
                  <a:extLst>
                    <a:ext uri="{9D8B030D-6E8A-4147-A177-3AD203B41FA5}">
                      <a16:colId xmlns:a16="http://schemas.microsoft.com/office/drawing/2014/main" val="20005"/>
                    </a:ext>
                  </a:extLst>
                </a:gridCol>
              </a:tblGrid>
              <a:tr h="266700">
                <a:tc>
                  <a:txBody>
                    <a:bodyPr/>
                    <a:lstStyle/>
                    <a:p>
                      <a:endParaRP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575" b="0" dirty="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extLst>
                  <a:ext uri="{0D108BD9-81ED-4DB2-BD59-A6C34878D82A}">
                    <a16:rowId xmlns:a16="http://schemas.microsoft.com/office/drawing/2014/main" val="10000"/>
                  </a:ext>
                </a:extLst>
              </a:tr>
              <a:tr h="285750">
                <a:tc>
                  <a:txBody>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extLst>
                  <a:ext uri="{0D108BD9-81ED-4DB2-BD59-A6C34878D82A}">
                    <a16:rowId xmlns:a16="http://schemas.microsoft.com/office/drawing/2014/main" val="10001"/>
                  </a:ext>
                </a:extLst>
              </a:tr>
              <a:tr h="609600">
                <a:tc>
                  <a:txBody>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extLst>
                  <a:ext uri="{0D108BD9-81ED-4DB2-BD59-A6C34878D82A}">
                    <a16:rowId xmlns:a16="http://schemas.microsoft.com/office/drawing/2014/main" val="10002"/>
                  </a:ext>
                </a:extLst>
              </a:tr>
              <a:tr h="323850">
                <a:tc>
                  <a:txBody>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extLst>
                  <a:ext uri="{0D108BD9-81ED-4DB2-BD59-A6C34878D82A}">
                    <a16:rowId xmlns:a16="http://schemas.microsoft.com/office/drawing/2014/main" val="10003"/>
                  </a:ext>
                </a:extLst>
              </a:tr>
              <a:tr h="323850">
                <a:tc>
                  <a:txBody>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extLst>
                  <a:ext uri="{0D108BD9-81ED-4DB2-BD59-A6C34878D82A}">
                    <a16:rowId xmlns:a16="http://schemas.microsoft.com/office/drawing/2014/main" val="10004"/>
                  </a:ext>
                </a:extLst>
              </a:tr>
              <a:tr h="323850">
                <a:tc>
                  <a:txBody>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extLst>
                  <a:ext uri="{0D108BD9-81ED-4DB2-BD59-A6C34878D82A}">
                    <a16:rowId xmlns:a16="http://schemas.microsoft.com/office/drawing/2014/main" val="10005"/>
                  </a:ext>
                </a:extLst>
              </a:tr>
              <a:tr h="323850">
                <a:tc>
                  <a:txBody>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extLst>
                  <a:ext uri="{0D108BD9-81ED-4DB2-BD59-A6C34878D82A}">
                    <a16:rowId xmlns:a16="http://schemas.microsoft.com/office/drawing/2014/main" val="10006"/>
                  </a:ext>
                </a:extLst>
              </a:tr>
              <a:tr h="323850">
                <a:tc>
                  <a:txBody>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extLst>
                  <a:ext uri="{0D108BD9-81ED-4DB2-BD59-A6C34878D82A}">
                    <a16:rowId xmlns:a16="http://schemas.microsoft.com/office/drawing/2014/main" val="10007"/>
                  </a:ext>
                </a:extLst>
              </a:tr>
              <a:tr h="323850">
                <a:tc>
                  <a:txBody>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28575" cap="flat" cmpd="sng" algn="ctr">
                      <a:solidFill>
                        <a:srgbClr val="FBF9F4"/>
                      </a:solidFill>
                      <a:prstDash val="solid"/>
                      <a:round/>
                      <a:headEnd type="none" w="med" len="med"/>
                      <a:tailEnd type="none" w="med" len="med"/>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cap="flat" cmpd="sng" algn="ctr">
                      <a:solidFill>
                        <a:srgbClr val="FBF9F4"/>
                      </a:solidFill>
                      <a:prstDash val="solid"/>
                      <a:round/>
                      <a:headEnd type="none" w="med" len="med"/>
                      <a:tailEnd type="none" w="med" len="med"/>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cap="flat" cmpd="sng" algn="ctr">
                      <a:solidFill>
                        <a:srgbClr val="FBF9F4"/>
                      </a:solidFill>
                      <a:prstDash val="solid"/>
                      <a:round/>
                      <a:headEnd type="none" w="med" len="med"/>
                      <a:tailEnd type="none" w="med" len="med"/>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cap="flat" cmpd="sng" algn="ctr">
                      <a:solidFill>
                        <a:srgbClr val="FBF9F4"/>
                      </a:solidFill>
                      <a:prstDash val="solid"/>
                      <a:round/>
                      <a:headEnd type="none" w="med" len="med"/>
                      <a:tailEnd type="none" w="med" len="med"/>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cap="flat" cmpd="sng" algn="ctr">
                      <a:solidFill>
                        <a:srgbClr val="FBF9F4"/>
                      </a:solidFill>
                      <a:prstDash val="solid"/>
                      <a:round/>
                      <a:headEnd type="none" w="med" len="med"/>
                      <a:tailEnd type="none" w="med" len="med"/>
                    </a:lnT>
                    <a:lnB w="28575">
                      <a:solidFill>
                        <a:srgbClr val="FBF9F4"/>
                      </a:solidFill>
                    </a:lnB>
                    <a:solidFill>
                      <a:srgbClr val="F7E8E3"/>
                    </a:solidFill>
                  </a:tcPr>
                </a:tc>
                <a:tc>
                  <a:txBody>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28575" cap="flat" cmpd="sng" algn="ctr">
                      <a:solidFill>
                        <a:srgbClr val="FBF9F4"/>
                      </a:solidFill>
                      <a:prstDash val="solid"/>
                      <a:round/>
                      <a:headEnd type="none" w="med" len="med"/>
                      <a:tailEnd type="none" w="med" len="med"/>
                    </a:lnT>
                    <a:lnB w="28575">
                      <a:solidFill>
                        <a:srgbClr val="FBF9F4"/>
                      </a:solidFill>
                    </a:lnB>
                    <a:solidFill>
                      <a:srgbClr val="F7E8E3"/>
                    </a:solidFill>
                  </a:tcPr>
                </a:tc>
                <a:extLst>
                  <a:ext uri="{0D108BD9-81ED-4DB2-BD59-A6C34878D82A}">
                    <a16:rowId xmlns:a16="http://schemas.microsoft.com/office/drawing/2014/main" val="10008"/>
                  </a:ext>
                </a:extLst>
              </a:tr>
              <a:tr h="323850">
                <a:tc>
                  <a:txBody>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lang="en-US" sz="1350" b="0" dirty="0">
                          <a:solidFill>
                            <a:srgbClr val="9D514B"/>
                          </a:solidFill>
                          <a:latin typeface="Helvetica Neue"/>
                          <a:ea typeface="Helvetica Neue"/>
                          <a:cs typeface="Helvetica Neue"/>
                        </a:rPr>
                        <a:t>On-</a:t>
                      </a:r>
                      <a:r>
                        <a:rPr sz="1350" b="0" dirty="0">
                          <a:solidFill>
                            <a:srgbClr val="9D514B"/>
                          </a:solidFill>
                          <a:latin typeface="Helvetica Neue"/>
                          <a:ea typeface="Helvetica Neue"/>
                          <a:cs typeface="Helvetica Neue"/>
                        </a:rPr>
                        <a:t>Calls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extLst>
                  <a:ext uri="{0D108BD9-81ED-4DB2-BD59-A6C34878D82A}">
                    <a16:rowId xmlns:a16="http://schemas.microsoft.com/office/drawing/2014/main" val="10009"/>
                  </a:ext>
                </a:extLst>
              </a:tr>
              <a:tr h="361950">
                <a:tc>
                  <a:txBody>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sz="1800" b="0" dirty="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a:lstStyle/>
                    <a:p>
                      <a:pPr algn="ctr">
                        <a:buNone/>
                      </a:pPr>
                      <a:r>
                        <a:rPr lang="en-US" sz="1350" b="0" dirty="0">
                          <a:solidFill>
                            <a:srgbClr val="9D514B"/>
                          </a:solidFill>
                          <a:latin typeface="Helvetica Neue"/>
                          <a:ea typeface="Helvetica Neue"/>
                          <a:cs typeface="Helvetica Neue"/>
                        </a:rPr>
                        <a:t>On-</a:t>
                      </a:r>
                      <a:r>
                        <a:rPr sz="1350" b="0" dirty="0">
                          <a:solidFill>
                            <a:srgbClr val="9D514B"/>
                          </a:solidFill>
                          <a:latin typeface="Helvetica Neue"/>
                          <a:ea typeface="Helvetica Neue"/>
                          <a:cs typeface="Helvetica Neue"/>
                        </a:rPr>
                        <a:t>Site</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extLst>
                  <a:ext uri="{0D108BD9-81ED-4DB2-BD59-A6C34878D82A}">
                    <a16:rowId xmlns:a16="http://schemas.microsoft.com/office/drawing/2014/main" val="10010"/>
                  </a:ext>
                </a:extLst>
              </a:tr>
            </a:tbl>
          </a:graphicData>
        </a:graphic>
      </p:graphicFrame>
      <p:sp>
        <p:nvSpPr>
          <p:cNvPr id="8" name="market-opening-6">
            <a:extLst>
              <a:ext uri="{FF2B5EF4-FFF2-40B4-BE49-F238E27FC236}">
                <a16:creationId xmlns:a16="http://schemas.microsoft.com/office/drawing/2014/main" id="{9C3FB550-ED41-4A8E-9B97-C88A3A6B83BB}"/>
              </a:ext>
            </a:extLst>
          </p:cNvPr>
          <p:cNvSpPr>
            <a:spLocks noGrp="1"/>
          </p:cNvSpPr>
          <p:nvPr/>
        </p:nvSpPr>
        <p:spPr>
          <a:xfrm>
            <a:off x="11049000" y="6572250"/>
            <a:ext cx="666750" cy="209550"/>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7</a:t>
            </a:r>
          </a:p>
        </p:txBody>
      </p:sp>
      <p:sp>
        <p:nvSpPr>
          <p:cNvPr id="10" name="opportunity-close">
            <a:extLst>
              <a:ext uri="{FF2B5EF4-FFF2-40B4-BE49-F238E27FC236}">
                <a16:creationId xmlns:a16="http://schemas.microsoft.com/office/drawing/2014/main" id="{BF516B70-F7F0-4038-A880-DB5961B82CDD}"/>
              </a:ext>
            </a:extLst>
          </p:cNvPr>
          <p:cNvSpPr>
            <a:spLocks noGrp="1"/>
          </p:cNvSpPr>
          <p:nvPr/>
        </p:nvSpPr>
        <p:spPr>
          <a:xfrm>
            <a:off x="495300" y="5924550"/>
            <a:ext cx="11201400" cy="619125"/>
          </a:xfrm>
          <a:prstGeom prst="rect">
            <a:avLst/>
          </a:prstGeom>
          <a:noFill/>
          <a:ln w="0">
            <a:noFill/>
            <a:prstDash val="solid"/>
          </a:ln>
        </p:spPr>
        <p:txBody>
          <a:bodyPr wrap="square" lIns="0" tIns="0" rIns="0" bIns="0" anchor="t">
            <a:noAutofit/>
          </a:bodyPr>
          <a:lstStyle>
            <a:defPPr>
              <a:defRPr sz="1950" b="1">
                <a:solidFill>
                  <a:srgbClr val="193C32"/>
                </a:solidFill>
                <a:latin typeface="Helvetica Neue"/>
                <a:ea typeface="Helvetica Neue"/>
                <a:cs typeface="Helvetica Neue"/>
              </a:defRPr>
            </a:defPPr>
          </a:lstStyle>
          <a:p>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cxnSp>
        <p:nvCxnSpPr>
          <p:cNvPr id="57" name="Straight Arrow Connector 56">
            <a:extLst>
              <a:ext uri="{FF2B5EF4-FFF2-40B4-BE49-F238E27FC236}">
                <a16:creationId xmlns:a16="http://schemas.microsoft.com/office/drawing/2014/main" id="{DBCEFF9E-46AF-4D95-95B1-91C88505566B}"/>
              </a:ext>
            </a:extLst>
          </p:cNvPr>
          <p:cNvCxnSpPr>
            <a:stCxn id="32" idx="3"/>
            <a:endCxn id="44" idx="1"/>
          </p:cNvCxnSpPr>
          <p:nvPr/>
        </p:nvCxnSpPr>
        <p:spPr>
          <a:xfrm>
            <a:off x="9810750" y="4905375"/>
            <a:ext cx="552450" cy="0"/>
          </a:xfrm>
          <a:prstGeom prst="straightConnector1">
            <a:avLst/>
          </a:prstGeom>
          <a:ln w="19050">
            <a:solidFill>
              <a:srgbClr val="236C4E"/>
            </a:solidFill>
            <a:prstDash val="solid"/>
            <a:headEnd type="arrow" w="sm" len="sm"/>
            <a:tailEnd type="arrow" w="sm" len="sm"/>
          </a:ln>
        </p:spPr>
      </p:cxnSp>
      <p:cxnSp>
        <p:nvCxnSpPr>
          <p:cNvPr id="56" name="Elbow Connector 55">
            <a:extLst>
              <a:ext uri="{FF2B5EF4-FFF2-40B4-BE49-F238E27FC236}">
                <a16:creationId xmlns:a16="http://schemas.microsoft.com/office/drawing/2014/main" id="{B90FFE52-07DE-4A36-99A4-5D74BFFA8A8F}"/>
              </a:ext>
            </a:extLst>
          </p:cNvPr>
          <p:cNvCxnSpPr>
            <a:stCxn id="25" idx="3"/>
            <a:endCxn id="32" idx="1"/>
          </p:cNvCxnSpPr>
          <p:nvPr/>
        </p:nvCxnSpPr>
        <p:spPr>
          <a:xfrm>
            <a:off x="6610350" y="4133850"/>
            <a:ext cx="533400" cy="771525"/>
          </a:xfrm>
          <a:prstGeom prst="bentConnector3">
            <a:avLst>
              <a:gd name="adj1" fmla="val 50000"/>
            </a:avLst>
          </a:prstGeom>
          <a:ln w="19050">
            <a:solidFill>
              <a:srgbClr val="236C4E"/>
            </a:solidFill>
            <a:prstDash val="solid"/>
            <a:headEnd type="arrow" w="sm" len="sm"/>
            <a:tailEnd type="arrow" w="sm" len="sm"/>
          </a:ln>
        </p:spPr>
      </p:cxnSp>
      <p:cxnSp>
        <p:nvCxnSpPr>
          <p:cNvPr id="55" name="Straight Arrow Connector 54">
            <a:extLst>
              <a:ext uri="{FF2B5EF4-FFF2-40B4-BE49-F238E27FC236}">
                <a16:creationId xmlns:a16="http://schemas.microsoft.com/office/drawing/2014/main" id="{795A6FC3-4EE0-41D3-9C7B-044336B69A07}"/>
              </a:ext>
            </a:extLst>
          </p:cNvPr>
          <p:cNvCxnSpPr>
            <a:stCxn id="31" idx="3"/>
            <a:endCxn id="43" idx="1"/>
          </p:cNvCxnSpPr>
          <p:nvPr/>
        </p:nvCxnSpPr>
        <p:spPr>
          <a:xfrm>
            <a:off x="9810750" y="4000500"/>
            <a:ext cx="552450" cy="0"/>
          </a:xfrm>
          <a:prstGeom prst="straightConnector1">
            <a:avLst/>
          </a:prstGeom>
          <a:ln w="19050">
            <a:solidFill>
              <a:srgbClr val="236C4E"/>
            </a:solidFill>
            <a:prstDash val="solid"/>
            <a:headEnd type="arrow" w="sm" len="sm"/>
            <a:tailEnd type="arrow" w="sm" len="sm"/>
          </a:ln>
        </p:spPr>
      </p:cxnSp>
      <p:cxnSp>
        <p:nvCxnSpPr>
          <p:cNvPr id="54" name="Elbow Connector 53">
            <a:extLst>
              <a:ext uri="{FF2B5EF4-FFF2-40B4-BE49-F238E27FC236}">
                <a16:creationId xmlns:a16="http://schemas.microsoft.com/office/drawing/2014/main" id="{82D7B557-B494-4306-A418-E1E8AE6FD2B0}"/>
              </a:ext>
            </a:extLst>
          </p:cNvPr>
          <p:cNvCxnSpPr>
            <a:stCxn id="25" idx="3"/>
            <a:endCxn id="31" idx="1"/>
          </p:cNvCxnSpPr>
          <p:nvPr/>
        </p:nvCxnSpPr>
        <p:spPr>
          <a:xfrm flipV="1">
            <a:off x="6610350" y="4000500"/>
            <a:ext cx="533400" cy="133350"/>
          </a:xfrm>
          <a:prstGeom prst="bentConnector3">
            <a:avLst>
              <a:gd name="adj1" fmla="val 50000"/>
            </a:avLst>
          </a:prstGeom>
          <a:ln w="19050">
            <a:solidFill>
              <a:srgbClr val="236C4E"/>
            </a:solidFill>
            <a:prstDash val="solid"/>
            <a:headEnd type="arrow" w="sm" len="sm"/>
            <a:tailEnd type="arrow" w="sm" len="sm"/>
          </a:ln>
        </p:spPr>
      </p:cxnSp>
      <p:cxnSp>
        <p:nvCxnSpPr>
          <p:cNvPr id="53" name="Straight Arrow Connector 52">
            <a:extLst>
              <a:ext uri="{FF2B5EF4-FFF2-40B4-BE49-F238E27FC236}">
                <a16:creationId xmlns:a16="http://schemas.microsoft.com/office/drawing/2014/main" id="{51185C14-62C1-407F-9432-0AB00AFE4D97}"/>
              </a:ext>
            </a:extLst>
          </p:cNvPr>
          <p:cNvCxnSpPr>
            <a:stCxn id="30" idx="3"/>
            <a:endCxn id="42" idx="1"/>
          </p:cNvCxnSpPr>
          <p:nvPr/>
        </p:nvCxnSpPr>
        <p:spPr>
          <a:xfrm>
            <a:off x="9810750" y="3124200"/>
            <a:ext cx="552450" cy="0"/>
          </a:xfrm>
          <a:prstGeom prst="straightConnector1">
            <a:avLst/>
          </a:prstGeom>
          <a:ln w="19050">
            <a:solidFill>
              <a:srgbClr val="236C4E"/>
            </a:solidFill>
            <a:prstDash val="solid"/>
            <a:headEnd type="arrow" w="sm" len="sm"/>
            <a:tailEnd type="arrow" w="sm" len="sm"/>
          </a:ln>
        </p:spPr>
      </p:cxnSp>
      <p:cxnSp>
        <p:nvCxnSpPr>
          <p:cNvPr id="52" name="Elbow Connector 51">
            <a:extLst>
              <a:ext uri="{FF2B5EF4-FFF2-40B4-BE49-F238E27FC236}">
                <a16:creationId xmlns:a16="http://schemas.microsoft.com/office/drawing/2014/main" id="{CDB2F34D-EFFE-4268-B273-14D5AF00D090}"/>
              </a:ext>
            </a:extLst>
          </p:cNvPr>
          <p:cNvCxnSpPr>
            <a:stCxn id="25" idx="3"/>
            <a:endCxn id="30" idx="1"/>
          </p:cNvCxnSpPr>
          <p:nvPr/>
        </p:nvCxnSpPr>
        <p:spPr>
          <a:xfrm flipV="1">
            <a:off x="6610350" y="3124200"/>
            <a:ext cx="533400" cy="1009650"/>
          </a:xfrm>
          <a:prstGeom prst="bentConnector3">
            <a:avLst>
              <a:gd name="adj1" fmla="val 50000"/>
            </a:avLst>
          </a:prstGeom>
          <a:ln w="19050">
            <a:solidFill>
              <a:srgbClr val="236C4E"/>
            </a:solidFill>
            <a:prstDash val="solid"/>
            <a:headEnd type="arrow" w="sm" len="sm"/>
            <a:tailEnd type="arrow" w="sm" len="sm"/>
          </a:ln>
        </p:spPr>
      </p:cxnSp>
      <p:cxnSp>
        <p:nvCxnSpPr>
          <p:cNvPr id="51" name="Elbow Connector 50">
            <a:extLst>
              <a:ext uri="{FF2B5EF4-FFF2-40B4-BE49-F238E27FC236}">
                <a16:creationId xmlns:a16="http://schemas.microsoft.com/office/drawing/2014/main" id="{1AF5E0F7-37E6-4696-8467-D5AD61211AE0}"/>
              </a:ext>
            </a:extLst>
          </p:cNvPr>
          <p:cNvCxnSpPr>
            <a:stCxn id="16" idx="3"/>
            <a:endCxn id="25" idx="1"/>
          </p:cNvCxnSpPr>
          <p:nvPr/>
        </p:nvCxnSpPr>
        <p:spPr>
          <a:xfrm flipV="1">
            <a:off x="2362200" y="4133850"/>
            <a:ext cx="838200" cy="1076325"/>
          </a:xfrm>
          <a:prstGeom prst="bentConnector3">
            <a:avLst>
              <a:gd name="adj1" fmla="val 50000"/>
            </a:avLst>
          </a:prstGeom>
          <a:ln w="19050">
            <a:solidFill>
              <a:srgbClr val="236C4E"/>
            </a:solidFill>
            <a:prstDash val="solid"/>
            <a:headEnd type="arrow" w="sm" len="sm"/>
            <a:tailEnd type="arrow" w="sm" len="sm"/>
          </a:ln>
        </p:spPr>
      </p:cxnSp>
      <p:cxnSp>
        <p:nvCxnSpPr>
          <p:cNvPr id="50" name="Elbow Connector 49">
            <a:extLst>
              <a:ext uri="{FF2B5EF4-FFF2-40B4-BE49-F238E27FC236}">
                <a16:creationId xmlns:a16="http://schemas.microsoft.com/office/drawing/2014/main" id="{820F3486-D4A1-4B7D-825B-2B453262D2A4}"/>
              </a:ext>
            </a:extLst>
          </p:cNvPr>
          <p:cNvCxnSpPr>
            <a:stCxn id="15" idx="3"/>
            <a:endCxn id="25" idx="1"/>
          </p:cNvCxnSpPr>
          <p:nvPr/>
        </p:nvCxnSpPr>
        <p:spPr>
          <a:xfrm flipV="1">
            <a:off x="2362200" y="4133850"/>
            <a:ext cx="838200" cy="695325"/>
          </a:xfrm>
          <a:prstGeom prst="bentConnector3">
            <a:avLst>
              <a:gd name="adj1" fmla="val 50000"/>
            </a:avLst>
          </a:prstGeom>
          <a:ln w="19050">
            <a:solidFill>
              <a:srgbClr val="236C4E"/>
            </a:solidFill>
            <a:prstDash val="solid"/>
            <a:headEnd type="arrow" w="sm" len="sm"/>
            <a:tailEnd type="arrow" w="sm" len="sm"/>
          </a:ln>
        </p:spPr>
      </p:cxnSp>
      <p:cxnSp>
        <p:nvCxnSpPr>
          <p:cNvPr id="49" name="Elbow Connector 48">
            <a:extLst>
              <a:ext uri="{FF2B5EF4-FFF2-40B4-BE49-F238E27FC236}">
                <a16:creationId xmlns:a16="http://schemas.microsoft.com/office/drawing/2014/main" id="{DB890E9E-6670-4A58-BD6D-5BC93D15A72C}"/>
              </a:ext>
            </a:extLst>
          </p:cNvPr>
          <p:cNvCxnSpPr>
            <a:stCxn id="14" idx="3"/>
            <a:endCxn id="25" idx="1"/>
          </p:cNvCxnSpPr>
          <p:nvPr/>
        </p:nvCxnSpPr>
        <p:spPr>
          <a:xfrm flipV="1">
            <a:off x="2362200" y="4133850"/>
            <a:ext cx="838200" cy="314325"/>
          </a:xfrm>
          <a:prstGeom prst="bentConnector3">
            <a:avLst>
              <a:gd name="adj1" fmla="val 50000"/>
            </a:avLst>
          </a:prstGeom>
          <a:ln w="19050">
            <a:solidFill>
              <a:srgbClr val="236C4E"/>
            </a:solidFill>
            <a:prstDash val="solid"/>
            <a:headEnd type="arrow" w="sm" len="sm"/>
            <a:tailEnd type="arrow" w="sm" len="sm"/>
          </a:ln>
        </p:spPr>
      </p:cxnSp>
      <p:cxnSp>
        <p:nvCxnSpPr>
          <p:cNvPr id="48" name="Elbow Connector 47">
            <a:extLst>
              <a:ext uri="{FF2B5EF4-FFF2-40B4-BE49-F238E27FC236}">
                <a16:creationId xmlns:a16="http://schemas.microsoft.com/office/drawing/2014/main" id="{6162C1E6-0AAA-4DB5-8928-EA1379F47E46}"/>
              </a:ext>
            </a:extLst>
          </p:cNvPr>
          <p:cNvCxnSpPr>
            <a:stCxn id="13" idx="3"/>
            <a:endCxn id="25" idx="1"/>
          </p:cNvCxnSpPr>
          <p:nvPr/>
        </p:nvCxnSpPr>
        <p:spPr>
          <a:xfrm>
            <a:off x="2362200" y="4067175"/>
            <a:ext cx="838200" cy="66675"/>
          </a:xfrm>
          <a:prstGeom prst="bentConnector3">
            <a:avLst>
              <a:gd name="adj1" fmla="val 50000"/>
            </a:avLst>
          </a:prstGeom>
          <a:ln w="19050">
            <a:solidFill>
              <a:srgbClr val="236C4E"/>
            </a:solidFill>
            <a:prstDash val="solid"/>
            <a:headEnd type="arrow" w="sm" len="sm"/>
            <a:tailEnd type="arrow" w="sm" len="sm"/>
          </a:ln>
        </p:spPr>
      </p:cxnSp>
      <p:cxnSp>
        <p:nvCxnSpPr>
          <p:cNvPr id="47" name="Elbow Connector 46">
            <a:extLst>
              <a:ext uri="{FF2B5EF4-FFF2-40B4-BE49-F238E27FC236}">
                <a16:creationId xmlns:a16="http://schemas.microsoft.com/office/drawing/2014/main" id="{775EE36F-E560-441B-9EC9-8D4F9659DC17}"/>
              </a:ext>
            </a:extLst>
          </p:cNvPr>
          <p:cNvCxnSpPr>
            <a:stCxn id="12" idx="3"/>
            <a:endCxn id="25" idx="1"/>
          </p:cNvCxnSpPr>
          <p:nvPr/>
        </p:nvCxnSpPr>
        <p:spPr>
          <a:xfrm>
            <a:off x="2362200" y="3686175"/>
            <a:ext cx="838200" cy="447675"/>
          </a:xfrm>
          <a:prstGeom prst="bentConnector3">
            <a:avLst>
              <a:gd name="adj1" fmla="val 50000"/>
            </a:avLst>
          </a:prstGeom>
          <a:ln w="19050">
            <a:solidFill>
              <a:srgbClr val="236C4E"/>
            </a:solidFill>
            <a:prstDash val="solid"/>
            <a:headEnd type="arrow" w="sm" len="sm"/>
            <a:tailEnd type="arrow" w="sm" len="sm"/>
          </a:ln>
        </p:spPr>
      </p:cxnSp>
      <p:cxnSp>
        <p:nvCxnSpPr>
          <p:cNvPr id="46" name="Elbow Connector 45">
            <a:extLst>
              <a:ext uri="{FF2B5EF4-FFF2-40B4-BE49-F238E27FC236}">
                <a16:creationId xmlns:a16="http://schemas.microsoft.com/office/drawing/2014/main" id="{8566496A-9405-49B5-9DBA-9CF19A07F8B3}"/>
              </a:ext>
            </a:extLst>
          </p:cNvPr>
          <p:cNvCxnSpPr>
            <a:stCxn id="11" idx="3"/>
            <a:endCxn id="25" idx="1"/>
          </p:cNvCxnSpPr>
          <p:nvPr/>
        </p:nvCxnSpPr>
        <p:spPr>
          <a:xfrm>
            <a:off x="2362200" y="3305175"/>
            <a:ext cx="838200" cy="828675"/>
          </a:xfrm>
          <a:prstGeom prst="bentConnector3">
            <a:avLst>
              <a:gd name="adj1" fmla="val 50000"/>
            </a:avLst>
          </a:prstGeom>
          <a:ln w="19050">
            <a:solidFill>
              <a:srgbClr val="236C4E"/>
            </a:solidFill>
            <a:prstDash val="solid"/>
            <a:headEnd type="arrow" w="sm" len="sm"/>
            <a:tailEnd type="arrow" w="sm" len="sm"/>
          </a:ln>
        </p:spPr>
      </p:cxnSp>
      <p:cxnSp>
        <p:nvCxnSpPr>
          <p:cNvPr id="45" name="Elbow Connector 44">
            <a:extLst>
              <a:ext uri="{FF2B5EF4-FFF2-40B4-BE49-F238E27FC236}">
                <a16:creationId xmlns:a16="http://schemas.microsoft.com/office/drawing/2014/main" id="{633DD15B-D7A4-4E7C-96B5-0A1C980FAF6A}"/>
              </a:ext>
            </a:extLst>
          </p:cNvPr>
          <p:cNvCxnSpPr>
            <a:stCxn id="10" idx="3"/>
            <a:endCxn id="25" idx="1"/>
          </p:cNvCxnSpPr>
          <p:nvPr/>
        </p:nvCxnSpPr>
        <p:spPr>
          <a:xfrm>
            <a:off x="2362200" y="2924175"/>
            <a:ext cx="838200" cy="1209675"/>
          </a:xfrm>
          <a:prstGeom prst="bentConnector3">
            <a:avLst>
              <a:gd name="adj1" fmla="val 50000"/>
            </a:avLst>
          </a:prstGeom>
          <a:ln w="19050">
            <a:solidFill>
              <a:srgbClr val="236C4E"/>
            </a:solidFill>
            <a:prstDash val="solid"/>
            <a:headEnd type="arrow" w="sm" len="sm"/>
            <a:tailEnd type="arrow" w="sm" len="sm"/>
          </a:ln>
        </p:spPr>
      </p:cxnSp>
      <p:sp>
        <p:nvSpPr>
          <p:cNvPr id="63" name="booking-layer-text-0">
            <a:extLst>
              <a:ext uri="{FF2B5EF4-FFF2-40B4-BE49-F238E27FC236}">
                <a16:creationId xmlns:a16="http://schemas.microsoft.com/office/drawing/2014/main" id="{780846B9-89B6-42C8-88A6-077B482B99AC}"/>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defRPr sz="1275" b="1">
                <a:solidFill>
                  <a:srgbClr val="65746C"/>
                </a:solidFill>
                <a:latin typeface="Helvetica Neue"/>
                <a:ea typeface="Helvetica Neue"/>
                <a:cs typeface="Helvetica Neue"/>
              </a:defRPr>
            </a:defPPr>
          </a:lstStyle>
          <a:p>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a:ext uri="{FF2B5EF4-FFF2-40B4-BE49-F238E27FC236}">
                <a16:creationId xmlns:a16="http://schemas.microsoft.com/office/drawing/2014/main" id="{558838F4-FB49-405E-B523-5CF53F03D7AD}"/>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defRPr sz="3300" b="1">
                <a:solidFill>
                  <a:srgbClr val="193C32"/>
                </a:solidFill>
                <a:latin typeface="Helvetica Neue"/>
                <a:ea typeface="Helvetica Neue"/>
                <a:cs typeface="Helvetica Neue"/>
              </a:defRPr>
            </a:defPPr>
          </a:lstStyle>
          <a:p>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a:ext uri="{FF2B5EF4-FFF2-40B4-BE49-F238E27FC236}">
                <a16:creationId xmlns:a16="http://schemas.microsoft.com/office/drawing/2014/main" id="{D5C55A98-D2FC-4D22-BDAF-425BD652E5A4}"/>
              </a:ext>
            </a:extLst>
          </p:cNvPr>
          <p:cNvSpPr>
            <a:spLocks noGrp="1"/>
          </p:cNvSpPr>
          <p:nvPr/>
        </p:nvSpPr>
        <p:spPr>
          <a:xfrm>
            <a:off x="495300" y="1362075"/>
            <a:ext cx="11201400" cy="457200"/>
          </a:xfrm>
          <a:prstGeom prst="rect">
            <a:avLst/>
          </a:prstGeom>
          <a:noFill/>
          <a:ln w="0">
            <a:noFill/>
            <a:prstDash val="solid"/>
          </a:ln>
        </p:spPr>
        <p:txBody>
          <a:bodyPr wrap="square" lIns="0" tIns="0" rIns="0" bIns="0" anchor="t">
            <a:noAutofit/>
          </a:bodyPr>
          <a:lstStyle>
            <a:defPPr>
              <a:defRPr sz="2025" b="0">
                <a:solidFill>
                  <a:srgbClr val="65746C"/>
                </a:solidFill>
                <a:latin typeface="Helvetica Neue"/>
                <a:ea typeface="Helvetica Neue"/>
                <a:cs typeface="Helvetica Neue"/>
              </a:defRPr>
            </a:defPPr>
          </a:lstStyle>
          <a:p>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a:ext uri="{FF2B5EF4-FFF2-40B4-BE49-F238E27FC236}">
                <a16:creationId xmlns:a16="http://schemas.microsoft.com/office/drawing/2014/main" id="{25D62D51-3ACC-42B9-AF5C-085EBB1C6C26}"/>
              </a:ext>
            </a:extLst>
          </p:cNvPr>
          <p:cNvSpPr>
            <a:spLocks noGrp="1"/>
          </p:cNvSpPr>
          <p:nvPr/>
        </p:nvSpPr>
        <p:spPr>
          <a:xfrm>
            <a:off x="495300" y="2152650"/>
            <a:ext cx="1866900" cy="285750"/>
          </a:xfrm>
          <a:prstGeom prst="rect">
            <a:avLst/>
          </a:prstGeom>
          <a:noFill/>
          <a:ln w="0">
            <a:noFill/>
            <a:prstDash val="solid"/>
          </a:ln>
        </p:spPr>
        <p:txBody>
          <a:bodyPr wrap="square" lIns="0" tIns="0" rIns="0" bIns="0" anchor="t">
            <a:noAutofit/>
          </a:bodyPr>
          <a:lstStyle>
            <a:defPPr>
              <a:defRPr sz="1650" b="1">
                <a:solidFill>
                  <a:srgbClr val="193C32"/>
                </a:solidFill>
                <a:latin typeface="Helvetica Neue"/>
                <a:ea typeface="Helvetica Neue"/>
                <a:cs typeface="Helvetica Neue"/>
              </a:defRPr>
            </a:defPPr>
          </a:lstStyle>
          <a:p>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a:ext uri="{FF2B5EF4-FFF2-40B4-BE49-F238E27FC236}">
                <a16:creationId xmlns:a16="http://schemas.microsoft.com/office/drawing/2014/main" id="{D27E49B2-4AE1-4370-860E-31238EBC6788}"/>
              </a:ext>
            </a:extLst>
          </p:cNvPr>
          <p:cNvSpPr>
            <a:spLocks noGrp="1"/>
          </p:cNvSpPr>
          <p:nvPr/>
        </p:nvSpPr>
        <p:spPr>
          <a:xfrm>
            <a:off x="495300" y="2476500"/>
            <a:ext cx="1866900" cy="266700"/>
          </a:xfrm>
          <a:prstGeom prst="rect">
            <a:avLst/>
          </a:prstGeom>
          <a:noFill/>
          <a:ln w="0">
            <a:noFill/>
            <a:prstDash val="solid"/>
          </a:ln>
        </p:spPr>
        <p:txBody>
          <a:bodyPr wrap="square" lIns="0" tIns="0" rIns="0" bIns="0" anchor="t">
            <a:noAutofit/>
          </a:bodyPr>
          <a:lstStyle>
            <a:defPPr>
              <a:defRPr sz="1425" b="0">
                <a:solidFill>
                  <a:srgbClr val="65746C"/>
                </a:solidFill>
                <a:latin typeface="Helvetica Neue"/>
                <a:ea typeface="Helvetica Neue"/>
                <a:cs typeface="Helvetica Neue"/>
              </a:defRPr>
            </a:defPPr>
          </a:lstStyle>
          <a:p>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a:ext uri="{FF2B5EF4-FFF2-40B4-BE49-F238E27FC236}">
                <a16:creationId xmlns:a16="http://schemas.microsoft.com/office/drawing/2014/main" id="{1C0B045E-DE72-45BB-9114-EFBA9CC9C157}"/>
              </a:ext>
            </a:extLst>
          </p:cNvPr>
          <p:cNvSpPr>
            <a:spLocks noGrp="1"/>
          </p:cNvSpPr>
          <p:nvPr/>
        </p:nvSpPr>
        <p:spPr>
          <a:xfrm>
            <a:off x="3200400" y="2152650"/>
            <a:ext cx="3409950" cy="295275"/>
          </a:xfrm>
          <a:prstGeom prst="rect">
            <a:avLst/>
          </a:prstGeom>
          <a:noFill/>
          <a:ln w="0">
            <a:noFill/>
            <a:prstDash val="solid"/>
          </a:ln>
        </p:spPr>
        <p:txBody>
          <a:bodyPr wrap="square" lIns="0" tIns="0" rIns="0" bIns="0" anchor="t">
            <a:noAutofit/>
          </a:bodyPr>
          <a:lstStyle>
            <a:defPPr>
              <a:defRPr sz="1650" b="1">
                <a:solidFill>
                  <a:srgbClr val="193C32"/>
                </a:solidFill>
                <a:latin typeface="Helvetica Neue"/>
                <a:ea typeface="Helvetica Neue"/>
                <a:cs typeface="Helvetica Neue"/>
              </a:defRPr>
            </a:defPPr>
          </a:lstStyle>
          <a:p>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a:ext uri="{FF2B5EF4-FFF2-40B4-BE49-F238E27FC236}">
                <a16:creationId xmlns:a16="http://schemas.microsoft.com/office/drawing/2014/main" id="{2FC5CA1D-5A2A-4CEA-AF88-28C06E1AA264}"/>
              </a:ext>
            </a:extLst>
          </p:cNvPr>
          <p:cNvSpPr>
            <a:spLocks noGrp="1"/>
          </p:cNvSpPr>
          <p:nvPr/>
        </p:nvSpPr>
        <p:spPr>
          <a:xfrm>
            <a:off x="7143750" y="2124075"/>
            <a:ext cx="2667000" cy="257175"/>
          </a:xfrm>
          <a:prstGeom prst="rect">
            <a:avLst/>
          </a:prstGeom>
          <a:noFill/>
          <a:ln w="0">
            <a:noFill/>
            <a:prstDash val="solid"/>
          </a:ln>
        </p:spPr>
        <p:txBody>
          <a:bodyPr wrap="square" lIns="0" tIns="0" rIns="0" bIns="0" anchor="t">
            <a:noAutofit/>
          </a:bodyPr>
          <a:lstStyle>
            <a:defPPr>
              <a:defRPr sz="1575" b="1">
                <a:solidFill>
                  <a:srgbClr val="193C32"/>
                </a:solidFill>
                <a:latin typeface="Helvetica Neue"/>
                <a:ea typeface="Helvetica Neue"/>
                <a:cs typeface="Helvetica Neue"/>
              </a:defRPr>
            </a:defPPr>
          </a:lstStyle>
          <a:p>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a:ext uri="{FF2B5EF4-FFF2-40B4-BE49-F238E27FC236}">
                <a16:creationId xmlns:a16="http://schemas.microsoft.com/office/drawing/2014/main" id="{60CE6CDB-A101-4987-B56C-52BC2B44F701}"/>
              </a:ext>
            </a:extLst>
          </p:cNvPr>
          <p:cNvSpPr>
            <a:spLocks noGrp="1"/>
          </p:cNvSpPr>
          <p:nvPr/>
        </p:nvSpPr>
        <p:spPr>
          <a:xfrm>
            <a:off x="7143750" y="2419350"/>
            <a:ext cx="2667000" cy="247650"/>
          </a:xfrm>
          <a:prstGeom prst="rect">
            <a:avLst/>
          </a:prstGeom>
          <a:noFill/>
          <a:ln w="0">
            <a:noFill/>
            <a:prstDash val="solid"/>
          </a:ln>
        </p:spPr>
        <p:txBody>
          <a:bodyPr wrap="square" lIns="0" tIns="0" rIns="0" bIns="0" anchor="t">
            <a:noAutofit/>
          </a:bodyPr>
          <a:lstStyle>
            <a:defPPr>
              <a:defRPr sz="1500" b="1">
                <a:solidFill>
                  <a:srgbClr val="236C4E"/>
                </a:solidFill>
                <a:latin typeface="Helvetica Neue"/>
                <a:ea typeface="Helvetica Neue"/>
                <a:cs typeface="Helvetica Neue"/>
              </a:defRPr>
            </a:defPPr>
          </a:lstStyle>
          <a:p>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a:ext uri="{FF2B5EF4-FFF2-40B4-BE49-F238E27FC236}">
                <a16:creationId xmlns:a16="http://schemas.microsoft.com/office/drawing/2014/main" id="{D5ED5DD5-348A-40D0-B661-0AB61FC9256A}"/>
              </a:ext>
            </a:extLst>
          </p:cNvPr>
          <p:cNvSpPr>
            <a:spLocks noGrp="1"/>
          </p:cNvSpPr>
          <p:nvPr/>
        </p:nvSpPr>
        <p:spPr>
          <a:xfrm>
            <a:off x="10363200" y="2124075"/>
            <a:ext cx="1333500" cy="523875"/>
          </a:xfrm>
          <a:prstGeom prst="rect">
            <a:avLst/>
          </a:prstGeom>
          <a:noFill/>
          <a:ln w="0">
            <a:noFill/>
            <a:prstDash val="solid"/>
          </a:ln>
        </p:spPr>
        <p:txBody>
          <a:bodyPr wrap="square" lIns="0" tIns="0" rIns="0" bIns="0" anchor="t">
            <a:noAutofit/>
          </a:bodyPr>
          <a:lstStyle>
            <a:defPPr>
              <a:defRPr sz="1575" b="1">
                <a:solidFill>
                  <a:srgbClr val="193C32"/>
                </a:solidFill>
                <a:latin typeface="Helvetica Neue"/>
                <a:ea typeface="Helvetica Neue"/>
                <a:cs typeface="Helvetica Neue"/>
              </a:defRPr>
            </a:defPPr>
          </a:lstStyle>
          <a:p>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a:ext uri="{FF2B5EF4-FFF2-40B4-BE49-F238E27FC236}">
                <a16:creationId xmlns:a16="http://schemas.microsoft.com/office/drawing/2014/main" id="{C5BE2521-AF10-4909-92F1-A7D9E53DFEBA}"/>
              </a:ext>
            </a:extLst>
          </p:cNvPr>
          <p:cNvSpPr>
            <a:spLocks noGrp="1"/>
          </p:cNvSpPr>
          <p:nvPr/>
        </p:nvSpPr>
        <p:spPr>
          <a:xfrm>
            <a:off x="495300" y="2762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a:ext uri="{FF2B5EF4-FFF2-40B4-BE49-F238E27FC236}">
                <a16:creationId xmlns:a16="http://schemas.microsoft.com/office/drawing/2014/main" id="{5BE92FEF-B9A3-49B6-AE30-B5D9AE989CA7}"/>
              </a:ext>
            </a:extLst>
          </p:cNvPr>
          <p:cNvSpPr>
            <a:spLocks noGrp="1"/>
          </p:cNvSpPr>
          <p:nvPr/>
        </p:nvSpPr>
        <p:spPr>
          <a:xfrm>
            <a:off x="495300" y="3143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2" name="booking-layer-node-11">
            <a:extLst>
              <a:ext uri="{FF2B5EF4-FFF2-40B4-BE49-F238E27FC236}">
                <a16:creationId xmlns:a16="http://schemas.microsoft.com/office/drawing/2014/main" id="{9AC664CA-0C30-422C-802F-2582A5C5E69A}"/>
              </a:ext>
            </a:extLst>
          </p:cNvPr>
          <p:cNvSpPr>
            <a:spLocks noGrp="1"/>
          </p:cNvSpPr>
          <p:nvPr/>
        </p:nvSpPr>
        <p:spPr>
          <a:xfrm>
            <a:off x="495300" y="3524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a:ext uri="{FF2B5EF4-FFF2-40B4-BE49-F238E27FC236}">
                <a16:creationId xmlns:a16="http://schemas.microsoft.com/office/drawing/2014/main" id="{184F9E6D-A0F9-433B-BC7B-8B634B43FA0D}"/>
              </a:ext>
            </a:extLst>
          </p:cNvPr>
          <p:cNvSpPr>
            <a:spLocks noGrp="1"/>
          </p:cNvSpPr>
          <p:nvPr/>
        </p:nvSpPr>
        <p:spPr>
          <a:xfrm>
            <a:off x="495300" y="3905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4" name="booking-layer-node-13">
            <a:extLst>
              <a:ext uri="{FF2B5EF4-FFF2-40B4-BE49-F238E27FC236}">
                <a16:creationId xmlns:a16="http://schemas.microsoft.com/office/drawing/2014/main" id="{657ECBFD-9328-43BE-9C40-9DD102C43416}"/>
              </a:ext>
            </a:extLst>
          </p:cNvPr>
          <p:cNvSpPr>
            <a:spLocks noGrp="1"/>
          </p:cNvSpPr>
          <p:nvPr/>
        </p:nvSpPr>
        <p:spPr>
          <a:xfrm>
            <a:off x="495300" y="4286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5" name="booking-layer-node-14">
            <a:extLst>
              <a:ext uri="{FF2B5EF4-FFF2-40B4-BE49-F238E27FC236}">
                <a16:creationId xmlns:a16="http://schemas.microsoft.com/office/drawing/2014/main" id="{877FB408-43FD-4283-86ED-F2F9299DC889}"/>
              </a:ext>
            </a:extLst>
          </p:cNvPr>
          <p:cNvSpPr>
            <a:spLocks noGrp="1"/>
          </p:cNvSpPr>
          <p:nvPr/>
        </p:nvSpPr>
        <p:spPr>
          <a:xfrm>
            <a:off x="495300" y="4667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6" name="booking-layer-node-15">
            <a:extLst>
              <a:ext uri="{FF2B5EF4-FFF2-40B4-BE49-F238E27FC236}">
                <a16:creationId xmlns:a16="http://schemas.microsoft.com/office/drawing/2014/main" id="{4ADA72F3-71A5-474A-82D5-32213561CCCF}"/>
              </a:ext>
            </a:extLst>
          </p:cNvPr>
          <p:cNvSpPr>
            <a:spLocks noGrp="1"/>
          </p:cNvSpPr>
          <p:nvPr/>
        </p:nvSpPr>
        <p:spPr>
          <a:xfrm>
            <a:off x="495300" y="5048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pic>
        <p:nvPicPr>
          <p:cNvPr id="17" name="Picture 16">
            <a:extLst>
              <a:ext uri="{FF2B5EF4-FFF2-40B4-BE49-F238E27FC236}">
                <a16:creationId xmlns:a16="http://schemas.microsoft.com/office/drawing/2014/main" id="{58A6FD28-CE72-439B-B5F5-B310FBFF466B}"/>
              </a:ext>
            </a:extLst>
          </p:cNvPr>
          <p:cNvPicPr>
            <a:picLocks noChangeAspect="1"/>
          </p:cNvPicPr>
          <p:nvPr/>
        </p:nvPicPr>
        <p:blipFill>
          <a:blip r:embed="rId3"/>
          <a:srcRect l="8000" t="33000" r="6500" b="35000"/>
          <a:stretch/>
        </p:blipFill>
        <p:spPr>
          <a:xfrm>
            <a:off x="904875" y="3181350"/>
            <a:ext cx="1047750" cy="257175"/>
          </a:xfrm>
          <a:prstGeom prst="rect">
            <a:avLst/>
          </a:prstGeom>
        </p:spPr>
      </p:pic>
      <p:pic>
        <p:nvPicPr>
          <p:cNvPr id="18" name="Picture 17">
            <a:extLst>
              <a:ext uri="{FF2B5EF4-FFF2-40B4-BE49-F238E27FC236}">
                <a16:creationId xmlns:a16="http://schemas.microsoft.com/office/drawing/2014/main" id="{AADE3BFD-F11A-4518-B2A5-4B8D71FA2AED}"/>
              </a:ext>
            </a:extLst>
          </p:cNvPr>
          <p:cNvPicPr>
            <a:picLocks noChangeAspect="1"/>
          </p:cNvPicPr>
          <p:nvPr/>
        </p:nvPicPr>
        <p:blipFill>
          <a:blip r:embed="rId4"/>
          <a:srcRect l="6000" t="39500" r="9500" b="37000"/>
          <a:stretch/>
        </p:blipFill>
        <p:spPr>
          <a:xfrm>
            <a:off x="828675" y="3943350"/>
            <a:ext cx="1200150" cy="257175"/>
          </a:xfrm>
          <a:prstGeom prst="rect">
            <a:avLst/>
          </a:prstGeom>
        </p:spPr>
      </p:pic>
      <p:pic>
        <p:nvPicPr>
          <p:cNvPr id="19" name="Picture 18">
            <a:extLst>
              <a:ext uri="{FF2B5EF4-FFF2-40B4-BE49-F238E27FC236}">
                <a16:creationId xmlns:a16="http://schemas.microsoft.com/office/drawing/2014/main" id="{0906DB0D-8F18-42EA-A953-02DC7BE1CE53}"/>
              </a:ext>
            </a:extLst>
          </p:cNvPr>
          <p:cNvPicPr>
            <a:picLocks noChangeAspect="1"/>
          </p:cNvPicPr>
          <p:nvPr/>
        </p:nvPicPr>
        <p:blipFill>
          <a:blip r:embed="rId5"/>
          <a:srcRect l="21000" t="26000" r="21000" b="32000"/>
          <a:stretch/>
        </p:blipFill>
        <p:spPr>
          <a:xfrm>
            <a:off x="962025" y="4314825"/>
            <a:ext cx="933450" cy="266700"/>
          </a:xfrm>
          <a:prstGeom prst="rect">
            <a:avLst/>
          </a:prstGeom>
        </p:spPr>
      </p:pic>
      <p:pic>
        <p:nvPicPr>
          <p:cNvPr id="20" name="Picture 19">
            <a:extLst>
              <a:ext uri="{FF2B5EF4-FFF2-40B4-BE49-F238E27FC236}">
                <a16:creationId xmlns:a16="http://schemas.microsoft.com/office/drawing/2014/main" id="{D4ECD2E4-D984-45B9-ACFB-A4A88DDEEE89}"/>
              </a:ext>
            </a:extLst>
          </p:cNvPr>
          <p:cNvPicPr>
            <a:picLocks noChangeAspect="1"/>
          </p:cNvPicPr>
          <p:nvPr/>
        </p:nvPicPr>
        <p:blipFill>
          <a:blip r:embed="rId6"/>
          <a:srcRect l="3500" t="7000" r="69500" b="11000"/>
          <a:stretch/>
        </p:blipFill>
        <p:spPr>
          <a:xfrm>
            <a:off x="838200" y="4695825"/>
            <a:ext cx="257175" cy="266700"/>
          </a:xfrm>
          <a:prstGeom prst="rect">
            <a:avLst/>
          </a:prstGeom>
        </p:spPr>
      </p:pic>
      <p:sp>
        <p:nvSpPr>
          <p:cNvPr id="21" name="booking-layer-text-16">
            <a:extLst>
              <a:ext uri="{FF2B5EF4-FFF2-40B4-BE49-F238E27FC236}">
                <a16:creationId xmlns:a16="http://schemas.microsoft.com/office/drawing/2014/main" id="{B44C165E-AEAF-47F5-8904-554268F63319}"/>
              </a:ext>
            </a:extLst>
          </p:cNvPr>
          <p:cNvSpPr>
            <a:spLocks noGrp="1"/>
          </p:cNvSpPr>
          <p:nvPr/>
        </p:nvSpPr>
        <p:spPr>
          <a:xfrm>
            <a:off x="1209675" y="4714875"/>
            <a:ext cx="1095375" cy="238125"/>
          </a:xfrm>
          <a:prstGeom prst="rect">
            <a:avLst/>
          </a:prstGeom>
          <a:noFill/>
          <a:ln w="0">
            <a:noFill/>
            <a:prstDash val="solid"/>
          </a:ln>
        </p:spPr>
        <p:txBody>
          <a:bodyPr wrap="square" lIns="0" tIns="0" rIns="0" bIns="0" anchor="t">
            <a:noAutofit/>
          </a:bodyPr>
          <a:lstStyle>
            <a:defPPr>
              <a:defRPr sz="1575" b="1">
                <a:solidFill>
                  <a:srgbClr val="101010"/>
                </a:solidFill>
                <a:latin typeface="Helvetica Neue"/>
                <a:ea typeface="Helvetica Neue"/>
                <a:cs typeface="Helvetica Neue"/>
              </a:defRPr>
            </a:defPPr>
          </a:lstStyle>
          <a:p>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a:ext uri="{FF2B5EF4-FFF2-40B4-BE49-F238E27FC236}">
                <a16:creationId xmlns:a16="http://schemas.microsoft.com/office/drawing/2014/main" id="{B55D389F-BBB7-41AC-8531-E0F285D67C42}"/>
              </a:ext>
            </a:extLst>
          </p:cNvPr>
          <p:cNvPicPr>
            <a:picLocks noChangeAspect="1"/>
          </p:cNvPicPr>
          <p:nvPr/>
        </p:nvPicPr>
        <p:blipFill>
          <a:blip r:embed="rId7"/>
          <a:srcRect/>
          <a:stretch/>
        </p:blipFill>
        <p:spPr>
          <a:xfrm>
            <a:off x="981075" y="5086350"/>
            <a:ext cx="247650" cy="247650"/>
          </a:xfrm>
          <a:prstGeom prst="rect">
            <a:avLst/>
          </a:prstGeom>
        </p:spPr>
      </p:pic>
      <p:sp>
        <p:nvSpPr>
          <p:cNvPr id="23" name="booking-layer-text-17">
            <a:extLst>
              <a:ext uri="{FF2B5EF4-FFF2-40B4-BE49-F238E27FC236}">
                <a16:creationId xmlns:a16="http://schemas.microsoft.com/office/drawing/2014/main" id="{7807ACC5-6E11-4442-8DAE-E40658E334E7}"/>
              </a:ext>
            </a:extLst>
          </p:cNvPr>
          <p:cNvSpPr>
            <a:spLocks noGrp="1"/>
          </p:cNvSpPr>
          <p:nvPr/>
        </p:nvSpPr>
        <p:spPr>
          <a:xfrm>
            <a:off x="1323975" y="5095875"/>
            <a:ext cx="857250" cy="238125"/>
          </a:xfrm>
          <a:prstGeom prst="rect">
            <a:avLst/>
          </a:prstGeom>
          <a:noFill/>
          <a:ln w="0">
            <a:noFill/>
            <a:prstDash val="solid"/>
          </a:ln>
        </p:spPr>
        <p:txBody>
          <a:bodyPr wrap="square" lIns="0" tIns="0" rIns="0" bIns="0" anchor="t">
            <a:noAutofit/>
          </a:bodyPr>
          <a:lstStyle>
            <a:defPPr>
              <a:defRPr sz="1575" b="1">
                <a:solidFill>
                  <a:srgbClr val="101010"/>
                </a:solidFill>
                <a:latin typeface="Helvetica Neue"/>
                <a:ea typeface="Helvetica Neue"/>
                <a:cs typeface="Helvetica Neue"/>
              </a:defRPr>
            </a:defPPr>
          </a:lstStyle>
          <a:p>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a:ext uri="{FF2B5EF4-FFF2-40B4-BE49-F238E27FC236}">
                <a16:creationId xmlns:a16="http://schemas.microsoft.com/office/drawing/2014/main" id="{32C0CC3B-119F-4144-9827-BE99EADABABB}"/>
              </a:ext>
            </a:extLst>
          </p:cNvPr>
          <p:cNvSpPr>
            <a:spLocks noGrp="1"/>
          </p:cNvSpPr>
          <p:nvPr/>
        </p:nvSpPr>
        <p:spPr>
          <a:xfrm>
            <a:off x="495300" y="5467350"/>
            <a:ext cx="2190750" cy="247650"/>
          </a:xfrm>
          <a:prstGeom prst="rect">
            <a:avLst/>
          </a:prstGeom>
          <a:noFill/>
          <a:ln w="0">
            <a:noFill/>
            <a:prstDash val="solid"/>
          </a:ln>
        </p:spPr>
        <p:txBody>
          <a:bodyPr wrap="square" lIns="0" tIns="0" rIns="0" bIns="0" anchor="t">
            <a:noAutofit/>
          </a:bodyPr>
          <a:lstStyle>
            <a:defPPr>
              <a:defRPr sz="1350" b="0">
                <a:solidFill>
                  <a:srgbClr val="65746C"/>
                </a:solidFill>
                <a:latin typeface="Helvetica Neue"/>
                <a:ea typeface="Helvetica Neue"/>
                <a:cs typeface="Helvetica Neue"/>
              </a:defRPr>
            </a:defPPr>
          </a:lstStyle>
          <a:p>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a:ext uri="{FF2B5EF4-FFF2-40B4-BE49-F238E27FC236}">
                <a16:creationId xmlns:a16="http://schemas.microsoft.com/office/drawing/2014/main" id="{74AA40FC-02C1-4BE0-8313-7735099DCF1D}"/>
              </a:ext>
            </a:extLst>
          </p:cNvPr>
          <p:cNvSpPr>
            <a:spLocks noGrp="1"/>
          </p:cNvSpPr>
          <p:nvPr/>
        </p:nvSpPr>
        <p:spPr>
          <a:xfrm>
            <a:off x="3200400" y="2762250"/>
            <a:ext cx="3409950" cy="2743200"/>
          </a:xfrm>
          <a:prstGeom prst="rect">
            <a:avLst/>
          </a:prstGeom>
          <a:solidFill>
            <a:srgbClr val="236C4E"/>
          </a:solidFill>
          <a:ln w="14288">
            <a:solidFill>
              <a:srgbClr val="236C4E"/>
            </a:solidFill>
            <a:prstDash val="solid"/>
          </a:ln>
        </p:spPr>
        <p:txBody>
          <a:bodyPr wrap="square" lIns="76200" tIns="76200" rIns="76200" bIns="76200" anchor="ctr">
            <a:noAutofit/>
          </a:bodyPr>
          <a:lstStyle>
            <a:defPPr algn="ctr">
              <a:defRPr sz="1800" b="1">
                <a:solidFill>
                  <a:srgbClr val="FFFFFF"/>
                </a:solidFill>
                <a:latin typeface="Helvetica Neue"/>
                <a:ea typeface="Helvetica Neue"/>
                <a:cs typeface="Helvetica Neue"/>
              </a:defRPr>
            </a:defPPr>
          </a:lstStyle>
          <a:p>
            <a:endParaRPr/>
          </a:p>
        </p:txBody>
      </p:sp>
      <p:sp>
        <p:nvSpPr>
          <p:cNvPr id="26" name="booking-layer-text-20">
            <a:extLst>
              <a:ext uri="{FF2B5EF4-FFF2-40B4-BE49-F238E27FC236}">
                <a16:creationId xmlns:a16="http://schemas.microsoft.com/office/drawing/2014/main" id="{C6D36CF4-F934-46A7-A7ED-AE0B6B0A28B7}"/>
              </a:ext>
            </a:extLst>
          </p:cNvPr>
          <p:cNvSpPr>
            <a:spLocks noGrp="1"/>
          </p:cNvSpPr>
          <p:nvPr/>
        </p:nvSpPr>
        <p:spPr>
          <a:xfrm>
            <a:off x="3400425" y="2971800"/>
            <a:ext cx="3000375" cy="447675"/>
          </a:xfrm>
          <a:prstGeom prst="rect">
            <a:avLst/>
          </a:prstGeom>
          <a:noFill/>
          <a:ln w="0">
            <a:noFill/>
            <a:prstDash val="solid"/>
          </a:ln>
        </p:spPr>
        <p:txBody>
          <a:bodyPr wrap="square" lIns="0" tIns="0" rIns="0" bIns="0" anchor="t">
            <a:noAutofit/>
          </a:bodyPr>
          <a:lstStyle>
            <a:defPPr>
              <a:defRPr sz="2775" b="1">
                <a:solidFill>
                  <a:srgbClr val="FFFFFF"/>
                </a:solidFill>
                <a:latin typeface="Helvetica Neue"/>
                <a:ea typeface="Helvetica Neue"/>
                <a:cs typeface="Helvetica Neue"/>
              </a:defRPr>
            </a:defPPr>
          </a:lstStyle>
          <a:p>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a:ext uri="{FF2B5EF4-FFF2-40B4-BE49-F238E27FC236}">
                <a16:creationId xmlns:a16="http://schemas.microsoft.com/office/drawing/2014/main" id="{D2E9DA3D-BADC-411C-9816-D7B830B85686}"/>
              </a:ext>
            </a:extLst>
          </p:cNvPr>
          <p:cNvSpPr>
            <a:spLocks noGrp="1"/>
          </p:cNvSpPr>
          <p:nvPr/>
        </p:nvSpPr>
        <p:spPr>
          <a:xfrm>
            <a:off x="3400425" y="3495675"/>
            <a:ext cx="3000375" cy="352425"/>
          </a:xfrm>
          <a:prstGeom prst="rect">
            <a:avLst/>
          </a:prstGeom>
          <a:noFill/>
          <a:ln w="0">
            <a:noFill/>
            <a:prstDash val="solid"/>
          </a:ln>
        </p:spPr>
        <p:txBody>
          <a:bodyPr wrap="square" lIns="0" tIns="0" rIns="0" bIns="0" anchor="t">
            <a:noAutofit/>
          </a:bodyPr>
          <a:lstStyle>
            <a:defPPr>
              <a:defRPr sz="1725" b="1">
                <a:solidFill>
                  <a:srgbClr val="FFFFFF"/>
                </a:solidFill>
                <a:latin typeface="Helvetica Neue"/>
                <a:ea typeface="Helvetica Neue"/>
                <a:cs typeface="Helvetica Neue"/>
              </a:defRPr>
            </a:defPPr>
          </a:lstStyle>
          <a:p>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28" name="booking-layer-text-22">
            <a:extLst>
              <a:ext uri="{FF2B5EF4-FFF2-40B4-BE49-F238E27FC236}">
                <a16:creationId xmlns:a16="http://schemas.microsoft.com/office/drawing/2014/main" id="{C930747B-9306-4183-8241-FF8F43990C91}"/>
              </a:ext>
            </a:extLst>
          </p:cNvPr>
          <p:cNvSpPr>
            <a:spLocks noGrp="1"/>
          </p:cNvSpPr>
          <p:nvPr/>
        </p:nvSpPr>
        <p:spPr>
          <a:xfrm>
            <a:off x="3400425" y="4010025"/>
            <a:ext cx="3000375" cy="838200"/>
          </a:xfrm>
          <a:prstGeom prst="rect">
            <a:avLst/>
          </a:prstGeom>
          <a:noFill/>
          <a:ln w="0">
            <a:noFill/>
            <a:prstDash val="solid"/>
          </a:ln>
        </p:spPr>
        <p:txBody>
          <a:bodyPr wrap="square" lIns="0" tIns="0" rIns="0" bIns="0" anchor="t">
            <a:noAutofit/>
          </a:bodyPr>
          <a:lstStyle>
            <a:defPPr>
              <a:defRPr sz="1575" b="0">
                <a:solidFill>
                  <a:srgbClr val="FFFFFF"/>
                </a:solidFill>
                <a:latin typeface="Helvetica Neue"/>
                <a:ea typeface="Helvetica Neue"/>
                <a:cs typeface="Helvetica Neue"/>
              </a:defRPr>
            </a:defPPr>
          </a:lstStyle>
          <a:p>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a:ext uri="{FF2B5EF4-FFF2-40B4-BE49-F238E27FC236}">
                <a16:creationId xmlns:a16="http://schemas.microsoft.com/office/drawing/2014/main" id="{85C28355-C62A-4204-9E75-6908910F82D4}"/>
              </a:ext>
            </a:extLst>
          </p:cNvPr>
          <p:cNvSpPr>
            <a:spLocks noGrp="1"/>
          </p:cNvSpPr>
          <p:nvPr/>
        </p:nvSpPr>
        <p:spPr>
          <a:xfrm>
            <a:off x="3400425" y="5067300"/>
            <a:ext cx="3000375" cy="295275"/>
          </a:xfrm>
          <a:prstGeom prst="rect">
            <a:avLst/>
          </a:prstGeom>
          <a:noFill/>
          <a:ln w="0">
            <a:noFill/>
            <a:prstDash val="solid"/>
          </a:ln>
        </p:spPr>
        <p:txBody>
          <a:bodyPr wrap="square" lIns="0" tIns="0" rIns="0" bIns="0" anchor="t">
            <a:noAutofit/>
          </a:bodyPr>
          <a:lstStyle>
            <a:defPPr>
              <a:defRPr sz="1650" b="1">
                <a:solidFill>
                  <a:srgbClr val="FFFFFF"/>
                </a:solidFill>
                <a:latin typeface="Helvetica Neue"/>
                <a:ea typeface="Helvetica Neue"/>
                <a:cs typeface="Helvetica Neue"/>
              </a:defRPr>
            </a:defPPr>
          </a:lstStyle>
          <a:p>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a:ext uri="{FF2B5EF4-FFF2-40B4-BE49-F238E27FC236}">
                <a16:creationId xmlns:a16="http://schemas.microsoft.com/office/drawing/2014/main" id="{A4A8E40D-D041-4171-A580-3214F68214AE}"/>
              </a:ext>
            </a:extLst>
          </p:cNvPr>
          <p:cNvSpPr>
            <a:spLocks noGrp="1"/>
          </p:cNvSpPr>
          <p:nvPr/>
        </p:nvSpPr>
        <p:spPr>
          <a:xfrm>
            <a:off x="7143750" y="2752725"/>
            <a:ext cx="26670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800" b="1">
                <a:solidFill>
                  <a:srgbClr val="193C32"/>
                </a:solidFill>
                <a:latin typeface="Helvetica Neue"/>
                <a:ea typeface="Helvetica Neue"/>
                <a:cs typeface="Helvetica Neue"/>
              </a:defRPr>
            </a:defPPr>
          </a:lstStyle>
          <a:p>
            <a:endParaRPr/>
          </a:p>
        </p:txBody>
      </p:sp>
      <p:sp>
        <p:nvSpPr>
          <p:cNvPr id="31" name="booking-layer-node-25">
            <a:extLst>
              <a:ext uri="{FF2B5EF4-FFF2-40B4-BE49-F238E27FC236}">
                <a16:creationId xmlns:a16="http://schemas.microsoft.com/office/drawing/2014/main" id="{381E847E-A9FA-4F37-B3E5-C61763DD5015}"/>
              </a:ext>
            </a:extLst>
          </p:cNvPr>
          <p:cNvSpPr>
            <a:spLocks noGrp="1"/>
          </p:cNvSpPr>
          <p:nvPr/>
        </p:nvSpPr>
        <p:spPr>
          <a:xfrm>
            <a:off x="7143750" y="3629025"/>
            <a:ext cx="26670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800" b="1">
                <a:solidFill>
                  <a:srgbClr val="193C32"/>
                </a:solidFill>
                <a:latin typeface="Helvetica Neue"/>
                <a:ea typeface="Helvetica Neue"/>
                <a:cs typeface="Helvetica Neue"/>
              </a:defRPr>
            </a:defPPr>
          </a:lstStyle>
          <a:p>
            <a:endParaRPr/>
          </a:p>
        </p:txBody>
      </p:sp>
      <p:sp>
        <p:nvSpPr>
          <p:cNvPr id="32" name="booking-layer-node-26">
            <a:extLst>
              <a:ext uri="{FF2B5EF4-FFF2-40B4-BE49-F238E27FC236}">
                <a16:creationId xmlns:a16="http://schemas.microsoft.com/office/drawing/2014/main" id="{6C43306A-9317-4532-A9D7-E457E756AD02}"/>
              </a:ext>
            </a:extLst>
          </p:cNvPr>
          <p:cNvSpPr>
            <a:spLocks noGrp="1"/>
          </p:cNvSpPr>
          <p:nvPr/>
        </p:nvSpPr>
        <p:spPr>
          <a:xfrm>
            <a:off x="7143750" y="4505325"/>
            <a:ext cx="2667000" cy="80010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800" b="1">
                <a:solidFill>
                  <a:srgbClr val="193C32"/>
                </a:solidFill>
                <a:latin typeface="Helvetica Neue"/>
                <a:ea typeface="Helvetica Neue"/>
                <a:cs typeface="Helvetica Neue"/>
              </a:defRPr>
            </a:defPPr>
          </a:lstStyle>
          <a:p>
            <a:endParaRPr/>
          </a:p>
        </p:txBody>
      </p:sp>
      <p:sp>
        <p:nvSpPr>
          <p:cNvPr id="33" name="booking-layer-text-27">
            <a:extLst>
              <a:ext uri="{FF2B5EF4-FFF2-40B4-BE49-F238E27FC236}">
                <a16:creationId xmlns:a16="http://schemas.microsoft.com/office/drawing/2014/main" id="{F7AA3C7C-9687-4831-B1E3-609571EA6283}"/>
              </a:ext>
            </a:extLst>
          </p:cNvPr>
          <p:cNvSpPr>
            <a:spLocks noGrp="1"/>
          </p:cNvSpPr>
          <p:nvPr/>
        </p:nvSpPr>
        <p:spPr>
          <a:xfrm>
            <a:off x="7258050" y="28194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a:ext uri="{FF2B5EF4-FFF2-40B4-BE49-F238E27FC236}">
                <a16:creationId xmlns:a16="http://schemas.microsoft.com/office/drawing/2014/main" id="{DAF92F19-6F68-463C-A5D7-17C7BF943389}"/>
              </a:ext>
            </a:extLst>
          </p:cNvPr>
          <p:cNvSpPr>
            <a:spLocks noGrp="1"/>
          </p:cNvSpPr>
          <p:nvPr/>
        </p:nvSpPr>
        <p:spPr>
          <a:xfrm>
            <a:off x="7258050" y="30480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35" name="booking-layer-text-29">
            <a:extLst>
              <a:ext uri="{FF2B5EF4-FFF2-40B4-BE49-F238E27FC236}">
                <a16:creationId xmlns:a16="http://schemas.microsoft.com/office/drawing/2014/main" id="{EFFD3163-3DDB-4787-B7DC-5B310C25C6B8}"/>
              </a:ext>
            </a:extLst>
          </p:cNvPr>
          <p:cNvSpPr>
            <a:spLocks noGrp="1"/>
          </p:cNvSpPr>
          <p:nvPr/>
        </p:nvSpPr>
        <p:spPr>
          <a:xfrm>
            <a:off x="7258050" y="3276600"/>
            <a:ext cx="2438400" cy="209550"/>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a:ext uri="{FF2B5EF4-FFF2-40B4-BE49-F238E27FC236}">
                <a16:creationId xmlns:a16="http://schemas.microsoft.com/office/drawing/2014/main" id="{640864B5-5C1A-4DE5-9D3F-17B4BF336541}"/>
              </a:ext>
            </a:extLst>
          </p:cNvPr>
          <p:cNvSpPr>
            <a:spLocks noGrp="1"/>
          </p:cNvSpPr>
          <p:nvPr/>
        </p:nvSpPr>
        <p:spPr>
          <a:xfrm>
            <a:off x="7258050" y="36957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a:ext uri="{FF2B5EF4-FFF2-40B4-BE49-F238E27FC236}">
                <a16:creationId xmlns:a16="http://schemas.microsoft.com/office/drawing/2014/main" id="{623A8565-8E22-49E9-BA3D-0EFB49F4B012}"/>
              </a:ext>
            </a:extLst>
          </p:cNvPr>
          <p:cNvSpPr>
            <a:spLocks noGrp="1"/>
          </p:cNvSpPr>
          <p:nvPr/>
        </p:nvSpPr>
        <p:spPr>
          <a:xfrm>
            <a:off x="7258050" y="39243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38" name="booking-layer-text-32">
            <a:extLst>
              <a:ext uri="{FF2B5EF4-FFF2-40B4-BE49-F238E27FC236}">
                <a16:creationId xmlns:a16="http://schemas.microsoft.com/office/drawing/2014/main" id="{E69B47E3-FC57-4C21-B033-DB430D828C62}"/>
              </a:ext>
            </a:extLst>
          </p:cNvPr>
          <p:cNvSpPr>
            <a:spLocks noGrp="1"/>
          </p:cNvSpPr>
          <p:nvPr/>
        </p:nvSpPr>
        <p:spPr>
          <a:xfrm>
            <a:off x="7258050" y="4152900"/>
            <a:ext cx="2438400" cy="209550"/>
          </a:xfrm>
          <a:prstGeom prst="rect">
            <a:avLst/>
          </a:prstGeom>
          <a:noFill/>
          <a:ln w="0">
            <a:noFill/>
            <a:prstDash val="solid"/>
          </a:ln>
        </p:spPr>
        <p:txBody>
          <a:bodyPr wrap="square" lIns="0" tIns="0" rIns="0" bIns="0" anchor="t">
            <a:noAutofit/>
          </a:bodyPr>
          <a:lstStyle>
            <a:defPPr>
              <a:defRPr sz="1350" b="1">
                <a:solidFill>
                  <a:srgbClr val="193C32"/>
                </a:solidFill>
                <a:latin typeface="Helvetica Neue"/>
                <a:ea typeface="Helvetica Neue"/>
                <a:cs typeface="Helvetica Neue"/>
              </a:defRPr>
            </a:defPPr>
          </a:lstStyle>
          <a:p>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39" name="booking-layer-text-33">
            <a:extLst>
              <a:ext uri="{FF2B5EF4-FFF2-40B4-BE49-F238E27FC236}">
                <a16:creationId xmlns:a16="http://schemas.microsoft.com/office/drawing/2014/main" id="{34FFBC60-20E6-445B-9EB8-05E52E28C49C}"/>
              </a:ext>
            </a:extLst>
          </p:cNvPr>
          <p:cNvSpPr>
            <a:spLocks noGrp="1"/>
          </p:cNvSpPr>
          <p:nvPr/>
        </p:nvSpPr>
        <p:spPr>
          <a:xfrm>
            <a:off x="7258050" y="45720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a:ext uri="{FF2B5EF4-FFF2-40B4-BE49-F238E27FC236}">
                <a16:creationId xmlns:a16="http://schemas.microsoft.com/office/drawing/2014/main" id="{75764D65-252C-45A0-9B39-5D9214475394}"/>
              </a:ext>
            </a:extLst>
          </p:cNvPr>
          <p:cNvSpPr>
            <a:spLocks noGrp="1"/>
          </p:cNvSpPr>
          <p:nvPr/>
        </p:nvSpPr>
        <p:spPr>
          <a:xfrm>
            <a:off x="7258050" y="4810125"/>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41" name="booking-layer-text-35">
            <a:extLst>
              <a:ext uri="{FF2B5EF4-FFF2-40B4-BE49-F238E27FC236}">
                <a16:creationId xmlns:a16="http://schemas.microsoft.com/office/drawing/2014/main" id="{1F54E58A-93CF-4529-BE74-48271C8062FA}"/>
              </a:ext>
            </a:extLst>
          </p:cNvPr>
          <p:cNvSpPr>
            <a:spLocks noGrp="1"/>
          </p:cNvSpPr>
          <p:nvPr/>
        </p:nvSpPr>
        <p:spPr>
          <a:xfrm>
            <a:off x="7258050" y="5067300"/>
            <a:ext cx="2438400" cy="200025"/>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42" name="booking-layer-node-36">
            <a:extLst>
              <a:ext uri="{FF2B5EF4-FFF2-40B4-BE49-F238E27FC236}">
                <a16:creationId xmlns:a16="http://schemas.microsoft.com/office/drawing/2014/main" id="{F23562F6-92C0-4E2A-9C4E-14CAF1AB025D}"/>
              </a:ext>
            </a:extLst>
          </p:cNvPr>
          <p:cNvSpPr>
            <a:spLocks noGrp="1"/>
          </p:cNvSpPr>
          <p:nvPr/>
        </p:nvSpPr>
        <p:spPr>
          <a:xfrm>
            <a:off x="10363200" y="2752725"/>
            <a:ext cx="13335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575" b="1">
                <a:solidFill>
                  <a:srgbClr val="193C32"/>
                </a:solidFill>
                <a:latin typeface="Helvetica Neue"/>
                <a:ea typeface="Helvetica Neue"/>
                <a:cs typeface="Helvetica Neue"/>
              </a:defRPr>
            </a:defPPr>
          </a:lstStyle>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a:ext uri="{FF2B5EF4-FFF2-40B4-BE49-F238E27FC236}">
                <a16:creationId xmlns:a16="http://schemas.microsoft.com/office/drawing/2014/main" id="{E0913280-755C-4FC9-B294-B8877BA719C3}"/>
              </a:ext>
            </a:extLst>
          </p:cNvPr>
          <p:cNvSpPr>
            <a:spLocks noGrp="1"/>
          </p:cNvSpPr>
          <p:nvPr/>
        </p:nvSpPr>
        <p:spPr>
          <a:xfrm>
            <a:off x="10363200" y="3629025"/>
            <a:ext cx="13335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575" b="1">
                <a:solidFill>
                  <a:srgbClr val="193C32"/>
                </a:solidFill>
                <a:latin typeface="Helvetica Neue"/>
                <a:ea typeface="Helvetica Neue"/>
                <a:cs typeface="Helvetica Neue"/>
              </a:defRPr>
            </a:defPPr>
          </a:lstStyle>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a:ext uri="{FF2B5EF4-FFF2-40B4-BE49-F238E27FC236}">
                <a16:creationId xmlns:a16="http://schemas.microsoft.com/office/drawing/2014/main" id="{CD61F4F2-BFCA-4380-B3D6-9E65D8B5C450}"/>
              </a:ext>
            </a:extLst>
          </p:cNvPr>
          <p:cNvSpPr>
            <a:spLocks noGrp="1"/>
          </p:cNvSpPr>
          <p:nvPr/>
        </p:nvSpPr>
        <p:spPr>
          <a:xfrm>
            <a:off x="10363200" y="4505325"/>
            <a:ext cx="1333500" cy="80010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575" b="1">
                <a:solidFill>
                  <a:srgbClr val="193C32"/>
                </a:solidFill>
                <a:latin typeface="Helvetica Neue"/>
                <a:ea typeface="Helvetica Neue"/>
                <a:cs typeface="Helvetica Neue"/>
              </a:defRPr>
            </a:defPPr>
          </a:lstStyle>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a:ext uri="{FF2B5EF4-FFF2-40B4-BE49-F238E27FC236}">
                <a16:creationId xmlns:a16="http://schemas.microsoft.com/office/drawing/2014/main" id="{FA822E6B-449C-4790-9B5C-EF573D939BBE}"/>
              </a:ext>
            </a:extLst>
          </p:cNvPr>
          <p:cNvSpPr>
            <a:spLocks noGrp="1"/>
          </p:cNvSpPr>
          <p:nvPr/>
        </p:nvSpPr>
        <p:spPr>
          <a:xfrm>
            <a:off x="7143750" y="5400675"/>
            <a:ext cx="4552950" cy="371475"/>
          </a:xfrm>
          <a:prstGeom prst="rect">
            <a:avLst/>
          </a:prstGeom>
          <a:noFill/>
          <a:ln w="0">
            <a:noFill/>
            <a:prstDash val="solid"/>
          </a:ln>
        </p:spPr>
        <p:txBody>
          <a:bodyPr wrap="square" lIns="0" tIns="0" rIns="0" bIns="0" anchor="t">
            <a:noAutofit/>
          </a:bodyPr>
          <a:lstStyle>
            <a:defPPr>
              <a:defRPr sz="1350" b="1">
                <a:solidFill>
                  <a:srgbClr val="236C4E"/>
                </a:solidFill>
                <a:latin typeface="Helvetica Neue"/>
                <a:ea typeface="Helvetica Neue"/>
                <a:cs typeface="Helvetica Neue"/>
              </a:defRPr>
            </a:defPPr>
          </a:lstStyle>
          <a:p>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59" name="booking-layer-text-40">
            <a:extLst>
              <a:ext uri="{FF2B5EF4-FFF2-40B4-BE49-F238E27FC236}">
                <a16:creationId xmlns:a16="http://schemas.microsoft.com/office/drawing/2014/main" id="{F64613CD-0DA4-4247-B4D8-7BA61504B61F}"/>
              </a:ext>
            </a:extLst>
          </p:cNvPr>
          <p:cNvSpPr>
            <a:spLocks noGrp="1"/>
          </p:cNvSpPr>
          <p:nvPr/>
        </p:nvSpPr>
        <p:spPr>
          <a:xfrm>
            <a:off x="495300" y="5781675"/>
            <a:ext cx="11201400" cy="381000"/>
          </a:xfrm>
          <a:prstGeom prst="rect">
            <a:avLst/>
          </a:prstGeom>
          <a:noFill/>
          <a:ln w="0">
            <a:noFill/>
            <a:prstDash val="solid"/>
          </a:ln>
        </p:spPr>
        <p:txBody>
          <a:bodyPr wrap="square" lIns="0" tIns="0" rIns="0" bIns="0" anchor="t">
            <a:noAutofit/>
          </a:bodyPr>
          <a:lstStyle>
            <a:defPPr>
              <a:defRPr sz="2100" b="1">
                <a:solidFill>
                  <a:srgbClr val="193C32"/>
                </a:solidFill>
                <a:latin typeface="Helvetica Neue"/>
                <a:ea typeface="Helvetica Neue"/>
                <a:cs typeface="Helvetica Neue"/>
              </a:defRPr>
            </a:defPPr>
          </a:lstStyle>
          <a:p>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60" name="booking-layer-text-41">
            <a:extLst>
              <a:ext uri="{FF2B5EF4-FFF2-40B4-BE49-F238E27FC236}">
                <a16:creationId xmlns:a16="http://schemas.microsoft.com/office/drawing/2014/main" id="{03CB5374-FA64-4A7A-AD8D-323F3E11523C}"/>
              </a:ext>
            </a:extLst>
          </p:cNvPr>
          <p:cNvSpPr>
            <a:spLocks noGrp="1"/>
          </p:cNvSpPr>
          <p:nvPr/>
        </p:nvSpPr>
        <p:spPr>
          <a:xfrm>
            <a:off x="495300" y="6210300"/>
            <a:ext cx="11201400" cy="323850"/>
          </a:xfrm>
          <a:prstGeom prst="rect">
            <a:avLst/>
          </a:prstGeom>
          <a:noFill/>
          <a:ln w="0">
            <a:noFill/>
            <a:prstDash val="solid"/>
          </a:ln>
        </p:spPr>
        <p:txBody>
          <a:bodyPr wrap="square" lIns="0" tIns="0" rIns="0" bIns="0" anchor="t">
            <a:noAutofit/>
          </a:bodyPr>
          <a:lstStyle>
            <a:defPPr>
              <a:defRPr sz="1875" b="0">
                <a:solidFill>
                  <a:srgbClr val="236C4E"/>
                </a:solidFill>
                <a:latin typeface="Helvetica Neue"/>
                <a:ea typeface="Helvetica Neue"/>
                <a:cs typeface="Helvetica Neue"/>
              </a:defRPr>
            </a:defPPr>
          </a:lstStyle>
          <a:p>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61" name="booking-layer-text-42">
            <a:extLst>
              <a:ext uri="{FF2B5EF4-FFF2-40B4-BE49-F238E27FC236}">
                <a16:creationId xmlns:a16="http://schemas.microsoft.com/office/drawing/2014/main" id="{AE01A67E-E79E-40E0-916B-B9A50D4AE318}"/>
              </a:ext>
            </a:extLst>
          </p:cNvPr>
          <p:cNvSpPr>
            <a:spLocks noGrp="1"/>
          </p:cNvSpPr>
          <p:nvPr/>
        </p:nvSpPr>
        <p:spPr>
          <a:xfrm>
            <a:off x="495300" y="6619875"/>
            <a:ext cx="10439400" cy="190500"/>
          </a:xfrm>
          <a:prstGeom prst="rect">
            <a:avLst/>
          </a:prstGeom>
          <a:noFill/>
          <a:ln w="0">
            <a:noFill/>
            <a:prstDash val="solid"/>
          </a:ln>
        </p:spPr>
        <p:txBody>
          <a:bodyPr wrap="square" lIns="0" tIns="0" rIns="0" bIns="0" anchor="t">
            <a:noAutofit/>
          </a:bodyPr>
          <a:lstStyle>
            <a:defPPr>
              <a:defRPr sz="1125" b="0">
                <a:solidFill>
                  <a:srgbClr val="65746C"/>
                </a:solidFill>
                <a:latin typeface="Helvetica Neue"/>
                <a:ea typeface="Helvetica Neue"/>
                <a:cs typeface="Helvetica Neue"/>
              </a:defRPr>
            </a:defPPr>
          </a:lstStyle>
          <a:p>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62" name="booking-layer-text-43">
            <a:extLst>
              <a:ext uri="{FF2B5EF4-FFF2-40B4-BE49-F238E27FC236}">
                <a16:creationId xmlns:a16="http://schemas.microsoft.com/office/drawing/2014/main" id="{5CD82E1E-F31D-41BF-B159-FA5EFFFF6B38}"/>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81C4E208-4DFE-48B0-BD2F-92997F60EBBF}"/>
              </a:ext>
            </a:extLst>
          </p:cNvPr>
          <p:cNvCxnSpPr>
            <a:stCxn id="7" idx="3"/>
            <a:endCxn id="8" idx="1"/>
          </p:cNvCxnSpPr>
          <p:nvPr/>
        </p:nvCxnSpPr>
        <p:spPr>
          <a:xfrm>
            <a:off x="8820150" y="3086100"/>
            <a:ext cx="304800" cy="0"/>
          </a:xfrm>
          <a:prstGeom prst="straightConnector1">
            <a:avLst/>
          </a:prstGeom>
          <a:ln w="19050">
            <a:solidFill>
              <a:srgbClr val="236C4E"/>
            </a:solidFill>
            <a:prstDash val="solid"/>
            <a:tailEnd type="arrow" w="sm" len="sm"/>
          </a:ln>
        </p:spPr>
      </p:cxnSp>
      <p:cxnSp>
        <p:nvCxnSpPr>
          <p:cNvPr id="10" name="Straight Arrow Connector 9">
            <a:extLst>
              <a:ext uri="{FF2B5EF4-FFF2-40B4-BE49-F238E27FC236}">
                <a16:creationId xmlns:a16="http://schemas.microsoft.com/office/drawing/2014/main" id="{31257EFA-4A14-4D84-8F28-767B3D4630A3}"/>
              </a:ext>
            </a:extLst>
          </p:cNvPr>
          <p:cNvCxnSpPr>
            <a:stCxn id="6" idx="3"/>
            <a:endCxn id="7" idx="1"/>
          </p:cNvCxnSpPr>
          <p:nvPr/>
        </p:nvCxnSpPr>
        <p:spPr>
          <a:xfrm>
            <a:off x="5943600" y="3086100"/>
            <a:ext cx="304800" cy="0"/>
          </a:xfrm>
          <a:prstGeom prst="straightConnector1">
            <a:avLst/>
          </a:prstGeom>
          <a:ln w="19050">
            <a:solidFill>
              <a:srgbClr val="236C4E"/>
            </a:solidFill>
            <a:prstDash val="solid"/>
            <a:tailEnd type="arrow" w="sm" len="sm"/>
          </a:ln>
        </p:spPr>
      </p:cxnSp>
      <p:cxnSp>
        <p:nvCxnSpPr>
          <p:cNvPr id="9" name="Straight Arrow Connector 8">
            <a:extLst>
              <a:ext uri="{FF2B5EF4-FFF2-40B4-BE49-F238E27FC236}">
                <a16:creationId xmlns:a16="http://schemas.microsoft.com/office/drawing/2014/main" id="{19C4CA24-01E8-4CBD-A554-62879018DF30}"/>
              </a:ext>
            </a:extLst>
          </p:cNvPr>
          <p:cNvCxnSpPr>
            <a:stCxn id="5" idx="3"/>
            <a:endCxn id="6" idx="1"/>
          </p:cNvCxnSpPr>
          <p:nvPr/>
        </p:nvCxnSpPr>
        <p:spPr>
          <a:xfrm>
            <a:off x="3067050" y="3086100"/>
            <a:ext cx="304800" cy="0"/>
          </a:xfrm>
          <a:prstGeom prst="straightConnector1">
            <a:avLst/>
          </a:prstGeom>
          <a:ln w="19050">
            <a:solidFill>
              <a:srgbClr val="236C4E"/>
            </a:solidFill>
            <a:prstDash val="solid"/>
            <a:tailEnd type="arrow" w="sm" len="sm"/>
          </a:ln>
        </p:spPr>
      </p:cxnSp>
      <p:sp>
        <p:nvSpPr>
          <p:cNvPr id="29" name="booking-story-text-0">
            <a:extLst>
              <a:ext uri="{FF2B5EF4-FFF2-40B4-BE49-F238E27FC236}">
                <a16:creationId xmlns:a16="http://schemas.microsoft.com/office/drawing/2014/main" id="{B57A0389-4F00-4E99-A55C-BF00F56D2DBC}"/>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defRPr sz="1275" b="1">
                <a:solidFill>
                  <a:srgbClr val="65746C"/>
                </a:solidFill>
                <a:latin typeface="Helvetica Neue"/>
                <a:ea typeface="Helvetica Neue"/>
                <a:cs typeface="Helvetica Neue"/>
              </a:defRPr>
            </a:defPPr>
          </a:lstStyle>
          <a:p>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a:ext uri="{FF2B5EF4-FFF2-40B4-BE49-F238E27FC236}">
                <a16:creationId xmlns:a16="http://schemas.microsoft.com/office/drawing/2014/main" id="{A24AB0A3-2E57-4890-BBD5-9C331DFB8046}"/>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defRPr sz="3300" b="1">
                <a:solidFill>
                  <a:srgbClr val="193C32"/>
                </a:solidFill>
                <a:latin typeface="Helvetica Neue"/>
                <a:ea typeface="Helvetica Neue"/>
                <a:cs typeface="Helvetica Neue"/>
              </a:defRPr>
            </a:defPPr>
          </a:lstStyle>
          <a:p>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a:ext uri="{FF2B5EF4-FFF2-40B4-BE49-F238E27FC236}">
                <a16:creationId xmlns:a16="http://schemas.microsoft.com/office/drawing/2014/main" id="{5BD70F1D-6B85-4E19-9340-39F0DB916705}"/>
              </a:ext>
            </a:extLst>
          </p:cNvPr>
          <p:cNvSpPr>
            <a:spLocks noGrp="1"/>
          </p:cNvSpPr>
          <p:nvPr/>
        </p:nvSpPr>
        <p:spPr>
          <a:xfrm>
            <a:off x="495300" y="1571625"/>
            <a:ext cx="11201400" cy="247650"/>
          </a:xfrm>
          <a:prstGeom prst="rect">
            <a:avLst/>
          </a:prstGeom>
          <a:noFill/>
          <a:ln w="0">
            <a:noFill/>
            <a:prstDash val="solid"/>
          </a:ln>
        </p:spPr>
        <p:txBody>
          <a:bodyPr wrap="square" lIns="0" tIns="0" rIns="0" bIns="0" anchor="t">
            <a:noAutofit/>
          </a:bodyPr>
          <a:lstStyle>
            <a:defPPr>
              <a:defRPr sz="1275" b="1">
                <a:solidFill>
                  <a:srgbClr val="65746C"/>
                </a:solidFill>
                <a:latin typeface="Helvetica Neue"/>
                <a:ea typeface="Helvetica Neue"/>
                <a:cs typeface="Helvetica Neue"/>
              </a:defRPr>
            </a:defPPr>
          </a:lstStyle>
          <a:p>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a:ext uri="{FF2B5EF4-FFF2-40B4-BE49-F238E27FC236}">
                <a16:creationId xmlns:a16="http://schemas.microsoft.com/office/drawing/2014/main" id="{824F4526-8F26-404F-8B27-EF3BACEF071F}"/>
              </a:ext>
            </a:extLst>
          </p:cNvPr>
          <p:cNvSpPr>
            <a:spLocks noGrp="1"/>
          </p:cNvSpPr>
          <p:nvPr/>
        </p:nvSpPr>
        <p:spPr>
          <a:xfrm>
            <a:off x="495300" y="1933575"/>
            <a:ext cx="11201400" cy="819150"/>
          </a:xfrm>
          <a:prstGeom prst="rect">
            <a:avLst/>
          </a:prstGeom>
          <a:noFill/>
          <a:ln w="0">
            <a:noFill/>
            <a:prstDash val="solid"/>
          </a:ln>
        </p:spPr>
        <p:txBody>
          <a:bodyPr wrap="square" lIns="0" tIns="0" rIns="0" bIns="0" anchor="t">
            <a:noAutofit/>
          </a:bodyPr>
          <a:lstStyle>
            <a:defPPr>
              <a:defRPr sz="2475" b="1">
                <a:solidFill>
                  <a:srgbClr val="193C32"/>
                </a:solidFill>
                <a:latin typeface="Helvetica Neue"/>
                <a:ea typeface="Helvetica Neue"/>
                <a:cs typeface="Helvetica Neue"/>
              </a:defRPr>
            </a:defPPr>
          </a:lstStyle>
          <a:p>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a:ext uri="{FF2B5EF4-FFF2-40B4-BE49-F238E27FC236}">
                <a16:creationId xmlns:a16="http://schemas.microsoft.com/office/drawing/2014/main" id="{5CCFB1FE-1A94-4920-85EE-4D3D5C5976A3}"/>
              </a:ext>
            </a:extLst>
          </p:cNvPr>
          <p:cNvSpPr>
            <a:spLocks noGrp="1"/>
          </p:cNvSpPr>
          <p:nvPr/>
        </p:nvSpPr>
        <p:spPr>
          <a:xfrm>
            <a:off x="495300" y="3076575"/>
            <a:ext cx="2571750" cy="19050"/>
          </a:xfrm>
          <a:prstGeom prst="rect">
            <a:avLst/>
          </a:prstGeom>
          <a:solidFill>
            <a:srgbClr val="CDD5CE"/>
          </a:solidFill>
          <a:ln w="0">
            <a:noFill/>
            <a:prstDash val="solid"/>
          </a:ln>
        </p:spPr>
        <p:txBody>
          <a:bodyPr/>
          <a:lstStyle/>
          <a:p>
            <a:endParaRPr lang="en-US"/>
          </a:p>
        </p:txBody>
      </p:sp>
      <p:sp>
        <p:nvSpPr>
          <p:cNvPr id="6" name="booking-story-flow-5">
            <a:extLst>
              <a:ext uri="{FF2B5EF4-FFF2-40B4-BE49-F238E27FC236}">
                <a16:creationId xmlns:a16="http://schemas.microsoft.com/office/drawing/2014/main" id="{8D13F472-9F83-419A-8518-4AB71C9DA5BA}"/>
              </a:ext>
            </a:extLst>
          </p:cNvPr>
          <p:cNvSpPr>
            <a:spLocks noGrp="1"/>
          </p:cNvSpPr>
          <p:nvPr/>
        </p:nvSpPr>
        <p:spPr>
          <a:xfrm>
            <a:off x="3371850" y="3076575"/>
            <a:ext cx="2571750" cy="19050"/>
          </a:xfrm>
          <a:prstGeom prst="rect">
            <a:avLst/>
          </a:prstGeom>
          <a:solidFill>
            <a:srgbClr val="CDD5CE"/>
          </a:solidFill>
          <a:ln w="0">
            <a:noFill/>
            <a:prstDash val="solid"/>
          </a:ln>
        </p:spPr>
        <p:txBody>
          <a:bodyPr/>
          <a:lstStyle/>
          <a:p>
            <a:endParaRPr lang="en-US"/>
          </a:p>
        </p:txBody>
      </p:sp>
      <p:sp>
        <p:nvSpPr>
          <p:cNvPr id="7" name="booking-story-flow-6">
            <a:extLst>
              <a:ext uri="{FF2B5EF4-FFF2-40B4-BE49-F238E27FC236}">
                <a16:creationId xmlns:a16="http://schemas.microsoft.com/office/drawing/2014/main" id="{7532C0F7-5C11-418A-93E0-289414CA5DFC}"/>
              </a:ext>
            </a:extLst>
          </p:cNvPr>
          <p:cNvSpPr>
            <a:spLocks noGrp="1"/>
          </p:cNvSpPr>
          <p:nvPr/>
        </p:nvSpPr>
        <p:spPr>
          <a:xfrm>
            <a:off x="6248400" y="3076575"/>
            <a:ext cx="2571750" cy="19050"/>
          </a:xfrm>
          <a:prstGeom prst="rect">
            <a:avLst/>
          </a:prstGeom>
          <a:solidFill>
            <a:srgbClr val="CDD5CE"/>
          </a:solidFill>
          <a:ln w="0">
            <a:noFill/>
            <a:prstDash val="solid"/>
          </a:ln>
        </p:spPr>
        <p:txBody>
          <a:bodyPr/>
          <a:lstStyle/>
          <a:p>
            <a:endParaRPr lang="en-US"/>
          </a:p>
        </p:txBody>
      </p:sp>
      <p:sp>
        <p:nvSpPr>
          <p:cNvPr id="8" name="booking-story-flow-7">
            <a:extLst>
              <a:ext uri="{FF2B5EF4-FFF2-40B4-BE49-F238E27FC236}">
                <a16:creationId xmlns:a16="http://schemas.microsoft.com/office/drawing/2014/main" id="{D063A1A6-F925-44E9-8700-9FA17055F078}"/>
              </a:ext>
            </a:extLst>
          </p:cNvPr>
          <p:cNvSpPr>
            <a:spLocks noGrp="1"/>
          </p:cNvSpPr>
          <p:nvPr/>
        </p:nvSpPr>
        <p:spPr>
          <a:xfrm>
            <a:off x="9124950" y="3076575"/>
            <a:ext cx="2571750" cy="19050"/>
          </a:xfrm>
          <a:prstGeom prst="rect">
            <a:avLst/>
          </a:prstGeom>
          <a:solidFill>
            <a:srgbClr val="CDD5CE"/>
          </a:solidFill>
          <a:ln w="0">
            <a:noFill/>
            <a:prstDash val="solid"/>
          </a:ln>
        </p:spPr>
        <p:txBody>
          <a:bodyPr/>
          <a:lstStyle/>
          <a:p>
            <a:endParaRPr lang="en-US"/>
          </a:p>
        </p:txBody>
      </p:sp>
      <p:sp>
        <p:nvSpPr>
          <p:cNvPr id="12" name="booking-story-text-8">
            <a:extLst>
              <a:ext uri="{FF2B5EF4-FFF2-40B4-BE49-F238E27FC236}">
                <a16:creationId xmlns:a16="http://schemas.microsoft.com/office/drawing/2014/main" id="{9CC6342D-0163-402A-9864-1DAD90E6BA94}"/>
              </a:ext>
            </a:extLst>
          </p:cNvPr>
          <p:cNvSpPr>
            <a:spLocks noGrp="1"/>
          </p:cNvSpPr>
          <p:nvPr/>
        </p:nvSpPr>
        <p:spPr>
          <a:xfrm>
            <a:off x="495300" y="3257550"/>
            <a:ext cx="2571750" cy="266700"/>
          </a:xfrm>
          <a:prstGeom prst="rect">
            <a:avLst/>
          </a:prstGeom>
          <a:noFill/>
          <a:ln w="0">
            <a:noFill/>
            <a:prstDash val="solid"/>
          </a:ln>
        </p:spPr>
        <p:txBody>
          <a:bodyPr wrap="square" lIns="0" tIns="0" rIns="0" bIns="0" anchor="t">
            <a:noAutofit/>
          </a:bodyPr>
          <a:lstStyle>
            <a:defPPr>
              <a:defRPr sz="1275" b="1">
                <a:solidFill>
                  <a:srgbClr val="65746C"/>
                </a:solidFill>
                <a:latin typeface="Helvetica Neue"/>
                <a:ea typeface="Helvetica Neue"/>
                <a:cs typeface="Helvetica Neue"/>
              </a:defRPr>
            </a:defPPr>
          </a:lstStyle>
          <a:p>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a:ext uri="{FF2B5EF4-FFF2-40B4-BE49-F238E27FC236}">
                <a16:creationId xmlns:a16="http://schemas.microsoft.com/office/drawing/2014/main" id="{DFC364BF-4D4D-4DA7-ABA4-629DC2AFF6A5}"/>
              </a:ext>
            </a:extLst>
          </p:cNvPr>
          <p:cNvSpPr>
            <a:spLocks noGrp="1"/>
          </p:cNvSpPr>
          <p:nvPr/>
        </p:nvSpPr>
        <p:spPr>
          <a:xfrm>
            <a:off x="495300" y="3629025"/>
            <a:ext cx="2571750" cy="323850"/>
          </a:xfrm>
          <a:prstGeom prst="rect">
            <a:avLst/>
          </a:prstGeom>
          <a:noFill/>
          <a:ln w="0">
            <a:noFill/>
            <a:prstDash val="solid"/>
          </a:ln>
        </p:spPr>
        <p:txBody>
          <a:bodyPr wrap="square" lIns="0" tIns="0" rIns="0" bIns="0" anchor="t">
            <a:noAutofit/>
          </a:bodyPr>
          <a:lstStyle>
            <a:defPPr>
              <a:defRPr sz="1800" b="1">
                <a:solidFill>
                  <a:srgbClr val="193C32"/>
                </a:solidFill>
                <a:latin typeface="Helvetica Neue"/>
                <a:ea typeface="Helvetica Neue"/>
                <a:cs typeface="Helvetica Neue"/>
              </a:defRPr>
            </a:defPPr>
          </a:lstStyle>
          <a:p>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a:ext uri="{FF2B5EF4-FFF2-40B4-BE49-F238E27FC236}">
                <a16:creationId xmlns:a16="http://schemas.microsoft.com/office/drawing/2014/main" id="{12B0AFC8-2612-4277-9CEB-963EA88ED1D5}"/>
              </a:ext>
            </a:extLst>
          </p:cNvPr>
          <p:cNvSpPr>
            <a:spLocks noGrp="1"/>
          </p:cNvSpPr>
          <p:nvPr/>
        </p:nvSpPr>
        <p:spPr>
          <a:xfrm>
            <a:off x="495300" y="4114800"/>
            <a:ext cx="2571750" cy="981075"/>
          </a:xfrm>
          <a:prstGeom prst="rect">
            <a:avLst/>
          </a:prstGeom>
          <a:noFill/>
          <a:ln w="0">
            <a:noFill/>
            <a:prstDash val="solid"/>
          </a:ln>
        </p:spPr>
        <p:txBody>
          <a:bodyPr wrap="square" lIns="0" tIns="0" rIns="0" bIns="0" anchor="t">
            <a:noAutofit/>
          </a:bodyPr>
          <a:lstStyle>
            <a:defPPr>
              <a:defRPr sz="1650" b="0">
                <a:solidFill>
                  <a:srgbClr val="193C32"/>
                </a:solidFill>
                <a:latin typeface="Helvetica Neue"/>
                <a:ea typeface="Helvetica Neue"/>
                <a:cs typeface="Helvetica Neue"/>
              </a:defRPr>
            </a:defPPr>
          </a:lstStyle>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a:ext uri="{FF2B5EF4-FFF2-40B4-BE49-F238E27FC236}">
                <a16:creationId xmlns:a16="http://schemas.microsoft.com/office/drawing/2014/main" id="{7B966131-CD90-4A6B-8855-B1F258876E82}"/>
              </a:ext>
            </a:extLst>
          </p:cNvPr>
          <p:cNvSpPr>
            <a:spLocks noGrp="1"/>
          </p:cNvSpPr>
          <p:nvPr/>
        </p:nvSpPr>
        <p:spPr>
          <a:xfrm>
            <a:off x="3371850" y="3257550"/>
            <a:ext cx="2571750" cy="266700"/>
          </a:xfrm>
          <a:prstGeom prst="rect">
            <a:avLst/>
          </a:prstGeom>
          <a:noFill/>
          <a:ln w="0">
            <a:noFill/>
            <a:prstDash val="solid"/>
          </a:ln>
        </p:spPr>
        <p:txBody>
          <a:bodyPr wrap="square" lIns="0" tIns="0" rIns="0" bIns="0" anchor="t">
            <a:noAutofit/>
          </a:bodyPr>
          <a:lstStyle>
            <a:defPPr>
              <a:defRPr sz="1275" b="1">
                <a:solidFill>
                  <a:srgbClr val="236C4E"/>
                </a:solidFill>
                <a:latin typeface="Helvetica Neue"/>
                <a:ea typeface="Helvetica Neue"/>
                <a:cs typeface="Helvetica Neue"/>
              </a:defRPr>
            </a:defPPr>
          </a:lstStyle>
          <a:p>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a:ext uri="{FF2B5EF4-FFF2-40B4-BE49-F238E27FC236}">
                <a16:creationId xmlns:a16="http://schemas.microsoft.com/office/drawing/2014/main" id="{4C4A54FC-BED6-41DD-8EDE-83091AC76FEB}"/>
              </a:ext>
            </a:extLst>
          </p:cNvPr>
          <p:cNvSpPr>
            <a:spLocks noGrp="1"/>
          </p:cNvSpPr>
          <p:nvPr/>
        </p:nvSpPr>
        <p:spPr>
          <a:xfrm>
            <a:off x="3371850" y="3629025"/>
            <a:ext cx="2571750" cy="323850"/>
          </a:xfrm>
          <a:prstGeom prst="rect">
            <a:avLst/>
          </a:prstGeom>
          <a:noFill/>
          <a:ln w="0">
            <a:noFill/>
            <a:prstDash val="solid"/>
          </a:ln>
        </p:spPr>
        <p:txBody>
          <a:bodyPr wrap="square" lIns="0" tIns="0" rIns="0" bIns="0" anchor="t">
            <a:noAutofit/>
          </a:bodyPr>
          <a:lstStyle>
            <a:defPPr>
              <a:defRPr sz="1800" b="1">
                <a:solidFill>
                  <a:srgbClr val="193C32"/>
                </a:solidFill>
                <a:latin typeface="Helvetica Neue"/>
                <a:ea typeface="Helvetica Neue"/>
                <a:cs typeface="Helvetica Neue"/>
              </a:defRPr>
            </a:defPPr>
          </a:lstStyle>
          <a:p>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a:ext uri="{FF2B5EF4-FFF2-40B4-BE49-F238E27FC236}">
                <a16:creationId xmlns:a16="http://schemas.microsoft.com/office/drawing/2014/main" id="{112DF1EA-4441-4A80-97EC-22A6380BB59C}"/>
              </a:ext>
            </a:extLst>
          </p:cNvPr>
          <p:cNvSpPr>
            <a:spLocks noGrp="1"/>
          </p:cNvSpPr>
          <p:nvPr/>
        </p:nvSpPr>
        <p:spPr>
          <a:xfrm>
            <a:off x="3371850" y="4114800"/>
            <a:ext cx="2571750" cy="981075"/>
          </a:xfrm>
          <a:prstGeom prst="rect">
            <a:avLst/>
          </a:prstGeom>
          <a:noFill/>
          <a:ln w="0">
            <a:noFill/>
            <a:prstDash val="solid"/>
          </a:ln>
        </p:spPr>
        <p:txBody>
          <a:bodyPr wrap="square" lIns="0" tIns="0" rIns="0" bIns="0" anchor="t">
            <a:noAutofit/>
          </a:bodyPr>
          <a:lstStyle>
            <a:defPPr>
              <a:defRPr sz="1650" b="0">
                <a:solidFill>
                  <a:srgbClr val="193C32"/>
                </a:solidFill>
                <a:latin typeface="Helvetica Neue"/>
                <a:ea typeface="Helvetica Neue"/>
                <a:cs typeface="Helvetica Neue"/>
              </a:defRPr>
            </a:defPPr>
          </a:lstStyle>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a:ext uri="{FF2B5EF4-FFF2-40B4-BE49-F238E27FC236}">
                <a16:creationId xmlns:a16="http://schemas.microsoft.com/office/drawing/2014/main" id="{2D80A181-62A2-4F46-B414-0D7B03DB015B}"/>
              </a:ext>
            </a:extLst>
          </p:cNvPr>
          <p:cNvSpPr>
            <a:spLocks noGrp="1"/>
          </p:cNvSpPr>
          <p:nvPr/>
        </p:nvSpPr>
        <p:spPr>
          <a:xfrm>
            <a:off x="6248400" y="3257550"/>
            <a:ext cx="2571750" cy="266700"/>
          </a:xfrm>
          <a:prstGeom prst="rect">
            <a:avLst/>
          </a:prstGeom>
          <a:noFill/>
          <a:ln w="0">
            <a:noFill/>
            <a:prstDash val="solid"/>
          </a:ln>
        </p:spPr>
        <p:txBody>
          <a:bodyPr wrap="square" lIns="0" tIns="0" rIns="0" bIns="0" anchor="t">
            <a:noAutofit/>
          </a:bodyPr>
          <a:lstStyle>
            <a:defPPr>
              <a:defRPr sz="1275" b="1">
                <a:solidFill>
                  <a:srgbClr val="65746C"/>
                </a:solidFill>
                <a:latin typeface="Helvetica Neue"/>
                <a:ea typeface="Helvetica Neue"/>
                <a:cs typeface="Helvetica Neue"/>
              </a:defRPr>
            </a:defPPr>
          </a:lstStyle>
          <a:p>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a:ext uri="{FF2B5EF4-FFF2-40B4-BE49-F238E27FC236}">
                <a16:creationId xmlns:a16="http://schemas.microsoft.com/office/drawing/2014/main" id="{683138A3-844B-4246-8BEE-A0B98C3A11F5}"/>
              </a:ext>
            </a:extLst>
          </p:cNvPr>
          <p:cNvSpPr>
            <a:spLocks noGrp="1"/>
          </p:cNvSpPr>
          <p:nvPr/>
        </p:nvSpPr>
        <p:spPr>
          <a:xfrm>
            <a:off x="6248400" y="3629025"/>
            <a:ext cx="2571750" cy="323850"/>
          </a:xfrm>
          <a:prstGeom prst="rect">
            <a:avLst/>
          </a:prstGeom>
          <a:noFill/>
          <a:ln w="0">
            <a:noFill/>
            <a:prstDash val="solid"/>
          </a:ln>
        </p:spPr>
        <p:txBody>
          <a:bodyPr wrap="square" lIns="0" tIns="0" rIns="0" bIns="0" anchor="t">
            <a:noAutofit/>
          </a:bodyPr>
          <a:lstStyle>
            <a:defPPr>
              <a:defRPr sz="1800" b="1">
                <a:solidFill>
                  <a:srgbClr val="193C32"/>
                </a:solidFill>
                <a:latin typeface="Helvetica Neue"/>
                <a:ea typeface="Helvetica Neue"/>
                <a:cs typeface="Helvetica Neue"/>
              </a:defRPr>
            </a:defPPr>
          </a:lstStyle>
          <a:p>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a:ext uri="{FF2B5EF4-FFF2-40B4-BE49-F238E27FC236}">
                <a16:creationId xmlns:a16="http://schemas.microsoft.com/office/drawing/2014/main" id="{52AF28D2-35F6-4CF2-9BFA-F576323C8A72}"/>
              </a:ext>
            </a:extLst>
          </p:cNvPr>
          <p:cNvSpPr>
            <a:spLocks noGrp="1"/>
          </p:cNvSpPr>
          <p:nvPr/>
        </p:nvSpPr>
        <p:spPr>
          <a:xfrm>
            <a:off x="6248400" y="4114800"/>
            <a:ext cx="2571750" cy="981075"/>
          </a:xfrm>
          <a:prstGeom prst="rect">
            <a:avLst/>
          </a:prstGeom>
          <a:noFill/>
          <a:ln w="0">
            <a:noFill/>
            <a:prstDash val="solid"/>
          </a:ln>
        </p:spPr>
        <p:txBody>
          <a:bodyPr wrap="square" lIns="0" tIns="0" rIns="0" bIns="0" anchor="t">
            <a:noAutofit/>
          </a:bodyPr>
          <a:lstStyle>
            <a:defPPr>
              <a:defRPr sz="1650" b="0">
                <a:solidFill>
                  <a:srgbClr val="193C32"/>
                </a:solidFill>
                <a:latin typeface="Helvetica Neue"/>
                <a:ea typeface="Helvetica Neue"/>
                <a:cs typeface="Helvetica Neue"/>
              </a:defRPr>
            </a:defPPr>
          </a:lstStyle>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a:ext uri="{FF2B5EF4-FFF2-40B4-BE49-F238E27FC236}">
                <a16:creationId xmlns:a16="http://schemas.microsoft.com/office/drawing/2014/main" id="{AA315DCC-6AA8-416D-829C-DF422D9091A9}"/>
              </a:ext>
            </a:extLst>
          </p:cNvPr>
          <p:cNvSpPr>
            <a:spLocks noGrp="1"/>
          </p:cNvSpPr>
          <p:nvPr/>
        </p:nvSpPr>
        <p:spPr>
          <a:xfrm>
            <a:off x="9124950" y="3257550"/>
            <a:ext cx="2571750" cy="266700"/>
          </a:xfrm>
          <a:prstGeom prst="rect">
            <a:avLst/>
          </a:prstGeom>
          <a:noFill/>
          <a:ln w="0">
            <a:noFill/>
            <a:prstDash val="solid"/>
          </a:ln>
        </p:spPr>
        <p:txBody>
          <a:bodyPr wrap="square" lIns="0" tIns="0" rIns="0" bIns="0" anchor="t">
            <a:noAutofit/>
          </a:bodyPr>
          <a:lstStyle>
            <a:defPPr>
              <a:defRPr sz="1275" b="1">
                <a:solidFill>
                  <a:srgbClr val="236C4E"/>
                </a:solidFill>
                <a:latin typeface="Helvetica Neue"/>
                <a:ea typeface="Helvetica Neue"/>
                <a:cs typeface="Helvetica Neue"/>
              </a:defRPr>
            </a:defPPr>
          </a:lstStyle>
          <a:p>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a:ext uri="{FF2B5EF4-FFF2-40B4-BE49-F238E27FC236}">
                <a16:creationId xmlns:a16="http://schemas.microsoft.com/office/drawing/2014/main" id="{533B2514-09D5-40D2-AF38-6DED6511B5B5}"/>
              </a:ext>
            </a:extLst>
          </p:cNvPr>
          <p:cNvSpPr>
            <a:spLocks noGrp="1"/>
          </p:cNvSpPr>
          <p:nvPr/>
        </p:nvSpPr>
        <p:spPr>
          <a:xfrm>
            <a:off x="9124950" y="3629025"/>
            <a:ext cx="2571750" cy="323850"/>
          </a:xfrm>
          <a:prstGeom prst="rect">
            <a:avLst/>
          </a:prstGeom>
          <a:noFill/>
          <a:ln w="0">
            <a:noFill/>
            <a:prstDash val="solid"/>
          </a:ln>
        </p:spPr>
        <p:txBody>
          <a:bodyPr wrap="square" lIns="0" tIns="0" rIns="0" bIns="0" anchor="t">
            <a:noAutofit/>
          </a:bodyPr>
          <a:lstStyle>
            <a:defPPr>
              <a:defRPr sz="1800" b="1">
                <a:solidFill>
                  <a:srgbClr val="193C32"/>
                </a:solidFill>
                <a:latin typeface="Helvetica Neue"/>
                <a:ea typeface="Helvetica Neue"/>
                <a:cs typeface="Helvetica Neue"/>
              </a:defRPr>
            </a:defPPr>
          </a:lstStyle>
          <a:p>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a:ext uri="{FF2B5EF4-FFF2-40B4-BE49-F238E27FC236}">
                <a16:creationId xmlns:a16="http://schemas.microsoft.com/office/drawing/2014/main" id="{A3415803-B23A-4A43-9DA8-C4BD79AAEE7B}"/>
              </a:ext>
            </a:extLst>
          </p:cNvPr>
          <p:cNvSpPr>
            <a:spLocks noGrp="1"/>
          </p:cNvSpPr>
          <p:nvPr/>
        </p:nvSpPr>
        <p:spPr>
          <a:xfrm>
            <a:off x="9124950" y="4114800"/>
            <a:ext cx="2571750" cy="981075"/>
          </a:xfrm>
          <a:prstGeom prst="rect">
            <a:avLst/>
          </a:prstGeom>
          <a:noFill/>
          <a:ln w="0">
            <a:noFill/>
            <a:prstDash val="solid"/>
          </a:ln>
        </p:spPr>
        <p:txBody>
          <a:bodyPr wrap="square" lIns="0" tIns="0" rIns="0" bIns="0" anchor="t">
            <a:noAutofit/>
          </a:bodyPr>
          <a:lstStyle>
            <a:defPPr>
              <a:defRPr sz="1650" b="0">
                <a:solidFill>
                  <a:srgbClr val="193C32"/>
                </a:solidFill>
                <a:latin typeface="Helvetica Neue"/>
                <a:ea typeface="Helvetica Neue"/>
                <a:cs typeface="Helvetica Neue"/>
              </a:defRPr>
            </a:defPPr>
          </a:lstStyle>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a:ext uri="{FF2B5EF4-FFF2-40B4-BE49-F238E27FC236}">
                <a16:creationId xmlns:a16="http://schemas.microsoft.com/office/drawing/2014/main" id="{DD7CE275-95F2-4D3E-9964-402638082BAE}"/>
              </a:ext>
            </a:extLst>
          </p:cNvPr>
          <p:cNvSpPr>
            <a:spLocks noGrp="1"/>
          </p:cNvSpPr>
          <p:nvPr/>
        </p:nvSpPr>
        <p:spPr>
          <a:xfrm>
            <a:off x="495300" y="5391150"/>
            <a:ext cx="11201400" cy="1028700"/>
          </a:xfrm>
          <a:prstGeom prst="rect">
            <a:avLst/>
          </a:prstGeom>
          <a:solidFill>
            <a:srgbClr val="236C4E"/>
          </a:solidFill>
          <a:ln w="0">
            <a:noFill/>
            <a:prstDash val="solid"/>
          </a:ln>
        </p:spPr>
        <p:txBody>
          <a:bodyPr/>
          <a:lstStyle/>
          <a:p>
            <a:endParaRPr lang="en-US"/>
          </a:p>
        </p:txBody>
      </p:sp>
      <p:sp>
        <p:nvSpPr>
          <p:cNvPr id="25" name="booking-story-text-21">
            <a:extLst>
              <a:ext uri="{FF2B5EF4-FFF2-40B4-BE49-F238E27FC236}">
                <a16:creationId xmlns:a16="http://schemas.microsoft.com/office/drawing/2014/main" id="{8754C950-F5DC-4EC1-868F-8A9DCB4E47AD}"/>
              </a:ext>
            </a:extLst>
          </p:cNvPr>
          <p:cNvSpPr>
            <a:spLocks noGrp="1"/>
          </p:cNvSpPr>
          <p:nvPr/>
        </p:nvSpPr>
        <p:spPr>
          <a:xfrm>
            <a:off x="695325" y="5543550"/>
            <a:ext cx="10801350" cy="361950"/>
          </a:xfrm>
          <a:prstGeom prst="rect">
            <a:avLst/>
          </a:prstGeom>
          <a:noFill/>
          <a:ln w="0">
            <a:noFill/>
            <a:prstDash val="solid"/>
          </a:ln>
        </p:spPr>
        <p:txBody>
          <a:bodyPr wrap="square" lIns="0" tIns="0" rIns="0" bIns="0" anchor="t">
            <a:noAutofit/>
          </a:bodyPr>
          <a:lstStyle>
            <a:defPPr>
              <a:defRPr sz="2325" b="1">
                <a:solidFill>
                  <a:srgbClr val="FFFFFF"/>
                </a:solidFill>
                <a:latin typeface="Helvetica Neue"/>
                <a:ea typeface="Helvetica Neue"/>
                <a:cs typeface="Helvetica Neue"/>
              </a:defRPr>
            </a:defPPr>
          </a:lstStyle>
          <a:p>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a:ext uri="{FF2B5EF4-FFF2-40B4-BE49-F238E27FC236}">
                <a16:creationId xmlns:a16="http://schemas.microsoft.com/office/drawing/2014/main" id="{7762AFC1-78FC-4994-81E7-CD6BA5D7B9FF}"/>
              </a:ext>
            </a:extLst>
          </p:cNvPr>
          <p:cNvSpPr>
            <a:spLocks noGrp="1"/>
          </p:cNvSpPr>
          <p:nvPr/>
        </p:nvSpPr>
        <p:spPr>
          <a:xfrm>
            <a:off x="695325" y="6019800"/>
            <a:ext cx="10801350" cy="276225"/>
          </a:xfrm>
          <a:prstGeom prst="rect">
            <a:avLst/>
          </a:prstGeom>
          <a:noFill/>
          <a:ln w="0">
            <a:noFill/>
            <a:prstDash val="solid"/>
          </a:ln>
        </p:spPr>
        <p:txBody>
          <a:bodyPr wrap="square" lIns="0" tIns="0" rIns="0" bIns="0" anchor="t">
            <a:noAutofit/>
          </a:bodyPr>
          <a:lstStyle>
            <a:defPPr>
              <a:defRPr sz="1725" b="0">
                <a:solidFill>
                  <a:srgbClr val="FFFFFF"/>
                </a:solidFill>
                <a:latin typeface="Helvetica Neue"/>
                <a:ea typeface="Helvetica Neue"/>
                <a:cs typeface="Helvetica Neue"/>
              </a:defRPr>
            </a:defPPr>
          </a:lstStyle>
          <a:p>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a:ext uri="{FF2B5EF4-FFF2-40B4-BE49-F238E27FC236}">
                <a16:creationId xmlns:a16="http://schemas.microsoft.com/office/drawing/2014/main" id="{DCF5C9E5-F549-4DDE-AB7F-BAE131D05FD4}"/>
              </a:ext>
            </a:extLst>
          </p:cNvPr>
          <p:cNvSpPr>
            <a:spLocks noGrp="1"/>
          </p:cNvSpPr>
          <p:nvPr/>
        </p:nvSpPr>
        <p:spPr>
          <a:xfrm>
            <a:off x="495300" y="6619875"/>
            <a:ext cx="10439400" cy="190500"/>
          </a:xfrm>
          <a:prstGeom prst="rect">
            <a:avLst/>
          </a:prstGeom>
          <a:noFill/>
          <a:ln w="0">
            <a:noFill/>
            <a:prstDash val="solid"/>
          </a:ln>
        </p:spPr>
        <p:txBody>
          <a:bodyPr wrap="square" lIns="0" tIns="0" rIns="0" bIns="0" anchor="t">
            <a:noAutofit/>
          </a:bodyPr>
          <a:lstStyle>
            <a:defPPr>
              <a:defRPr sz="1125" b="0">
                <a:solidFill>
                  <a:srgbClr val="65746C"/>
                </a:solidFill>
                <a:latin typeface="Helvetica Neue"/>
                <a:ea typeface="Helvetica Neue"/>
                <a:cs typeface="Helvetica Neue"/>
              </a:defRPr>
            </a:defPPr>
          </a:lstStyle>
          <a:p>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a:ext uri="{FF2B5EF4-FFF2-40B4-BE49-F238E27FC236}">
                <a16:creationId xmlns:a16="http://schemas.microsoft.com/office/drawing/2014/main" id="{9C54B56B-EE83-4B3A-A78C-89B9203337DD}"/>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7E825D96-C70B-4B5B-99C8-3B873024DFC2}"/>
              </a:ext>
            </a:extLst>
          </p:cNvPr>
          <p:cNvCxnSpPr>
            <a:stCxn id="20" idx="0"/>
            <a:endCxn id="18" idx="2"/>
          </p:cNvCxnSpPr>
          <p:nvPr/>
        </p:nvCxnSpPr>
        <p:spPr>
          <a:xfrm flipV="1">
            <a:off x="8886825" y="3895725"/>
            <a:ext cx="0" cy="400050"/>
          </a:xfrm>
          <a:prstGeom prst="straightConnector1">
            <a:avLst/>
          </a:prstGeom>
          <a:ln w="19050">
            <a:solidFill>
              <a:srgbClr val="236C4E"/>
            </a:solidFill>
            <a:prstDash val="solid"/>
            <a:tailEnd type="arrow" w="sm" len="sm"/>
          </a:ln>
        </p:spPr>
      </p:cxnSp>
      <p:cxnSp>
        <p:nvCxnSpPr>
          <p:cNvPr id="24" name="Straight Arrow Connector 23">
            <a:extLst>
              <a:ext uri="{FF2B5EF4-FFF2-40B4-BE49-F238E27FC236}">
                <a16:creationId xmlns:a16="http://schemas.microsoft.com/office/drawing/2014/main" id="{284DF0E5-9984-4200-A68B-26FF149640F9}"/>
              </a:ext>
            </a:extLst>
          </p:cNvPr>
          <p:cNvCxnSpPr>
            <a:stCxn id="21" idx="1"/>
            <a:endCxn id="20" idx="3"/>
          </p:cNvCxnSpPr>
          <p:nvPr/>
        </p:nvCxnSpPr>
        <p:spPr>
          <a:xfrm flipH="1">
            <a:off x="9582150" y="4610100"/>
            <a:ext cx="485775" cy="0"/>
          </a:xfrm>
          <a:prstGeom prst="straightConnector1">
            <a:avLst/>
          </a:prstGeom>
          <a:ln w="19050">
            <a:solidFill>
              <a:srgbClr val="236C4E"/>
            </a:solidFill>
            <a:prstDash val="solid"/>
            <a:tailEnd type="arrow" w="sm" len="sm"/>
          </a:ln>
        </p:spPr>
      </p:cxnSp>
      <p:cxnSp>
        <p:nvCxnSpPr>
          <p:cNvPr id="23" name="Straight Arrow Connector 22">
            <a:extLst>
              <a:ext uri="{FF2B5EF4-FFF2-40B4-BE49-F238E27FC236}">
                <a16:creationId xmlns:a16="http://schemas.microsoft.com/office/drawing/2014/main" id="{4739FFBC-8E79-4AAC-8F7D-F207C1CD7502}"/>
              </a:ext>
            </a:extLst>
          </p:cNvPr>
          <p:cNvCxnSpPr>
            <a:stCxn id="19" idx="2"/>
            <a:endCxn id="21" idx="0"/>
          </p:cNvCxnSpPr>
          <p:nvPr/>
        </p:nvCxnSpPr>
        <p:spPr>
          <a:xfrm>
            <a:off x="10882313" y="3895725"/>
            <a:ext cx="0" cy="400050"/>
          </a:xfrm>
          <a:prstGeom prst="straightConnector1">
            <a:avLst/>
          </a:prstGeom>
          <a:ln w="19050">
            <a:solidFill>
              <a:srgbClr val="236C4E"/>
            </a:solidFill>
            <a:prstDash val="solid"/>
            <a:tailEnd type="arrow" w="sm" len="sm"/>
          </a:ln>
        </p:spPr>
      </p:cxnSp>
      <p:cxnSp>
        <p:nvCxnSpPr>
          <p:cNvPr id="22" name="Straight Arrow Connector 21">
            <a:extLst>
              <a:ext uri="{FF2B5EF4-FFF2-40B4-BE49-F238E27FC236}">
                <a16:creationId xmlns:a16="http://schemas.microsoft.com/office/drawing/2014/main" id="{7804CD0E-1529-4E1D-A5EC-2D14B1D7457E}"/>
              </a:ext>
            </a:extLst>
          </p:cNvPr>
          <p:cNvCxnSpPr>
            <a:stCxn id="18" idx="3"/>
            <a:endCxn id="19" idx="1"/>
          </p:cNvCxnSpPr>
          <p:nvPr/>
        </p:nvCxnSpPr>
        <p:spPr>
          <a:xfrm>
            <a:off x="9582150" y="3552825"/>
            <a:ext cx="485775" cy="0"/>
          </a:xfrm>
          <a:prstGeom prst="straightConnector1">
            <a:avLst/>
          </a:prstGeom>
          <a:ln w="19050">
            <a:solidFill>
              <a:srgbClr val="236C4E"/>
            </a:solidFill>
            <a:prstDash val="solid"/>
            <a:tailEnd type="arrow" w="sm" len="sm"/>
          </a:ln>
        </p:spPr>
      </p:cxnSp>
      <p:cxnSp>
        <p:nvCxnSpPr>
          <p:cNvPr id="8" name="Straight Arrow Connector 7">
            <a:extLst>
              <a:ext uri="{FF2B5EF4-FFF2-40B4-BE49-F238E27FC236}">
                <a16:creationId xmlns:a16="http://schemas.microsoft.com/office/drawing/2014/main" id="{AA13BAB9-54D0-44F5-BE73-D735C5BAE810}"/>
              </a:ext>
            </a:extLst>
          </p:cNvPr>
          <p:cNvCxnSpPr>
            <a:stCxn id="5" idx="3"/>
            <a:endCxn id="6" idx="1"/>
          </p:cNvCxnSpPr>
          <p:nvPr/>
        </p:nvCxnSpPr>
        <p:spPr>
          <a:xfrm>
            <a:off x="7620000" y="2162175"/>
            <a:ext cx="571500" cy="0"/>
          </a:xfrm>
          <a:prstGeom prst="straightConnector1">
            <a:avLst/>
          </a:prstGeom>
          <a:ln w="19050">
            <a:solidFill>
              <a:srgbClr val="236C4E"/>
            </a:solidFill>
            <a:prstDash val="solid"/>
            <a:tailEnd type="arrow" w="sm" len="sm"/>
          </a:ln>
        </p:spPr>
      </p:cxnSp>
      <p:cxnSp>
        <p:nvCxnSpPr>
          <p:cNvPr id="7" name="Straight Arrow Connector 6">
            <a:extLst>
              <a:ext uri="{FF2B5EF4-FFF2-40B4-BE49-F238E27FC236}">
                <a16:creationId xmlns:a16="http://schemas.microsoft.com/office/drawing/2014/main" id="{A7C0A7DD-0A36-4991-A192-D34559C2F8A8}"/>
              </a:ext>
            </a:extLst>
          </p:cNvPr>
          <p:cNvCxnSpPr>
            <a:stCxn id="4" idx="3"/>
            <a:endCxn id="5" idx="1"/>
          </p:cNvCxnSpPr>
          <p:nvPr/>
        </p:nvCxnSpPr>
        <p:spPr>
          <a:xfrm>
            <a:off x="3771900" y="2162175"/>
            <a:ext cx="571500" cy="0"/>
          </a:xfrm>
          <a:prstGeom prst="straightConnector1">
            <a:avLst/>
          </a:prstGeom>
          <a:ln w="19050">
            <a:solidFill>
              <a:srgbClr val="236C4E"/>
            </a:solidFill>
            <a:prstDash val="solid"/>
            <a:tailEnd type="arrow" w="sm" len="sm"/>
          </a:ln>
        </p:spPr>
      </p:cxnSp>
      <p:sp>
        <p:nvSpPr>
          <p:cNvPr id="32" name="launch-slide4-text-0">
            <a:extLst>
              <a:ext uri="{FF2B5EF4-FFF2-40B4-BE49-F238E27FC236}">
                <a16:creationId xmlns:a16="http://schemas.microsoft.com/office/drawing/2014/main" id="{CEA2F967-282E-4708-BCDC-1553E444A157}"/>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a:ext uri="{FF2B5EF4-FFF2-40B4-BE49-F238E27FC236}">
                <a16:creationId xmlns:a16="http://schemas.microsoft.com/office/drawing/2014/main" id="{868B8E20-C830-4A37-94C9-C15310732B90}"/>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lgn="l">
              <a:defRPr sz="3300" b="1">
                <a:solidFill>
                  <a:srgbClr val="193C32"/>
                </a:solidFill>
                <a:latin typeface="Helvetica Neue"/>
                <a:ea typeface="Helvetica Neue"/>
                <a:cs typeface="Helvetica Neue"/>
              </a:defRPr>
            </a:defPPr>
          </a:lstStyle>
          <a:p>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a:ext uri="{FF2B5EF4-FFF2-40B4-BE49-F238E27FC236}">
                <a16:creationId xmlns:a16="http://schemas.microsoft.com/office/drawing/2014/main" id="{B052BF47-A3F4-4068-82FA-5EEB40C9624B}"/>
              </a:ext>
            </a:extLst>
          </p:cNvPr>
          <p:cNvSpPr>
            <a:spLocks noGrp="1"/>
          </p:cNvSpPr>
          <p:nvPr/>
        </p:nvSpPr>
        <p:spPr>
          <a:xfrm>
            <a:off x="495300" y="1362075"/>
            <a:ext cx="11201400" cy="457200"/>
          </a:xfrm>
          <a:prstGeom prst="rect">
            <a:avLst/>
          </a:prstGeom>
          <a:noFill/>
          <a:ln w="0">
            <a:noFill/>
            <a:prstDash val="solid"/>
          </a:ln>
        </p:spPr>
        <p:txBody>
          <a:bodyPr wrap="square" lIns="0" tIns="0" rIns="0" bIns="0" anchor="t">
            <a:noAutofit/>
          </a:bodyPr>
          <a:lstStyle>
            <a:defPPr algn="l">
              <a:defRPr sz="2025" b="0">
                <a:solidFill>
                  <a:srgbClr val="65746C"/>
                </a:solidFill>
                <a:latin typeface="Helvetica Neue"/>
                <a:ea typeface="Helvetica Neue"/>
                <a:cs typeface="Helvetica Neue"/>
              </a:defRPr>
            </a:defPPr>
          </a:lstStyle>
          <a:p>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Build critical mass in one city-category combination.</a:t>
            </a:r>
          </a:p>
        </p:txBody>
      </p:sp>
      <p:sp>
        <p:nvSpPr>
          <p:cNvPr id="4" name="launch-slide4-band-3">
            <a:extLst>
              <a:ext uri="{FF2B5EF4-FFF2-40B4-BE49-F238E27FC236}">
                <a16:creationId xmlns:a16="http://schemas.microsoft.com/office/drawing/2014/main" id="{7097C7CA-7E41-400C-85BB-CDD0310AD761}"/>
              </a:ext>
            </a:extLst>
          </p:cNvPr>
          <p:cNvSpPr>
            <a:spLocks noGrp="1"/>
          </p:cNvSpPr>
          <p:nvPr/>
        </p:nvSpPr>
        <p:spPr>
          <a:xfrm>
            <a:off x="495300" y="2152650"/>
            <a:ext cx="3276600" cy="19050"/>
          </a:xfrm>
          <a:prstGeom prst="rect">
            <a:avLst/>
          </a:prstGeom>
          <a:solidFill>
            <a:srgbClr val="CDD5CE"/>
          </a:solidFill>
          <a:ln w="0">
            <a:noFill/>
            <a:prstDash val="solid"/>
          </a:ln>
        </p:spPr>
        <p:txBody>
          <a:bodyPr/>
          <a:lstStyle/>
          <a:p>
            <a:endParaRPr lang="en-US"/>
          </a:p>
        </p:txBody>
      </p:sp>
      <p:sp>
        <p:nvSpPr>
          <p:cNvPr id="5" name="launch-slide4-band-4">
            <a:extLst>
              <a:ext uri="{FF2B5EF4-FFF2-40B4-BE49-F238E27FC236}">
                <a16:creationId xmlns:a16="http://schemas.microsoft.com/office/drawing/2014/main" id="{55C1B4A8-71FE-4924-9C79-E6C50742CF61}"/>
              </a:ext>
            </a:extLst>
          </p:cNvPr>
          <p:cNvSpPr>
            <a:spLocks noGrp="1"/>
          </p:cNvSpPr>
          <p:nvPr/>
        </p:nvSpPr>
        <p:spPr>
          <a:xfrm>
            <a:off x="4343400" y="2152650"/>
            <a:ext cx="3276600" cy="19050"/>
          </a:xfrm>
          <a:prstGeom prst="rect">
            <a:avLst/>
          </a:prstGeom>
          <a:solidFill>
            <a:srgbClr val="CDD5CE"/>
          </a:solidFill>
          <a:ln w="0">
            <a:noFill/>
            <a:prstDash val="solid"/>
          </a:ln>
        </p:spPr>
        <p:txBody>
          <a:bodyPr/>
          <a:lstStyle/>
          <a:p>
            <a:endParaRPr lang="en-US"/>
          </a:p>
        </p:txBody>
      </p:sp>
      <p:sp>
        <p:nvSpPr>
          <p:cNvPr id="6" name="launch-slide4-band-5">
            <a:extLst>
              <a:ext uri="{FF2B5EF4-FFF2-40B4-BE49-F238E27FC236}">
                <a16:creationId xmlns:a16="http://schemas.microsoft.com/office/drawing/2014/main" id="{A4C9A32B-640D-4C95-98AF-419B3A9405EC}"/>
              </a:ext>
            </a:extLst>
          </p:cNvPr>
          <p:cNvSpPr>
            <a:spLocks noGrp="1"/>
          </p:cNvSpPr>
          <p:nvPr/>
        </p:nvSpPr>
        <p:spPr>
          <a:xfrm>
            <a:off x="8191500" y="2152650"/>
            <a:ext cx="3276600" cy="19050"/>
          </a:xfrm>
          <a:prstGeom prst="rect">
            <a:avLst/>
          </a:prstGeom>
          <a:solidFill>
            <a:srgbClr val="CDD5CE"/>
          </a:solidFill>
          <a:ln w="0">
            <a:noFill/>
            <a:prstDash val="solid"/>
          </a:ln>
        </p:spPr>
        <p:txBody>
          <a:bodyPr/>
          <a:lstStyle/>
          <a:p>
            <a:endParaRPr lang="en-US"/>
          </a:p>
        </p:txBody>
      </p:sp>
      <p:sp>
        <p:nvSpPr>
          <p:cNvPr id="9" name="launch-slide4-text-6">
            <a:extLst>
              <a:ext uri="{FF2B5EF4-FFF2-40B4-BE49-F238E27FC236}">
                <a16:creationId xmlns:a16="http://schemas.microsoft.com/office/drawing/2014/main" id="{3D922266-1809-48B1-B6B1-E538FDA8A6A5}"/>
              </a:ext>
            </a:extLst>
          </p:cNvPr>
          <p:cNvSpPr>
            <a:spLocks noGrp="1"/>
          </p:cNvSpPr>
          <p:nvPr/>
        </p:nvSpPr>
        <p:spPr>
          <a:xfrm>
            <a:off x="495300" y="2438400"/>
            <a:ext cx="3276600" cy="381000"/>
          </a:xfrm>
          <a:prstGeom prst="rect">
            <a:avLst/>
          </a:prstGeom>
          <a:noFill/>
          <a:ln w="0">
            <a:noFill/>
            <a:prstDash val="solid"/>
          </a:ln>
        </p:spPr>
        <p:txBody>
          <a:bodyPr wrap="square" lIns="0" tIns="0" rIns="0" bIns="0" anchor="t">
            <a:noAutofit/>
          </a:bodyPr>
          <a:lstStyle>
            <a:defPPr algn="l">
              <a:defRPr sz="2025" b="1">
                <a:solidFill>
                  <a:srgbClr val="193C32"/>
                </a:solidFill>
                <a:latin typeface="Helvetica Neue"/>
                <a:ea typeface="Helvetica Neue"/>
                <a:cs typeface="Helvetica Neue"/>
              </a:defRPr>
            </a:defPPr>
          </a:lstStyle>
          <a:p>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Build local supply</a:t>
            </a:r>
          </a:p>
        </p:txBody>
      </p:sp>
      <p:sp>
        <p:nvSpPr>
          <p:cNvPr id="10" name="launch-slide4-text-7">
            <a:extLst>
              <a:ext uri="{FF2B5EF4-FFF2-40B4-BE49-F238E27FC236}">
                <a16:creationId xmlns:a16="http://schemas.microsoft.com/office/drawing/2014/main" id="{8ADDA327-97F4-4922-9D58-8B750055D181}"/>
              </a:ext>
            </a:extLst>
          </p:cNvPr>
          <p:cNvSpPr>
            <a:spLocks noGrp="1"/>
          </p:cNvSpPr>
          <p:nvPr/>
        </p:nvSpPr>
        <p:spPr>
          <a:xfrm>
            <a:off x="4343400" y="2438400"/>
            <a:ext cx="3314700" cy="381000"/>
          </a:xfrm>
          <a:prstGeom prst="rect">
            <a:avLst/>
          </a:prstGeom>
          <a:noFill/>
          <a:ln w="0">
            <a:noFill/>
            <a:prstDash val="solid"/>
          </a:ln>
        </p:spPr>
        <p:txBody>
          <a:bodyPr wrap="square" lIns="0" tIns="0" rIns="0" bIns="0" anchor="t">
            <a:noAutofit/>
          </a:bodyPr>
          <a:lstStyle>
            <a:defPPr algn="l">
              <a:defRPr sz="2025" b="1">
                <a:solidFill>
                  <a:srgbClr val="193C32"/>
                </a:solidFill>
                <a:latin typeface="Helvetica Neue"/>
                <a:ea typeface="Helvetica Neue"/>
                <a:cs typeface="Helvetica Neue"/>
              </a:defRPr>
            </a:defPPr>
          </a:lstStyle>
          <a:p>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a:ext uri="{FF2B5EF4-FFF2-40B4-BE49-F238E27FC236}">
                <a16:creationId xmlns:a16="http://schemas.microsoft.com/office/drawing/2014/main" id="{D1023DDC-E33E-47DC-8C3D-F1854BA3CD32}"/>
              </a:ext>
            </a:extLst>
          </p:cNvPr>
          <p:cNvSpPr>
            <a:spLocks noGrp="1"/>
          </p:cNvSpPr>
          <p:nvPr/>
        </p:nvSpPr>
        <p:spPr>
          <a:xfrm>
            <a:off x="8191500" y="2438400"/>
            <a:ext cx="3505200" cy="381000"/>
          </a:xfrm>
          <a:prstGeom prst="rect">
            <a:avLst/>
          </a:prstGeom>
          <a:noFill/>
          <a:ln w="0">
            <a:noFill/>
            <a:prstDash val="solid"/>
          </a:ln>
        </p:spPr>
        <p:txBody>
          <a:bodyPr wrap="square" lIns="0" tIns="0" rIns="0" bIns="0" anchor="t">
            <a:noAutofit/>
          </a:bodyPr>
          <a:lstStyle>
            <a:defPPr algn="l">
              <a:defRPr sz="2025" b="1">
                <a:solidFill>
                  <a:srgbClr val="193C32"/>
                </a:solidFill>
                <a:latin typeface="Helvetica Neue"/>
                <a:ea typeface="Helvetica Neue"/>
                <a:cs typeface="Helvetica Neue"/>
              </a:defRPr>
            </a:defPPr>
          </a:lstStyle>
          <a:p>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The network compounds</a:t>
            </a:r>
          </a:p>
        </p:txBody>
      </p:sp>
      <p:sp>
        <p:nvSpPr>
          <p:cNvPr id="12" name="launch-slide4-text-9">
            <a:extLst>
              <a:ext uri="{FF2B5EF4-FFF2-40B4-BE49-F238E27FC236}">
                <a16:creationId xmlns:a16="http://schemas.microsoft.com/office/drawing/2014/main" id="{338DBD07-EF35-4836-B4A5-51B96BA6347B}"/>
              </a:ext>
            </a:extLst>
          </p:cNvPr>
          <p:cNvSpPr>
            <a:spLocks noGrp="1"/>
          </p:cNvSpPr>
          <p:nvPr/>
        </p:nvSpPr>
        <p:spPr>
          <a:xfrm>
            <a:off x="495300" y="3133725"/>
            <a:ext cx="3276600" cy="457200"/>
          </a:xfrm>
          <a:prstGeom prst="rect">
            <a:avLst/>
          </a:prstGeom>
          <a:noFill/>
          <a:ln w="0">
            <a:noFill/>
            <a:prstDash val="solid"/>
          </a:ln>
        </p:spPr>
        <p:txBody>
          <a:bodyPr wrap="square" lIns="0" tIns="0" rIns="0" bIns="0" anchor="t">
            <a:noAutofit/>
          </a:bodyPr>
          <a:lstStyle>
            <a:defPPr algn="l">
              <a:defRPr sz="2550" b="1">
                <a:solidFill>
                  <a:srgbClr val="236C4E"/>
                </a:solidFill>
                <a:latin typeface="Helvetica Neue"/>
                <a:ea typeface="Helvetica Neue"/>
                <a:cs typeface="Helvetica Neue"/>
              </a:defRPr>
            </a:defPPr>
          </a:lstStyle>
          <a:p>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One city</a:t>
            </a:r>
          </a:p>
        </p:txBody>
      </p:sp>
      <p:sp>
        <p:nvSpPr>
          <p:cNvPr id="13" name="launch-slide4-text-10">
            <a:extLst>
              <a:ext uri="{FF2B5EF4-FFF2-40B4-BE49-F238E27FC236}">
                <a16:creationId xmlns:a16="http://schemas.microsoft.com/office/drawing/2014/main" id="{F1FB2886-3CDA-441E-91F2-1DA12B3958C8}"/>
              </a:ext>
            </a:extLst>
          </p:cNvPr>
          <p:cNvSpPr>
            <a:spLocks noGrp="1"/>
          </p:cNvSpPr>
          <p:nvPr/>
        </p:nvSpPr>
        <p:spPr>
          <a:xfrm>
            <a:off x="495300" y="3638550"/>
            <a:ext cx="3276600" cy="352425"/>
          </a:xfrm>
          <a:prstGeom prst="rect">
            <a:avLst/>
          </a:prstGeom>
          <a:noFill/>
          <a:ln w="0">
            <a:noFill/>
            <a:prstDash val="solid"/>
          </a:ln>
        </p:spPr>
        <p:txBody>
          <a:bodyPr wrap="square" lIns="0" tIns="0" rIns="0" bIns="0" anchor="t">
            <a:noAutofit/>
          </a:bodyPr>
          <a:lstStyle>
            <a:defPPr algn="l">
              <a:defRPr sz="1875" b="1">
                <a:solidFill>
                  <a:srgbClr val="193C32"/>
                </a:solidFill>
                <a:latin typeface="Helvetica Neue"/>
                <a:ea typeface="Helvetica Neue"/>
                <a:cs typeface="Helvetica Neue"/>
              </a:defRPr>
            </a:defPPr>
          </a:lstStyle>
          <a:p>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a:ext uri="{FF2B5EF4-FFF2-40B4-BE49-F238E27FC236}">
                <a16:creationId xmlns:a16="http://schemas.microsoft.com/office/drawing/2014/main" id="{B4B7FC58-554C-4D9A-B1C6-B070784D12D8}"/>
              </a:ext>
            </a:extLst>
          </p:cNvPr>
          <p:cNvSpPr>
            <a:spLocks noGrp="1"/>
          </p:cNvSpPr>
          <p:nvPr/>
        </p:nvSpPr>
        <p:spPr>
          <a:xfrm>
            <a:off x="495300" y="4219575"/>
            <a:ext cx="3276600" cy="971550"/>
          </a:xfrm>
          <a:prstGeom prst="rect">
            <a:avLst/>
          </a:prstGeom>
          <a:noFill/>
          <a:ln w="0">
            <a:noFill/>
            <a:prstDash val="solid"/>
          </a:ln>
        </p:spPr>
        <p:txBody>
          <a:bodyPr wrap="square" lIns="0" tIns="0" rIns="0" bIns="0" anchor="t">
            <a:noAutofit/>
          </a:bodyPr>
          <a:lstStyle>
            <a:defPPr algn="l">
              <a:defRPr sz="1800" b="0">
                <a:solidFill>
                  <a:srgbClr val="193C32"/>
                </a:solidFill>
                <a:latin typeface="Helvetica Neue"/>
                <a:ea typeface="Helvetica Neue"/>
                <a:cs typeface="Helvetica Neue"/>
              </a:defRPr>
            </a:defPPr>
          </a:lstStyle>
          <a:p>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Onboard suppliers to reach</a:t>
            </a:r>
          </a:p>
          <a:p>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critical mass. Recruit users</a:t>
            </a:r>
          </a:p>
          <a:p>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with a specific booking need.</a:t>
            </a:r>
          </a:p>
        </p:txBody>
      </p:sp>
      <p:sp>
        <p:nvSpPr>
          <p:cNvPr id="15" name="launch-slide4-band-12">
            <a:extLst>
              <a:ext uri="{FF2B5EF4-FFF2-40B4-BE49-F238E27FC236}">
                <a16:creationId xmlns:a16="http://schemas.microsoft.com/office/drawing/2014/main" id="{3710E886-6096-41FE-BB70-E39806E72CB4}"/>
              </a:ext>
            </a:extLst>
          </p:cNvPr>
          <p:cNvSpPr>
            <a:spLocks noGrp="1"/>
          </p:cNvSpPr>
          <p:nvPr/>
        </p:nvSpPr>
        <p:spPr>
          <a:xfrm>
            <a:off x="4343400" y="3133725"/>
            <a:ext cx="3314700" cy="1276350"/>
          </a:xfrm>
          <a:prstGeom prst="rect">
            <a:avLst/>
          </a:prstGeom>
          <a:solidFill>
            <a:srgbClr val="236C4E"/>
          </a:solidFill>
          <a:ln w="0">
            <a:noFill/>
            <a:prstDash val="solid"/>
          </a:ln>
        </p:spPr>
        <p:txBody>
          <a:bodyPr/>
          <a:lstStyle/>
          <a:p>
            <a:endParaRPr lang="en-US"/>
          </a:p>
        </p:txBody>
      </p:sp>
      <p:sp>
        <p:nvSpPr>
          <p:cNvPr id="16" name="launch-slide4-text-13">
            <a:extLst>
              <a:ext uri="{FF2B5EF4-FFF2-40B4-BE49-F238E27FC236}">
                <a16:creationId xmlns:a16="http://schemas.microsoft.com/office/drawing/2014/main" id="{E6737A83-18CF-440F-8F95-9FABE60919D6}"/>
              </a:ext>
            </a:extLst>
          </p:cNvPr>
          <p:cNvSpPr>
            <a:spLocks noGrp="1"/>
          </p:cNvSpPr>
          <p:nvPr/>
        </p:nvSpPr>
        <p:spPr>
          <a:xfrm>
            <a:off x="4505325" y="3381375"/>
            <a:ext cx="2990850" cy="904875"/>
          </a:xfrm>
          <a:prstGeom prst="rect">
            <a:avLst/>
          </a:prstGeom>
          <a:noFill/>
          <a:ln w="0">
            <a:noFill/>
            <a:prstDash val="solid"/>
          </a:ln>
        </p:spPr>
        <p:txBody>
          <a:bodyPr wrap="square" lIns="0" tIns="0" rIns="0" bIns="0" anchor="t">
            <a:noAutofit/>
          </a:bodyPr>
          <a:lstStyle>
            <a:defPPr algn="l">
              <a:defRPr sz="2025" b="1">
                <a:solidFill>
                  <a:srgbClr val="FFFFFF"/>
                </a:solidFill>
                <a:latin typeface="Helvetica Neue"/>
                <a:ea typeface="Helvetica Neue"/>
                <a:cs typeface="Helvetica Neue"/>
              </a:defRPr>
            </a:defPPr>
          </a:lstStyle>
          <a:p>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find</a:t>
            </a:r>
          </a:p>
          <a:p>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me local services.”</a:t>
            </a:r>
          </a:p>
        </p:txBody>
      </p:sp>
      <p:sp>
        <p:nvSpPr>
          <p:cNvPr id="17" name="launch-slide4-text-14">
            <a:extLst>
              <a:ext uri="{FF2B5EF4-FFF2-40B4-BE49-F238E27FC236}">
                <a16:creationId xmlns:a16="http://schemas.microsoft.com/office/drawing/2014/main" id="{E399CA83-49A0-4257-B94B-8B718ABB530C}"/>
              </a:ext>
            </a:extLst>
          </p:cNvPr>
          <p:cNvSpPr>
            <a:spLocks noGrp="1"/>
          </p:cNvSpPr>
          <p:nvPr/>
        </p:nvSpPr>
        <p:spPr>
          <a:xfrm>
            <a:off x="4343400" y="4648200"/>
            <a:ext cx="3314700" cy="714375"/>
          </a:xfrm>
          <a:prstGeom prst="rect">
            <a:avLst/>
          </a:prstGeom>
          <a:noFill/>
          <a:ln w="0">
            <a:noFill/>
            <a:prstDash val="solid"/>
          </a:ln>
        </p:spPr>
        <p:txBody>
          <a:bodyPr wrap="square" lIns="0" tIns="0" rIns="0" bIns="0" anchor="t">
            <a:noAutofit/>
          </a:bodyPr>
          <a:lstStyle>
            <a:defPPr algn="l">
              <a:defRPr sz="1725" b="0">
                <a:solidFill>
                  <a:srgbClr val="193C32"/>
                </a:solidFill>
                <a:latin typeface="Helvetica Neue"/>
                <a:ea typeface="Helvetica Neue"/>
                <a:cs typeface="Helvetica Neue"/>
              </a:defRPr>
            </a:defPPr>
          </a:lstStyle>
          <a:p>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use it for future bookings.</a:t>
            </a:r>
          </a:p>
        </p:txBody>
      </p:sp>
      <p:sp>
        <p:nvSpPr>
          <p:cNvPr id="18" name="launch-slide4-text-15">
            <a:extLst>
              <a:ext uri="{FF2B5EF4-FFF2-40B4-BE49-F238E27FC236}">
                <a16:creationId xmlns:a16="http://schemas.microsoft.com/office/drawing/2014/main" id="{AC8A5A2F-40B1-4DF0-8687-BFF43A2E69E6}"/>
              </a:ext>
            </a:extLst>
          </p:cNvPr>
          <p:cNvSpPr>
            <a:spLocks noGrp="1"/>
          </p:cNvSpPr>
          <p:nvPr/>
        </p:nvSpPr>
        <p:spPr>
          <a:xfrm>
            <a:off x="8191500" y="3209925"/>
            <a:ext cx="1390650" cy="685800"/>
          </a:xfrm>
          <a:prstGeom prst="rect">
            <a:avLst/>
          </a:prstGeom>
          <a:noFill/>
          <a:ln w="0">
            <a:noFill/>
            <a:prstDash val="solid"/>
          </a:ln>
        </p:spPr>
        <p:txBody>
          <a:bodyPr wrap="square" lIns="0" tIns="0" rIns="0" bIns="0" anchor="t">
            <a:noAutofit/>
          </a:bodyPr>
          <a:lstStyle>
            <a:defPPr algn="ctr">
              <a:defRPr sz="1875" b="1">
                <a:solidFill>
                  <a:srgbClr val="236C4E"/>
                </a:solidFill>
                <a:latin typeface="Helvetica Neue"/>
                <a:ea typeface="Helvetica Neue"/>
                <a:cs typeface="Helvetica Neue"/>
              </a:defRPr>
            </a:defPPr>
          </a:lstStyle>
          <a:p>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a:ext uri="{FF2B5EF4-FFF2-40B4-BE49-F238E27FC236}">
                <a16:creationId xmlns:a16="http://schemas.microsoft.com/office/drawing/2014/main" id="{BFD0A498-8959-4D75-88E0-B18BB71EF0A4}"/>
              </a:ext>
            </a:extLst>
          </p:cNvPr>
          <p:cNvSpPr>
            <a:spLocks noGrp="1"/>
          </p:cNvSpPr>
          <p:nvPr/>
        </p:nvSpPr>
        <p:spPr>
          <a:xfrm>
            <a:off x="10067925" y="3209925"/>
            <a:ext cx="1628775" cy="685800"/>
          </a:xfrm>
          <a:prstGeom prst="rect">
            <a:avLst/>
          </a:prstGeom>
          <a:noFill/>
          <a:ln w="0">
            <a:noFill/>
            <a:prstDash val="solid"/>
          </a:ln>
        </p:spPr>
        <p:txBody>
          <a:bodyPr wrap="square" lIns="0" tIns="0" rIns="0" bIns="0" anchor="t">
            <a:noAutofit/>
          </a:bodyPr>
          <a:lstStyle>
            <a:defPPr algn="ctr">
              <a:defRPr sz="1875" b="1">
                <a:solidFill>
                  <a:srgbClr val="193C32"/>
                </a:solidFill>
                <a:latin typeface="Helvetica Neue"/>
                <a:ea typeface="Helvetica Neue"/>
                <a:cs typeface="Helvetica Neue"/>
              </a:defRPr>
            </a:defPPr>
          </a:lstStyle>
          <a:p>
            <a:pPr algn="ctr">
              <a:buNone/>
              <a:defRPr sz="1875" b="1">
                <a:solidFill>
                  <a:srgbClr val="193C32"/>
                </a:solidFill>
                <a:latin typeface="Helvetica Neue"/>
                <a:ea typeface="Helvetica Neue"/>
                <a:cs typeface="Helvetica Neue"/>
              </a:defRPr>
            </a:pPr>
            <a:r>
              <a:rPr sz="1875" b="1" dirty="0">
                <a:solidFill>
                  <a:srgbClr val="193C32"/>
                </a:solidFill>
                <a:latin typeface="Helvetica Neue"/>
                <a:ea typeface="Helvetica Neue"/>
                <a:cs typeface="Helvetica Neue"/>
              </a:rPr>
              <a:t>Agent</a:t>
            </a:r>
          </a:p>
          <a:p>
            <a:pPr algn="ctr">
              <a:buNone/>
              <a:defRPr sz="1875" b="1">
                <a:solidFill>
                  <a:srgbClr val="193C32"/>
                </a:solidFill>
                <a:latin typeface="Helvetica Neue"/>
                <a:ea typeface="Helvetica Neue"/>
                <a:cs typeface="Helvetica Neue"/>
              </a:defRPr>
            </a:pPr>
            <a:r>
              <a:rPr sz="1875" b="1" dirty="0">
                <a:solidFill>
                  <a:srgbClr val="193C32"/>
                </a:solidFill>
                <a:latin typeface="Helvetica Neue"/>
                <a:ea typeface="Helvetica Neue"/>
                <a:cs typeface="Helvetica Neue"/>
              </a:rPr>
              <a:t>suggestions*</a:t>
            </a:r>
          </a:p>
        </p:txBody>
      </p:sp>
      <p:sp>
        <p:nvSpPr>
          <p:cNvPr id="20" name="launch-slide4-text-17">
            <a:extLst>
              <a:ext uri="{FF2B5EF4-FFF2-40B4-BE49-F238E27FC236}">
                <a16:creationId xmlns:a16="http://schemas.microsoft.com/office/drawing/2014/main" id="{F3DDB8F6-115E-4EB9-8C43-137CA1F20102}"/>
              </a:ext>
            </a:extLst>
          </p:cNvPr>
          <p:cNvSpPr>
            <a:spLocks noGrp="1"/>
          </p:cNvSpPr>
          <p:nvPr/>
        </p:nvSpPr>
        <p:spPr>
          <a:xfrm>
            <a:off x="8191500" y="4295775"/>
            <a:ext cx="1390650" cy="628650"/>
          </a:xfrm>
          <a:prstGeom prst="rect">
            <a:avLst/>
          </a:prstGeom>
          <a:noFill/>
          <a:ln w="0">
            <a:noFill/>
            <a:prstDash val="solid"/>
          </a:ln>
        </p:spPr>
        <p:txBody>
          <a:bodyPr wrap="square" lIns="0" tIns="0" rIns="0" bIns="0" anchor="t">
            <a:noAutofit/>
          </a:bodyPr>
          <a:lstStyle>
            <a:defPPr algn="ctr">
              <a:defRPr sz="1875" b="1">
                <a:solidFill>
                  <a:srgbClr val="193C32"/>
                </a:solidFill>
                <a:latin typeface="Helvetica Neue"/>
                <a:ea typeface="Helvetica Neue"/>
                <a:cs typeface="Helvetica Neue"/>
              </a:defRPr>
            </a:defPPr>
          </a:lstStyle>
          <a:p>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a:ext uri="{FF2B5EF4-FFF2-40B4-BE49-F238E27FC236}">
                <a16:creationId xmlns:a16="http://schemas.microsoft.com/office/drawing/2014/main" id="{D138F538-3C73-4D56-B043-3E6611E330ED}"/>
              </a:ext>
            </a:extLst>
          </p:cNvPr>
          <p:cNvSpPr>
            <a:spLocks noGrp="1"/>
          </p:cNvSpPr>
          <p:nvPr/>
        </p:nvSpPr>
        <p:spPr>
          <a:xfrm>
            <a:off x="10067925" y="4295775"/>
            <a:ext cx="1628775" cy="628650"/>
          </a:xfrm>
          <a:prstGeom prst="rect">
            <a:avLst/>
          </a:prstGeom>
          <a:noFill/>
          <a:ln w="0">
            <a:noFill/>
            <a:prstDash val="solid"/>
          </a:ln>
        </p:spPr>
        <p:txBody>
          <a:bodyPr wrap="square" lIns="0" tIns="0" rIns="0" bIns="0" anchor="t">
            <a:noAutofit/>
          </a:bodyPr>
          <a:lstStyle>
            <a:defPPr algn="ctr">
              <a:defRPr sz="1800" b="1">
                <a:solidFill>
                  <a:srgbClr val="193C32"/>
                </a:solidFill>
                <a:latin typeface="Helvetica Neue"/>
                <a:ea typeface="Helvetica Neue"/>
                <a:cs typeface="Helvetica Neue"/>
              </a:defRPr>
            </a:defPPr>
          </a:lstStyle>
          <a:p>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a:ext uri="{FF2B5EF4-FFF2-40B4-BE49-F238E27FC236}">
                <a16:creationId xmlns:a16="http://schemas.microsoft.com/office/drawing/2014/main" id="{12E564D0-ED19-4279-AD1A-3D2E1BE28FE7}"/>
              </a:ext>
            </a:extLst>
          </p:cNvPr>
          <p:cNvSpPr>
            <a:spLocks noGrp="1"/>
          </p:cNvSpPr>
          <p:nvPr/>
        </p:nvSpPr>
        <p:spPr>
          <a:xfrm>
            <a:off x="8191500" y="5124450"/>
            <a:ext cx="3505200" cy="552450"/>
          </a:xfrm>
          <a:prstGeom prst="rect">
            <a:avLst/>
          </a:prstGeom>
          <a:noFill/>
          <a:ln w="0">
            <a:noFill/>
            <a:prstDash val="solid"/>
          </a:ln>
        </p:spPr>
        <p:txBody>
          <a:bodyPr wrap="square" lIns="0" tIns="0" rIns="0" bIns="0" anchor="t">
            <a:noAutofit/>
          </a:bodyPr>
          <a:lstStyle>
            <a:defPPr algn="l">
              <a:defRPr sz="1650" b="1">
                <a:solidFill>
                  <a:srgbClr val="236C4E"/>
                </a:solidFill>
                <a:latin typeface="Helvetica Neue"/>
                <a:ea typeface="Helvetica Neue"/>
                <a:cs typeface="Helvetica Neue"/>
              </a:defRPr>
            </a:defPPr>
          </a:lstStyle>
          <a:p>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a:ext uri="{FF2B5EF4-FFF2-40B4-BE49-F238E27FC236}">
                <a16:creationId xmlns:a16="http://schemas.microsoft.com/office/drawing/2014/main" id="{D6F97F0A-8661-4984-BE8C-D88A70D4C85B}"/>
              </a:ext>
            </a:extLst>
          </p:cNvPr>
          <p:cNvSpPr>
            <a:spLocks noGrp="1"/>
          </p:cNvSpPr>
          <p:nvPr/>
        </p:nvSpPr>
        <p:spPr>
          <a:xfrm>
            <a:off x="495300" y="5800725"/>
            <a:ext cx="11201400" cy="657225"/>
          </a:xfrm>
          <a:prstGeom prst="rect">
            <a:avLst/>
          </a:prstGeom>
          <a:solidFill>
            <a:srgbClr val="236C4E"/>
          </a:solidFill>
          <a:ln w="0">
            <a:noFill/>
            <a:prstDash val="solid"/>
          </a:ln>
        </p:spPr>
        <p:txBody>
          <a:bodyPr/>
          <a:lstStyle/>
          <a:p>
            <a:endParaRPr lang="en-US"/>
          </a:p>
        </p:txBody>
      </p:sp>
      <p:sp>
        <p:nvSpPr>
          <p:cNvPr id="28" name="launch-slide4-text-21">
            <a:extLst>
              <a:ext uri="{FF2B5EF4-FFF2-40B4-BE49-F238E27FC236}">
                <a16:creationId xmlns:a16="http://schemas.microsoft.com/office/drawing/2014/main" id="{0CE74342-CD8D-4AC9-9C06-AA3694EECB41}"/>
              </a:ext>
            </a:extLst>
          </p:cNvPr>
          <p:cNvSpPr>
            <a:spLocks noGrp="1"/>
          </p:cNvSpPr>
          <p:nvPr/>
        </p:nvSpPr>
        <p:spPr>
          <a:xfrm>
            <a:off x="666750" y="5895975"/>
            <a:ext cx="10858500" cy="219075"/>
          </a:xfrm>
          <a:prstGeom prst="rect">
            <a:avLst/>
          </a:prstGeom>
          <a:noFill/>
          <a:ln w="0">
            <a:noFill/>
            <a:prstDash val="solid"/>
          </a:ln>
        </p:spPr>
        <p:txBody>
          <a:bodyPr wrap="square" lIns="0" tIns="0" rIns="0" bIns="0" anchor="t">
            <a:noAutofit/>
          </a:bodyPr>
          <a:lstStyle>
            <a:defPPr algn="l">
              <a:defRPr sz="1200" b="1">
                <a:solidFill>
                  <a:srgbClr val="FFFFFF"/>
                </a:solidFill>
                <a:latin typeface="Helvetica Neue"/>
                <a:ea typeface="Helvetica Neue"/>
                <a:cs typeface="Helvetica Neue"/>
              </a:defRPr>
            </a:defPPr>
          </a:lstStyle>
          <a:p>
            <a:pPr algn="l">
              <a:buNone/>
              <a:defRPr sz="1200" b="1">
                <a:solidFill>
                  <a:srgbClr val="FFFFFF"/>
                </a:solidFill>
                <a:latin typeface="Helvetica Neue"/>
                <a:ea typeface="Helvetica Neue"/>
                <a:cs typeface="Helvetica Neue"/>
              </a:defRPr>
            </a:pPr>
            <a:r>
              <a:rPr sz="1200" b="1" dirty="0">
                <a:solidFill>
                  <a:srgbClr val="FFFFFF"/>
                </a:solidFill>
                <a:latin typeface="Helvetica Neue"/>
                <a:ea typeface="Helvetica Neue"/>
                <a:cs typeface="Helvetica Neue"/>
              </a:rPr>
              <a:t>REVENUE MODEL </a:t>
            </a:r>
          </a:p>
        </p:txBody>
      </p:sp>
      <p:sp>
        <p:nvSpPr>
          <p:cNvPr id="29" name="launch-slide4-text-22">
            <a:extLst>
              <a:ext uri="{FF2B5EF4-FFF2-40B4-BE49-F238E27FC236}">
                <a16:creationId xmlns:a16="http://schemas.microsoft.com/office/drawing/2014/main" id="{892EBB5A-25FD-44CB-9870-764F98C136F9}"/>
              </a:ext>
            </a:extLst>
          </p:cNvPr>
          <p:cNvSpPr>
            <a:spLocks noGrp="1"/>
          </p:cNvSpPr>
          <p:nvPr/>
        </p:nvSpPr>
        <p:spPr>
          <a:xfrm>
            <a:off x="666750" y="6153150"/>
            <a:ext cx="10858500" cy="285750"/>
          </a:xfrm>
          <a:prstGeom prst="rect">
            <a:avLst/>
          </a:prstGeom>
          <a:noFill/>
          <a:ln w="0">
            <a:noFill/>
            <a:prstDash val="solid"/>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buNone/>
              <a:defRPr sz="1725" b="0">
                <a:solidFill>
                  <a:srgbClr val="FFFFFF"/>
                </a:solidFill>
                <a:latin typeface="Helvetica Neue"/>
                <a:ea typeface="Helvetica Neue"/>
                <a:cs typeface="Helvetica Neue"/>
              </a:defRPr>
            </a:pPr>
            <a:r>
              <a:rPr sz="1725" b="0" dirty="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a:ext uri="{FF2B5EF4-FFF2-40B4-BE49-F238E27FC236}">
                <a16:creationId xmlns:a16="http://schemas.microsoft.com/office/drawing/2014/main" id="{C691193C-BECF-4785-A1F8-77E0BB50EA46}"/>
              </a:ext>
            </a:extLst>
          </p:cNvPr>
          <p:cNvSpPr>
            <a:spLocks noGrp="1"/>
          </p:cNvSpPr>
          <p:nvPr/>
        </p:nvSpPr>
        <p:spPr>
          <a:xfrm>
            <a:off x="495300" y="6619875"/>
            <a:ext cx="10429875" cy="190500"/>
          </a:xfrm>
          <a:prstGeom prst="rect">
            <a:avLst/>
          </a:prstGeom>
          <a:noFill/>
          <a:ln w="0">
            <a:noFill/>
            <a:prstDash val="solid"/>
          </a:ln>
        </p:spPr>
        <p:txBody>
          <a:bodyPr wrap="square" lIns="0" tIns="0" rIns="0" bIns="0" anchor="t">
            <a:noAutofit/>
          </a:bodyPr>
          <a:lstStyle>
            <a:defPPr algn="l">
              <a:defRPr sz="1125" b="0">
                <a:solidFill>
                  <a:srgbClr val="65746C"/>
                </a:solidFill>
                <a:latin typeface="Helvetica Neue"/>
                <a:ea typeface="Helvetica Neue"/>
                <a:cs typeface="Helvetica Neue"/>
              </a:defRPr>
            </a:defPPr>
          </a:lstStyle>
          <a:p>
            <a:pPr algn="l">
              <a:buNone/>
              <a:defRPr sz="1125" b="0">
                <a:solidFill>
                  <a:srgbClr val="65746C"/>
                </a:solidFill>
                <a:latin typeface="Helvetica Neue"/>
                <a:ea typeface="Helvetica Neue"/>
                <a:cs typeface="Helvetica Neue"/>
              </a:defRPr>
            </a:pPr>
            <a:r>
              <a:rPr sz="1125" b="0" dirty="0">
                <a:solidFill>
                  <a:srgbClr val="65746C"/>
                </a:solidFill>
                <a:latin typeface="Helvetica Neue"/>
                <a:ea typeface="Helvetica Neue"/>
                <a:cs typeface="Helvetica Neue"/>
              </a:rPr>
              <a:t>*Recommendations depend on usefulness, reliability and platform rules.</a:t>
            </a:r>
          </a:p>
        </p:txBody>
      </p:sp>
      <p:sp>
        <p:nvSpPr>
          <p:cNvPr id="31" name="launch-slide4-text-24">
            <a:extLst>
              <a:ext uri="{FF2B5EF4-FFF2-40B4-BE49-F238E27FC236}">
                <a16:creationId xmlns:a16="http://schemas.microsoft.com/office/drawing/2014/main" id="{1C2D9FD4-CABC-4917-8B7C-DD66314B4A9C}"/>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118A1217-66DB-4C76-BECF-DEE2868E3B98}"/>
              </a:ext>
            </a:extLst>
          </p:cNvPr>
          <p:cNvCxnSpPr>
            <a:stCxn id="14" idx="3"/>
            <a:endCxn id="15" idx="1"/>
          </p:cNvCxnSpPr>
          <p:nvPr/>
        </p:nvCxnSpPr>
        <p:spPr>
          <a:xfrm>
            <a:off x="7620000" y="5857877"/>
            <a:ext cx="571500" cy="0"/>
          </a:xfrm>
          <a:prstGeom prst="straightConnector1">
            <a:avLst/>
          </a:prstGeom>
          <a:ln w="19050">
            <a:solidFill>
              <a:srgbClr val="236C4E"/>
            </a:solidFill>
            <a:prstDash val="solid"/>
            <a:tailEnd type="arrow" w="sm" len="sm"/>
          </a:ln>
        </p:spPr>
      </p:cxnSp>
      <p:cxnSp>
        <p:nvCxnSpPr>
          <p:cNvPr id="16" name="Straight Arrow Connector 15">
            <a:extLst>
              <a:ext uri="{FF2B5EF4-FFF2-40B4-BE49-F238E27FC236}">
                <a16:creationId xmlns:a16="http://schemas.microsoft.com/office/drawing/2014/main" id="{A4D64C67-D5B3-4350-9544-026B0771B7F1}"/>
              </a:ext>
            </a:extLst>
          </p:cNvPr>
          <p:cNvCxnSpPr>
            <a:stCxn id="13" idx="3"/>
            <a:endCxn id="14" idx="1"/>
          </p:cNvCxnSpPr>
          <p:nvPr/>
        </p:nvCxnSpPr>
        <p:spPr>
          <a:xfrm>
            <a:off x="3771900" y="5857877"/>
            <a:ext cx="571500" cy="0"/>
          </a:xfrm>
          <a:prstGeom prst="straightConnector1">
            <a:avLst/>
          </a:prstGeom>
          <a:ln w="19050">
            <a:solidFill>
              <a:srgbClr val="236C4E"/>
            </a:solidFill>
            <a:prstDash val="solid"/>
            <a:tailEnd type="arrow" w="sm" len="sm"/>
          </a:ln>
        </p:spPr>
      </p:cxnSp>
      <p:sp>
        <p:nvSpPr>
          <p:cNvPr id="22" name="partner-pilot-slide5-text-0">
            <a:extLst>
              <a:ext uri="{FF2B5EF4-FFF2-40B4-BE49-F238E27FC236}">
                <a16:creationId xmlns:a16="http://schemas.microsoft.com/office/drawing/2014/main" id="{A35C160F-1F25-4731-8825-25CF7B72C624}"/>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a:ext uri="{FF2B5EF4-FFF2-40B4-BE49-F238E27FC236}">
                <a16:creationId xmlns:a16="http://schemas.microsoft.com/office/drawing/2014/main" id="{CA635701-9524-4B3F-BD58-A31E867BF72F}"/>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lgn="l">
              <a:defRPr sz="3300" b="1">
                <a:solidFill>
                  <a:srgbClr val="193C32"/>
                </a:solidFill>
                <a:latin typeface="Helvetica Neue"/>
                <a:ea typeface="Helvetica Neue"/>
                <a:cs typeface="Helvetica Neue"/>
              </a:defRPr>
            </a:defPPr>
          </a:lstStyle>
          <a:p>
            <a:pPr algn="l">
              <a:buNone/>
              <a:defRPr sz="3300" b="1">
                <a:solidFill>
                  <a:srgbClr val="193C32"/>
                </a:solidFill>
                <a:latin typeface="Helvetica Neue"/>
                <a:ea typeface="Helvetica Neue"/>
                <a:cs typeface="Helvetica Neue"/>
              </a:defRPr>
            </a:pPr>
            <a:r>
              <a:rPr sz="3300" b="1" dirty="0">
                <a:solidFill>
                  <a:srgbClr val="193C32"/>
                </a:solidFill>
                <a:latin typeface="Helvetica Neue"/>
                <a:ea typeface="Helvetica Neue"/>
                <a:cs typeface="Helvetica Neue"/>
              </a:rPr>
              <a:t>First proof of concept: Salt Lake City</a:t>
            </a:r>
            <a:r>
              <a:rPr lang="en-US" sz="3300" b="1" dirty="0">
                <a:solidFill>
                  <a:srgbClr val="193C32"/>
                </a:solidFill>
                <a:latin typeface="Helvetica Neue"/>
                <a:ea typeface="Helvetica Neue"/>
                <a:cs typeface="Helvetica Neue"/>
              </a:rPr>
              <a:t> -</a:t>
            </a:r>
            <a:r>
              <a:rPr sz="3300" b="1" dirty="0">
                <a:solidFill>
                  <a:srgbClr val="193C32"/>
                </a:solidFill>
                <a:latin typeface="Helvetica Neue"/>
                <a:ea typeface="Helvetica Neue"/>
                <a:cs typeface="Helvetica Neue"/>
              </a:rPr>
              <a:t> plumbing</a:t>
            </a:r>
          </a:p>
        </p:txBody>
      </p:sp>
      <p:sp>
        <p:nvSpPr>
          <p:cNvPr id="3" name="partner-pilot-slide5-text-2">
            <a:extLst>
              <a:ext uri="{FF2B5EF4-FFF2-40B4-BE49-F238E27FC236}">
                <a16:creationId xmlns:a16="http://schemas.microsoft.com/office/drawing/2014/main" id="{B9752377-40F7-4987-8FA2-D34F3326D914}"/>
              </a:ext>
            </a:extLst>
          </p:cNvPr>
          <p:cNvSpPr>
            <a:spLocks noGrp="1"/>
          </p:cNvSpPr>
          <p:nvPr/>
        </p:nvSpPr>
        <p:spPr>
          <a:xfrm>
            <a:off x="495300" y="1362075"/>
            <a:ext cx="11201400" cy="457200"/>
          </a:xfrm>
          <a:prstGeom prst="rect">
            <a:avLst/>
          </a:prstGeom>
          <a:noFill/>
          <a:ln w="0">
            <a:noFill/>
            <a:prstDash val="solid"/>
          </a:ln>
        </p:spPr>
        <p:txBody>
          <a:bodyPr wrap="square" lIns="0" tIns="0" rIns="0" bIns="0" anchor="t">
            <a:noAutofit/>
          </a:bodyPr>
          <a:lstStyle>
            <a:defPPr algn="l">
              <a:defRPr sz="2025" b="0">
                <a:solidFill>
                  <a:srgbClr val="65746C"/>
                </a:solidFill>
                <a:latin typeface="Helvetica Neue"/>
                <a:ea typeface="Helvetica Neue"/>
                <a:cs typeface="Helvetica Neue"/>
              </a:defRPr>
            </a:defPPr>
          </a:lstStyle>
          <a:p>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partnerships give us a pipeline of provider introductions.</a:t>
            </a:r>
          </a:p>
        </p:txBody>
      </p:sp>
      <p:sp>
        <p:nvSpPr>
          <p:cNvPr id="4" name="partner-pilot-slide5-text-3">
            <a:extLst>
              <a:ext uri="{FF2B5EF4-FFF2-40B4-BE49-F238E27FC236}">
                <a16:creationId xmlns:a16="http://schemas.microsoft.com/office/drawing/2014/main" id="{8991B46C-7EDF-43ED-B987-4749DAC2E13A}"/>
              </a:ext>
            </a:extLst>
          </p:cNvPr>
          <p:cNvSpPr>
            <a:spLocks noGrp="1"/>
          </p:cNvSpPr>
          <p:nvPr/>
        </p:nvSpPr>
        <p:spPr>
          <a:xfrm>
            <a:off x="495300" y="2181225"/>
            <a:ext cx="3667125" cy="1562100"/>
          </a:xfrm>
          <a:prstGeom prst="rect">
            <a:avLst/>
          </a:prstGeom>
          <a:noFill/>
          <a:ln w="0">
            <a:noFill/>
            <a:prstDash val="solid"/>
          </a:ln>
        </p:spPr>
        <p:txBody>
          <a:bodyPr wrap="square" lIns="0" tIns="0" rIns="0" bIns="0" anchor="t">
            <a:noAutofit/>
          </a:bodyPr>
          <a:lstStyle>
            <a:defPPr algn="l">
              <a:defRPr sz="9450" b="1">
                <a:solidFill>
                  <a:srgbClr val="236C4E"/>
                </a:solidFill>
                <a:latin typeface="Helvetica Neue"/>
                <a:ea typeface="Helvetica Neue"/>
                <a:cs typeface="Helvetica Neue"/>
              </a:defRPr>
            </a:defPPr>
          </a:lstStyle>
          <a:p>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a:ext uri="{FF2B5EF4-FFF2-40B4-BE49-F238E27FC236}">
                <a16:creationId xmlns:a16="http://schemas.microsoft.com/office/drawing/2014/main" id="{616E785A-F15F-43DC-9EE2-A418D385A949}"/>
              </a:ext>
            </a:extLst>
          </p:cNvPr>
          <p:cNvSpPr>
            <a:spLocks noGrp="1"/>
          </p:cNvSpPr>
          <p:nvPr/>
        </p:nvSpPr>
        <p:spPr>
          <a:xfrm>
            <a:off x="495300" y="3914775"/>
            <a:ext cx="3714750" cy="866775"/>
          </a:xfrm>
          <a:prstGeom prst="rect">
            <a:avLst/>
          </a:prstGeom>
          <a:noFill/>
          <a:ln w="0">
            <a:noFill/>
            <a:prstDash val="solid"/>
          </a:ln>
        </p:spPr>
        <p:txBody>
          <a:bodyPr wrap="square" lIns="0" tIns="0" rIns="0" bIns="0" anchor="t">
            <a:noAutofit/>
          </a:bodyPr>
          <a:lstStyle>
            <a:defPPr algn="l">
              <a:defRPr sz="2400" b="1">
                <a:solidFill>
                  <a:srgbClr val="193C32"/>
                </a:solidFill>
                <a:latin typeface="Helvetica Neue"/>
                <a:ea typeface="Helvetica Neue"/>
                <a:cs typeface="Helvetica Neue"/>
              </a:defRPr>
            </a:defPPr>
          </a:lstStyle>
          <a:p>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a:ext uri="{FF2B5EF4-FFF2-40B4-BE49-F238E27FC236}">
                <a16:creationId xmlns:a16="http://schemas.microsoft.com/office/drawing/2014/main" id="{A0F7D695-E180-4DB1-BDF5-DA1E53D32DD9}"/>
              </a:ext>
            </a:extLst>
          </p:cNvPr>
          <p:cNvSpPr>
            <a:spLocks noGrp="1"/>
          </p:cNvSpPr>
          <p:nvPr/>
        </p:nvSpPr>
        <p:spPr>
          <a:xfrm>
            <a:off x="495300" y="4699906"/>
            <a:ext cx="3714750" cy="304800"/>
          </a:xfrm>
          <a:prstGeom prst="rect">
            <a:avLst/>
          </a:prstGeom>
          <a:noFill/>
          <a:ln w="0">
            <a:noFill/>
            <a:prstDash val="solid"/>
          </a:ln>
        </p:spPr>
        <p:txBody>
          <a:bodyPr wrap="square" lIns="0" tIns="0" rIns="0" bIns="0" anchor="t">
            <a:noAutofit/>
          </a:bodyPr>
          <a:lstStyle>
            <a:defPPr algn="l">
              <a:defRPr sz="1725" b="0">
                <a:solidFill>
                  <a:srgbClr val="65746C"/>
                </a:solidFill>
                <a:latin typeface="Helvetica Neue"/>
                <a:ea typeface="Helvetica Neue"/>
                <a:cs typeface="Helvetica Neue"/>
              </a:defRPr>
            </a:defPPr>
          </a:lstStyle>
          <a:p>
            <a:pPr algn="l">
              <a:buNone/>
              <a:defRPr sz="1725" b="0">
                <a:solidFill>
                  <a:srgbClr val="65746C"/>
                </a:solidFill>
                <a:latin typeface="Helvetica Neue"/>
                <a:ea typeface="Helvetica Neue"/>
                <a:cs typeface="Helvetica Neue"/>
              </a:defRPr>
            </a:pPr>
            <a:r>
              <a:rPr sz="1725" b="0" dirty="0">
                <a:solidFill>
                  <a:srgbClr val="65746C"/>
                </a:solidFill>
                <a:latin typeface="Helvetica Neue"/>
                <a:ea typeface="Helvetica Neue"/>
                <a:cs typeface="Helvetica Neue"/>
              </a:rPr>
              <a:t>Via Cactus AI</a:t>
            </a:r>
          </a:p>
        </p:txBody>
      </p:sp>
      <p:sp>
        <p:nvSpPr>
          <p:cNvPr id="7" name="partner-pilot-slide5-text-6">
            <a:extLst>
              <a:ext uri="{FF2B5EF4-FFF2-40B4-BE49-F238E27FC236}">
                <a16:creationId xmlns:a16="http://schemas.microsoft.com/office/drawing/2014/main" id="{19DE7C60-8114-4494-93AA-B1D21078A062}"/>
              </a:ext>
            </a:extLst>
          </p:cNvPr>
          <p:cNvSpPr>
            <a:spLocks noGrp="1"/>
          </p:cNvSpPr>
          <p:nvPr/>
        </p:nvSpPr>
        <p:spPr>
          <a:xfrm>
            <a:off x="4857750" y="2371725"/>
            <a:ext cx="6838950" cy="428625"/>
          </a:xfrm>
          <a:prstGeom prst="rect">
            <a:avLst/>
          </a:prstGeom>
          <a:noFill/>
          <a:ln w="0">
            <a:noFill/>
            <a:prstDash val="solid"/>
          </a:ln>
        </p:spPr>
        <p:txBody>
          <a:bodyPr wrap="square" lIns="0" tIns="0" rIns="0" bIns="0" anchor="t">
            <a:noAutofit/>
          </a:bodyPr>
          <a:lstStyle>
            <a:defPPr algn="l">
              <a:defRPr sz="2550" b="1">
                <a:solidFill>
                  <a:srgbClr val="236C4E"/>
                </a:solidFill>
                <a:latin typeface="Helvetica Neue"/>
                <a:ea typeface="Helvetica Neue"/>
                <a:cs typeface="Helvetica Neue"/>
              </a:defRPr>
            </a:defPPr>
          </a:lstStyle>
          <a:p>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a:ext uri="{FF2B5EF4-FFF2-40B4-BE49-F238E27FC236}">
                <a16:creationId xmlns:a16="http://schemas.microsoft.com/office/drawing/2014/main" id="{C8AFDEC2-69C5-4113-A0F4-A30D539D06D1}"/>
              </a:ext>
            </a:extLst>
          </p:cNvPr>
          <p:cNvSpPr>
            <a:spLocks noGrp="1"/>
          </p:cNvSpPr>
          <p:nvPr/>
        </p:nvSpPr>
        <p:spPr>
          <a:xfrm>
            <a:off x="4857750" y="2943225"/>
            <a:ext cx="6838950" cy="752475"/>
          </a:xfrm>
          <a:prstGeom prst="rect">
            <a:avLst/>
          </a:prstGeom>
          <a:noFill/>
          <a:ln w="0">
            <a:noFill/>
            <a:prstDash val="solid"/>
          </a:ln>
        </p:spPr>
        <p:txBody>
          <a:bodyPr wrap="square" lIns="0" tIns="0" rIns="0" bIns="0" anchor="t">
            <a:noAutofit/>
          </a:bodyPr>
          <a:lstStyle>
            <a:defPPr algn="l">
              <a:defRPr sz="1950" b="0">
                <a:solidFill>
                  <a:srgbClr val="193C32"/>
                </a:solidFill>
                <a:latin typeface="Helvetica Neue"/>
                <a:ea typeface="Helvetica Neue"/>
                <a:cs typeface="Helvetica Neue"/>
              </a:defRPr>
            </a:defPPr>
          </a:lstStyle>
          <a:p>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a:ext uri="{FF2B5EF4-FFF2-40B4-BE49-F238E27FC236}">
                <a16:creationId xmlns:a16="http://schemas.microsoft.com/office/drawing/2014/main" id="{B240812A-7539-46A6-A7F7-7D887948B9B8}"/>
              </a:ext>
            </a:extLst>
          </p:cNvPr>
          <p:cNvSpPr>
            <a:spLocks noGrp="1"/>
          </p:cNvSpPr>
          <p:nvPr/>
        </p:nvSpPr>
        <p:spPr>
          <a:xfrm>
            <a:off x="4857750" y="4010025"/>
            <a:ext cx="6838950" cy="438150"/>
          </a:xfrm>
          <a:prstGeom prst="rect">
            <a:avLst/>
          </a:prstGeom>
          <a:noFill/>
          <a:ln w="0">
            <a:noFill/>
            <a:prstDash val="solid"/>
          </a:ln>
        </p:spPr>
        <p:txBody>
          <a:bodyPr wrap="square" lIns="0" tIns="0" rIns="0" bIns="0" anchor="t">
            <a:noAutofit/>
          </a:bodyPr>
          <a:lstStyle>
            <a:defPPr algn="l">
              <a:defRPr sz="2400" b="1">
                <a:solidFill>
                  <a:srgbClr val="236C4E"/>
                </a:solidFill>
                <a:latin typeface="Helvetica Neue"/>
                <a:ea typeface="Helvetica Neue"/>
                <a:cs typeface="Helvetica Neue"/>
              </a:defRPr>
            </a:defPPr>
          </a:lstStyle>
          <a:p>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a:ext uri="{FF2B5EF4-FFF2-40B4-BE49-F238E27FC236}">
                <a16:creationId xmlns:a16="http://schemas.microsoft.com/office/drawing/2014/main" id="{B0BF785F-3033-4384-9191-7FC45D4A3B83}"/>
              </a:ext>
            </a:extLst>
          </p:cNvPr>
          <p:cNvSpPr>
            <a:spLocks noGrp="1"/>
          </p:cNvSpPr>
          <p:nvPr/>
        </p:nvSpPr>
        <p:spPr>
          <a:xfrm>
            <a:off x="4857750" y="4438650"/>
            <a:ext cx="6838950" cy="285750"/>
          </a:xfrm>
          <a:prstGeom prst="rect">
            <a:avLst/>
          </a:prstGeom>
          <a:noFill/>
          <a:ln w="0">
            <a:noFill/>
            <a:prstDash val="solid"/>
          </a:ln>
        </p:spPr>
        <p:txBody>
          <a:bodyPr wrap="square" lIns="0" tIns="0" rIns="0" bIns="0" anchor="t">
            <a:noAutofit/>
          </a:bodyPr>
          <a:lstStyle>
            <a:defPPr algn="l">
              <a:defRPr sz="1650" b="0">
                <a:solidFill>
                  <a:srgbClr val="65746C"/>
                </a:solidFill>
                <a:latin typeface="Helvetica Neue"/>
                <a:ea typeface="Helvetica Neue"/>
                <a:cs typeface="Helvetica Neue"/>
              </a:defRPr>
            </a:defPPr>
          </a:lstStyle>
          <a:p>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a:ext uri="{FF2B5EF4-FFF2-40B4-BE49-F238E27FC236}">
                <a16:creationId xmlns:a16="http://schemas.microsoft.com/office/drawing/2014/main" id="{E62E593E-233D-45EF-B83A-87A2FAD2746F}"/>
              </a:ext>
            </a:extLst>
          </p:cNvPr>
          <p:cNvSpPr>
            <a:spLocks noGrp="1"/>
          </p:cNvSpPr>
          <p:nvPr/>
        </p:nvSpPr>
        <p:spPr>
          <a:xfrm>
            <a:off x="4857750" y="4800600"/>
            <a:ext cx="6838950" cy="361950"/>
          </a:xfrm>
          <a:prstGeom prst="rect">
            <a:avLst/>
          </a:prstGeom>
          <a:noFill/>
          <a:ln w="0">
            <a:noFill/>
            <a:prstDash val="solid"/>
          </a:ln>
        </p:spPr>
        <p:txBody>
          <a:bodyPr wrap="square" lIns="0" tIns="0" rIns="0" bIns="0" anchor="t">
            <a:noAutofit/>
          </a:bodyPr>
          <a:lstStyle>
            <a:defPPr algn="l">
              <a:defRPr sz="1950" b="0">
                <a:solidFill>
                  <a:srgbClr val="193C32"/>
                </a:solidFill>
                <a:latin typeface="Helvetica Neue"/>
                <a:ea typeface="Helvetica Neue"/>
                <a:cs typeface="Helvetica Neue"/>
              </a:defRPr>
            </a:defPPr>
          </a:lstStyle>
          <a:p>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a:ext uri="{FF2B5EF4-FFF2-40B4-BE49-F238E27FC236}">
                <a16:creationId xmlns:a16="http://schemas.microsoft.com/office/drawing/2014/main" id="{4B485A28-747E-43D2-9A74-667A12E57091}"/>
              </a:ext>
            </a:extLst>
          </p:cNvPr>
          <p:cNvSpPr>
            <a:spLocks noGrp="1"/>
          </p:cNvSpPr>
          <p:nvPr/>
        </p:nvSpPr>
        <p:spPr>
          <a:xfrm>
            <a:off x="495300" y="5353052"/>
            <a:ext cx="11201400" cy="381000"/>
          </a:xfrm>
          <a:prstGeom prst="rect">
            <a:avLst/>
          </a:prstGeom>
          <a:noFill/>
          <a:ln w="0">
            <a:noFill/>
            <a:prstDash val="solid"/>
          </a:ln>
        </p:spPr>
        <p:txBody>
          <a:bodyPr wrap="square" lIns="0" tIns="0" rIns="0" bIns="0" anchor="t">
            <a:noAutofit/>
          </a:bodyPr>
          <a:lstStyle>
            <a:defPPr algn="l">
              <a:defRPr sz="2100" b="1">
                <a:solidFill>
                  <a:srgbClr val="193C32"/>
                </a:solidFill>
                <a:latin typeface="Helvetica Neue"/>
                <a:ea typeface="Helvetica Neue"/>
                <a:cs typeface="Helvetica Neue"/>
              </a:defRPr>
            </a:defPPr>
          </a:lstStyle>
          <a:p>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Pilot goal: turn agent requests into confirmed bookings.</a:t>
            </a:r>
          </a:p>
        </p:txBody>
      </p:sp>
      <p:sp>
        <p:nvSpPr>
          <p:cNvPr id="13" name="partner-pilot-slide5-rule-12">
            <a:extLst>
              <a:ext uri="{FF2B5EF4-FFF2-40B4-BE49-F238E27FC236}">
                <a16:creationId xmlns:a16="http://schemas.microsoft.com/office/drawing/2014/main" id="{A91DE01D-56EA-4781-8398-E0D4EEE5E7C2}"/>
              </a:ext>
            </a:extLst>
          </p:cNvPr>
          <p:cNvSpPr>
            <a:spLocks noGrp="1"/>
          </p:cNvSpPr>
          <p:nvPr/>
        </p:nvSpPr>
        <p:spPr>
          <a:xfrm>
            <a:off x="495300" y="5848352"/>
            <a:ext cx="3276600" cy="19050"/>
          </a:xfrm>
          <a:prstGeom prst="rect">
            <a:avLst/>
          </a:prstGeom>
          <a:solidFill>
            <a:srgbClr val="CDD5CE"/>
          </a:solidFill>
          <a:ln w="0">
            <a:noFill/>
            <a:prstDash val="solid"/>
          </a:ln>
        </p:spPr>
        <p:txBody>
          <a:bodyPr/>
          <a:lstStyle/>
          <a:p>
            <a:endParaRPr lang="en-US"/>
          </a:p>
        </p:txBody>
      </p:sp>
      <p:sp>
        <p:nvSpPr>
          <p:cNvPr id="14" name="partner-pilot-slide5-rule-13">
            <a:extLst>
              <a:ext uri="{FF2B5EF4-FFF2-40B4-BE49-F238E27FC236}">
                <a16:creationId xmlns:a16="http://schemas.microsoft.com/office/drawing/2014/main" id="{119584AC-2F36-43AD-927E-B3AE38225FF4}"/>
              </a:ext>
            </a:extLst>
          </p:cNvPr>
          <p:cNvSpPr>
            <a:spLocks noGrp="1"/>
          </p:cNvSpPr>
          <p:nvPr/>
        </p:nvSpPr>
        <p:spPr>
          <a:xfrm>
            <a:off x="4343400" y="5848352"/>
            <a:ext cx="3276600" cy="19050"/>
          </a:xfrm>
          <a:prstGeom prst="rect">
            <a:avLst/>
          </a:prstGeom>
          <a:solidFill>
            <a:srgbClr val="CDD5CE"/>
          </a:solidFill>
          <a:ln w="0">
            <a:noFill/>
            <a:prstDash val="solid"/>
          </a:ln>
        </p:spPr>
        <p:txBody>
          <a:bodyPr/>
          <a:lstStyle/>
          <a:p>
            <a:endParaRPr lang="en-US"/>
          </a:p>
        </p:txBody>
      </p:sp>
      <p:sp>
        <p:nvSpPr>
          <p:cNvPr id="15" name="partner-pilot-slide5-rule-14">
            <a:extLst>
              <a:ext uri="{FF2B5EF4-FFF2-40B4-BE49-F238E27FC236}">
                <a16:creationId xmlns:a16="http://schemas.microsoft.com/office/drawing/2014/main" id="{17D2EE46-97D0-4EAC-AB6E-C1F4FCFCBA5F}"/>
              </a:ext>
            </a:extLst>
          </p:cNvPr>
          <p:cNvSpPr>
            <a:spLocks noGrp="1"/>
          </p:cNvSpPr>
          <p:nvPr/>
        </p:nvSpPr>
        <p:spPr>
          <a:xfrm>
            <a:off x="8191500" y="5848352"/>
            <a:ext cx="3276600" cy="19050"/>
          </a:xfrm>
          <a:prstGeom prst="rect">
            <a:avLst/>
          </a:prstGeom>
          <a:solidFill>
            <a:srgbClr val="CDD5CE"/>
          </a:solidFill>
          <a:ln w="0">
            <a:noFill/>
            <a:prstDash val="solid"/>
          </a:ln>
        </p:spPr>
        <p:txBody>
          <a:bodyPr/>
          <a:lstStyle/>
          <a:p>
            <a:endParaRPr lang="en-US"/>
          </a:p>
        </p:txBody>
      </p:sp>
      <p:sp>
        <p:nvSpPr>
          <p:cNvPr id="18" name="partner-pilot-slide5-text-15">
            <a:extLst>
              <a:ext uri="{FF2B5EF4-FFF2-40B4-BE49-F238E27FC236}">
                <a16:creationId xmlns:a16="http://schemas.microsoft.com/office/drawing/2014/main" id="{9FD66AE8-D6AB-49FE-888E-1A268A772EAC}"/>
              </a:ext>
            </a:extLst>
          </p:cNvPr>
          <p:cNvSpPr>
            <a:spLocks noGrp="1"/>
          </p:cNvSpPr>
          <p:nvPr/>
        </p:nvSpPr>
        <p:spPr>
          <a:xfrm>
            <a:off x="495300" y="6076952"/>
            <a:ext cx="3276600" cy="381000"/>
          </a:xfrm>
          <a:prstGeom prst="rect">
            <a:avLst/>
          </a:prstGeom>
          <a:noFill/>
          <a:ln w="0">
            <a:noFill/>
            <a:prstDash val="solid"/>
          </a:ln>
        </p:spPr>
        <p:txBody>
          <a:bodyPr wrap="square" lIns="0" tIns="0" rIns="0" bIns="0" anchor="t">
            <a:noAutofit/>
          </a:bodyPr>
          <a:lstStyle>
            <a:defPPr algn="l">
              <a:defRPr sz="2025" b="1">
                <a:solidFill>
                  <a:srgbClr val="193C32"/>
                </a:solidFill>
                <a:latin typeface="Helvetica Neue"/>
                <a:ea typeface="Helvetica Neue"/>
                <a:cs typeface="Helvetica Neue"/>
              </a:defRPr>
            </a:defPPr>
          </a:lstStyle>
          <a:p>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a:ext uri="{FF2B5EF4-FFF2-40B4-BE49-F238E27FC236}">
                <a16:creationId xmlns:a16="http://schemas.microsoft.com/office/drawing/2014/main" id="{5B1BD860-6328-4C4F-B959-4D2A9DD21530}"/>
              </a:ext>
            </a:extLst>
          </p:cNvPr>
          <p:cNvSpPr>
            <a:spLocks noGrp="1"/>
          </p:cNvSpPr>
          <p:nvPr/>
        </p:nvSpPr>
        <p:spPr>
          <a:xfrm>
            <a:off x="4343400" y="6076952"/>
            <a:ext cx="3276600" cy="381000"/>
          </a:xfrm>
          <a:prstGeom prst="rect">
            <a:avLst/>
          </a:prstGeom>
          <a:noFill/>
          <a:ln w="0">
            <a:noFill/>
            <a:prstDash val="solid"/>
          </a:ln>
        </p:spPr>
        <p:txBody>
          <a:bodyPr wrap="square" lIns="0" tIns="0" rIns="0" bIns="0" anchor="t">
            <a:noAutofit/>
          </a:bodyPr>
          <a:lstStyle>
            <a:defPPr algn="l">
              <a:defRPr sz="2025" b="1">
                <a:solidFill>
                  <a:srgbClr val="193C32"/>
                </a:solidFill>
                <a:latin typeface="Helvetica Neue"/>
                <a:ea typeface="Helvetica Neue"/>
                <a:cs typeface="Helvetica Neue"/>
              </a:defRPr>
            </a:defPPr>
          </a:lstStyle>
          <a:p>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a:ext uri="{FF2B5EF4-FFF2-40B4-BE49-F238E27FC236}">
                <a16:creationId xmlns:a16="http://schemas.microsoft.com/office/drawing/2014/main" id="{524E0E8D-DB94-423B-8ED7-30D05241773E}"/>
              </a:ext>
            </a:extLst>
          </p:cNvPr>
          <p:cNvSpPr>
            <a:spLocks noGrp="1"/>
          </p:cNvSpPr>
          <p:nvPr/>
        </p:nvSpPr>
        <p:spPr>
          <a:xfrm>
            <a:off x="8191500" y="6076952"/>
            <a:ext cx="3505200" cy="381000"/>
          </a:xfrm>
          <a:prstGeom prst="rect">
            <a:avLst/>
          </a:prstGeom>
          <a:noFill/>
          <a:ln w="0">
            <a:noFill/>
            <a:prstDash val="solid"/>
          </a:ln>
        </p:spPr>
        <p:txBody>
          <a:bodyPr wrap="square" lIns="0" tIns="0" rIns="0" bIns="0" anchor="t">
            <a:noAutofit/>
          </a:bodyPr>
          <a:lstStyle>
            <a:defPPr algn="l">
              <a:defRPr sz="2025" b="1">
                <a:solidFill>
                  <a:srgbClr val="236C4E"/>
                </a:solidFill>
                <a:latin typeface="Helvetica Neue"/>
                <a:ea typeface="Helvetica Neue"/>
                <a:cs typeface="Helvetica Neue"/>
              </a:defRPr>
            </a:defPPr>
          </a:lstStyle>
          <a:p>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a:ext uri="{FF2B5EF4-FFF2-40B4-BE49-F238E27FC236}">
                <a16:creationId xmlns:a16="http://schemas.microsoft.com/office/drawing/2014/main" id="{240C600E-6FEB-4C6C-9119-7A7169886115}"/>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0" name="team-premium-0">
            <a:extLst>
              <a:ext uri="{FF2B5EF4-FFF2-40B4-BE49-F238E27FC236}">
                <a16:creationId xmlns:a16="http://schemas.microsoft.com/office/drawing/2014/main" id="{FE086505-BCA8-42A1-A449-4AA38B3E9D34}"/>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a:ext uri="{FF2B5EF4-FFF2-40B4-BE49-F238E27FC236}">
                <a16:creationId xmlns:a16="http://schemas.microsoft.com/office/drawing/2014/main" id="{9137416B-2BE1-4055-BEEA-E988545DADB8}"/>
              </a:ext>
            </a:extLst>
          </p:cNvPr>
          <p:cNvSpPr>
            <a:spLocks noGrp="1"/>
          </p:cNvSpPr>
          <p:nvPr/>
        </p:nvSpPr>
        <p:spPr>
          <a:xfrm>
            <a:off x="495300" y="619125"/>
            <a:ext cx="11201400" cy="647700"/>
          </a:xfrm>
          <a:prstGeom prst="rect">
            <a:avLst/>
          </a:prstGeom>
          <a:noFill/>
          <a:ln w="0">
            <a:noFill/>
            <a:prstDash val="solid"/>
          </a:ln>
        </p:spPr>
        <p:txBody>
          <a:bodyPr wrap="square" lIns="0" tIns="0" rIns="0" bIns="0" anchor="t">
            <a:noAutofit/>
          </a:bodyPr>
          <a:lstStyle>
            <a:defPPr algn="l">
              <a:defRPr sz="3450" b="1">
                <a:solidFill>
                  <a:srgbClr val="193C32"/>
                </a:solidFill>
                <a:latin typeface="Helvetica Neue"/>
                <a:ea typeface="Helvetica Neue"/>
                <a:cs typeface="Helvetica Neue"/>
              </a:defRPr>
            </a:defPPr>
          </a:lstStyle>
          <a:p>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a:ext uri="{FF2B5EF4-FFF2-40B4-BE49-F238E27FC236}">
                <a16:creationId xmlns:a16="http://schemas.microsoft.com/office/drawing/2014/main" id="{3329CDD6-5FBF-400F-9E97-565852D7F0B6}"/>
              </a:ext>
            </a:extLst>
          </p:cNvPr>
          <p:cNvPicPr>
            <a:picLocks noChangeAspect="1"/>
          </p:cNvPicPr>
          <p:nvPr/>
        </p:nvPicPr>
        <p:blipFill>
          <a:blip r:embed="rId3"/>
          <a:stretch/>
        </p:blipFill>
        <p:spPr>
          <a:xfrm>
            <a:off x="495300" y="1666875"/>
            <a:ext cx="1257300" cy="1257300"/>
          </a:xfrm>
          <a:prstGeom prst="roundRect">
            <a:avLst>
              <a:gd name="adj" fmla="val 12121"/>
            </a:avLst>
          </a:prstGeom>
        </p:spPr>
      </p:pic>
      <p:pic>
        <p:nvPicPr>
          <p:cNvPr id="4" name="Picture 3">
            <a:extLst>
              <a:ext uri="{FF2B5EF4-FFF2-40B4-BE49-F238E27FC236}">
                <a16:creationId xmlns:a16="http://schemas.microsoft.com/office/drawing/2014/main" id="{DD638E0C-1A0F-453B-AD57-829F804E3DF2}"/>
              </a:ext>
            </a:extLst>
          </p:cNvPr>
          <p:cNvPicPr>
            <a:picLocks noChangeAspect="1"/>
          </p:cNvPicPr>
          <p:nvPr/>
        </p:nvPicPr>
        <p:blipFill>
          <a:blip r:embed="rId4"/>
          <a:stretch/>
        </p:blipFill>
        <p:spPr>
          <a:xfrm>
            <a:off x="6553200" y="1666875"/>
            <a:ext cx="1257300" cy="1257300"/>
          </a:xfrm>
          <a:prstGeom prst="roundRect">
            <a:avLst>
              <a:gd name="adj" fmla="val 12121"/>
            </a:avLst>
          </a:prstGeom>
        </p:spPr>
      </p:pic>
      <p:sp>
        <p:nvSpPr>
          <p:cNvPr id="5" name="team-premium-2">
            <a:extLst>
              <a:ext uri="{FF2B5EF4-FFF2-40B4-BE49-F238E27FC236}">
                <a16:creationId xmlns:a16="http://schemas.microsoft.com/office/drawing/2014/main" id="{6876597E-8A94-49AA-A5D1-9C782D39AE84}"/>
              </a:ext>
            </a:extLst>
          </p:cNvPr>
          <p:cNvSpPr>
            <a:spLocks noGrp="1"/>
          </p:cNvSpPr>
          <p:nvPr/>
        </p:nvSpPr>
        <p:spPr>
          <a:xfrm>
            <a:off x="2000250" y="1666875"/>
            <a:ext cx="3810000" cy="466725"/>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a:ext uri="{FF2B5EF4-FFF2-40B4-BE49-F238E27FC236}">
                <a16:creationId xmlns:a16="http://schemas.microsoft.com/office/drawing/2014/main" id="{9C6B3158-020C-4CA1-863B-72B584401299}"/>
              </a:ext>
            </a:extLst>
          </p:cNvPr>
          <p:cNvSpPr>
            <a:spLocks noGrp="1"/>
          </p:cNvSpPr>
          <p:nvPr/>
        </p:nvSpPr>
        <p:spPr>
          <a:xfrm>
            <a:off x="2000250" y="2152650"/>
            <a:ext cx="3810000" cy="323850"/>
          </a:xfrm>
          <a:prstGeom prst="rect">
            <a:avLst/>
          </a:prstGeom>
          <a:noFill/>
          <a:ln w="0">
            <a:noFill/>
            <a:prstDash val="solid"/>
          </a:ln>
        </p:spPr>
        <p:txBody>
          <a:bodyPr wrap="square" lIns="0" tIns="0" rIns="0" bIns="0" anchor="t">
            <a:noAutofit/>
          </a:bodyPr>
          <a:lstStyle>
            <a:defPPr algn="l">
              <a:defRPr sz="1650" b="0">
                <a:solidFill>
                  <a:srgbClr val="236C4E"/>
                </a:solidFill>
                <a:latin typeface="Helvetica Neue"/>
                <a:ea typeface="Helvetica Neue"/>
                <a:cs typeface="Helvetica Neue"/>
              </a:defRPr>
            </a:defPPr>
          </a:lstStyle>
          <a:p>
            <a:pPr algn="l">
              <a:buNone/>
              <a:defRPr sz="1650" b="0">
                <a:solidFill>
                  <a:srgbClr val="236C4E"/>
                </a:solidFill>
                <a:latin typeface="Helvetica Neue"/>
                <a:ea typeface="Helvetica Neue"/>
                <a:cs typeface="Helvetica Neue"/>
              </a:defRPr>
            </a:pPr>
            <a:r>
              <a:rPr sz="1650" b="0">
                <a:solidFill>
                  <a:srgbClr val="236C4E"/>
                </a:solidFill>
                <a:latin typeface="Helvetica Neue"/>
                <a:ea typeface="Helvetica Neue"/>
                <a:cs typeface="Helvetica Neue"/>
              </a:rPr>
              <a:t>Operations and Partnerships</a:t>
            </a:r>
          </a:p>
        </p:txBody>
      </p:sp>
      <p:sp>
        <p:nvSpPr>
          <p:cNvPr id="7" name="team-premium-4">
            <a:extLst>
              <a:ext uri="{FF2B5EF4-FFF2-40B4-BE49-F238E27FC236}">
                <a16:creationId xmlns:a16="http://schemas.microsoft.com/office/drawing/2014/main" id="{2FF1F676-1DD0-4611-B3A3-B0D7011C83D2}"/>
              </a:ext>
            </a:extLst>
          </p:cNvPr>
          <p:cNvSpPr>
            <a:spLocks noGrp="1"/>
          </p:cNvSpPr>
          <p:nvPr/>
        </p:nvSpPr>
        <p:spPr>
          <a:xfrm>
            <a:off x="4905375" y="1781175"/>
            <a:ext cx="904875" cy="276225"/>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5"/>
              </a:rPr>
              <a:t>LinkedIn</a:t>
            </a:r>
          </a:p>
        </p:txBody>
      </p:sp>
      <p:sp>
        <p:nvSpPr>
          <p:cNvPr id="8" name="team-premium-5">
            <a:extLst>
              <a:ext uri="{FF2B5EF4-FFF2-40B4-BE49-F238E27FC236}">
                <a16:creationId xmlns:a16="http://schemas.microsoft.com/office/drawing/2014/main" id="{1AD92C3B-A22F-4FAD-976E-8B7E9098971D}"/>
              </a:ext>
            </a:extLst>
          </p:cNvPr>
          <p:cNvSpPr>
            <a:spLocks noGrp="1"/>
          </p:cNvSpPr>
          <p:nvPr/>
        </p:nvSpPr>
        <p:spPr>
          <a:xfrm>
            <a:off x="8058150" y="1666875"/>
            <a:ext cx="3638550" cy="466725"/>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a:ext uri="{FF2B5EF4-FFF2-40B4-BE49-F238E27FC236}">
                <a16:creationId xmlns:a16="http://schemas.microsoft.com/office/drawing/2014/main" id="{1CBA991C-4205-4F04-8D91-8911AF4B864B}"/>
              </a:ext>
            </a:extLst>
          </p:cNvPr>
          <p:cNvSpPr>
            <a:spLocks noGrp="1"/>
          </p:cNvSpPr>
          <p:nvPr/>
        </p:nvSpPr>
        <p:spPr>
          <a:xfrm>
            <a:off x="8058150" y="2152650"/>
            <a:ext cx="1762125" cy="323850"/>
          </a:xfrm>
          <a:prstGeom prst="rect">
            <a:avLst/>
          </a:prstGeom>
          <a:noFill/>
          <a:ln w="0">
            <a:noFill/>
            <a:prstDash val="solid"/>
          </a:ln>
        </p:spPr>
        <p:txBody>
          <a:bodyPr wrap="square" lIns="0" tIns="0" rIns="0" bIns="0" anchor="t">
            <a:noAutofit/>
          </a:bodyPr>
          <a:lstStyle>
            <a:defPPr algn="l">
              <a:defRPr sz="1800" b="1">
                <a:solidFill>
                  <a:srgbClr val="236C4E"/>
                </a:solidFill>
                <a:latin typeface="Helvetica Neue"/>
                <a:ea typeface="Helvetica Neue"/>
                <a:cs typeface="Helvetica Neue"/>
              </a:defRPr>
            </a:defPPr>
          </a:lstStyle>
          <a:p>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a:ext uri="{FF2B5EF4-FFF2-40B4-BE49-F238E27FC236}">
                <a16:creationId xmlns:a16="http://schemas.microsoft.com/office/drawing/2014/main" id="{80658FC1-CD06-49AB-A436-A48065CD7CE3}"/>
              </a:ext>
            </a:extLst>
          </p:cNvPr>
          <p:cNvSpPr>
            <a:spLocks noGrp="1"/>
          </p:cNvSpPr>
          <p:nvPr/>
        </p:nvSpPr>
        <p:spPr>
          <a:xfrm>
            <a:off x="10125075" y="1781175"/>
            <a:ext cx="1238250" cy="276225"/>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buNone/>
              <a:defRPr sz="1350" b="0">
                <a:solidFill>
                  <a:srgbClr val="65746C"/>
                </a:solidFill>
                <a:latin typeface="Helvetica Neue"/>
                <a:ea typeface="Helvetica Neue"/>
                <a:cs typeface="Helvetica Neue"/>
              </a:defRPr>
            </a:pPr>
            <a:r>
              <a:rPr sz="1350" b="0" dirty="0">
                <a:solidFill>
                  <a:srgbClr val="65746C"/>
                </a:solidFill>
                <a:latin typeface="Helvetica Neue"/>
                <a:ea typeface="Helvetica Neue"/>
                <a:cs typeface="Helvetica Neue"/>
                <a:hlinkClick r:id="rId6"/>
              </a:rPr>
              <a:t>LinkedIn</a:t>
            </a:r>
          </a:p>
        </p:txBody>
      </p:sp>
      <p:pic>
        <p:nvPicPr>
          <p:cNvPr id="11" name="Picture 10">
            <a:extLst>
              <a:ext uri="{FF2B5EF4-FFF2-40B4-BE49-F238E27FC236}">
                <a16:creationId xmlns:a16="http://schemas.microsoft.com/office/drawing/2014/main" id="{9B9E835F-C3E2-43CC-94F9-407D4EAFE4F1}"/>
              </a:ext>
            </a:extLst>
          </p:cNvPr>
          <p:cNvPicPr>
            <a:picLocks noChangeAspect="1"/>
          </p:cNvPicPr>
          <p:nvPr/>
        </p:nvPicPr>
        <p:blipFill>
          <a:blip r:embed="rId7"/>
          <a:stretch/>
        </p:blipFill>
        <p:spPr>
          <a:xfrm>
            <a:off x="2000250" y="2619375"/>
            <a:ext cx="419100" cy="419100"/>
          </a:xfrm>
          <a:prstGeom prst="rect">
            <a:avLst/>
          </a:prstGeom>
        </p:spPr>
      </p:pic>
      <p:sp>
        <p:nvSpPr>
          <p:cNvPr id="12" name="team-premium-8">
            <a:extLst>
              <a:ext uri="{FF2B5EF4-FFF2-40B4-BE49-F238E27FC236}">
                <a16:creationId xmlns:a16="http://schemas.microsoft.com/office/drawing/2014/main" id="{7E3CA637-624D-4AAD-8E83-02E285C48BB3}"/>
              </a:ext>
            </a:extLst>
          </p:cNvPr>
          <p:cNvSpPr>
            <a:spLocks noGrp="1"/>
          </p:cNvSpPr>
          <p:nvPr/>
        </p:nvSpPr>
        <p:spPr>
          <a:xfrm>
            <a:off x="2571750" y="2600325"/>
            <a:ext cx="3333750" cy="561975"/>
          </a:xfrm>
          <a:prstGeom prst="rect">
            <a:avLst/>
          </a:prstGeom>
          <a:noFill/>
          <a:ln w="0">
            <a:noFill/>
            <a:prstDash val="solid"/>
          </a:ln>
        </p:spPr>
        <p:txBody>
          <a:bodyPr wrap="square" lIns="0" tIns="0" rIns="0" bIns="0" anchor="t">
            <a:noAutofit/>
          </a:bodyPr>
          <a:lstStyle>
            <a:defPPr algn="l">
              <a:defRPr sz="1575" b="0">
                <a:solidFill>
                  <a:srgbClr val="65746C"/>
                </a:solidFill>
                <a:latin typeface="Helvetica Neue"/>
                <a:ea typeface="Helvetica Neue"/>
                <a:cs typeface="Helvetica Neue"/>
              </a:defRPr>
            </a:defPPr>
          </a:lstStyle>
          <a:p>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a:ext uri="{FF2B5EF4-FFF2-40B4-BE49-F238E27FC236}">
                <a16:creationId xmlns:a16="http://schemas.microsoft.com/office/drawing/2014/main" id="{F21B0871-53BB-4277-ACAD-BAECCAA1F1F2}"/>
              </a:ext>
            </a:extLst>
          </p:cNvPr>
          <p:cNvPicPr>
            <a:picLocks noChangeAspect="1"/>
          </p:cNvPicPr>
          <p:nvPr/>
        </p:nvPicPr>
        <p:blipFill>
          <a:blip r:embed="rId8"/>
          <a:stretch/>
        </p:blipFill>
        <p:spPr>
          <a:xfrm>
            <a:off x="8058150" y="2582466"/>
            <a:ext cx="342900" cy="321469"/>
          </a:xfrm>
          <a:prstGeom prst="rect">
            <a:avLst/>
          </a:prstGeom>
        </p:spPr>
      </p:pic>
      <p:sp>
        <p:nvSpPr>
          <p:cNvPr id="14" name="team-premium-9">
            <a:extLst>
              <a:ext uri="{FF2B5EF4-FFF2-40B4-BE49-F238E27FC236}">
                <a16:creationId xmlns:a16="http://schemas.microsoft.com/office/drawing/2014/main" id="{5E028DA2-DD30-40E0-BD52-F0FD217B419C}"/>
              </a:ext>
            </a:extLst>
          </p:cNvPr>
          <p:cNvSpPr>
            <a:spLocks noGrp="1"/>
          </p:cNvSpPr>
          <p:nvPr/>
        </p:nvSpPr>
        <p:spPr>
          <a:xfrm>
            <a:off x="8553450" y="2609850"/>
            <a:ext cx="314325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a:ext uri="{FF2B5EF4-FFF2-40B4-BE49-F238E27FC236}">
                <a16:creationId xmlns:a16="http://schemas.microsoft.com/office/drawing/2014/main" id="{B99BAA74-FD8F-473A-A17D-D77528B0F65F}"/>
              </a:ext>
            </a:extLst>
          </p:cNvPr>
          <p:cNvPicPr>
            <a:picLocks noChangeAspect="1"/>
          </p:cNvPicPr>
          <p:nvPr/>
        </p:nvPicPr>
        <p:blipFill>
          <a:blip r:embed="rId9"/>
          <a:stretch/>
        </p:blipFill>
        <p:spPr>
          <a:xfrm>
            <a:off x="8058150" y="3043707"/>
            <a:ext cx="342900" cy="256237"/>
          </a:xfrm>
          <a:prstGeom prst="rect">
            <a:avLst/>
          </a:prstGeom>
        </p:spPr>
      </p:pic>
      <p:sp>
        <p:nvSpPr>
          <p:cNvPr id="16" name="team-premium-10">
            <a:extLst>
              <a:ext uri="{FF2B5EF4-FFF2-40B4-BE49-F238E27FC236}">
                <a16:creationId xmlns:a16="http://schemas.microsoft.com/office/drawing/2014/main" id="{819BCC42-91C4-4913-9152-2C5ECF6DEEC2}"/>
              </a:ext>
            </a:extLst>
          </p:cNvPr>
          <p:cNvSpPr>
            <a:spLocks noGrp="1"/>
          </p:cNvSpPr>
          <p:nvPr/>
        </p:nvSpPr>
        <p:spPr>
          <a:xfrm>
            <a:off x="8553450" y="3038475"/>
            <a:ext cx="3143250" cy="30480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a:ext uri="{FF2B5EF4-FFF2-40B4-BE49-F238E27FC236}">
                <a16:creationId xmlns:a16="http://schemas.microsoft.com/office/drawing/2014/main" id="{9CD3FA75-DADB-42A0-B21B-2091DEF33B7E}"/>
              </a:ext>
            </a:extLst>
          </p:cNvPr>
          <p:cNvSpPr>
            <a:spLocks noGrp="1"/>
          </p:cNvSpPr>
          <p:nvPr/>
        </p:nvSpPr>
        <p:spPr>
          <a:xfrm>
            <a:off x="495300" y="3686175"/>
            <a:ext cx="5314950" cy="2581275"/>
          </a:xfrm>
          <a:prstGeom prst="rect">
            <a:avLst/>
          </a:prstGeom>
          <a:noFill/>
          <a:ln w="0">
            <a:noFill/>
            <a:prstDash val="solid"/>
          </a:ln>
        </p:spPr>
        <p:txBody>
          <a:bodyPr wrap="square" lIns="0" tIns="0" rIns="0" bIns="0" anchor="t">
            <a:noAutofit/>
          </a:bodyPr>
          <a:lstStyle>
            <a:defPPr algn="l">
              <a:defRPr sz="1950" b="0">
                <a:solidFill>
                  <a:srgbClr val="193C32"/>
                </a:solidFill>
                <a:latin typeface="Helvetica Neue"/>
                <a:ea typeface="Helvetica Neue"/>
                <a:cs typeface="Helvetica Neue"/>
              </a:defRPr>
            </a:defPPr>
          </a:lstStyle>
          <a:p>
            <a:pPr marL="228600" indent="-114300" algn="l">
              <a:spcAft>
                <a:spcPts val="1600"/>
              </a:spcAft>
              <a:buChar char="•"/>
              <a:defRPr sz="1950" b="0">
                <a:solidFill>
                  <a:srgbClr val="193C32"/>
                </a:solidFill>
                <a:latin typeface="Helvetica Neue"/>
                <a:ea typeface="Helvetica Neue"/>
                <a:cs typeface="Helvetica Neue"/>
              </a:defRPr>
            </a:pPr>
            <a:r>
              <a:rPr sz="1950" b="0" dirty="0">
                <a:solidFill>
                  <a:srgbClr val="193C32"/>
                </a:solidFill>
                <a:latin typeface="Helvetica Neue"/>
                <a:ea typeface="Helvetica Neue"/>
                <a:cs typeface="Helvetica Neue"/>
              </a:rPr>
              <a:t>Built Asia’s largest home services marketplace from zero to a </a:t>
            </a:r>
            <a:r>
              <a:rPr sz="1950" dirty="0">
                <a:solidFill>
                  <a:srgbClr val="193C32"/>
                </a:solidFill>
                <a:latin typeface="Helvetica Neue"/>
                <a:ea typeface="Helvetica Neue"/>
                <a:cs typeface="Helvetica Neue"/>
              </a:rPr>
              <a:t>$3B IPO </a:t>
            </a:r>
            <a:r>
              <a:rPr sz="1950" b="0" dirty="0">
                <a:solidFill>
                  <a:srgbClr val="193C32"/>
                </a:solidFill>
                <a:latin typeface="Helvetica Neue"/>
                <a:ea typeface="Helvetica Neue"/>
                <a:cs typeface="Helvetica Neue"/>
              </a:rPr>
              <a:t>as an Urban Company founding team member.</a:t>
            </a:r>
          </a:p>
          <a:p>
            <a:pPr marL="228600" indent="-114300" algn="l">
              <a:spcAft>
                <a:spcPts val="1600"/>
              </a:spcAft>
              <a:buChar char="•"/>
              <a:defRPr sz="1950" b="0">
                <a:solidFill>
                  <a:srgbClr val="193C32"/>
                </a:solidFill>
                <a:latin typeface="Helvetica Neue"/>
                <a:ea typeface="Helvetica Neue"/>
                <a:cs typeface="Helvetica Neue"/>
              </a:defRPr>
            </a:pPr>
            <a:r>
              <a:rPr sz="1950" b="0" dirty="0">
                <a:solidFill>
                  <a:srgbClr val="193C32"/>
                </a:solidFill>
                <a:latin typeface="Helvetica Neue"/>
                <a:ea typeface="Helvetica Neue"/>
                <a:cs typeface="Helvetica Neue"/>
              </a:rPr>
              <a:t>Launched a home security brand at 19, scaling it to $700K in revenue.</a:t>
            </a:r>
          </a:p>
          <a:p>
            <a:pPr marL="228600" indent="-114300" algn="l">
              <a:spcAft>
                <a:spcPts val="1600"/>
              </a:spcAft>
              <a:buChar char="•"/>
              <a:defRPr sz="1950" b="0">
                <a:solidFill>
                  <a:srgbClr val="193C32"/>
                </a:solidFill>
                <a:latin typeface="Helvetica Neue"/>
                <a:ea typeface="Helvetica Neue"/>
                <a:cs typeface="Helvetica Neue"/>
              </a:defRPr>
            </a:pPr>
            <a:r>
              <a:rPr sz="1950" b="0" dirty="0">
                <a:solidFill>
                  <a:srgbClr val="193C32"/>
                </a:solidFill>
                <a:latin typeface="Helvetica Neue"/>
                <a:ea typeface="Helvetica Neue"/>
                <a:cs typeface="Helvetica Neue"/>
              </a:rPr>
              <a:t>Investor at Bessemer Venture Partners, deploying $50M in consumer AI startups.</a:t>
            </a:r>
          </a:p>
        </p:txBody>
      </p:sp>
      <p:sp>
        <p:nvSpPr>
          <p:cNvPr id="18" name="team-premium-12">
            <a:extLst>
              <a:ext uri="{FF2B5EF4-FFF2-40B4-BE49-F238E27FC236}">
                <a16:creationId xmlns:a16="http://schemas.microsoft.com/office/drawing/2014/main" id="{B74F479A-3BCE-4289-B4A2-D3F3E0BC7DCD}"/>
              </a:ext>
            </a:extLst>
          </p:cNvPr>
          <p:cNvSpPr>
            <a:spLocks noGrp="1"/>
          </p:cNvSpPr>
          <p:nvPr/>
        </p:nvSpPr>
        <p:spPr>
          <a:xfrm>
            <a:off x="6553200" y="3686175"/>
            <a:ext cx="5143500" cy="2581275"/>
          </a:xfrm>
          <a:prstGeom prst="rect">
            <a:avLst/>
          </a:prstGeom>
          <a:noFill/>
          <a:ln w="0">
            <a:noFill/>
            <a:prstDash val="solid"/>
          </a:ln>
        </p:spPr>
        <p:txBody>
          <a:bodyPr wrap="square" lIns="0" tIns="0" rIns="0" bIns="0" anchor="t">
            <a:noAutofit/>
          </a:bodyPr>
          <a:lstStyle>
            <a:defPPr algn="l">
              <a:defRPr sz="1950" b="0">
                <a:solidFill>
                  <a:srgbClr val="193C32"/>
                </a:solidFill>
                <a:latin typeface="Helvetica Neue"/>
                <a:ea typeface="Helvetica Neue"/>
                <a:cs typeface="Helvetica Neue"/>
              </a:defRPr>
            </a:defPPr>
          </a:lstStyle>
          <a:p>
            <a:pPr marL="228600" indent="-114300" algn="l">
              <a:spcAft>
                <a:spcPts val="1600"/>
              </a:spcAft>
              <a:buChar char="•"/>
              <a:defRPr sz="1950" b="0">
                <a:solidFill>
                  <a:srgbClr val="193C32"/>
                </a:solidFill>
                <a:latin typeface="Helvetica Neue"/>
                <a:ea typeface="Helvetica Neue"/>
                <a:cs typeface="Helvetica Neue"/>
              </a:defRPr>
            </a:pPr>
            <a:r>
              <a:rPr sz="1950" b="0" dirty="0">
                <a:solidFill>
                  <a:srgbClr val="193C32"/>
                </a:solidFill>
                <a:latin typeface="Helvetica Neue"/>
                <a:ea typeface="Helvetica Neue"/>
                <a:cs typeface="Helvetica Neue"/>
              </a:rPr>
              <a:t>5 years as a Senior SWE at Amazon, Square and Citrix.</a:t>
            </a:r>
          </a:p>
          <a:p>
            <a:pPr marL="228600" indent="-114300" algn="l">
              <a:spcAft>
                <a:spcPts val="1600"/>
              </a:spcAft>
              <a:buChar char="•"/>
              <a:defRPr sz="1950" b="0">
                <a:solidFill>
                  <a:srgbClr val="193C32"/>
                </a:solidFill>
                <a:latin typeface="Helvetica Neue"/>
                <a:ea typeface="Helvetica Neue"/>
                <a:cs typeface="Helvetica Neue"/>
              </a:defRPr>
            </a:pPr>
            <a:r>
              <a:rPr sz="1950" b="0" dirty="0">
                <a:solidFill>
                  <a:srgbClr val="193C32"/>
                </a:solidFill>
                <a:latin typeface="Helvetica Neue"/>
                <a:ea typeface="Helvetica Neue"/>
                <a:cs typeface="Helvetica Neue"/>
              </a:rPr>
              <a:t>#1 system design tutor on Udemy, with 2,500 engineers taught.</a:t>
            </a:r>
          </a:p>
          <a:p>
            <a:pPr marL="228600" indent="-114300" algn="l">
              <a:spcAft>
                <a:spcPts val="1600"/>
              </a:spcAft>
              <a:buChar char="•"/>
              <a:defRPr sz="1950" b="0">
                <a:solidFill>
                  <a:srgbClr val="193C32"/>
                </a:solidFill>
                <a:latin typeface="Helvetica Neue"/>
                <a:ea typeface="Helvetica Neue"/>
                <a:cs typeface="Helvetica Neue"/>
              </a:defRPr>
            </a:pPr>
            <a:r>
              <a:rPr sz="1950" b="0" dirty="0">
                <a:solidFill>
                  <a:srgbClr val="193C32"/>
                </a:solidFill>
                <a:latin typeface="Helvetica Neue"/>
                <a:ea typeface="Helvetica Neue"/>
                <a:cs typeface="Helvetica Neue"/>
              </a:rPr>
              <a:t>Built production-grade </a:t>
            </a:r>
            <a:r>
              <a:rPr sz="1950" dirty="0">
                <a:solidFill>
                  <a:srgbClr val="193C32"/>
                </a:solidFill>
                <a:latin typeface="Helvetica Neue"/>
                <a:ea typeface="Helvetica Neue"/>
                <a:cs typeface="Helvetica Neue"/>
              </a:rPr>
              <a:t>MCP integrations.</a:t>
            </a:r>
          </a:p>
        </p:txBody>
      </p:sp>
      <p:sp>
        <p:nvSpPr>
          <p:cNvPr id="19" name="team-premium-13">
            <a:extLst>
              <a:ext uri="{FF2B5EF4-FFF2-40B4-BE49-F238E27FC236}">
                <a16:creationId xmlns:a16="http://schemas.microsoft.com/office/drawing/2014/main" id="{00C72333-1F4A-4A90-AEBE-E98E7D08609E}"/>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3367</Words>
  <Application>Microsoft Macintosh PowerPoint</Application>
  <DocSecurity>0</DocSecurity>
  <PresentationFormat>Widescreen</PresentationFormat>
  <Paragraphs>221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Walia, Pulkit</cp:lastModifiedBy>
  <cp:revision>1</cp:revision>
  <dcterms:created xsi:type="dcterms:W3CDTF">2026-10-11T01:06:33Z</dcterms:created>
  <dcterms:modified xsi:type="dcterms:W3CDTF">2026-10-11T01:18:00Z</dcterms:modified>
</cp:coreProperties>
</file>