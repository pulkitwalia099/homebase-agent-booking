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924ac9e3a24c05" /><Relationship Type="http://schemas.openxmlformats.org/officeDocument/2006/relationships/extended-properties" Target="/docProps/app.xml" Id="R7673b1b220c34779" /><Relationship Type="http://schemas.openxmlformats.org/officeDocument/2006/relationships/officeDocument" Target="/ppt/presentation.xml" Id="R08503fc0d81f4bc5" /></Relationships>
</file>

<file path=ppt/presentation.xml><?xml version="1.0" encoding="utf-8"?>
<p:presentation xmlns:p="http://schemas.openxmlformats.org/presentationml/2006/main">
  <p:sldMasterIdLst>
    <p:sldMasterId xmlns:r="http://schemas.openxmlformats.org/officeDocument/2006/relationships" id="2147483648" r:id="Rbc959a0dc81f4fe2"/>
  </p:sldMasterIdLst>
  <p:notesMasterIdLst>
    <p:notesMasterId xmlns:r="http://schemas.openxmlformats.org/officeDocument/2006/relationships" r:id="R96de85c59d494d41"/>
  </p:notesMasterIdLst>
  <p:sldIdLst>
    <p:sldId xmlns:r="http://schemas.openxmlformats.org/officeDocument/2006/relationships" id="256" r:id="Rc54f295bcbd44d56"/>
    <p:sldId xmlns:r="http://schemas.openxmlformats.org/officeDocument/2006/relationships" id="257" r:id="R2d816978ced94871"/>
    <p:sldId xmlns:r="http://schemas.openxmlformats.org/officeDocument/2006/relationships" id="258" r:id="Ree967b713cef4de0"/>
    <p:sldId xmlns:r="http://schemas.openxmlformats.org/officeDocument/2006/relationships" id="259" r:id="R473fbd1d9c5b40b3"/>
    <p:sldId xmlns:r="http://schemas.openxmlformats.org/officeDocument/2006/relationships" id="260" r:id="Ra2d2a19b17714dd3"/>
    <p:sldId xmlns:r="http://schemas.openxmlformats.org/officeDocument/2006/relationships" id="261" r:id="R25cc8e8142c847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968f8e8dc2422e" /><Relationship Type="http://schemas.openxmlformats.org/officeDocument/2006/relationships/slideMaster" Target="/ppt/slideMasters/slideMaster1.xml" Id="Rbc959a0dc81f4fe2" /><Relationship Type="http://schemas.openxmlformats.org/officeDocument/2006/relationships/notesMaster" Target="/ppt/notesMasters/notesMaster1.xml" Id="R96de85c59d494d41" /><Relationship Type="http://schemas.openxmlformats.org/officeDocument/2006/relationships/presProps" Target="/ppt/presProps.xml" Id="R438c3486f2174544" /><Relationship Type="http://schemas.openxmlformats.org/officeDocument/2006/relationships/tableStyles" Target="/ppt/tableStyles.xml" Id="R29e765dd52ff441c" /><Relationship Type="http://schemas.openxmlformats.org/officeDocument/2006/relationships/slide" Target="/ppt/slides/slide1.xml" Id="Rc54f295bcbd44d56" /><Relationship Type="http://schemas.openxmlformats.org/officeDocument/2006/relationships/slide" Target="/ppt/slides/slide2.xml" Id="R2d816978ced94871" /><Relationship Type="http://schemas.openxmlformats.org/officeDocument/2006/relationships/slide" Target="/ppt/slides/slide3.xml" Id="Ree967b713cef4de0" /><Relationship Type="http://schemas.openxmlformats.org/officeDocument/2006/relationships/slide" Target="/ppt/slides/slide4.xml" Id="R473fbd1d9c5b40b3" /><Relationship Type="http://schemas.openxmlformats.org/officeDocument/2006/relationships/slide" Target="/ppt/slides/slide5.xml" Id="Ra2d2a19b17714dd3" /><Relationship Type="http://schemas.openxmlformats.org/officeDocument/2006/relationships/slide" Target="/ppt/slides/slide6.xml" Id="R25cc8e8142c847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4e9664d4174c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cf8ac49af84adb" /><Relationship Type="http://schemas.openxmlformats.org/officeDocument/2006/relationships/notesMaster" Target="/ppt/notesMasters/notesMaster1.xml" Id="Re9394cb049d746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ec419840c3449c" /><Relationship Type="http://schemas.openxmlformats.org/officeDocument/2006/relationships/notesMaster" Target="/ppt/notesMasters/notesMaster1.xml" Id="Refbe775cacf84c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65169ae0b049a1" /><Relationship Type="http://schemas.openxmlformats.org/officeDocument/2006/relationships/notesMaster" Target="/ppt/notesMasters/notesMaster1.xml" Id="R3d39cff19ac44b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884d940a944102" /><Relationship Type="http://schemas.openxmlformats.org/officeDocument/2006/relationships/notesMaster" Target="/ppt/notesMasters/notesMaster1.xml" Id="Rb42ce110c5d24e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028a1da055409a" /><Relationship Type="http://schemas.openxmlformats.org/officeDocument/2006/relationships/notesMaster" Target="/ppt/notesMasters/notesMaster1.xml" Id="Re29d0cd8c5f84a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1d8f7762a34fe2" /><Relationship Type="http://schemas.openxmlformats.org/officeDocument/2006/relationships/notesMaster" Target="/ppt/notesMasters/notesMaster1.xml" Id="R0c1b912021234e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progression of customer tasks, not product launch chronology. Yellow Pages made businesses and phone numbers discoverable; calls remained manual. Web search and listing sites expanded search/filtering. Maps made location and reviews central, although reviews and ratings also predate Maps. Some search/Maps listings and existing vertical platforms already support appointments/payments. The matrix describes a typical fragmented local-service journey, not a universal absence of booking. Agents can act by browsing/calling; GoLocal would supply structured data and transaction tools for participating authorized businesses. Quotes can require follow-up, inspection or merchant acceptance. Payments require approved checkout, customer consent and platform-appropriate integrations. The Stripe analogy means shared transaction infrastructure, not a claim that GoLocal is a licensed payment processor or solely a payments company. No planned tool is presented as live.</a:t>
            </a:r>
          </a:p>
          <a:p xmlns:a="http://schemas.openxmlformats.org/drawingml/2006/main">
            <a:r>
              <a:t/>
            </a:r>
          </a:p>
          <a:p xmlns:a="http://schemas.openxmlformats.org/drawingml/2006/main">
            <a:r>
              <a:t>Slide 1 design revision, October 10 2026: availability and booking merged, leaving six tasks. Comparison and quote/scoping remain separate because digital comparison does not establish digital quote execution. Green means handled within the platform, red means work through calls or external sites in a typical fragmented home-service flow; it does not mean no existing business has a booking/payment interface. AI agents can perform the external work and are not incapable of booking. Last column is the planned integrated experience for participating authorized supply, not a live or universal solved-state claim. Scoping/quoting may still require merchant input.</a:t>
            </a:r>
          </a:p>
          <a:p xmlns:a="http://schemas.openxmlformats.org/drawingml/2006/main">
            <a:r>
              <a:t>Approximate eras, not exact invention or adoption dates: pre-1990s directories, 1990s web, 2000s–2010s Maps/mobile, 2020s agents, Next planned AI agents + GoLocal. These do not imply a regular ten-year cycle. Craigslist dates its beginnings to early 1995: https://www.craigslist.org/about/mission_and_history . Google records Maps launch February 8 2005 and mobile expansion 2007–2012: https://blog.google/products-and-platforms/products/maps/look-back-15-years-mapping-world/ . GoLocal green cells describe target workflows, not automation of every complex scope or user approval.</a:t>
            </a:r>
          </a:p>
          <a:p xmlns:a="http://schemas.openxmlformats.org/drawingml/2006/main">
            <a:r>
              <a:t/>
            </a:r>
          </a:p>
          <a:p xmlns:a="http://schemas.openxmlformats.org/drawingml/2006/main">
            <a:r>
              <a:t>Founder correction, October 10 2026: displayed eras are now Pre-2000 Yellow Pages; 2000–2010 Google/Craigslist; 2010–2025 Google Maps; 2026+ AI agents. These are conceptual local-service channel eras selected by the founder, not launch dates and not evidence that the products first existed in those periods. The final table heading reads AI agents + GoLocal, with no Next/planned label. It describes product capabilities; this wording change does not establish deployed integrations or completed bookings. Historical source dates in earlier notes remain evidence of invention dates, not the displayed channel-era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1f0b5184a74a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9ed681996641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6aff2b93384d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92dca75f8a4a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97a23d20304d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726bf2bb094a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6555c1fe644e2d" /><Relationship Type="http://schemas.openxmlformats.org/officeDocument/2006/relationships/slideLayout" Target="/ppt/slideLayouts/slideLayout1.xml" Id="R9aac24f2da684ce0" /><Relationship Type="http://schemas.openxmlformats.org/officeDocument/2006/relationships/slideLayout" Target="/ppt/slideLayouts/slideLayout2.xml" Id="Rd8a079fefd46481a" /><Relationship Type="http://schemas.openxmlformats.org/officeDocument/2006/relationships/slideLayout" Target="/ppt/slideLayouts/slideLayout3.xml" Id="Rf74acb0087e649f3" /><Relationship Type="http://schemas.openxmlformats.org/officeDocument/2006/relationships/slideLayout" Target="/ppt/slideLayouts/slideLayout4.xml" Id="Rbc011e77141344e5" /><Relationship Type="http://schemas.openxmlformats.org/officeDocument/2006/relationships/slideLayout" Target="/ppt/slideLayouts/slideLayout5.xml" Id="Rf2dbeea7e1b1470b" /><Relationship Type="http://schemas.openxmlformats.org/officeDocument/2006/relationships/slideLayout" Target="/ppt/slideLayouts/slideLayout6.xml" Id="R5602df2763c644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ac24f2da684ce0"/>
    <p:sldLayoutId xmlns:r="http://schemas.openxmlformats.org/officeDocument/2006/relationships" id="2147483650" r:id="Rd8a079fefd46481a"/>
    <p:sldLayoutId xmlns:r="http://schemas.openxmlformats.org/officeDocument/2006/relationships" id="2147483651" r:id="Rf74acb0087e649f3"/>
    <p:sldLayoutId xmlns:r="http://schemas.openxmlformats.org/officeDocument/2006/relationships" id="2147483652" r:id="Rbc011e77141344e5"/>
    <p:sldLayoutId xmlns:r="http://schemas.openxmlformats.org/officeDocument/2006/relationships" id="2147483653" r:id="Rf2dbeea7e1b1470b"/>
    <p:sldLayoutId xmlns:r="http://schemas.openxmlformats.org/officeDocument/2006/relationships" id="2147483654" r:id="R5602df2763c644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d523b573d34ec2" /><Relationship Type="http://schemas.openxmlformats.org/officeDocument/2006/relationships/notesSlide" Target="/ppt/notesSlides/notesSlide1.xml" Id="R8da248ac4b484a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0a5585356040e5" /><Relationship Type="http://schemas.openxmlformats.org/officeDocument/2006/relationships/notesSlide" Target="/ppt/notesSlides/notesSlide2.xml" Id="R50d576e1b98f40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b503464df44023" /><Relationship Type="http://schemas.openxmlformats.org/officeDocument/2006/relationships/notesSlide" Target="/ppt/notesSlides/notesSlide3.xml" Id="R4ab47c9fd88f49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b2629611da49c4" /><Relationship Type="http://schemas.openxmlformats.org/officeDocument/2006/relationships/notesSlide" Target="/ppt/notesSlides/notesSlide4.xml" Id="R58731f89c73643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6c15ff9d3141e5" /><Relationship Type="http://schemas.openxmlformats.org/officeDocument/2006/relationships/notesSlide" Target="/ppt/notesSlides/notesSlide5.xml" Id="R15396d5b7a8745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b6264589514ca8" /><Relationship Type="http://schemas.openxmlformats.org/officeDocument/2006/relationships/notesSlide" Target="/ppt/notesSlides/notesSlide6.xml" Id="R94bf5941434549ac"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10" name="slide1-polish-0">
            <a:extLst xmlns:a="http://schemas.openxmlformats.org/drawingml/2006/main">
              <a:ext uri="{FF2B5EF4-FFF2-40B4-BE49-F238E27FC236}">
                <a16:creationId xmlns:a16="http://schemas.microsoft.com/office/drawing/2014/main" id="{A90817AD-7EAD-4A8E-9293-31C661452BC9}"/>
              </a:ext>
            </a:extLst>
          </p:cNvPr>
          <p:cNvSpPr>
            <a:spLocks xmlns:a="http://schemas.openxmlformats.org/drawingml/2006/main" noGrp="1"/>
          </p:cNvSpPr>
          <p:nvPr/>
        </p:nvSpPr>
        <p:spPr>
          <a:xfrm xmlns:a="http://schemas.openxmlformats.org/drawingml/2006/main">
            <a:off x="495300" y="266700"/>
            <a:ext cx="2857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93C32"/>
                </a:solidFill>
                <a:latin typeface="Helvetica Neue"/>
                <a:ea typeface="Helvetica Neue"/>
                <a:cs typeface="Helvetica Neue"/>
              </a:defRPr>
            </a:defPPr>
          </a:lstStyle>
          <a:p xmlns:a="http://schemas.openxmlformats.org/drawingml/2006/main">
            <a:pPr>
              <a:buNone/>
              <a:defRPr sz="3225" b="1">
                <a:solidFill>
                  <a:srgbClr val="193C32"/>
                </a:solidFill>
                <a:latin typeface="Helvetica Neue"/>
                <a:ea typeface="Helvetica Neue"/>
                <a:cs typeface="Helvetica Neue"/>
              </a:defRPr>
            </a:pPr>
            <a:r>
              <a:rPr sz="3225" b="1">
                <a:solidFill>
                  <a:srgbClr val="193C32"/>
                </a:solidFill>
                <a:latin typeface="Helvetica Neue"/>
                <a:ea typeface="Helvetica Neue"/>
                <a:cs typeface="Helvetica Neue"/>
              </a:rPr>
              <a:t>GoLocal</a:t>
            </a:r>
          </a:p>
        </p:txBody>
      </p:sp>
      <p:sp>
        <p:nvSpPr>
          <p:cNvPr id="2" name="slide1-polish-1">
            <a:extLst xmlns:a="http://schemas.openxmlformats.org/drawingml/2006/main">
              <a:ext uri="{FF2B5EF4-FFF2-40B4-BE49-F238E27FC236}">
                <a16:creationId xmlns:a16="http://schemas.microsoft.com/office/drawing/2014/main" id="{9938F43C-4FBC-4C9C-85DA-7CB6E6E838BB}"/>
              </a:ext>
            </a:extLst>
          </p:cNvPr>
          <p:cNvSpPr>
            <a:spLocks xmlns:a="http://schemas.openxmlformats.org/drawingml/2006/main" noGrp="1"/>
          </p:cNvSpPr>
          <p:nvPr/>
        </p:nvSpPr>
        <p:spPr>
          <a:xfrm xmlns:a="http://schemas.openxmlformats.org/drawingml/2006/main">
            <a:off x="4857750" y="371475"/>
            <a:ext cx="6819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36C4E"/>
                </a:solidFill>
                <a:latin typeface="Helvetica Neue"/>
                <a:ea typeface="Helvetica Neue"/>
                <a:cs typeface="Helvetica Neue"/>
              </a:defRPr>
            </a:defPPr>
          </a:lstStyle>
          <a:p xmlns:a="http://schemas.openxmlformats.org/drawingml/2006/main">
            <a:pP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Stripe for home-service bookings</a:t>
            </a:r>
          </a:p>
        </p:txBody>
      </p:sp>
      <p:sp>
        <p:nvSpPr>
          <p:cNvPr id="3" name="slide1-polish-2">
            <a:extLst xmlns:a="http://schemas.openxmlformats.org/drawingml/2006/main">
              <a:ext uri="{FF2B5EF4-FFF2-40B4-BE49-F238E27FC236}">
                <a16:creationId xmlns:a16="http://schemas.microsoft.com/office/drawing/2014/main" id="{12208A82-E517-4E28-9120-FE5232214631}"/>
              </a:ext>
            </a:extLst>
          </p:cNvPr>
          <p:cNvSpPr>
            <a:spLocks xmlns:a="http://schemas.openxmlformats.org/drawingml/2006/main" noGrp="1"/>
          </p:cNvSpPr>
          <p:nvPr/>
        </p:nvSpPr>
        <p:spPr>
          <a:xfrm xmlns:a="http://schemas.openxmlformats.org/drawingml/2006/main">
            <a:off x="495300" y="1038225"/>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925" b="1">
                <a:solidFill>
                  <a:srgbClr val="193C32"/>
                </a:solidFill>
                <a:latin typeface="Helvetica Neue"/>
                <a:ea typeface="Helvetica Neue"/>
                <a:cs typeface="Helvetica Neue"/>
              </a:defRPr>
            </a:defPPr>
          </a:lstStyle>
          <a:p xmlns:a="http://schemas.openxmlformats.org/drawingml/2006/main">
            <a:pPr>
              <a:buNone/>
              <a:defRPr sz="2925" b="1">
                <a:solidFill>
                  <a:srgbClr val="193C32"/>
                </a:solidFill>
                <a:latin typeface="Helvetica Neue"/>
                <a:ea typeface="Helvetica Neue"/>
                <a:cs typeface="Helvetica Neue"/>
              </a:defRPr>
            </a:pPr>
            <a:r>
              <a:rPr sz="2925" b="1">
                <a:solidFill>
                  <a:srgbClr val="193C32"/>
                </a:solidFill>
                <a:latin typeface="Helvetica Neue"/>
                <a:ea typeface="Helvetica Neue"/>
                <a:cs typeface="Helvetica Neue"/>
              </a:rPr>
              <a:t>Each tech era changed the front door to local services</a:t>
            </a:r>
          </a:p>
        </p:txBody>
      </p:sp>
      <p:sp>
        <p:nvSpPr>
          <p:cNvPr id="4" name="slide1-polish-3">
            <a:extLst xmlns:a="http://schemas.openxmlformats.org/drawingml/2006/main">
              <a:ext uri="{FF2B5EF4-FFF2-40B4-BE49-F238E27FC236}">
                <a16:creationId xmlns:a16="http://schemas.microsoft.com/office/drawing/2014/main" id="{6A24C0C5-7D89-4537-8AAD-DA1A93FA625C}"/>
              </a:ext>
            </a:extLst>
          </p:cNvPr>
          <p:cNvSpPr>
            <a:spLocks xmlns:a="http://schemas.openxmlformats.org/drawingml/2006/main" noGrp="1"/>
          </p:cNvSpPr>
          <p:nvPr/>
        </p:nvSpPr>
        <p:spPr>
          <a:xfrm xmlns:a="http://schemas.openxmlformats.org/drawingml/2006/main">
            <a:off x="495300" y="1685925"/>
            <a:ext cx="3181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236C4E"/>
                </a:solidFill>
                <a:latin typeface="Helvetica Neue"/>
                <a:ea typeface="Helvetica Neue"/>
                <a:cs typeface="Helvetica Neue"/>
              </a:defRPr>
            </a:defPPr>
          </a:lstStyle>
          <a:p xmlns:a="http://schemas.openxmlformats.org/drawingml/2006/main">
            <a:pPr>
              <a:buNone/>
              <a:defRPr sz="1575" b="1">
                <a:solidFill>
                  <a:srgbClr val="236C4E"/>
                </a:solidFill>
                <a:latin typeface="Helvetica Neue"/>
                <a:ea typeface="Helvetica Neue"/>
                <a:cs typeface="Helvetica Neue"/>
              </a:defRPr>
            </a:pPr>
            <a:r>
              <a:rPr sz="1575" b="1">
                <a:solidFill>
                  <a:srgbClr val="236C4E"/>
                </a:solidFill>
                <a:latin typeface="Helvetica Neue"/>
                <a:ea typeface="Helvetica Neue"/>
                <a:cs typeface="Helvetica Neue"/>
              </a:rPr>
              <a:t>✓  Platform handles it</a:t>
            </a:r>
          </a:p>
        </p:txBody>
      </p:sp>
      <p:sp>
        <p:nvSpPr>
          <p:cNvPr id="5" name="slide1-polish-4">
            <a:extLst xmlns:a="http://schemas.openxmlformats.org/drawingml/2006/main">
              <a:ext uri="{FF2B5EF4-FFF2-40B4-BE49-F238E27FC236}">
                <a16:creationId xmlns:a16="http://schemas.microsoft.com/office/drawing/2014/main" id="{5BE11563-FEC7-41DB-BB82-480B1F83B5B6}"/>
              </a:ext>
            </a:extLst>
          </p:cNvPr>
          <p:cNvSpPr>
            <a:spLocks xmlns:a="http://schemas.openxmlformats.org/drawingml/2006/main" noGrp="1"/>
          </p:cNvSpPr>
          <p:nvPr/>
        </p:nvSpPr>
        <p:spPr>
          <a:xfrm xmlns:a="http://schemas.openxmlformats.org/drawingml/2006/main">
            <a:off x="3838575" y="1685925"/>
            <a:ext cx="3762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9D514B"/>
                </a:solidFill>
                <a:latin typeface="Helvetica Neue"/>
                <a:ea typeface="Helvetica Neue"/>
                <a:cs typeface="Helvetica Neue"/>
              </a:defRPr>
            </a:defPPr>
          </a:lstStyle>
          <a:p xmlns:a="http://schemas.openxmlformats.org/drawingml/2006/main">
            <a:pPr>
              <a:buNone/>
              <a:defRPr sz="1575" b="1">
                <a:solidFill>
                  <a:srgbClr val="9D514B"/>
                </a:solidFill>
                <a:latin typeface="Helvetica Neue"/>
                <a:ea typeface="Helvetica Neue"/>
                <a:cs typeface="Helvetica Neue"/>
              </a:defRPr>
            </a:pPr>
            <a:r>
              <a:rPr sz="1575" b="1">
                <a:solidFill>
                  <a:srgbClr val="9D514B"/>
                </a:solidFill>
                <a:latin typeface="Helvetica Neue"/>
                <a:ea typeface="Helvetica Neue"/>
                <a:cs typeface="Helvetica Neue"/>
              </a:rPr>
              <a:t>—  Manual / external work</a:t>
            </a:r>
          </a:p>
        </p:txBody>
      </p:sp>
      <p:graphicFrame>
        <p:nvGraphicFramePr>
          <p:cNvPr id="6" name="">
            <a:extLst xmlns:a="http://schemas.openxmlformats.org/drawingml/2006/main">
              <a:ext uri="{FF2B5EF4-FFF2-40B4-BE49-F238E27FC236}">
                <a16:creationId xmlns:a16="http://schemas.microsoft.com/office/drawing/2014/main" id="{FC975B8B-1581-4D0D-AAA9-5BD0B7F33FCA}"/>
              </a:ext>
            </a:extLst>
          </p:cNvPr>
          <p:cNvGraphicFramePr/>
          <p:nvPr/>
        </p:nvGraphicFramePr>
        <p:xfrm>
          <a:off xmlns:a="http://schemas.openxmlformats.org/drawingml/2006/main" x="495300" y="2209800"/>
          <a:ext xmlns:a="http://schemas.openxmlformats.org/drawingml/2006/main" cx="11201400" cy="3476625"/>
        </p:xfrm>
        <a:graphic xmlns:a="http://schemas.openxmlformats.org/drawingml/2006/main">
          <a:graphicData uri="http://schemas.openxmlformats.org/drawingml/2006/table">
            <a:tbl>
              <a:tblPr firstRow="0" firstCol="0" bandRow="0"/>
              <a:tblGrid>
                <a:gridCol w="2438400"/>
                <a:gridCol w="1752600"/>
                <a:gridCol w="1752600"/>
                <a:gridCol w="1752600"/>
                <a:gridCol w="1752600"/>
                <a:gridCol w="1752600"/>
              </a:tblGrid>
              <a:tr h="962025">
                <a:tc>
                  <a:txBody>
                    <a:bodyPr wrap="square">
                      <a:noAutofit/>
                    </a:bodyPr>
                    <a:lstStyle/>
                    <a:p>
                      <a:pPr algn="l">
                        <a:buNone/>
                      </a:pPr>
                      <a:r>
                        <a:rPr sz="1500" b="1">
                          <a:solidFill>
                            <a:srgbClr val="193C32"/>
                          </a:solidFill>
                          <a:latin typeface="Helvetica Neue"/>
                          <a:ea typeface="Helvetica Neue"/>
                          <a:cs typeface="Helvetica Neue"/>
                        </a:rPr>
                        <a:t>The customer journey</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193C32"/>
                          </a:solidFill>
                          <a:latin typeface="Helvetica Neue"/>
                          <a:ea typeface="Helvetica Neue"/>
                          <a:cs typeface="Helvetica Neue"/>
                        </a:rPr>
                        <a:t>Pre-2000</a:t>
                      </a:r>
                    </a:p>
                    <a:p>
                      <a:pPr algn="ctr">
                        <a:buNone/>
                      </a:pPr>
                      <a:r>
                        <a:rPr sz="1650" b="1">
                          <a:solidFill>
                            <a:srgbClr val="193C32"/>
                          </a:solidFill>
                          <a:latin typeface="Helvetica Neue"/>
                          <a:ea typeface="Helvetica Neue"/>
                          <a:cs typeface="Helvetica Neue"/>
                        </a:rPr>
                        <a:t>Yellow Pages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193C32"/>
                          </a:solidFill>
                          <a:latin typeface="Helvetica Neue"/>
                          <a:ea typeface="Helvetica Neue"/>
                          <a:cs typeface="Helvetica Neue"/>
                        </a:rPr>
                        <a:t>2000–2010</a:t>
                      </a:r>
                    </a:p>
                    <a:p>
                      <a:pPr algn="ctr">
                        <a:buNone/>
                      </a:pPr>
                      <a:r>
                        <a:rPr sz="1650" b="1">
                          <a:solidFill>
                            <a:srgbClr val="193C32"/>
                          </a:solidFill>
                          <a:latin typeface="Helvetica Neue"/>
                          <a:ea typeface="Helvetica Neue"/>
                          <a:cs typeface="Helvetica Neue"/>
                        </a:rPr>
                        <a:t>Google /</a:t>
                      </a:r>
                    </a:p>
                    <a:p>
                      <a:pPr algn="ctr">
                        <a:buNone/>
                      </a:pPr>
                      <a:r>
                        <a:rPr sz="1650" b="1">
                          <a:solidFill>
                            <a:srgbClr val="193C32"/>
                          </a:solidFill>
                          <a:latin typeface="Helvetica Neue"/>
                          <a:ea typeface="Helvetica Neue"/>
                          <a:cs typeface="Helvetica Neue"/>
                        </a:rPr>
                        <a:t>Craigslist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193C32"/>
                          </a:solidFill>
                          <a:latin typeface="Helvetica Neue"/>
                          <a:ea typeface="Helvetica Neue"/>
                          <a:cs typeface="Helvetica Neue"/>
                        </a:rPr>
                        <a:t>2010–2025</a:t>
                      </a:r>
                    </a:p>
                    <a:p>
                      <a:pPr algn="ctr">
                        <a:buNone/>
                      </a:pPr>
                      <a:r>
                        <a:rPr sz="1650" b="1">
                          <a:solidFill>
                            <a:srgbClr val="193C32"/>
                          </a:solidFill>
                          <a:latin typeface="Helvetica Neue"/>
                          <a:ea typeface="Helvetica Neue"/>
                          <a:cs typeface="Helvetica Neue"/>
                        </a:rPr>
                        <a:t>Google Maps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193C32"/>
                          </a:solidFill>
                          <a:latin typeface="Helvetica Neue"/>
                          <a:ea typeface="Helvetica Neue"/>
                          <a:cs typeface="Helvetica Neue"/>
                        </a:rPr>
                        <a:t>2026+</a:t>
                      </a:r>
                    </a:p>
                    <a:p>
                      <a:pPr algn="ctr">
                        <a:buNone/>
                      </a:pPr>
                      <a:r>
                        <a:rPr sz="1650" b="1">
                          <a:solidFill>
                            <a:srgbClr val="193C32"/>
                          </a:solidFill>
                          <a:latin typeface="Helvetica Neue"/>
                          <a:ea typeface="Helvetica Neue"/>
                          <a:cs typeface="Helvetica Neue"/>
                        </a:rPr>
                        <a:t>AI agents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650" b="1">
                          <a:solidFill>
                            <a:srgbClr val="FFFFFF"/>
                          </a:solidFill>
                          <a:latin typeface="Helvetica Neue"/>
                          <a:ea typeface="Helvetica Neue"/>
                          <a:cs typeface="Helvetica Neue"/>
                        </a:rPr>
                        <a:t>AI agents</a:t>
                      </a:r>
                    </a:p>
                    <a:p>
                      <a:pPr algn="ctr">
                        <a:buNone/>
                      </a:pPr>
                      <a:r>
                        <a:rPr sz="1650" b="1">
                          <a:solidFill>
                            <a:srgbClr val="FFFFFF"/>
                          </a:solidFill>
                          <a:latin typeface="Helvetica Neue"/>
                          <a:ea typeface="Helvetica Neue"/>
                          <a:cs typeface="Helvetica Neue"/>
                        </a:rPr>
                        <a:t>+ GoLocal</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419100">
                <a:tc>
                  <a:txBody>
                    <a:bodyPr wrap="square">
                      <a:noAutofit/>
                    </a:bodyPr>
                    <a:lstStyle/>
                    <a:p>
                      <a:pPr algn="l">
                        <a:buNone/>
                      </a:pPr>
                      <a:r>
                        <a:rPr sz="1650" b="1">
                          <a:solidFill>
                            <a:srgbClr val="193C32"/>
                          </a:solidFill>
                          <a:latin typeface="Helvetica Neue"/>
                          <a:ea typeface="Helvetica Neue"/>
                          <a:cs typeface="Helvetica Neue"/>
                        </a:rPr>
                        <a:t>Find a business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Compare options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Check location</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Scope &amp; quote</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Agent calls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Check slots &amp; book</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Sites / calls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419100">
                <a:tc>
                  <a:txBody>
                    <a:bodyPr wrap="square">
                      <a:noAutofit/>
                    </a:bodyPr>
                    <a:lstStyle/>
                    <a:p>
                      <a:pPr algn="l">
                        <a:buNone/>
                      </a:pPr>
                      <a:r>
                        <a:rPr sz="1650" b="1">
                          <a:solidFill>
                            <a:srgbClr val="193C32"/>
                          </a:solidFill>
                          <a:latin typeface="Helvetica Neue"/>
                          <a:ea typeface="Helvetica Neue"/>
                          <a:cs typeface="Helvetica Neue"/>
                        </a:rPr>
                        <a:t>Pay &amp; manage</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575" b="0">
                          <a:solidFill>
                            <a:srgbClr val="9D514B"/>
                          </a:solidFill>
                          <a:latin typeface="Helvetica Neue"/>
                          <a:ea typeface="Helvetica Neue"/>
                          <a:cs typeface="Helvetica Neue"/>
                        </a:rPr>
                        <a:t>Sites / calls</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2100" b="1">
                          <a:solidFill>
                            <a:srgbClr val="236C4E"/>
                          </a:solidFill>
                          <a:latin typeface="Helvetica Neue"/>
                          <a:ea typeface="Helvetica Neue"/>
                          <a:cs typeface="Helvetica Neue"/>
                        </a:rPr>
                        <a:t>✓</a:t>
                      </a:r>
                    </a:p>
                  </a:txBody>
                  <a:tcPr marL="76200" marR="76200" marT="28575" marB="2857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bl>
          </a:graphicData>
        </a:graphic>
      </p:graphicFrame>
      <p:sp>
        <p:nvSpPr>
          <p:cNvPr id="7" name="slide1-polish-5">
            <a:extLst xmlns:a="http://schemas.openxmlformats.org/drawingml/2006/main">
              <a:ext uri="{FF2B5EF4-FFF2-40B4-BE49-F238E27FC236}">
                <a16:creationId xmlns:a16="http://schemas.microsoft.com/office/drawing/2014/main" id="{F8FD46F0-EF17-4D5B-AEF5-A8E0EEEB8499}"/>
              </a:ext>
            </a:extLst>
          </p:cNvPr>
          <p:cNvSpPr>
            <a:spLocks xmlns:a="http://schemas.openxmlformats.org/drawingml/2006/main" noGrp="1"/>
          </p:cNvSpPr>
          <p:nvPr/>
        </p:nvSpPr>
        <p:spPr>
          <a:xfrm xmlns:a="http://schemas.openxmlformats.org/drawingml/2006/main">
            <a:off x="495300" y="593407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36C4E"/>
                </a:solidFill>
                <a:latin typeface="Helvetica Neue"/>
                <a:ea typeface="Helvetica Neue"/>
                <a:cs typeface="Helvetica Neue"/>
              </a:defRPr>
            </a:defPPr>
          </a:lstStyle>
          <a:p xmlns:a="http://schemas.openxmlformats.org/drawingml/2006/main">
            <a:pP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GoLocal makes participating businesses bookable by AI agents.</a:t>
            </a:r>
          </a:p>
        </p:txBody>
      </p:sp>
      <p:sp>
        <p:nvSpPr>
          <p:cNvPr id="8" name="slide1-polish-6">
            <a:extLst xmlns:a="http://schemas.openxmlformats.org/drawingml/2006/main">
              <a:ext uri="{FF2B5EF4-FFF2-40B4-BE49-F238E27FC236}">
                <a16:creationId xmlns:a16="http://schemas.microsoft.com/office/drawing/2014/main" id="{E1F6AF0E-3788-405B-95A7-89CCA7B6BCF9}"/>
              </a:ext>
            </a:extLst>
          </p:cNvPr>
          <p:cNvSpPr>
            <a:spLocks xmlns:a="http://schemas.openxmlformats.org/drawingml/2006/main" noGrp="1"/>
          </p:cNvSpPr>
          <p:nvPr/>
        </p:nvSpPr>
        <p:spPr>
          <a:xfrm xmlns:a="http://schemas.openxmlformats.org/drawingml/2006/main">
            <a:off x="495300" y="6429375"/>
            <a:ext cx="1043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65746C"/>
                </a:solidFill>
                <a:latin typeface="Helvetica Neue"/>
                <a:ea typeface="Helvetica Neue"/>
                <a:cs typeface="Helvetica Neue"/>
              </a:defRPr>
            </a:defPPr>
          </a:lstStyle>
          <a:p xmlns:a="http://schemas.openxmlformats.org/drawingml/2006/main">
            <a:pPr>
              <a:buNone/>
              <a:defRPr sz="1200" b="0">
                <a:solidFill>
                  <a:srgbClr val="65746C"/>
                </a:solidFill>
                <a:latin typeface="Helvetica Neue"/>
                <a:ea typeface="Helvetica Neue"/>
                <a:cs typeface="Helvetica Neue"/>
              </a:defRPr>
            </a:pPr>
            <a:r>
              <a:rPr sz="1200" b="0">
                <a:solidFill>
                  <a:srgbClr val="65746C"/>
                </a:solidFill>
                <a:latin typeface="Helvetica Neue"/>
                <a:ea typeface="Helvetica Neue"/>
                <a:cs typeface="Helvetica Neue"/>
              </a:rPr>
              <a:t>Illustrative eras and typical workflow. Some platforms already transact; complex quotes still need business input.</a:t>
            </a:r>
          </a:p>
        </p:txBody>
      </p:sp>
      <p:sp>
        <p:nvSpPr>
          <p:cNvPr id="9" name="slide1-polish-7">
            <a:extLst xmlns:a="http://schemas.openxmlformats.org/drawingml/2006/main">
              <a:ext uri="{FF2B5EF4-FFF2-40B4-BE49-F238E27FC236}">
                <a16:creationId xmlns:a16="http://schemas.microsoft.com/office/drawing/2014/main" id="{8DFBC5E3-33E6-4B70-BBBA-6D55A3644D92}"/>
              </a:ext>
            </a:extLst>
          </p:cNvPr>
          <p:cNvSpPr>
            <a:spLocks xmlns:a="http://schemas.openxmlformats.org/drawingml/2006/main" noGrp="1"/>
          </p:cNvSpPr>
          <p:nvPr/>
        </p:nvSpPr>
        <p:spPr>
          <a:xfrm xmlns:a="http://schemas.openxmlformats.org/drawingml/2006/main">
            <a:off x="11049000" y="64960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buNone/>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buNone/>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buNone/>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buNone/>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$600B</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home services within a</a:t>
            </a:r>
          </a:p>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$2T local-services market</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buNone/>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7BB98002-06A6-4D20-A5A7-98CB27143221}"/>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2B3EC310-91F3-41F7-88D8-E7DBDAA5E9CA}"/>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B7122EC4-1115-419F-8DEE-9DEDF68D738A}"/>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A6B5865E-1444-4BEB-A186-B5331DBA0BE0}"/>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36672A81-A2A3-44F2-9CA9-595E720AD597}"/>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C1307995-60BA-4D29-955E-62FCF4FA5C1A}"/>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7C99C390-9630-4AFC-BE5B-49C4EDAFDC56}"/>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AE885B9A-3403-4A52-B6EE-1B2DA2BAD443}"/>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EE1FD369-66F7-4C89-8F15-114B1ADDA865}"/>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Instinct</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E1BEA66-D39D-4425-BFF1-46E53F4AA7D5}"/>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E25D575B-3A76-482A-9838-246653007D58}"/>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210C9635-9EED-4670-A47B-47860D96D32F}"/>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D752B6DF-E540-412F-82A4-93BC5CE196BF}"/>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2026-10-10T22:47:28.9420000Z</dcterms:created>
  <dcterms:modified xsi:type="dcterms:W3CDTF">2026-10-10T22:47:28.9420000Z</dcterms:modified>
</coreProperties>
</file>