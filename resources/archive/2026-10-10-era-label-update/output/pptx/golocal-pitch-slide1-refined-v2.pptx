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444d20ec5e456e" /><Relationship Type="http://schemas.openxmlformats.org/officeDocument/2006/relationships/extended-properties" Target="/docProps/app.xml" Id="R72f24f9b81624474" /><Relationship Type="http://schemas.openxmlformats.org/officeDocument/2006/relationships/officeDocument" Target="/ppt/presentation.xml" Id="R72ace719a95c4dab" /></Relationships>
</file>

<file path=ppt/presentation.xml><?xml version="1.0" encoding="utf-8"?>
<p:presentation xmlns:p="http://schemas.openxmlformats.org/presentationml/2006/main">
  <p:sldMasterIdLst>
    <p:sldMasterId xmlns:r="http://schemas.openxmlformats.org/officeDocument/2006/relationships" id="2147483648" r:id="R9bc59547aa574dce"/>
  </p:sldMasterIdLst>
  <p:notesMasterIdLst>
    <p:notesMasterId xmlns:r="http://schemas.openxmlformats.org/officeDocument/2006/relationships" r:id="R7f5f6f4addc043f8"/>
  </p:notesMasterIdLst>
  <p:sldIdLst>
    <p:sldId xmlns:r="http://schemas.openxmlformats.org/officeDocument/2006/relationships" id="256" r:id="Rff63638c1943432b"/>
    <p:sldId xmlns:r="http://schemas.openxmlformats.org/officeDocument/2006/relationships" id="257" r:id="R3104ded4bd494664"/>
    <p:sldId xmlns:r="http://schemas.openxmlformats.org/officeDocument/2006/relationships" id="258" r:id="R75c603f3c19b4022"/>
    <p:sldId xmlns:r="http://schemas.openxmlformats.org/officeDocument/2006/relationships" id="259" r:id="R3bdd4b4709a84453"/>
    <p:sldId xmlns:r="http://schemas.openxmlformats.org/officeDocument/2006/relationships" id="260" r:id="R3a89077471c54773"/>
    <p:sldId xmlns:r="http://schemas.openxmlformats.org/officeDocument/2006/relationships" id="261" r:id="R4618a7ca09a645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8cbfb7ddeb4899" /><Relationship Type="http://schemas.openxmlformats.org/officeDocument/2006/relationships/slideMaster" Target="/ppt/slideMasters/slideMaster1.xml" Id="R9bc59547aa574dce" /><Relationship Type="http://schemas.openxmlformats.org/officeDocument/2006/relationships/notesMaster" Target="/ppt/notesMasters/notesMaster1.xml" Id="R7f5f6f4addc043f8" /><Relationship Type="http://schemas.openxmlformats.org/officeDocument/2006/relationships/presProps" Target="/ppt/presProps.xml" Id="R87ed28f912d44c63" /><Relationship Type="http://schemas.openxmlformats.org/officeDocument/2006/relationships/tableStyles" Target="/ppt/tableStyles.xml" Id="R40375a189a46475c" /><Relationship Type="http://schemas.openxmlformats.org/officeDocument/2006/relationships/slide" Target="/ppt/slides/slide1.xml" Id="Rff63638c1943432b" /><Relationship Type="http://schemas.openxmlformats.org/officeDocument/2006/relationships/slide" Target="/ppt/slides/slide2.xml" Id="R3104ded4bd494664" /><Relationship Type="http://schemas.openxmlformats.org/officeDocument/2006/relationships/slide" Target="/ppt/slides/slide3.xml" Id="R75c603f3c19b4022" /><Relationship Type="http://schemas.openxmlformats.org/officeDocument/2006/relationships/slide" Target="/ppt/slides/slide4.xml" Id="R3bdd4b4709a84453" /><Relationship Type="http://schemas.openxmlformats.org/officeDocument/2006/relationships/slide" Target="/ppt/slides/slide5.xml" Id="R3a89077471c54773" /><Relationship Type="http://schemas.openxmlformats.org/officeDocument/2006/relationships/slide" Target="/ppt/slides/slide6.xml" Id="R4618a7ca09a645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89ac5a160d41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0b66bb25854961" /><Relationship Type="http://schemas.openxmlformats.org/officeDocument/2006/relationships/notesMaster" Target="/ppt/notesMasters/notesMaster1.xml" Id="Rd65df87e983242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111a4d46074769" /><Relationship Type="http://schemas.openxmlformats.org/officeDocument/2006/relationships/notesMaster" Target="/ppt/notesMasters/notesMaster1.xml" Id="R4ada11f99af14c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67105162804ea3" /><Relationship Type="http://schemas.openxmlformats.org/officeDocument/2006/relationships/notesMaster" Target="/ppt/notesMasters/notesMaster1.xml" Id="R813cca5ae84b43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f1eb456ed94dbb" /><Relationship Type="http://schemas.openxmlformats.org/officeDocument/2006/relationships/notesMaster" Target="/ppt/notesMasters/notesMaster1.xml" Id="R31d5f5e547ea4d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6dc05f69e04341" /><Relationship Type="http://schemas.openxmlformats.org/officeDocument/2006/relationships/notesMaster" Target="/ppt/notesMasters/notesMaster1.xml" Id="Radcead91ddf848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92da7beaa04a0d" /><Relationship Type="http://schemas.openxmlformats.org/officeDocument/2006/relationships/notesMaster" Target="/ppt/notesMasters/notesMaster1.xml" Id="R56ebd68ad6554c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progression of customer tasks, not product launch chronology. Yellow Pages made businesses and phone numbers discoverable; calls remained manual. Web search and listing sites expanded search/filtering. Maps made location and reviews central, although reviews and ratings also predate Maps. Some search/Maps listings and existing vertical platforms already support appointments/payments. The matrix describes a typical fragmented local-service journey, not a universal absence of booking. Agents can act by browsing/calling; GoLocal would supply structured data and transaction tools for participating authorized businesses. Quotes can require follow-up, inspection or merchant acceptance. Payments require approved checkout, customer consent and platform-appropriate integrations. The Stripe analogy means shared transaction infrastructure, not a claim that GoLocal is a licensed payment processor or solely a payments company. No planned tool is presented as live.</a:t>
            </a:r>
          </a:p>
          <a:p xmlns:a="http://schemas.openxmlformats.org/drawingml/2006/main">
            <a:r>
              <a:t/>
            </a:r>
          </a:p>
          <a:p xmlns:a="http://schemas.openxmlformats.org/drawingml/2006/main">
            <a:r>
              <a:t>Slide 1 design revision, October 10 2026: availability and booking merged, leaving six tasks. Comparison and quote/scoping remain separate because digital comparison does not establish digital quote execution. Green means handled within the platform, red means work through calls or external sites in a typical fragmented home-service flow; it does not mean no existing business has a booking/payment interface. AI agents can perform the external work and are not incapable of booking. Last column is the planned integrated experience for participating authorized supply, not a live or universal solved-state claim. Scoping/quoting may still require merchant input.</a:t>
            </a:r>
          </a:p>
          <a:p xmlns:a="http://schemas.openxmlformats.org/drawingml/2006/main">
            <a:r>
              <a:t>Approximate eras, not exact invention or adoption dates: pre-1990s directories, 1990s web, 2000s–2010s Maps/mobile, 2020s agents, Next planned AI agents + GoLocal. These do not imply a regular ten-year cycle. Craigslist dates its beginnings to early 1995: https://www.craigslist.org/about/mission_and_history . Google records Maps launch February 8 2005 and mobile expansion 2007–2012: https://blog.google/products-and-platforms/products/maps/look-back-15-years-mapping-world/ . GoLocal green cells describe target workflows, not automation of every complex scope or user approval.</a:t>
            </a:r>
          </a:p>
          <a:p xmlns:a="http://schemas.openxmlformats.org/drawingml/2006/main">
            <a:r>
              <a:t/>
            </a:r>
          </a:p>
          <a:p xmlns:a="http://schemas.openxmlformats.org/drawingml/2006/main">
            <a:r>
              <a:t>Founder correction, October 10 2026: displayed eras are now Pre-2000 Yellow Pages; 2000–2010 Google/Craigslist; 2010–2025 Google Maps; 2026+ AI agents. These are conceptual local-service channel eras selected by the founder, not launch dates and not evidence that the products first existed in those periods. The final table heading reads AI agents + GoLocal, with no Next/planned label. It describes product capabilities; this wording change does not establish deployed integrations or completed bookings. Historical source dates in earlier notes remain evidence of invention dates, not the displayed channel-era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340d11f81f49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57f2cc2ce344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2845e5ba4540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6ce9980cf14e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ed1410510a44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d4f8e9d93140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c5dfeda8b44192" /><Relationship Type="http://schemas.openxmlformats.org/officeDocument/2006/relationships/slideLayout" Target="/ppt/slideLayouts/slideLayout1.xml" Id="R936998df83b54a97" /><Relationship Type="http://schemas.openxmlformats.org/officeDocument/2006/relationships/slideLayout" Target="/ppt/slideLayouts/slideLayout2.xml" Id="R64f5d5157a044e4e" /><Relationship Type="http://schemas.openxmlformats.org/officeDocument/2006/relationships/slideLayout" Target="/ppt/slideLayouts/slideLayout3.xml" Id="R82930d184241463c" /><Relationship Type="http://schemas.openxmlformats.org/officeDocument/2006/relationships/slideLayout" Target="/ppt/slideLayouts/slideLayout4.xml" Id="Rdcef907391764931" /><Relationship Type="http://schemas.openxmlformats.org/officeDocument/2006/relationships/slideLayout" Target="/ppt/slideLayouts/slideLayout5.xml" Id="Rabf61be34f5747cd" /><Relationship Type="http://schemas.openxmlformats.org/officeDocument/2006/relationships/slideLayout" Target="/ppt/slideLayouts/slideLayout6.xml" Id="Re0f233e27d6c4d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6998df83b54a97"/>
    <p:sldLayoutId xmlns:r="http://schemas.openxmlformats.org/officeDocument/2006/relationships" id="2147483650" r:id="R64f5d5157a044e4e"/>
    <p:sldLayoutId xmlns:r="http://schemas.openxmlformats.org/officeDocument/2006/relationships" id="2147483651" r:id="R82930d184241463c"/>
    <p:sldLayoutId xmlns:r="http://schemas.openxmlformats.org/officeDocument/2006/relationships" id="2147483652" r:id="Rdcef907391764931"/>
    <p:sldLayoutId xmlns:r="http://schemas.openxmlformats.org/officeDocument/2006/relationships" id="2147483653" r:id="Rabf61be34f5747cd"/>
    <p:sldLayoutId xmlns:r="http://schemas.openxmlformats.org/officeDocument/2006/relationships" id="2147483654" r:id="Re0f233e27d6c4d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5ca7bd754447b0" /><Relationship Type="http://schemas.openxmlformats.org/officeDocument/2006/relationships/notesSlide" Target="/ppt/notesSlides/notesSlide1.xml" Id="R678e6a9871a846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33dbb76c1844df" /><Relationship Type="http://schemas.openxmlformats.org/officeDocument/2006/relationships/notesSlide" Target="/ppt/notesSlides/notesSlide2.xml" Id="R037b133c1a7d4f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5cd056b0344a9e" /><Relationship Type="http://schemas.openxmlformats.org/officeDocument/2006/relationships/notesSlide" Target="/ppt/notesSlides/notesSlide3.xml" Id="R2f00e9e4bf7f4b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ba5e1de6954a27" /><Relationship Type="http://schemas.openxmlformats.org/officeDocument/2006/relationships/notesSlide" Target="/ppt/notesSlides/notesSlide4.xml" Id="R87d57e745f2f4f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69082f7c7f44d3" /><Relationship Type="http://schemas.openxmlformats.org/officeDocument/2006/relationships/notesSlide" Target="/ppt/notesSlides/notesSlide5.xml" Id="R649a74688dee4f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15ba7e09f9427b" /><Relationship Type="http://schemas.openxmlformats.org/officeDocument/2006/relationships/notesSlide" Target="/ppt/notesSlides/notesSlide6.xml" Id="R52b7dcce7701482d"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0" name="slide1-polish-0">
            <a:extLst xmlns:a="http://schemas.openxmlformats.org/drawingml/2006/main">
              <a:ext uri="{FF2B5EF4-FFF2-40B4-BE49-F238E27FC236}">
                <a16:creationId xmlns:a16="http://schemas.microsoft.com/office/drawing/2014/main" id="{A90817AD-7EAD-4A8E-9293-31C661452BC9}"/>
              </a:ext>
            </a:extLst>
          </p:cNvPr>
          <p:cNvSpPr>
            <a:spLocks xmlns:a="http://schemas.openxmlformats.org/drawingml/2006/main" noGrp="1"/>
          </p:cNvSpPr>
          <p:nvPr/>
        </p:nvSpPr>
        <p:spPr>
          <a:xfrm xmlns:a="http://schemas.openxmlformats.org/drawingml/2006/main">
            <a:off x="495300" y="266700"/>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93C32"/>
                </a:solidFill>
                <a:latin typeface="Helvetica Neue"/>
                <a:ea typeface="Helvetica Neue"/>
                <a:cs typeface="Helvetica Neue"/>
              </a:defRPr>
            </a:defPPr>
          </a:lstStyle>
          <a:p xmlns:a="http://schemas.openxmlformats.org/drawingml/2006/main">
            <a:pPr>
              <a:buNone/>
              <a:defRPr sz="3225" b="1">
                <a:solidFill>
                  <a:srgbClr val="193C32"/>
                </a:solidFill>
                <a:latin typeface="Helvetica Neue"/>
                <a:ea typeface="Helvetica Neue"/>
                <a:cs typeface="Helvetica Neue"/>
              </a:defRPr>
            </a:pPr>
            <a:r>
              <a:rPr sz="3225" b="1">
                <a:solidFill>
                  <a:srgbClr val="193C32"/>
                </a:solidFill>
                <a:latin typeface="Helvetica Neue"/>
                <a:ea typeface="Helvetica Neue"/>
                <a:cs typeface="Helvetica Neue"/>
              </a:rPr>
              <a:t>GoLocal</a:t>
            </a:r>
          </a:p>
        </p:txBody>
      </p:sp>
      <p:sp>
        <p:nvSpPr>
          <p:cNvPr id="2" name="slide1-polish-1">
            <a:extLst xmlns:a="http://schemas.openxmlformats.org/drawingml/2006/main">
              <a:ext uri="{FF2B5EF4-FFF2-40B4-BE49-F238E27FC236}">
                <a16:creationId xmlns:a16="http://schemas.microsoft.com/office/drawing/2014/main" id="{9938F43C-4FBC-4C9C-85DA-7CB6E6E838BB}"/>
              </a:ext>
            </a:extLst>
          </p:cNvPr>
          <p:cNvSpPr>
            <a:spLocks xmlns:a="http://schemas.openxmlformats.org/drawingml/2006/main" noGrp="1"/>
          </p:cNvSpPr>
          <p:nvPr/>
        </p:nvSpPr>
        <p:spPr>
          <a:xfrm xmlns:a="http://schemas.openxmlformats.org/drawingml/2006/main">
            <a:off x="4857750" y="371475"/>
            <a:ext cx="6819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Stripe for home-service bookings</a:t>
            </a:r>
          </a:p>
        </p:txBody>
      </p:sp>
      <p:sp>
        <p:nvSpPr>
          <p:cNvPr id="3" name="slide1-polish-2">
            <a:extLst xmlns:a="http://schemas.openxmlformats.org/drawingml/2006/main">
              <a:ext uri="{FF2B5EF4-FFF2-40B4-BE49-F238E27FC236}">
                <a16:creationId xmlns:a16="http://schemas.microsoft.com/office/drawing/2014/main" id="{12208A82-E517-4E28-9120-FE5232214631}"/>
              </a:ext>
            </a:extLst>
          </p:cNvPr>
          <p:cNvSpPr>
            <a:spLocks xmlns:a="http://schemas.openxmlformats.org/drawingml/2006/main" noGrp="1"/>
          </p:cNvSpPr>
          <p:nvPr/>
        </p:nvSpPr>
        <p:spPr>
          <a:xfrm xmlns:a="http://schemas.openxmlformats.org/drawingml/2006/main">
            <a:off x="495300" y="1038225"/>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925" b="1">
                <a:solidFill>
                  <a:srgbClr val="193C32"/>
                </a:solidFill>
                <a:latin typeface="Helvetica Neue"/>
                <a:ea typeface="Helvetica Neue"/>
                <a:cs typeface="Helvetica Neue"/>
              </a:defRPr>
            </a:defPPr>
          </a:lstStyle>
          <a:p xmlns:a="http://schemas.openxmlformats.org/drawingml/2006/main">
            <a:pPr>
              <a:buNone/>
              <a:defRPr sz="2925" b="1">
                <a:solidFill>
                  <a:srgbClr val="193C32"/>
                </a:solidFill>
                <a:latin typeface="Helvetica Neue"/>
                <a:ea typeface="Helvetica Neue"/>
                <a:cs typeface="Helvetica Neue"/>
              </a:defRPr>
            </a:pPr>
            <a:r>
              <a:rPr sz="2925" b="1">
                <a:solidFill>
                  <a:srgbClr val="193C32"/>
                </a:solidFill>
                <a:latin typeface="Helvetica Neue"/>
                <a:ea typeface="Helvetica Neue"/>
                <a:cs typeface="Helvetica Neue"/>
              </a:rPr>
              <a:t>Each tech era changed the front door to local services</a:t>
            </a:r>
          </a:p>
        </p:txBody>
      </p:sp>
      <p:sp>
        <p:nvSpPr>
          <p:cNvPr id="4" name="slide1-polish-3">
            <a:extLst xmlns:a="http://schemas.openxmlformats.org/drawingml/2006/main">
              <a:ext uri="{FF2B5EF4-FFF2-40B4-BE49-F238E27FC236}">
                <a16:creationId xmlns:a16="http://schemas.microsoft.com/office/drawing/2014/main" id="{6A24C0C5-7D89-4537-8AAD-DA1A93FA625C}"/>
              </a:ext>
            </a:extLst>
          </p:cNvPr>
          <p:cNvSpPr>
            <a:spLocks xmlns:a="http://schemas.openxmlformats.org/drawingml/2006/main" noGrp="1"/>
          </p:cNvSpPr>
          <p:nvPr/>
        </p:nvSpPr>
        <p:spPr>
          <a:xfrm xmlns:a="http://schemas.openxmlformats.org/drawingml/2006/main">
            <a:off x="495300" y="1685925"/>
            <a:ext cx="3181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236C4E"/>
                </a:solidFill>
                <a:latin typeface="Helvetica Neue"/>
                <a:ea typeface="Helvetica Neue"/>
                <a:cs typeface="Helvetica Neue"/>
              </a:defRPr>
            </a:defPPr>
          </a:lstStyle>
          <a:p xmlns:a="http://schemas.openxmlformats.org/drawingml/2006/main">
            <a:pPr>
              <a:buNone/>
              <a:defRPr sz="1575" b="1">
                <a:solidFill>
                  <a:srgbClr val="236C4E"/>
                </a:solidFill>
                <a:latin typeface="Helvetica Neue"/>
                <a:ea typeface="Helvetica Neue"/>
                <a:cs typeface="Helvetica Neue"/>
              </a:defRPr>
            </a:pPr>
            <a:r>
              <a:rPr sz="1575" b="1">
                <a:solidFill>
                  <a:srgbClr val="236C4E"/>
                </a:solidFill>
                <a:latin typeface="Helvetica Neue"/>
                <a:ea typeface="Helvetica Neue"/>
                <a:cs typeface="Helvetica Neue"/>
              </a:rPr>
              <a:t>✓  Platform handles it</a:t>
            </a:r>
          </a:p>
        </p:txBody>
      </p:sp>
      <p:sp>
        <p:nvSpPr>
          <p:cNvPr id="5" name="slide1-polish-4">
            <a:extLst xmlns:a="http://schemas.openxmlformats.org/drawingml/2006/main">
              <a:ext uri="{FF2B5EF4-FFF2-40B4-BE49-F238E27FC236}">
                <a16:creationId xmlns:a16="http://schemas.microsoft.com/office/drawing/2014/main" id="{5BE11563-FEC7-41DB-BB82-480B1F83B5B6}"/>
              </a:ext>
            </a:extLst>
          </p:cNvPr>
          <p:cNvSpPr>
            <a:spLocks xmlns:a="http://schemas.openxmlformats.org/drawingml/2006/main" noGrp="1"/>
          </p:cNvSpPr>
          <p:nvPr/>
        </p:nvSpPr>
        <p:spPr>
          <a:xfrm xmlns:a="http://schemas.openxmlformats.org/drawingml/2006/main">
            <a:off x="3838575" y="168592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9D514B"/>
                </a:solidFill>
                <a:latin typeface="Helvetica Neue"/>
                <a:ea typeface="Helvetica Neue"/>
                <a:cs typeface="Helvetica Neue"/>
              </a:defRPr>
            </a:defPPr>
          </a:lstStyle>
          <a:p xmlns:a="http://schemas.openxmlformats.org/drawingml/2006/main">
            <a:pPr>
              <a:buNone/>
              <a:defRPr sz="1575" b="1">
                <a:solidFill>
                  <a:srgbClr val="9D514B"/>
                </a:solidFill>
                <a:latin typeface="Helvetica Neue"/>
                <a:ea typeface="Helvetica Neue"/>
                <a:cs typeface="Helvetica Neue"/>
              </a:defRPr>
            </a:pPr>
            <a:r>
              <a:rPr sz="1575" b="1">
                <a:solidFill>
                  <a:srgbClr val="9D514B"/>
                </a:solidFill>
                <a:latin typeface="Helvetica Neue"/>
                <a:ea typeface="Helvetica Neue"/>
                <a:cs typeface="Helvetica Neue"/>
              </a:rPr>
              <a:t>—  Manual / external work</a:t>
            </a:r>
          </a:p>
        </p:txBody>
      </p:sp>
      <p:graphicFrame>
        <p:nvGraphicFramePr>
          <p:cNvPr id="6" name="">
            <a:extLst xmlns:a="http://schemas.openxmlformats.org/drawingml/2006/main">
              <a:ext uri="{FF2B5EF4-FFF2-40B4-BE49-F238E27FC236}">
                <a16:creationId xmlns:a16="http://schemas.microsoft.com/office/drawing/2014/main" id="{06681A23-92C8-4431-A635-FF9F6CD2FEEA}"/>
              </a:ext>
            </a:extLst>
          </p:cNvPr>
          <p:cNvGraphicFramePr/>
          <p:nvPr/>
        </p:nvGraphicFramePr>
        <p:xfrm>
          <a:off xmlns:a="http://schemas.openxmlformats.org/drawingml/2006/main" x="495300" y="2209800"/>
          <a:ext xmlns:a="http://schemas.openxmlformats.org/drawingml/2006/main" cx="11201400" cy="3476625"/>
        </p:xfrm>
        <a:graphic xmlns:a="http://schemas.openxmlformats.org/drawingml/2006/main">
          <a:graphicData uri="http://schemas.openxmlformats.org/drawingml/2006/table">
            <a:tbl>
              <a:tblPr firstRow="0" firstCol="0" bandRow="0"/>
              <a:tblGrid>
                <a:gridCol w="2438400"/>
                <a:gridCol w="1752600"/>
                <a:gridCol w="1752600"/>
                <a:gridCol w="1752600"/>
                <a:gridCol w="1752600"/>
                <a:gridCol w="1752600"/>
              </a:tblGrid>
              <a:tr h="962025">
                <a:tc>
                  <a:txBody>
                    <a:bodyPr wrap="square">
                      <a:noAutofit/>
                    </a:bodyPr>
                    <a:lstStyle/>
                    <a:p>
                      <a:pPr algn="l">
                        <a:buNone/>
                      </a:pPr>
                      <a:r>
                        <a:rPr sz="1500" b="1">
                          <a:solidFill>
                            <a:srgbClr val="193C32"/>
                          </a:solidFill>
                          <a:latin typeface="Helvetica Neue"/>
                          <a:ea typeface="Helvetica Neue"/>
                          <a:cs typeface="Helvetica Neue"/>
                        </a:rPr>
                        <a:t>The customer journey</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Pre-2000</a:t>
                      </a:r>
                    </a:p>
                    <a:p>
                      <a:pPr algn="ctr">
                        <a:buNone/>
                      </a:pPr>
                      <a:r>
                        <a:rPr sz="1650" b="1">
                          <a:solidFill>
                            <a:srgbClr val="193C32"/>
                          </a:solidFill>
                          <a:latin typeface="Helvetica Neue"/>
                          <a:ea typeface="Helvetica Neue"/>
                          <a:cs typeface="Helvetica Neue"/>
                        </a:rPr>
                        <a:t>Yellow Pages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2000–2010</a:t>
                      </a:r>
                    </a:p>
                    <a:p>
                      <a:pPr algn="ctr">
                        <a:buNone/>
                      </a:pPr>
                      <a:r>
                        <a:rPr sz="1650" b="1">
                          <a:solidFill>
                            <a:srgbClr val="193C32"/>
                          </a:solidFill>
                          <a:latin typeface="Helvetica Neue"/>
                          <a:ea typeface="Helvetica Neue"/>
                          <a:cs typeface="Helvetica Neue"/>
                        </a:rPr>
                        <a:t>Google /</a:t>
                      </a:r>
                    </a:p>
                    <a:p>
                      <a:pPr algn="ctr">
                        <a:buNone/>
                      </a:pPr>
                      <a:r>
                        <a:rPr sz="1650" b="1">
                          <a:solidFill>
                            <a:srgbClr val="193C32"/>
                          </a:solidFill>
                          <a:latin typeface="Helvetica Neue"/>
                          <a:ea typeface="Helvetica Neue"/>
                          <a:cs typeface="Helvetica Neue"/>
                        </a:rPr>
                        <a:t>Craigslist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2010–2025</a:t>
                      </a:r>
                    </a:p>
                    <a:p>
                      <a:pPr algn="ctr">
                        <a:buNone/>
                      </a:pPr>
                      <a:r>
                        <a:rPr sz="1650" b="1">
                          <a:solidFill>
                            <a:srgbClr val="193C32"/>
                          </a:solidFill>
                          <a:latin typeface="Helvetica Neue"/>
                          <a:ea typeface="Helvetica Neue"/>
                          <a:cs typeface="Helvetica Neue"/>
                        </a:rPr>
                        <a:t>Google Maps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2026+</a:t>
                      </a:r>
                    </a:p>
                    <a:p>
                      <a:pPr algn="ctr">
                        <a:buNone/>
                      </a:pPr>
                      <a:r>
                        <a:rPr sz="1650" b="1">
                          <a:solidFill>
                            <a:srgbClr val="193C32"/>
                          </a:solidFill>
                          <a:latin typeface="Helvetica Neue"/>
                          <a:ea typeface="Helvetica Neue"/>
                          <a:cs typeface="Helvetica Neue"/>
                        </a:rPr>
                        <a:t>AI agents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FFFFFF"/>
                          </a:solidFill>
                          <a:latin typeface="Helvetica Neue"/>
                          <a:ea typeface="Helvetica Neue"/>
                          <a:cs typeface="Helvetica Neue"/>
                        </a:rPr>
                        <a:t>AI agents</a:t>
                      </a:r>
                    </a:p>
                    <a:p>
                      <a:pPr algn="ctr">
                        <a:buNone/>
                      </a:pPr>
                      <a:r>
                        <a:rPr sz="1650" b="1">
                          <a:solidFill>
                            <a:srgbClr val="FFFFFF"/>
                          </a:solidFill>
                          <a:latin typeface="Helvetica Neue"/>
                          <a:ea typeface="Helvetica Neue"/>
                          <a:cs typeface="Helvetica Neue"/>
                        </a:rPr>
                        <a:t>+ GoLocal</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419100">
                <a:tc>
                  <a:txBody>
                    <a:bodyPr wrap="square">
                      <a:noAutofit/>
                    </a:bodyPr>
                    <a:lstStyle/>
                    <a:p>
                      <a:pPr algn="l">
                        <a:buNone/>
                      </a:pPr>
                      <a:r>
                        <a:rPr sz="1650" b="1">
                          <a:solidFill>
                            <a:srgbClr val="193C32"/>
                          </a:solidFill>
                          <a:latin typeface="Helvetica Neue"/>
                          <a:ea typeface="Helvetica Neue"/>
                          <a:cs typeface="Helvetica Neue"/>
                        </a:rPr>
                        <a:t>Find a business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Compare options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Check location</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Scope &amp; quote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Agent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Check slots &amp; book</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Pay &amp; manage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bl>
          </a:graphicData>
        </a:graphic>
      </p:graphicFrame>
      <p:sp>
        <p:nvSpPr>
          <p:cNvPr id="7" name="slide1-polish-5">
            <a:extLst xmlns:a="http://schemas.openxmlformats.org/drawingml/2006/main">
              <a:ext uri="{FF2B5EF4-FFF2-40B4-BE49-F238E27FC236}">
                <a16:creationId xmlns:a16="http://schemas.microsoft.com/office/drawing/2014/main" id="{F8FD46F0-EF17-4D5B-AEF5-A8E0EEEB8499}"/>
              </a:ext>
            </a:extLst>
          </p:cNvPr>
          <p:cNvSpPr>
            <a:spLocks xmlns:a="http://schemas.openxmlformats.org/drawingml/2006/main" noGrp="1"/>
          </p:cNvSpPr>
          <p:nvPr/>
        </p:nvSpPr>
        <p:spPr>
          <a:xfrm xmlns:a="http://schemas.openxmlformats.org/drawingml/2006/main">
            <a:off x="495300" y="593407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GoLocal makes participating businesses bookable by AI agents.</a:t>
            </a:r>
          </a:p>
        </p:txBody>
      </p:sp>
      <p:sp>
        <p:nvSpPr>
          <p:cNvPr id="8" name="slide1-polish-6">
            <a:extLst xmlns:a="http://schemas.openxmlformats.org/drawingml/2006/main">
              <a:ext uri="{FF2B5EF4-FFF2-40B4-BE49-F238E27FC236}">
                <a16:creationId xmlns:a16="http://schemas.microsoft.com/office/drawing/2014/main" id="{E1F6AF0E-3788-405B-95A7-89CCA7B6BCF9}"/>
              </a:ext>
            </a:extLst>
          </p:cNvPr>
          <p:cNvSpPr>
            <a:spLocks xmlns:a="http://schemas.openxmlformats.org/drawingml/2006/main" noGrp="1"/>
          </p:cNvSpPr>
          <p:nvPr/>
        </p:nvSpPr>
        <p:spPr>
          <a:xfrm xmlns:a="http://schemas.openxmlformats.org/drawingml/2006/main">
            <a:off x="495300" y="6429375"/>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65746C"/>
                </a:solidFill>
                <a:latin typeface="Helvetica Neue"/>
                <a:ea typeface="Helvetica Neue"/>
                <a:cs typeface="Helvetica Neue"/>
              </a:defRPr>
            </a:defPPr>
          </a:lstStyle>
          <a:p xmlns:a="http://schemas.openxmlformats.org/drawingml/2006/main">
            <a:pPr>
              <a:buNone/>
              <a:defRPr sz="1200" b="0">
                <a:solidFill>
                  <a:srgbClr val="65746C"/>
                </a:solidFill>
                <a:latin typeface="Helvetica Neue"/>
                <a:ea typeface="Helvetica Neue"/>
                <a:cs typeface="Helvetica Neue"/>
              </a:defRPr>
            </a:pPr>
            <a:r>
              <a:rPr sz="1200" b="0">
                <a:solidFill>
                  <a:srgbClr val="65746C"/>
                </a:solidFill>
                <a:latin typeface="Helvetica Neue"/>
                <a:ea typeface="Helvetica Neue"/>
                <a:cs typeface="Helvetica Neue"/>
              </a:rPr>
              <a:t>Illustrative eras and typical workflow. Some platforms already transact; complex quotes still need business input.</a:t>
            </a:r>
          </a:p>
        </p:txBody>
      </p:sp>
      <p:sp>
        <p:nvSpPr>
          <p:cNvPr id="9" name="slide1-polish-7">
            <a:extLst xmlns:a="http://schemas.openxmlformats.org/drawingml/2006/main">
              <a:ext uri="{FF2B5EF4-FFF2-40B4-BE49-F238E27FC236}">
                <a16:creationId xmlns:a16="http://schemas.microsoft.com/office/drawing/2014/main" id="{8DFBC5E3-33E6-4B70-BBBA-6D55A3644D92}"/>
              </a:ext>
            </a:extLst>
          </p:cNvPr>
          <p:cNvSpPr>
            <a:spLocks xmlns:a="http://schemas.openxmlformats.org/drawingml/2006/main" noGrp="1"/>
          </p:cNvSpPr>
          <p:nvPr/>
        </p:nvSpPr>
        <p:spPr>
          <a:xfrm xmlns:a="http://schemas.openxmlformats.org/drawingml/2006/main">
            <a:off x="11049000" y="64960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336D23B4-27E9-40FC-BD59-65C0B40B4227}"/>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19A700AC-C523-46BC-8301-3183632FFF91}"/>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179A6C75-A516-4DE1-B16D-BBD77936C2E7}"/>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5893B998-B957-429F-A1AC-8AF21559352F}"/>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FDD412D5-E449-49A4-B8A1-13918BEC2083}"/>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33C982EB-4D75-46BC-9971-B74B111BE58C}"/>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13C331CB-0B3D-4CD8-84B3-06B71DF1D177}"/>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966FC55B-1590-47A7-971D-3E3948E6639D}"/>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2E2EC65F-1138-4732-BE5D-FF3C5266F511}"/>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Dots</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93620C7-2A5F-4E04-8206-71F640A860D3}"/>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3C3A4388-7922-4BB4-A2F2-C4FB356CDD08}"/>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32FE0F83-C594-468C-9E33-A470A0790540}"/>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F8E7AF1A-D538-4213-A088-FA478C094DA3}"/>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2026-10-10T22:45:12.9030000Z</dcterms:created>
  <dcterms:modified xsi:type="dcterms:W3CDTF">2026-10-10T22:45:12.9030000Z</dcterms:modified>
</coreProperties>
</file>