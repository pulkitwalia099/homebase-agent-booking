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9278b485df475b" /><Relationship Type="http://schemas.openxmlformats.org/officeDocument/2006/relationships/extended-properties" Target="/docProps/app.xml" Id="Rffb427b1031d48ef" /><Relationship Type="http://schemas.openxmlformats.org/officeDocument/2006/relationships/officeDocument" Target="/ppt/presentation.xml" Id="Rb99cb915618c4329" /></Relationships>
</file>

<file path=ppt/presentation.xml><?xml version="1.0" encoding="utf-8"?>
<p:presentation xmlns:p="http://schemas.openxmlformats.org/presentationml/2006/main">
  <p:sldMasterIdLst>
    <p:sldMasterId xmlns:r="http://schemas.openxmlformats.org/officeDocument/2006/relationships" id="2147483648" r:id="R25587fa20c624a5a"/>
  </p:sldMasterIdLst>
  <p:notesMasterIdLst>
    <p:notesMasterId xmlns:r="http://schemas.openxmlformats.org/officeDocument/2006/relationships" r:id="R4b84812edc474345"/>
  </p:notesMasterIdLst>
  <p:sldIdLst>
    <p:sldId xmlns:r="http://schemas.openxmlformats.org/officeDocument/2006/relationships" id="256" r:id="Rc89e10710d434597"/>
    <p:sldId xmlns:r="http://schemas.openxmlformats.org/officeDocument/2006/relationships" id="257" r:id="Rec8a308a0ee3433d"/>
    <p:sldId xmlns:r="http://schemas.openxmlformats.org/officeDocument/2006/relationships" id="258" r:id="R3094c12d03c74d83"/>
    <p:sldId xmlns:r="http://schemas.openxmlformats.org/officeDocument/2006/relationships" id="259" r:id="Re02ccbb03f1c46d9"/>
    <p:sldId xmlns:r="http://schemas.openxmlformats.org/officeDocument/2006/relationships" id="260" r:id="Rf9b9c3c72c654c78"/>
    <p:sldId xmlns:r="http://schemas.openxmlformats.org/officeDocument/2006/relationships" id="261" r:id="R473de6a2f2174d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478b52f0794fa0" /><Relationship Type="http://schemas.openxmlformats.org/officeDocument/2006/relationships/slideMaster" Target="/ppt/slideMasters/slideMaster1.xml" Id="R25587fa20c624a5a" /><Relationship Type="http://schemas.openxmlformats.org/officeDocument/2006/relationships/notesMaster" Target="/ppt/notesMasters/notesMaster1.xml" Id="R4b84812edc474345" /><Relationship Type="http://schemas.openxmlformats.org/officeDocument/2006/relationships/presProps" Target="/ppt/presProps.xml" Id="R165bdbcf01a5446c" /><Relationship Type="http://schemas.openxmlformats.org/officeDocument/2006/relationships/tableStyles" Target="/ppt/tableStyles.xml" Id="R3e006b713e43447b" /><Relationship Type="http://schemas.openxmlformats.org/officeDocument/2006/relationships/slide" Target="/ppt/slides/slide1.xml" Id="Rc89e10710d434597" /><Relationship Type="http://schemas.openxmlformats.org/officeDocument/2006/relationships/slide" Target="/ppt/slides/slide2.xml" Id="Rec8a308a0ee3433d" /><Relationship Type="http://schemas.openxmlformats.org/officeDocument/2006/relationships/slide" Target="/ppt/slides/slide3.xml" Id="R3094c12d03c74d83" /><Relationship Type="http://schemas.openxmlformats.org/officeDocument/2006/relationships/slide" Target="/ppt/slides/slide4.xml" Id="Re02ccbb03f1c46d9" /><Relationship Type="http://schemas.openxmlformats.org/officeDocument/2006/relationships/slide" Target="/ppt/slides/slide5.xml" Id="Rf9b9c3c72c654c78" /><Relationship Type="http://schemas.openxmlformats.org/officeDocument/2006/relationships/slide" Target="/ppt/slides/slide6.xml" Id="R473de6a2f2174d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6cf6d1da5e46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f0724758c64bca" /><Relationship Type="http://schemas.openxmlformats.org/officeDocument/2006/relationships/notesMaster" Target="/ppt/notesMasters/notesMaster1.xml" Id="Rfac49fb3af9541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c8bdacf11e4b9f" /><Relationship Type="http://schemas.openxmlformats.org/officeDocument/2006/relationships/notesMaster" Target="/ppt/notesMasters/notesMaster1.xml" Id="Rbc331da505b049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369461a6fc4c95" /><Relationship Type="http://schemas.openxmlformats.org/officeDocument/2006/relationships/notesMaster" Target="/ppt/notesMasters/notesMaster1.xml" Id="R84c08d481d224c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620d8b6e74407a" /><Relationship Type="http://schemas.openxmlformats.org/officeDocument/2006/relationships/notesMaster" Target="/ppt/notesMasters/notesMaster1.xml" Id="Ref5050fa070446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dd014d48884baa" /><Relationship Type="http://schemas.openxmlformats.org/officeDocument/2006/relationships/notesMaster" Target="/ppt/notesMasters/notesMaster1.xml" Id="R68527a4727e348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b33df7b6054a70" /><Relationship Type="http://schemas.openxmlformats.org/officeDocument/2006/relationships/notesMaster" Target="/ppt/notesMasters/notesMaster1.xml" Id="R2862b961803c4d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repeatable growth model, updated from the founder request October 10, 2026. This slide deliberately contains no named pilot city or category. Pick one city-category combination, onboard enough participating suppliers for useful local coverage and recruit users with the relevant booking need. This is the proposed cold-start strategy, not evidence that critical mass or demand already exists. Users can start setup by asking their personal agent: "Add GoLocal to find me local services." One-time connector setup can require sign-in and approval on a compatible platform; each transaction retains its own authorization. The installed connector can then serve future eligible requests. The diagram represents the proposed network effect: useful bookings support agent suggestions, more booking requests attract more businesses, better supply supports useful bookings. Recommendations depend on usefulness, reliability and platform rules, not guaranteed automatic cross-user learning, ranking or traffic. Source basis retained from the approved slide: https://developers.openai.com/plugins/plugin-guidelines ; https://openai.com/index/developers-can-now-submit-apps-to-chatgpt/ ; https://muse.ai/platform/docs . These primary sources were reviewed for the prior approved October 10 slide; this revision changes the framing, not their evidence level. Expand category by category and city by city after demonstrating useful supply and booking outcomes. Proposed revenue remains a business-paid success fee on fulfilled new-customer jobs, shared with contributing partners. Prices, shares, paid continuation and margins remain unmeasured/unagreed. The concrete Salt Lake City plumbing proof of concept and existing channel partnerships are on slide 5. No named city/category should be inferred from this general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proof of concept: Salt Lake City, plumbing. Latest founder instruction October 10, 2026 specifies this city-category combination and asks that it be introduced on slide 5 rather than slide 4. This updates the prior unspecified-category pilot plan, without asserting a live integration, completed GoLocal booking, paid revenue or proven demand. Two founder-reported channel partnerships are already secured for provider introductions: Cactus AI agreed to introduce GoLocal to 50+ service partners; YourCardare, the regional back-office partner, has another 10+ providers in the pipeline. These figures are kept separate, are not inferred to be all unique, all Salt Lake City plumbers, committed onboardings or live supply. The latest pipeline framing supersedes prior commitment language and the historical YourCardare 56 figure; original evidence remains archived. The planned sequence is partner introductions, onboard consenting providers and connect supported software, then test customer-authorized personal-agent bookings. Pilot goal is to turn eligible agent requests into actual provider-confirmed bookings. Merchant booking permissions, supported actions, usable plumbing coverage, a reachable first audience and customer demand still need to be established. The general supply/demand model, one-time connector setup and conditional network effect are shown on slide 4. Partner names and counts are founder-supplied facts, not new public-source claims or platform endorsements.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credentials as supplied and corrected by the founder on October 10, 2026. Pulkit Walia role "Operations and Partnerships" follows the latest annotated instruction; body text uses limited emphasis and company names are written out. The founder describes Urban Company as Asia's largest home services marketplace and his role as founding team member helping build from zero to a $3 billion IPO. Company IPO milestone is not GoLocal revenue/valuation. First venture at age 19: consumer home security systems brand, $700K revenue. Investor at Bessemer Venture Partners, deploying $50M in consumer AI startups. All facts preserved as supplied; no independent audit inferred. Rohit Jain latest founder description: five years as a Senior SWE at Amazon, Square and Citrix; #1 system design tutor on Udemy; 2,500 engineers taught; built production-grade MCP integrations. The latest 2,500 supersedes the prior 25,000+ in this deck. Exact basis and date of the #1 ranking are founder-supplied rather than independently established, and it is not reframed as a different ranking. Education from founder screenshot/live page https://laoh.ai/: Pulkit Harvard Business School MBA; Rohit Texas A&amp;M Computer Science and IIT Kharagpur. No extra degree type, CTO/cofounder title or commitment inferred. Photos are original screenshot versions from live Laoh assets, with native rounded image geometry. Original company marks and HBS mark are from public/team in the founder-supplied https://github.com/Pulkitwalia099/get-an-expert-web (commit 6aedaea); Citrix from the live Laoh page. Education logos: Texas A&amp;M official https://aux.tamu.edu/logos/boxTAM.svg sourced from https://marcomm.tamu.edu/creative-platform/logos/; IIT Kharagpur official emblem from the National Informatics Centre asset library https://www.uxdt.nic.in/documents/iit/iit-kharagpur/ and original image https://www.uxdt.nic.in/wp-content/uploads/2024/06/iit-khargpur-01.jpg. Texas A&amp;M SVG is rasterized only for compatibility, preserving its original artwork and colors. Complete logos retain proportions. LinkedIn profiles: https://www.linkedin.com/in/pulkitwalia/ and https://www.linkedin.com/in/rohit-jain-343437187/. Company footer logos are removed in this revision; university logos identify education, not GoLocal partnerships or endorsements.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1c54f2d3e143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ab24cc8fb948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66a22b15df46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34600641f24f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81af78d3e84e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771b7c5c0b4f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84960eb194489c" /><Relationship Type="http://schemas.openxmlformats.org/officeDocument/2006/relationships/slideLayout" Target="/ppt/slideLayouts/slideLayout1.xml" Id="R82999417f0134da4" /><Relationship Type="http://schemas.openxmlformats.org/officeDocument/2006/relationships/slideLayout" Target="/ppt/slideLayouts/slideLayout2.xml" Id="R7ceaf8e17a57418d" /><Relationship Type="http://schemas.openxmlformats.org/officeDocument/2006/relationships/slideLayout" Target="/ppt/slideLayouts/slideLayout3.xml" Id="R0e21058a2b804275" /><Relationship Type="http://schemas.openxmlformats.org/officeDocument/2006/relationships/slideLayout" Target="/ppt/slideLayouts/slideLayout4.xml" Id="Raed55231c59d4a2f" /><Relationship Type="http://schemas.openxmlformats.org/officeDocument/2006/relationships/slideLayout" Target="/ppt/slideLayouts/slideLayout5.xml" Id="Re83d67f4adfc49ce" /><Relationship Type="http://schemas.openxmlformats.org/officeDocument/2006/relationships/slideLayout" Target="/ppt/slideLayouts/slideLayout6.xml" Id="Reb116d77fa6146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999417f0134da4"/>
    <p:sldLayoutId xmlns:r="http://schemas.openxmlformats.org/officeDocument/2006/relationships" id="2147483650" r:id="R7ceaf8e17a57418d"/>
    <p:sldLayoutId xmlns:r="http://schemas.openxmlformats.org/officeDocument/2006/relationships" id="2147483651" r:id="R0e21058a2b804275"/>
    <p:sldLayoutId xmlns:r="http://schemas.openxmlformats.org/officeDocument/2006/relationships" id="2147483652" r:id="Raed55231c59d4a2f"/>
    <p:sldLayoutId xmlns:r="http://schemas.openxmlformats.org/officeDocument/2006/relationships" id="2147483653" r:id="Re83d67f4adfc49ce"/>
    <p:sldLayoutId xmlns:r="http://schemas.openxmlformats.org/officeDocument/2006/relationships" id="2147483654" r:id="Reb116d77fa6146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71c681f0dd44fc" /><Relationship Type="http://schemas.openxmlformats.org/officeDocument/2006/relationships/notesSlide" Target="/ppt/notesSlides/notesSlide1.xml" Id="Rbb1f707a517d40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410f769d8d49ad" /><Relationship Type="http://schemas.openxmlformats.org/officeDocument/2006/relationships/notesSlide" Target="/ppt/notesSlides/notesSlide2.xml" Id="Rb0d6165386984e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794a4738f0448d" /><Relationship Type="http://schemas.openxmlformats.org/officeDocument/2006/relationships/notesSlide" Target="/ppt/notesSlides/notesSlide3.xml" Id="Re777768887eb4a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e1ae345ecf4c41" /><Relationship Type="http://schemas.openxmlformats.org/officeDocument/2006/relationships/notesSlide" Target="/ppt/notesSlides/notesSlide4.xml" Id="Ra654a9363b324c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3f0a82e96c743d8" /><Relationship Type="http://schemas.openxmlformats.org/officeDocument/2006/relationships/notesSlide" Target="/ppt/notesSlides/notesSlide5.xml" Id="R9e8d1527f6b14d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28978ac0fe4f1e" /><Relationship Type="http://schemas.openxmlformats.org/officeDocument/2006/relationships/image" Target="/ppt/media/image.jpeg" Id="Rd93d799271b6469a" /><Relationship Type="http://schemas.openxmlformats.org/officeDocument/2006/relationships/image" Target="/ppt/media/image2.jpeg" Id="Rde54217e39cd4da9" /><Relationship Type="http://schemas.openxmlformats.org/officeDocument/2006/relationships/hyperlink" Target="https://www.linkedin.com/in/pulkitwalia/" TargetMode="External" Id="R0c2f479f2f394f97" /><Relationship Type="http://schemas.openxmlformats.org/officeDocument/2006/relationships/hyperlink" Target="https://www.linkedin.com/in/rohit-jain-343437187/" TargetMode="External" Id="R44f6d06ec8c14130" /><Relationship Type="http://schemas.openxmlformats.org/officeDocument/2006/relationships/image" Target="/ppt/media/image3.jpeg" Id="R8a0c8b4b3dfa4726" /><Relationship Type="http://schemas.openxmlformats.org/officeDocument/2006/relationships/image" Target="/ppt/media/image.png" Id="Raf32373b09394c54" /><Relationship Type="http://schemas.openxmlformats.org/officeDocument/2006/relationships/image" Target="/ppt/media/image4.jpeg" Id="R88dd77da316c4537" /><Relationship Type="http://schemas.openxmlformats.org/officeDocument/2006/relationships/notesSlide" Target="/ppt/notesSlides/notesSlide6.xml" Id="Rf412350f767849b6"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31237AAA-0C94-4DC5-975E-7CAA74794B0A}"/>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4B295B98-2301-4A3B-BDE6-B0D9B1C26CC7}"/>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724B9E26-C66D-442C-A171-8599DA39E09A}"/>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CDA12D11-AFB8-4608-B51E-A53F9293A2A0}"/>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173B7B16-E0BB-4A0A-9761-E9F78D0ABAD1}"/>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579F4464-9883-4127-AC44-741609F5D82F}"/>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27594B0E-CE12-441D-A7B9-ED5055E726FC}"/>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A59C2DBA-493C-4677-8734-C56AFEC03579}"/>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BECD52ED-5E28-46D3-87EF-30134678AB16}"/>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4597A9C9-2975-4C28-8F81-C9E9F54D4B7E}"/>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939F35D2-0A31-4195-A34D-18F5D991F9B5}"/>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7E8D65CE-840A-4718-822A-3A620380D07A}"/>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F572DD5F-7D96-416B-BA05-1A84F54F654E}"/>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52408C06-8E6D-4A12-B613-6773032811A8}"/>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B4E2CBAC-4E7F-48D5-BD7E-4A88E2A6F7AD}"/>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E2F5C114-C2C4-4E64-B0A1-AF6D8C6F18FE}"/>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E972E305-E137-44AE-BE41-4362429842E9}"/>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07BBE31C-16B6-4789-A9F1-257C676A9287}"/>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CCA1EBA3-7A18-4127-9DC7-8A5F1EF89FBA}"/>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2FA3C680-7C9F-406D-ACAD-BBB291DFA491}"/>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35558AD0-36DE-44CD-8E32-4755832BA7F7}"/>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Build critical mass in one city-category combination.</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Build local supply</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The network compounds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One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Onboard suppliers to reach</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critical mass. Recruit users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with a 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find</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me local services.”</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use it for future bookings.</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D495E5B0-F23C-4B70-A81B-27321515D812}"/>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B03B8549-CDA4-403C-B3E0-34929FD66B55}"/>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First proof of concept: Salt Lake City plumbing</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Two channel partnerships give us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buNone/>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Pilot goal: turn agent requests into confirmed bookings.</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
            <a:extLst xmlns:a="http://schemas.openxmlformats.org/drawingml/2006/main">
              <a:ext uri="{FF2B5EF4-FFF2-40B4-BE49-F238E27FC236}">
                <a16:creationId xmlns:a16="http://schemas.microsoft.com/office/drawing/2014/main" id="{B3E603CC-170D-4BA4-AB9E-80F732C9EF76}"/>
              </a:ext>
            </a:extLst>
          </p:cNvPr>
          <p:cNvPicPr>
            <a:picLocks xmlns:a="http://schemas.openxmlformats.org/drawingml/2006/main" noChangeAspect="1"/>
          </p:cNvPicPr>
          <p:nvPr/>
        </p:nvPicPr>
        <p:blipFill>
          <a:blip xmlns:r="http://schemas.openxmlformats.org/officeDocument/2006/relationships" xmlns:a="http://schemas.openxmlformats.org/drawingml/2006/main" r:embed="Rd93d799271b6469a"/>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
            <a:extLst xmlns:a="http://schemas.openxmlformats.org/drawingml/2006/main">
              <a:ext uri="{FF2B5EF4-FFF2-40B4-BE49-F238E27FC236}">
                <a16:creationId xmlns:a16="http://schemas.microsoft.com/office/drawing/2014/main" id="{61C1C466-C647-42AF-8C8F-739AF23CF7BE}"/>
              </a:ext>
            </a:extLst>
          </p:cNvPr>
          <p:cNvPicPr>
            <a:picLocks xmlns:a="http://schemas.openxmlformats.org/drawingml/2006/main" noChangeAspect="1"/>
          </p:cNvPicPr>
          <p:nvPr/>
        </p:nvPicPr>
        <p:blipFill>
          <a:blip xmlns:r="http://schemas.openxmlformats.org/officeDocument/2006/relationships" xmlns:a="http://schemas.openxmlformats.org/drawingml/2006/main" r:embed="Rde54217e39cd4da9"/>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3810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236C4E"/>
                </a:solidFill>
                <a:latin typeface="Helvetica Neue"/>
                <a:ea typeface="Helvetica Neue"/>
                <a:cs typeface="Helvetica Neue"/>
              </a:defRPr>
            </a:defPPr>
          </a:lstStyle>
          <a:p xmlns:a="http://schemas.openxmlformats.org/drawingml/2006/main">
            <a:pPr algn="l">
              <a:defRPr sz="1650" b="0">
                <a:solidFill>
                  <a:srgbClr val="236C4E"/>
                </a:solidFill>
                <a:latin typeface="Helvetica Neue"/>
                <a:ea typeface="Helvetica Neue"/>
                <a:cs typeface="Helvetica Neue"/>
              </a:defRPr>
            </a:pPr>
            <a:r>
              <a:rPr sz="1650" b="0">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0c2f479f2f394f97"/>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3638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096500" y="22002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44f6d06ec8c14130"/>
              </a:rPr>
              <a:t>LinkedIn</a:t>
            </a:r>
          </a:p>
        </p:txBody>
      </p:sp>
      <p:pic>
        <p:nvPicPr>
          <p:cNvPr id="11" name="">
            <a:extLst xmlns:a="http://schemas.openxmlformats.org/drawingml/2006/main">
              <a:ext uri="{FF2B5EF4-FFF2-40B4-BE49-F238E27FC236}">
                <a16:creationId xmlns:a16="http://schemas.microsoft.com/office/drawing/2014/main" id="{DF1154B8-80C3-45DC-B338-B4361323D76C}"/>
              </a:ext>
            </a:extLst>
          </p:cNvPr>
          <p:cNvPicPr>
            <a:picLocks xmlns:a="http://schemas.openxmlformats.org/drawingml/2006/main" noChangeAspect="1"/>
          </p:cNvPicPr>
          <p:nvPr/>
        </p:nvPicPr>
        <p:blipFill>
          <a:blip xmlns:r="http://schemas.openxmlformats.org/officeDocument/2006/relationships" xmlns:a="http://schemas.openxmlformats.org/drawingml/2006/main" r:embed="R8a0c8b4b3dfa4726"/>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
            <a:extLst xmlns:a="http://schemas.openxmlformats.org/drawingml/2006/main">
              <a:ext uri="{FF2B5EF4-FFF2-40B4-BE49-F238E27FC236}">
                <a16:creationId xmlns:a16="http://schemas.microsoft.com/office/drawing/2014/main" id="{8EC66D55-18E9-4033-AEBC-DC18405848B5}"/>
              </a:ext>
            </a:extLst>
          </p:cNvPr>
          <p:cNvPicPr>
            <a:picLocks xmlns:a="http://schemas.openxmlformats.org/drawingml/2006/main" noChangeAspect="1"/>
          </p:cNvPicPr>
          <p:nvPr/>
        </p:nvPicPr>
        <p:blipFill>
          <a:blip xmlns:r="http://schemas.openxmlformats.org/officeDocument/2006/relationships" xmlns:a="http://schemas.openxmlformats.org/drawingml/2006/main" r:embed="Raf32373b09394c54"/>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
            <a:extLst xmlns:a="http://schemas.openxmlformats.org/drawingml/2006/main">
              <a:ext uri="{FF2B5EF4-FFF2-40B4-BE49-F238E27FC236}">
                <a16:creationId xmlns:a16="http://schemas.microsoft.com/office/drawing/2014/main" id="{B1136F2D-A2D0-41B6-AF4A-D111D3ABCAC9}"/>
              </a:ext>
            </a:extLst>
          </p:cNvPr>
          <p:cNvPicPr>
            <a:picLocks xmlns:a="http://schemas.openxmlformats.org/drawingml/2006/main" noChangeAspect="1"/>
          </p:cNvPicPr>
          <p:nvPr/>
        </p:nvPicPr>
        <p:blipFill>
          <a:blip xmlns:r="http://schemas.openxmlformats.org/officeDocument/2006/relationships" xmlns:a="http://schemas.openxmlformats.org/drawingml/2006/main" r:embed="R88dd77da316c4537"/>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Asia’s largest home services marketplace from zero to a </a:t>
            </a:r>
            <a:r>
              <a:rPr sz="1950" b="1">
                <a:solidFill>
                  <a:srgbClr val="193C32"/>
                </a:solidFill>
                <a:latin typeface="Helvetica Neue"/>
                <a:ea typeface="Helvetica Neue"/>
                <a:cs typeface="Helvetica Neue"/>
              </a:rPr>
              <a:t>$3B IPO</a:t>
            </a:r>
            <a:r>
              <a:rPr sz="1950" b="0">
                <a:solidFill>
                  <a:srgbClr val="193C32"/>
                </a:solidFill>
                <a:latin typeface="Helvetica Neue"/>
                <a:ea typeface="Helvetica Neue"/>
                <a:cs typeface="Helvetica Neue"/>
              </a:rPr>
              <a:t> as an Urban Company founding team member.</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scaling it to $700K in revenue.</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Investor at Bessemer Venture Partners, deploying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SWE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#1 system design tutor on Udemy, with 2,500 engineers taught.</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production-grade </a:t>
            </a:r>
            <a:r>
              <a:rPr sz="1950" b="1">
                <a:solidFill>
                  <a:srgbClr val="193C32"/>
                </a:solidFill>
                <a:latin typeface="Helvetica Neue"/>
                <a:ea typeface="Helvetica Neue"/>
                <a:cs typeface="Helvetica Neue"/>
              </a:rPr>
              <a:t>MCP integrations</a:t>
            </a:r>
            <a:r>
              <a:rPr sz="1950" b="0">
                <a:solidFill>
                  <a:srgbClr val="193C32"/>
                </a:solidFill>
                <a:latin typeface="Helvetica Neue"/>
                <a:ea typeface="Helvetica Neue"/>
                <a:cs typeface="Helvetica Neue"/>
              </a:rPr>
              <a:t>.</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2026-10-11T00:59:24.1220000Z</dcterms:created>
  <dcterms:modified xsi:type="dcterms:W3CDTF">2026-10-11T00:59:24.1220000Z</dcterms:modified>
</coreProperties>
</file>