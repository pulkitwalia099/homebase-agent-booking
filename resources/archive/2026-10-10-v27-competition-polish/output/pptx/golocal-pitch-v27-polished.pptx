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773d6ebdf64006" /><Relationship Type="http://schemas.openxmlformats.org/officeDocument/2006/relationships/extended-properties" Target="/docProps/app.xml" Id="Rcef267fd07004ded" /><Relationship Type="http://schemas.openxmlformats.org/officeDocument/2006/relationships/officeDocument" Target="/ppt/presentation.xml" Id="R9d107c5938304335" /></Relationships>
</file>

<file path=ppt/presentation.xml><?xml version="1.0" encoding="utf-8"?>
<p:presentation xmlns:p="http://schemas.openxmlformats.org/presentationml/2006/main">
  <p:sldMasterIdLst>
    <p:sldMasterId xmlns:r="http://schemas.openxmlformats.org/officeDocument/2006/relationships" id="2147483648" r:id="R14a026848c454ed4"/>
  </p:sldMasterIdLst>
  <p:notesMasterIdLst>
    <p:notesMasterId xmlns:r="http://schemas.openxmlformats.org/officeDocument/2006/relationships" r:id="Rb363ef4276fb4642"/>
  </p:notesMasterIdLst>
  <p:sldIdLst>
    <p:sldId xmlns:r="http://schemas.openxmlformats.org/officeDocument/2006/relationships" id="256" r:id="R72825d49241e4b4d"/>
    <p:sldId xmlns:r="http://schemas.openxmlformats.org/officeDocument/2006/relationships" id="257" r:id="R19661007ab864f44"/>
    <p:sldId xmlns:r="http://schemas.openxmlformats.org/officeDocument/2006/relationships" id="258" r:id="Ree5a3c0ee85a4b4b"/>
    <p:sldId xmlns:r="http://schemas.openxmlformats.org/officeDocument/2006/relationships" id="259" r:id="R7adaa9dea72c4378"/>
    <p:sldId xmlns:r="http://schemas.openxmlformats.org/officeDocument/2006/relationships" id="260" r:id="R686d9e6eca834ca2"/>
    <p:sldId xmlns:r="http://schemas.openxmlformats.org/officeDocument/2006/relationships" id="261" r:id="R9b322bb2b23d47e9"/>
    <p:sldId xmlns:r="http://schemas.openxmlformats.org/officeDocument/2006/relationships" id="262" r:id="Rc4463635a9cd43d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87bd7a5ef7e43c3" /><Relationship Type="http://schemas.openxmlformats.org/officeDocument/2006/relationships/slideMaster" Target="/ppt/slideMasters/slideMaster1.xml" Id="R14a026848c454ed4" /><Relationship Type="http://schemas.openxmlformats.org/officeDocument/2006/relationships/notesMaster" Target="/ppt/notesMasters/notesMaster1.xml" Id="Rb363ef4276fb4642" /><Relationship Type="http://schemas.openxmlformats.org/officeDocument/2006/relationships/presProps" Target="/ppt/presProps.xml" Id="R1982a544b71c4f2a" /><Relationship Type="http://schemas.openxmlformats.org/officeDocument/2006/relationships/viewProps" Target="/ppt/viewProps.xml" Id="Rf104bfb9b9534d14" /><Relationship Type="http://schemas.openxmlformats.org/officeDocument/2006/relationships/tableStyles" Target="/ppt/tableStyles.xml" Id="R23ea97165beb40b4" /><Relationship Type="http://schemas.openxmlformats.org/officeDocument/2006/relationships/slide" Target="/ppt/slides/slide1.xml" Id="R72825d49241e4b4d" /><Relationship Type="http://schemas.openxmlformats.org/officeDocument/2006/relationships/slide" Target="/ppt/slides/slide2.xml" Id="R19661007ab864f44" /><Relationship Type="http://schemas.openxmlformats.org/officeDocument/2006/relationships/slide" Target="/ppt/slides/slide3.xml" Id="Ree5a3c0ee85a4b4b" /><Relationship Type="http://schemas.openxmlformats.org/officeDocument/2006/relationships/slide" Target="/ppt/slides/slide4.xml" Id="R7adaa9dea72c4378" /><Relationship Type="http://schemas.openxmlformats.org/officeDocument/2006/relationships/slide" Target="/ppt/slides/slide5.xml" Id="R686d9e6eca834ca2" /><Relationship Type="http://schemas.openxmlformats.org/officeDocument/2006/relationships/slide" Target="/ppt/slides/slide6.xml" Id="R9b322bb2b23d47e9" /><Relationship Type="http://schemas.openxmlformats.org/officeDocument/2006/relationships/slide" Target="/ppt/slides/slide7.xml" Id="Rc4463635a9cd43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3b3b7faf3a45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57b8efe02c45f3" /><Relationship Type="http://schemas.openxmlformats.org/officeDocument/2006/relationships/notesMaster" Target="/ppt/notesMasters/notesMaster1.xml" Id="Rddd4993c7c6047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bd53e14e42471c" /><Relationship Type="http://schemas.openxmlformats.org/officeDocument/2006/relationships/notesMaster" Target="/ppt/notesMasters/notesMaster1.xml" Id="R12566fefccc84b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3b81a6ee264f8a" /><Relationship Type="http://schemas.openxmlformats.org/officeDocument/2006/relationships/notesMaster" Target="/ppt/notesMasters/notesMaster1.xml" Id="R7738be772d3042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260541fb9640f5" /><Relationship Type="http://schemas.openxmlformats.org/officeDocument/2006/relationships/notesMaster" Target="/ppt/notesMasters/notesMaster1.xml" Id="R6662c8b1178c47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4d623ff4a248d7" /><Relationship Type="http://schemas.openxmlformats.org/officeDocument/2006/relationships/notesMaster" Target="/ppt/notesMasters/notesMaster1.xml" Id="Re5a73e9760da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d9df4541de4b4c" /><Relationship Type="http://schemas.openxmlformats.org/officeDocument/2006/relationships/notesMaster" Target="/ppt/notesMasters/notesMaster1.xml" Id="Rfa404d76d7144f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708293f9a4b63" /><Relationship Type="http://schemas.openxmlformats.org/officeDocument/2006/relationships/notesMaster" Target="/ppt/notesMasters/notesMaster1.xml" Id="Rebaf20a0d48341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GoLocal would organize participating providers and connect their software so personal agents can complete supported service bookings through a shared connection.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agents create additional starting points for local-service requests. Websites, forms and calls still fragment many service-booking workflows. The matrix illustrates cumulative consumer capabilities, not invention dates or a claim that earlier platforms had no booking capability. Specialized platforms and existing booking products already support transactions in selected categories. Uber, DoorDash and Booking.com illustrate organized supply and a transaction layer, not confirmed GoLocal integrations.</a:t>
            </a:r>
          </a:p>
          <a:p xmlns:a="http://schemas.openxmlformats.org/drawingml/2006/main">
            <a:r>
              <a:t>Market context: approximately $1.19T, rounded to $1.2T, across home improvement/repair (~$600B, including materials and DIY), motor vehicle maintenance and repair ($283.802B), personal care and clothing services ($239.558B) and child day care ($65.547B). Mixed years and measures; this is not GoLocal's serviceable booking volume or fee revenue. Sources: https://www.jchs.harvard.edu/sites/default/files/reports/files/Harvard_JCHS_Improving_Americas_Housing_2025.pdf ; https://fred.stlouisfed.org/release/tables?eid=44183&amp;rid=53 ; https://fred.stlouisfed.org/series/AIES6244RCT00US . Supporting calculation supplied in resources/local-services-tam-2026-10-10.md. Structured transaction examples: https://developer.doordash.com/en-US/mcp/ ; https://developers.booking.com/demand/docs/getting-started/overview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bdaee8081d46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5f0c25235147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5d98f863234c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56c2d65e8e4c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24271f8c3e41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23b7f9512e43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e37b5a7cb043cc" /><Relationship Type="http://schemas.openxmlformats.org/officeDocument/2006/relationships/slideLayout" Target="/ppt/slideLayouts/slideLayout1.xml" Id="Rbc94ce365b48450d" /><Relationship Type="http://schemas.openxmlformats.org/officeDocument/2006/relationships/slideLayout" Target="/ppt/slideLayouts/slideLayout2.xml" Id="Red6908f4d87c4208" /><Relationship Type="http://schemas.openxmlformats.org/officeDocument/2006/relationships/slideLayout" Target="/ppt/slideLayouts/slideLayout3.xml" Id="R7d7c40b3a4054e53" /><Relationship Type="http://schemas.openxmlformats.org/officeDocument/2006/relationships/slideLayout" Target="/ppt/slideLayouts/slideLayout4.xml" Id="R552f3264c9c64359" /><Relationship Type="http://schemas.openxmlformats.org/officeDocument/2006/relationships/slideLayout" Target="/ppt/slideLayouts/slideLayout5.xml" Id="R2b7c52c129b446bc" /><Relationship Type="http://schemas.openxmlformats.org/officeDocument/2006/relationships/slideLayout" Target="/ppt/slideLayouts/slideLayout6.xml" Id="R3bd320a6eb324f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94ce365b48450d"/>
    <p:sldLayoutId xmlns:r="http://schemas.openxmlformats.org/officeDocument/2006/relationships" id="2147483650" r:id="Red6908f4d87c4208"/>
    <p:sldLayoutId xmlns:r="http://schemas.openxmlformats.org/officeDocument/2006/relationships" id="2147483651" r:id="R7d7c40b3a4054e53"/>
    <p:sldLayoutId xmlns:r="http://schemas.openxmlformats.org/officeDocument/2006/relationships" id="2147483652" r:id="R552f3264c9c64359"/>
    <p:sldLayoutId xmlns:r="http://schemas.openxmlformats.org/officeDocument/2006/relationships" id="2147483653" r:id="R2b7c52c129b446bc"/>
    <p:sldLayoutId xmlns:r="http://schemas.openxmlformats.org/officeDocument/2006/relationships" id="2147483654" r:id="R3bd320a6eb324f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55b7bfc40e4221" /><Relationship Type="http://schemas.openxmlformats.org/officeDocument/2006/relationships/notesSlide" Target="/ppt/notesSlides/notesSlide1.xml" Id="Rbc6ec5c74eaf47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336183be204016" /><Relationship Type="http://schemas.openxmlformats.org/officeDocument/2006/relationships/notesSlide" Target="/ppt/notesSlides/notesSlide2.xml" Id="R94d6a72e334240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54efbae25c4e56" /><Relationship Type="http://schemas.openxmlformats.org/officeDocument/2006/relationships/image" Target="/ppt/media/image.png" Id="R9a0282b391e747f6" /><Relationship Type="http://schemas.openxmlformats.org/officeDocument/2006/relationships/image" Target="/ppt/media/image.jpeg" Id="Rb01f6bc6c17e4bf0" /><Relationship Type="http://schemas.openxmlformats.org/officeDocument/2006/relationships/image" Target="/ppt/media/image2.jpeg" Id="Rec02d7b320d74d9e" /><Relationship Type="http://schemas.openxmlformats.org/officeDocument/2006/relationships/image" Target="/ppt/media/image3.jpeg" Id="R72d76cae6fd04004" /><Relationship Type="http://schemas.openxmlformats.org/officeDocument/2006/relationships/image" Target="/ppt/media/image2.png" Id="Rfe23801d9bea445e" /><Relationship Type="http://schemas.openxmlformats.org/officeDocument/2006/relationships/notesSlide" Target="/ppt/notesSlides/notesSlide3.xml" Id="R5cdd4872f74d40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c87721606c452a" /><Relationship Type="http://schemas.openxmlformats.org/officeDocument/2006/relationships/notesSlide" Target="/ppt/notesSlides/notesSlide4.xml" Id="R737c8a0dc55d42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7405d22f3345c4" /><Relationship Type="http://schemas.openxmlformats.org/officeDocument/2006/relationships/notesSlide" Target="/ppt/notesSlides/notesSlide5.xml" Id="R7ee84a7965464e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ecaec7b1424318" /><Relationship Type="http://schemas.openxmlformats.org/officeDocument/2006/relationships/notesSlide" Target="/ppt/notesSlides/notesSlide6.xml" Id="R07ed6d128aa54c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52bc243b0a4e43" /><Relationship Type="http://schemas.openxmlformats.org/officeDocument/2006/relationships/image" Target="/ppt/media/image4.jpeg" Id="R52cf018202d24aa2" /><Relationship Type="http://schemas.openxmlformats.org/officeDocument/2006/relationships/image" Target="/ppt/media/image5.jpeg" Id="Rce886dc23c6e4898" /><Relationship Type="http://schemas.openxmlformats.org/officeDocument/2006/relationships/hyperlink" Target="https://www.linkedin.com/in/pulkitwalia/" TargetMode="External" Id="R498f08a9ce7048e7" /><Relationship Type="http://schemas.openxmlformats.org/officeDocument/2006/relationships/hyperlink" Target="https://www.linkedin.com/in/rohit-jain-343437187/" TargetMode="External" Id="R86da21512b224b0d" /><Relationship Type="http://schemas.openxmlformats.org/officeDocument/2006/relationships/image" Target="/ppt/media/image6.jpeg" Id="Re9a4cde1c1374784" /><Relationship Type="http://schemas.openxmlformats.org/officeDocument/2006/relationships/image" Target="/ppt/media/image3.png" Id="R723b6cbbd0024774" /><Relationship Type="http://schemas.openxmlformats.org/officeDocument/2006/relationships/image" Target="/ppt/media/image7.jpeg" Id="R1e5d6d676d44479b" /><Relationship Type="http://schemas.openxmlformats.org/officeDocument/2006/relationships/notesSlide" Target="/ppt/notesSlides/notesSlide7.xml" Id="Rbf23a533d5d84208"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10C41689-FC93-4969-87A5-ADB02A5F95EB}"/>
              </a:ext>
            </a:extLst>
          </p:cNvPr>
          <p:cNvSpPr>
            <a:spLocks xmlns:a="http://schemas.openxmlformats.org/drawingml/2006/main" noGrp="1"/>
          </p:cNvSpPr>
          <p:nvPr/>
        </p:nvSpPr>
        <p:spPr>
          <a:xfrm xmlns:a="http://schemas.openxmlformats.org/drawingml/2006/main">
            <a:off x="495300" y="2324100"/>
            <a:ext cx="112014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100" b="1">
                <a:solidFill>
                  <a:srgbClr val="193C32"/>
                </a:solidFill>
                <a:latin typeface="Helvetica Neue"/>
                <a:ea typeface="Helvetica Neue"/>
                <a:cs typeface="Helvetica Neue"/>
              </a:defRPr>
            </a:defPPr>
          </a:lstStyle>
          <a:p xmlns:a="http://schemas.openxmlformats.org/drawingml/2006/main">
            <a:pPr algn="l">
              <a:buNone/>
              <a:defRPr sz="8100" b="1">
                <a:solidFill>
                  <a:srgbClr val="193C32"/>
                </a:solidFill>
                <a:latin typeface="Helvetica Neue"/>
                <a:ea typeface="Helvetica Neue"/>
                <a:cs typeface="Helvetica Neue"/>
              </a:defRPr>
            </a:pPr>
            <a:r>
              <a:rPr sz="8100" b="1">
                <a:solidFill>
                  <a:srgbClr val="193C32"/>
                </a:solidFill>
                <a:latin typeface="Helvetica Neue"/>
                <a:ea typeface="Helvetica Neue"/>
                <a:cs typeface="Helvetica Neue"/>
              </a:rPr>
              <a:t>GoLocal</a:t>
            </a:r>
          </a:p>
        </p:txBody>
      </p:sp>
      <p:sp>
        <p:nvSpPr>
          <p:cNvPr id="2" name="Rectangle 1">
            <a:extLst xmlns:a="http://schemas.openxmlformats.org/drawingml/2006/main">
              <a:ext uri="{FF2B5EF4-FFF2-40B4-BE49-F238E27FC236}">
                <a16:creationId xmlns:a16="http://schemas.microsoft.com/office/drawing/2014/main" id="{D6BD690E-A487-46B6-BC21-05A027356330}"/>
              </a:ext>
            </a:extLst>
          </p:cNvPr>
          <p:cNvSpPr>
            <a:spLocks xmlns:a="http://schemas.openxmlformats.org/drawingml/2006/main" noGrp="1"/>
          </p:cNvSpPr>
          <p:nvPr/>
        </p:nvSpPr>
        <p:spPr>
          <a:xfrm xmlns:a="http://schemas.openxmlformats.org/drawingml/2006/main">
            <a:off x="533400" y="377190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36C4E"/>
                </a:solidFill>
                <a:latin typeface="Helvetica Neue"/>
                <a:ea typeface="Helvetica Neue"/>
                <a:cs typeface="Helvetica Neue"/>
              </a:defRPr>
            </a:defPPr>
          </a:lstStyle>
          <a:p xmlns:a="http://schemas.openxmlformats.org/drawingml/2006/main">
            <a:pPr algn="l">
              <a:buNone/>
              <a:defRPr sz="2700" b="0">
                <a:solidFill>
                  <a:srgbClr val="236C4E"/>
                </a:solidFill>
                <a:latin typeface="Helvetica Neue"/>
                <a:ea typeface="Helvetica Neue"/>
                <a:cs typeface="Helvetica Neue"/>
              </a:defRPr>
            </a:pPr>
            <a:r>
              <a:rPr sz="2700" b="0">
                <a:solidFill>
                  <a:srgbClr val="236C4E"/>
                </a:solidFill>
                <a:latin typeface="Helvetica Neue"/>
                <a:ea typeface="Helvetica Neue"/>
                <a:cs typeface="Helvetica Neue"/>
              </a:rPr>
              <a:t>Local services, booked by your personal agent.</a:t>
            </a:r>
          </a:p>
        </p:txBody>
      </p:sp>
      <p:sp>
        <p:nvSpPr>
          <p:cNvPr id="3" name="Rectangle 2">
            <a:extLst xmlns:a="http://schemas.openxmlformats.org/drawingml/2006/main">
              <a:ext uri="{FF2B5EF4-FFF2-40B4-BE49-F238E27FC236}">
                <a16:creationId xmlns:a16="http://schemas.microsoft.com/office/drawing/2014/main" id="{87507E9F-A053-4703-A4CF-2FE76374F56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7</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v27-text-0">
            <a:extLst xmlns:a="http://schemas.openxmlformats.org/drawingml/2006/main">
              <a:ext uri="{FF2B5EF4-FFF2-40B4-BE49-F238E27FC236}">
                <a16:creationId xmlns:a16="http://schemas.microsoft.com/office/drawing/2014/main" id="{CAF3293B-AD50-41D2-8E9D-6E55CCC0D211}"/>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MARKET OPPORTUNITY</a:t>
            </a:r>
          </a:p>
        </p:txBody>
      </p:sp>
      <p:sp>
        <p:nvSpPr>
          <p:cNvPr id="2" name="v27-text-1">
            <a:extLst xmlns:a="http://schemas.openxmlformats.org/drawingml/2006/main">
              <a:ext uri="{FF2B5EF4-FFF2-40B4-BE49-F238E27FC236}">
                <a16:creationId xmlns:a16="http://schemas.microsoft.com/office/drawing/2014/main" id="{05E13926-64B9-407C-B264-EEC4D063190E}"/>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≈$1.2T in U.S. local-services spending</a:t>
            </a:r>
          </a:p>
        </p:txBody>
      </p:sp>
      <p:sp>
        <p:nvSpPr>
          <p:cNvPr id="3" name="v27-text-2">
            <a:extLst xmlns:a="http://schemas.openxmlformats.org/drawingml/2006/main">
              <a:ext uri="{FF2B5EF4-FFF2-40B4-BE49-F238E27FC236}">
                <a16:creationId xmlns:a16="http://schemas.microsoft.com/office/drawing/2014/main" id="{1068E66A-3FBB-42FF-865B-3ED432896980}"/>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Discovery keeps improving. Booking still spans websites, forms and calls.</a:t>
            </a:r>
          </a:p>
        </p:txBody>
      </p:sp>
      <p:graphicFrame>
        <p:nvGraphicFramePr>
          <p:cNvPr id="4" name="">
            <a:extLst xmlns:a="http://schemas.openxmlformats.org/drawingml/2006/main">
              <a:ext uri="{FF2B5EF4-FFF2-40B4-BE49-F238E27FC236}">
                <a16:creationId xmlns:a16="http://schemas.microsoft.com/office/drawing/2014/main" id="{A9F1E665-090B-4672-932F-A176D2CABA50}"/>
              </a:ext>
            </a:extLst>
          </p:cNvPr>
          <p:cNvGraphicFramePr/>
          <p:nvPr/>
        </p:nvGraphicFramePr>
        <p:xfrm>
          <a:off xmlns:a="http://schemas.openxmlformats.org/drawingml/2006/main" x="495300" y="1847850"/>
          <a:ext xmlns:a="http://schemas.openxmlformats.org/drawingml/2006/main" cx="11201400" cy="3781425"/>
        </p:xfrm>
        <a:graphic xmlns:a="http://schemas.openxmlformats.org/drawingml/2006/main">
          <a:graphicData uri="http://schemas.openxmlformats.org/drawingml/2006/table">
            <a:tbl>
              <a:tblPr firstRow="0" firstCol="0" bandRow="0"/>
              <a:tblGrid>
                <a:gridCol w="2381250"/>
                <a:gridCol w="1764030"/>
                <a:gridCol w="1764030"/>
                <a:gridCol w="1764030"/>
                <a:gridCol w="1764030"/>
                <a:gridCol w="1764030"/>
              </a:tblGrid>
              <a:tr h="266700">
                <a:tc>
                  <a:txBody>
                    <a:bodyPr wrap="square">
                      <a:noAutofit/>
                    </a:bodyPr>
                    <a:lstStyle/>
                    <a:p>
                      <a:r>
                        <a:rPr sz="1350" b="1">
                          <a:solidFill>
                            <a:srgbClr val="65746C"/>
                          </a:solidFill>
                          <a:latin typeface="Helvetica Neue"/>
                          <a:ea typeface="Helvetica Neue"/>
                          <a:cs typeface="Helvetica Neue"/>
                        </a:rPr>
                        <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Pre-2000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2000–2010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2010–2020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2020–2025</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2026+</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r>
              <a:tr h="304800">
                <a:tc>
                  <a:txBody>
                    <a:bodyPr wrap="square">
                      <a:noAutofit/>
                    </a:bodyPr>
                    <a:lstStyle/>
                    <a:p>
                      <a:pPr algn="l"/>
                      <a:r>
                        <a:rPr sz="1425" b="1">
                          <a:solidFill>
                            <a:srgbClr val="193C32"/>
                          </a:solidFill>
                          <a:latin typeface="Helvetica Neue"/>
                          <a:ea typeface="Helvetica Neue"/>
                          <a:cs typeface="Helvetica Neue"/>
                        </a:rPr>
                        <a:t>Technology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Telephones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Internet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Mobile + GPS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LLMs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AI + tools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r>
              <a:tr h="523875">
                <a:tc>
                  <a:txBody>
                    <a:bodyPr wrap="square">
                      <a:noAutofit/>
                    </a:bodyPr>
                    <a:lstStyle/>
                    <a:p>
                      <a:pPr algn="l"/>
                      <a:r>
                        <a:rPr sz="1575" b="1">
                          <a:solidFill>
                            <a:srgbClr val="193C32"/>
                          </a:solidFill>
                          <a:latin typeface="Helvetica Neue"/>
                          <a:ea typeface="Helvetica Neue"/>
                          <a:cs typeface="Helvetica Neue"/>
                        </a:rPr>
                        <a:t>Platform</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Yellow Pages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Google /</a:t>
                      </a:r>
                    </a:p>
                    <a:p>
                      <a:pPr algn="ctr"/>
                      <a:r>
                        <a:rPr sz="1575" b="1">
                          <a:solidFill>
                            <a:srgbClr val="193C32"/>
                          </a:solidFill>
                          <a:latin typeface="Helvetica Neue"/>
                          <a:ea typeface="Helvetica Neue"/>
                          <a:cs typeface="Helvetica Neue"/>
                        </a:rPr>
                        <a:t>Craigslist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Google Maps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AI chatbots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FFFFFF"/>
                          </a:solidFill>
                          <a:latin typeface="Helvetica Neue"/>
                          <a:ea typeface="Helvetica Neue"/>
                          <a:cs typeface="Helvetica Neue"/>
                        </a:rPr>
                        <a:t>Personal AI</a:t>
                      </a:r>
                    </a:p>
                    <a:p>
                      <a:pPr algn="ctr"/>
                      <a:r>
                        <a:rPr sz="1575" b="1">
                          <a:solidFill>
                            <a:srgbClr val="FFFFFF"/>
                          </a:solidFill>
                          <a:latin typeface="Helvetica Neue"/>
                          <a:ea typeface="Helvetica Neue"/>
                          <a:cs typeface="Helvetica Neue"/>
                        </a:rPr>
                        <a:t>agents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r>
              <a:tr h="323850">
                <a:tc>
                  <a:txBody>
                    <a:bodyPr wrap="square">
                      <a:noAutofit/>
                    </a:bodyPr>
                    <a:lstStyle/>
                    <a:p>
                      <a:pPr algn="l"/>
                      <a:r>
                        <a:rPr sz="1425" b="1">
                          <a:solidFill>
                            <a:srgbClr val="193C32"/>
                          </a:solidFill>
                          <a:latin typeface="Helvetica Neue"/>
                          <a:ea typeface="Helvetica Neue"/>
                          <a:cs typeface="Helvetica Neue"/>
                        </a:rPr>
                        <a:t>Find a business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Compare options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Location &amp; reviews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Conversational request</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Delegate the task</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r>
              <a:tr h="342900">
                <a:tc>
                  <a:txBody>
                    <a:bodyPr wrap="square">
                      <a:noAutofit/>
                    </a:bodyPr>
                    <a:lstStyle/>
                    <a:p>
                      <a:pPr algn="l"/>
                      <a:r>
                        <a:rPr sz="1425" b="1">
                          <a:solidFill>
                            <a:srgbClr val="A95145"/>
                          </a:solidFill>
                          <a:latin typeface="Helvetica Neue"/>
                          <a:ea typeface="Helvetica Neue"/>
                          <a:cs typeface="Helvetica Neue"/>
                        </a:rPr>
                        <a:t>Scope &amp; quote</a:t>
                      </a:r>
                    </a:p>
                  </a:txBody>
                  <a:tcPr marL="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Calls / forms</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r>
              <a:tr h="342900">
                <a:tc>
                  <a:txBody>
                    <a:bodyPr wrap="square">
                      <a:noAutofit/>
                    </a:bodyPr>
                    <a:lstStyle/>
                    <a:p>
                      <a:pPr algn="l"/>
                      <a:r>
                        <a:rPr sz="1425" b="1">
                          <a:solidFill>
                            <a:srgbClr val="A95145"/>
                          </a:solidFill>
                          <a:latin typeface="Helvetica Neue"/>
                          <a:ea typeface="Helvetica Neue"/>
                          <a:cs typeface="Helvetica Neue"/>
                        </a:rPr>
                        <a:t>Live availability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Calls / portals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r>
              <a:tr h="342900">
                <a:tc>
                  <a:txBody>
                    <a:bodyPr wrap="square">
                      <a:noAutofit/>
                    </a:bodyPr>
                    <a:lstStyle/>
                    <a:p>
                      <a:pPr algn="l"/>
                      <a:r>
                        <a:rPr sz="1425" b="1">
                          <a:solidFill>
                            <a:srgbClr val="A95145"/>
                          </a:solidFill>
                          <a:latin typeface="Helvetica Neue"/>
                          <a:ea typeface="Helvetica Neue"/>
                          <a:cs typeface="Helvetica Neue"/>
                        </a:rPr>
                        <a:t>Book &amp; pay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Separate checkout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r>
            </a:tbl>
          </a:graphicData>
        </a:graphic>
      </p:graphicFrame>
      <p:sp>
        <p:nvSpPr>
          <p:cNvPr id="5" name="v27-text-3">
            <a:extLst xmlns:a="http://schemas.openxmlformats.org/drawingml/2006/main">
              <a:ext uri="{FF2B5EF4-FFF2-40B4-BE49-F238E27FC236}">
                <a16:creationId xmlns:a16="http://schemas.microsoft.com/office/drawing/2014/main" id="{89437329-59A7-4A86-AB74-5311450078C4}"/>
              </a:ext>
            </a:extLst>
          </p:cNvPr>
          <p:cNvSpPr>
            <a:spLocks xmlns:a="http://schemas.openxmlformats.org/drawingml/2006/main" noGrp="1"/>
          </p:cNvSpPr>
          <p:nvPr/>
        </p:nvSpPr>
        <p:spPr>
          <a:xfrm xmlns:a="http://schemas.openxmlformats.org/drawingml/2006/main">
            <a:off x="495300" y="5905500"/>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Uber, DoorDash and Booking.com show the value of organized supply.</a:t>
            </a:r>
          </a:p>
        </p:txBody>
      </p:sp>
      <p:sp>
        <p:nvSpPr>
          <p:cNvPr id="6" name="v27-text-4">
            <a:extLst xmlns:a="http://schemas.openxmlformats.org/drawingml/2006/main">
              <a:ext uri="{FF2B5EF4-FFF2-40B4-BE49-F238E27FC236}">
                <a16:creationId xmlns:a16="http://schemas.microsoft.com/office/drawing/2014/main" id="{04F38062-1F73-44CB-ABB6-8F6531BE1471}"/>
              </a:ext>
            </a:extLst>
          </p:cNvPr>
          <p:cNvSpPr>
            <a:spLocks xmlns:a="http://schemas.openxmlformats.org/drawingml/2006/main" noGrp="1"/>
          </p:cNvSpPr>
          <p:nvPr/>
        </p:nvSpPr>
        <p:spPr>
          <a:xfrm xmlns:a="http://schemas.openxmlformats.org/drawingml/2006/main">
            <a:off x="495300" y="6219825"/>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6C4E"/>
                </a:solidFill>
                <a:latin typeface="Helvetica Neue"/>
                <a:ea typeface="Helvetica Neue"/>
                <a:cs typeface="Helvetica Neue"/>
              </a:defRPr>
            </a:defPPr>
          </a:lstStyle>
          <a:p xmlns:a="http://schemas.openxmlformats.org/drawingml/2006/main">
            <a:pPr algn="l">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GoLocal brings a shared booking layer to fragmented local services.</a:t>
            </a:r>
          </a:p>
        </p:txBody>
      </p:sp>
      <p:sp>
        <p:nvSpPr>
          <p:cNvPr id="7" name="v27-text-5">
            <a:extLst xmlns:a="http://schemas.openxmlformats.org/drawingml/2006/main">
              <a:ext uri="{FF2B5EF4-FFF2-40B4-BE49-F238E27FC236}">
                <a16:creationId xmlns:a16="http://schemas.microsoft.com/office/drawing/2014/main" id="{14CA6F7E-D615-41C9-B470-6F8823585EA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~$1.2T: selected U.S. categories, mixed 2023–25 sources, including materials/DIY. Not fee revenue. Illustrative eras.</a:t>
            </a:r>
          </a:p>
        </p:txBody>
      </p:sp>
      <p:sp>
        <p:nvSpPr>
          <p:cNvPr id="8" name="v27-text-6">
            <a:extLst xmlns:a="http://schemas.openxmlformats.org/drawingml/2006/main">
              <a:ext uri="{FF2B5EF4-FFF2-40B4-BE49-F238E27FC236}">
                <a16:creationId xmlns:a16="http://schemas.microsoft.com/office/drawing/2014/main" id="{3FC0B62A-0554-401A-B5AE-E7E336B1F6B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662CC661-0910-4AD0-BA18-09FE7A86CB7A}"/>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85E860A-2AC0-48A5-A018-2598ACB9F3C8}"/>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6711BADF-B908-4622-A8A9-184194EACAAA}"/>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51679125-6448-479E-871C-7603D1801145}"/>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E863665A-B50E-45A5-912D-25A9B577AA9D}"/>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4C861D6C-7100-458A-9311-FA2EF911642F}"/>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D2EE2D08-BC66-4434-ADB2-D041290922D4}"/>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0CC1742F-A82E-442E-BA53-34139A6BAE21}"/>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90501262-6BF3-4785-A01D-9B08DB66B27C}"/>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7EBC76DD-F0FF-497A-92D4-1EDAEC61657F}"/>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1B8D0199-B3C8-4C15-9E3D-1D80A80A72D1}"/>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06BF56D3-EC7F-47D5-9D2C-F232CC636CBC}"/>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F5CAC7FD-49FF-4024-B44F-8F870D25D9F5}"/>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A3C8DB4F-C532-466F-A101-2F66BC37A22D}"/>
              </a:ext>
            </a:extLst>
          </p:cNvPr>
          <p:cNvPicPr>
            <a:picLocks xmlns:a="http://schemas.openxmlformats.org/drawingml/2006/main" noChangeAspect="1"/>
          </p:cNvPicPr>
          <p:nvPr/>
        </p:nvPicPr>
        <p:blipFill>
          <a:blip xmlns:r="http://schemas.openxmlformats.org/officeDocument/2006/relationships" xmlns:a="http://schemas.openxmlformats.org/drawingml/2006/main" r:embed="R9a0282b391e747f6"/>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F4C938E8-7778-485E-85B2-194C8C8153D0}"/>
              </a:ext>
            </a:extLst>
          </p:cNvPr>
          <p:cNvPicPr>
            <a:picLocks xmlns:a="http://schemas.openxmlformats.org/drawingml/2006/main" noChangeAspect="1"/>
          </p:cNvPicPr>
          <p:nvPr/>
        </p:nvPicPr>
        <p:blipFill>
          <a:blip xmlns:r="http://schemas.openxmlformats.org/officeDocument/2006/relationships" xmlns:a="http://schemas.openxmlformats.org/drawingml/2006/main" r:embed="Rb01f6bc6c17e4bf0"/>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F5762A1A-3A57-4E22-BE34-F6C7B965BDCE}"/>
              </a:ext>
            </a:extLst>
          </p:cNvPr>
          <p:cNvPicPr>
            <a:picLocks xmlns:a="http://schemas.openxmlformats.org/drawingml/2006/main" noChangeAspect="1"/>
          </p:cNvPicPr>
          <p:nvPr/>
        </p:nvPicPr>
        <p:blipFill>
          <a:blip xmlns:r="http://schemas.openxmlformats.org/officeDocument/2006/relationships" xmlns:a="http://schemas.openxmlformats.org/drawingml/2006/main" r:embed="Rec02d7b320d74d9e"/>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B575D780-7D17-46E3-A605-1952A652926C}"/>
              </a:ext>
            </a:extLst>
          </p:cNvPr>
          <p:cNvPicPr>
            <a:picLocks xmlns:a="http://schemas.openxmlformats.org/drawingml/2006/main" noChangeAspect="1"/>
          </p:cNvPicPr>
          <p:nvPr/>
        </p:nvPicPr>
        <p:blipFill>
          <a:blip xmlns:r="http://schemas.openxmlformats.org/officeDocument/2006/relationships" xmlns:a="http://schemas.openxmlformats.org/drawingml/2006/main" r:embed="R72d76cae6fd04004"/>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AD05D89A-38FE-4149-A11E-C743398B8F0C}"/>
              </a:ext>
            </a:extLst>
          </p:cNvPr>
          <p:cNvPicPr>
            <a:picLocks xmlns:a="http://schemas.openxmlformats.org/drawingml/2006/main" noChangeAspect="1"/>
          </p:cNvPicPr>
          <p:nvPr/>
        </p:nvPicPr>
        <p:blipFill>
          <a:blip xmlns:r="http://schemas.openxmlformats.org/officeDocument/2006/relationships" xmlns:a="http://schemas.openxmlformats.org/drawingml/2006/main" r:embed="Rfe23801d9bea445e"/>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8FEBC229-8573-45D6-B5D5-1A6F13FC4510}"/>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7999B34F-75D6-4518-A480-881D75EDFDE5}"/>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94383983-1914-4F8F-B207-D18BE218DD73}"/>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B90267F3-E178-4AA9-A101-A49FF5817A6B}"/>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1D5A7A96-8045-470B-8FD1-29C04B1285DF}"/>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A6F39471-F4E5-48EE-AF63-172D032E4556}"/>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9D08DAC3-50FD-4BC7-908F-2026BA26103F}"/>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0DE9A35-2297-4BE2-8CFF-DA6997E389CD}"/>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B6D14D1-6EC0-4F91-9E14-3BDB73A6A256}"/>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236C4E"/>
                </a:solidFill>
                <a:latin typeface="Helvetica Neue"/>
                <a:ea typeface="Helvetica Neue"/>
                <a:cs typeface="Helvetica Neue"/>
              </a:defRPr>
            </a:defPPr>
          </a:lstStyle>
          <a:p xmlns:a="http://schemas.openxmlformats.org/drawingml/2006/main">
            <a:pPr algn="l">
              <a:defRPr sz="7650" b="1">
                <a:solidFill>
                  <a:srgbClr val="236C4E"/>
                </a:solidFill>
                <a:latin typeface="Helvetica Neue"/>
                <a:ea typeface="Helvetica Neue"/>
                <a:cs typeface="Helvetica Neue"/>
              </a:defRPr>
            </a:pPr>
            <a:r>
              <a:rPr sz="7650" b="1">
                <a:solidFill>
                  <a:srgbClr val="236C4E"/>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93C32"/>
                </a:solidFill>
                <a:latin typeface="Helvetica Neue"/>
                <a:ea typeface="Helvetica Neue"/>
                <a:cs typeface="Helvetica Neue"/>
              </a:defRPr>
            </a:defPPr>
          </a:lstStyle>
          <a:p xmlns:a="http://schemas.openxmlformats.org/drawingml/2006/main">
            <a:pPr algn="l">
              <a:defRPr sz="2550" b="1">
                <a:solidFill>
                  <a:srgbClr val="193C32"/>
                </a:solidFill>
                <a:latin typeface="Helvetica Neue"/>
                <a:ea typeface="Helvetica Neue"/>
                <a:cs typeface="Helvetica Neue"/>
              </a:defRPr>
            </a:pPr>
            <a:r>
              <a:rPr sz="2550" b="1">
                <a:solidFill>
                  <a:srgbClr val="193C32"/>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93C32"/>
                </a:solidFill>
                <a:latin typeface="Helvetica Neue"/>
                <a:ea typeface="Helvetica Neue"/>
                <a:cs typeface="Helvetica Neue"/>
              </a:defRPr>
            </a:defPPr>
          </a:lstStyle>
          <a:p xmlns:a="http://schemas.openxmlformats.org/drawingml/2006/main">
            <a:pPr algn="l">
              <a:defRPr sz="2100" b="0">
                <a:solidFill>
                  <a:srgbClr val="193C32"/>
                </a:solidFill>
                <a:latin typeface="Helvetica Neue"/>
                <a:ea typeface="Helvetica Neue"/>
                <a:cs typeface="Helvetica Neue"/>
              </a:defRPr>
            </a:pPr>
            <a:r>
              <a:rPr sz="2100" b="0">
                <a:solidFill>
                  <a:srgbClr val="193C32"/>
                </a:solidFill>
                <a:latin typeface="Helvetica Neue"/>
                <a:ea typeface="Helvetica Neue"/>
                <a:cs typeface="Helvetica Neue"/>
              </a:rPr>
              <a:t>Agreed to introduce GoLocal</a:t>
            </a:r>
          </a:p>
          <a:p xmlns:a="http://schemas.openxmlformats.org/drawingml/2006/main">
            <a:pPr algn="l">
              <a:defRPr sz="2100" b="0">
                <a:solidFill>
                  <a:srgbClr val="193C32"/>
                </a:solidFill>
                <a:latin typeface="Helvetica Neue"/>
                <a:ea typeface="Helvetica Neue"/>
                <a:cs typeface="Helvetica Neue"/>
              </a:defRPr>
            </a:pPr>
            <a:r>
              <a:rPr sz="2100" b="0">
                <a:solidFill>
                  <a:srgbClr val="193C32"/>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236C4E"/>
                </a:solidFill>
                <a:latin typeface="Helvetica Neue"/>
                <a:ea typeface="Helvetica Neue"/>
                <a:cs typeface="Helvetica Neue"/>
              </a:defRPr>
            </a:defPPr>
          </a:lstStyle>
          <a:p xmlns:a="http://schemas.openxmlformats.org/drawingml/2006/main">
            <a:pPr algn="l">
              <a:defRPr sz="7650" b="1">
                <a:solidFill>
                  <a:srgbClr val="236C4E"/>
                </a:solidFill>
                <a:latin typeface="Helvetica Neue"/>
                <a:ea typeface="Helvetica Neue"/>
                <a:cs typeface="Helvetica Neue"/>
              </a:defRPr>
            </a:pPr>
            <a:r>
              <a:rPr sz="7650" b="1">
                <a:solidFill>
                  <a:srgbClr val="236C4E"/>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93C32"/>
                </a:solidFill>
                <a:latin typeface="Helvetica Neue"/>
                <a:ea typeface="Helvetica Neue"/>
                <a:cs typeface="Helvetica Neue"/>
              </a:defRPr>
            </a:defPPr>
          </a:lstStyle>
          <a:p xmlns:a="http://schemas.openxmlformats.org/drawingml/2006/main">
            <a:pPr algn="l">
              <a:defRPr sz="2550" b="1">
                <a:solidFill>
                  <a:srgbClr val="193C32"/>
                </a:solidFill>
                <a:latin typeface="Helvetica Neue"/>
                <a:ea typeface="Helvetica Neue"/>
                <a:cs typeface="Helvetica Neue"/>
              </a:defRPr>
            </a:pPr>
            <a:r>
              <a:rPr sz="2550" b="1">
                <a:solidFill>
                  <a:srgbClr val="193C32"/>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93C32"/>
                </a:solidFill>
                <a:latin typeface="Helvetica Neue"/>
                <a:ea typeface="Helvetica Neue"/>
                <a:cs typeface="Helvetica Neue"/>
              </a:defRPr>
            </a:defPPr>
          </a:lstStyle>
          <a:p xmlns:a="http://schemas.openxmlformats.org/drawingml/2006/main">
            <a:pPr algn="l">
              <a:defRPr sz="2025" b="0">
                <a:solidFill>
                  <a:srgbClr val="193C32"/>
                </a:solidFill>
                <a:latin typeface="Helvetica Neue"/>
                <a:ea typeface="Helvetica Neue"/>
                <a:cs typeface="Helvetica Neue"/>
              </a:defRPr>
            </a:pPr>
            <a:r>
              <a:rPr sz="2025" b="0">
                <a:solidFill>
                  <a:srgbClr val="193C32"/>
                </a:solidFill>
                <a:latin typeface="Helvetica Neue"/>
                <a:ea typeface="Helvetica Neue"/>
                <a:cs typeface="Helvetica Neue"/>
              </a:rPr>
              <a:t>Regional back-office partner.</a:t>
            </a:r>
          </a:p>
          <a:p xmlns:a="http://schemas.openxmlformats.org/drawingml/2006/main">
            <a:pPr algn="l">
              <a:defRPr sz="2025" b="0">
                <a:solidFill>
                  <a:srgbClr val="193C32"/>
                </a:solidFill>
                <a:latin typeface="Helvetica Neue"/>
                <a:ea typeface="Helvetica Neue"/>
                <a:cs typeface="Helvetica Neue"/>
              </a:defRPr>
            </a:pPr>
            <a:r>
              <a:rPr sz="2025" b="0">
                <a:solidFill>
                  <a:srgbClr val="193C32"/>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93C32"/>
                </a:solidFill>
                <a:latin typeface="Helvetica Neue"/>
                <a:ea typeface="Helvetica Neue"/>
                <a:cs typeface="Helvetica Neue"/>
              </a:defRPr>
            </a:defPPr>
          </a:lstStyle>
          <a:p xmlns:a="http://schemas.openxmlformats.org/drawingml/2006/main">
            <a:pPr algn="l">
              <a:defRPr sz="2325" b="1">
                <a:solidFill>
                  <a:srgbClr val="193C32"/>
                </a:solidFill>
                <a:latin typeface="Helvetica Neue"/>
                <a:ea typeface="Helvetica Neue"/>
                <a:cs typeface="Helvetica Neue"/>
              </a:defRPr>
            </a:pPr>
            <a:r>
              <a:rPr sz="2325" b="1">
                <a:solidFill>
                  <a:srgbClr val="193C32"/>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93C32"/>
                </a:solidFill>
                <a:latin typeface="Helvetica Neue"/>
                <a:ea typeface="Helvetica Neue"/>
                <a:cs typeface="Helvetica Neue"/>
              </a:defRPr>
            </a:defPPr>
          </a:lstStyle>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Provider</a:t>
            </a:r>
          </a:p>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93C32"/>
                </a:solidFill>
                <a:latin typeface="Helvetica Neue"/>
                <a:ea typeface="Helvetica Neue"/>
                <a:cs typeface="Helvetica Neue"/>
              </a:defRPr>
            </a:defPPr>
          </a:lstStyle>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Onboard providers</a:t>
            </a:r>
          </a:p>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236C4E"/>
                </a:solidFill>
                <a:latin typeface="Helvetica Neue"/>
                <a:ea typeface="Helvetica Neue"/>
                <a:cs typeface="Helvetica Neue"/>
              </a:defRPr>
            </a:defPPr>
          </a:lstStyle>
          <a:p xmlns:a="http://schemas.openxmlformats.org/drawingml/2006/main">
            <a:pPr algn="l">
              <a:defRPr sz="1950" b="1">
                <a:solidFill>
                  <a:srgbClr val="236C4E"/>
                </a:solidFill>
                <a:latin typeface="Helvetica Neue"/>
                <a:ea typeface="Helvetica Neue"/>
                <a:cs typeface="Helvetica Neue"/>
              </a:defRPr>
            </a:pPr>
            <a:r>
              <a:rPr sz="1950" b="1">
                <a:solidFill>
                  <a:srgbClr val="236C4E"/>
                </a:solidFill>
                <a:latin typeface="Helvetica Neue"/>
                <a:ea typeface="Helvetica Neue"/>
                <a:cs typeface="Helvetica Neue"/>
              </a:rPr>
              <a:t>Test customer-authorized</a:t>
            </a:r>
          </a:p>
          <a:p xmlns:a="http://schemas.openxmlformats.org/drawingml/2006/main">
            <a:pPr algn="l">
              <a:defRPr sz="1950" b="1">
                <a:solidFill>
                  <a:srgbClr val="236C4E"/>
                </a:solidFill>
                <a:latin typeface="Helvetica Neue"/>
                <a:ea typeface="Helvetica Neue"/>
                <a:cs typeface="Helvetica Neue"/>
              </a:defRPr>
            </a:pPr>
            <a:r>
              <a:rPr sz="1950" b="1">
                <a:solidFill>
                  <a:srgbClr val="236C4E"/>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31C86A3F-BAE1-4D73-ABDE-678919CBA48D}"/>
              </a:ext>
            </a:extLst>
          </p:cNvPr>
          <p:cNvPicPr>
            <a:picLocks xmlns:a="http://schemas.openxmlformats.org/drawingml/2006/main" noChangeAspect="1"/>
          </p:cNvPicPr>
          <p:nvPr/>
        </p:nvPicPr>
        <p:blipFill>
          <a:blip xmlns:r="http://schemas.openxmlformats.org/officeDocument/2006/relationships" xmlns:a="http://schemas.openxmlformats.org/drawingml/2006/main" r:embed="R52cf018202d24aa2"/>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B91DC0E6-8AA3-4B26-87E5-270E4E0A926F}"/>
              </a:ext>
            </a:extLst>
          </p:cNvPr>
          <p:cNvPicPr>
            <a:picLocks xmlns:a="http://schemas.openxmlformats.org/drawingml/2006/main" noChangeAspect="1"/>
          </p:cNvPicPr>
          <p:nvPr/>
        </p:nvPicPr>
        <p:blipFill>
          <a:blip xmlns:r="http://schemas.openxmlformats.org/officeDocument/2006/relationships" xmlns:a="http://schemas.openxmlformats.org/drawingml/2006/main" r:embed="Rce886dc23c6e4898"/>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498f08a9ce7048e7"/>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6da21512b224b0d"/>
              </a:rPr>
              <a:t>LinkedIn</a:t>
            </a:r>
          </a:p>
        </p:txBody>
      </p:sp>
      <p:pic>
        <p:nvPicPr>
          <p:cNvPr id="11" name="Picture 10">
            <a:extLst xmlns:a="http://schemas.openxmlformats.org/drawingml/2006/main">
              <a:ext uri="{FF2B5EF4-FFF2-40B4-BE49-F238E27FC236}">
                <a16:creationId xmlns:a16="http://schemas.microsoft.com/office/drawing/2014/main" id="{68F70212-4576-4560-8A75-E2A45506D174}"/>
              </a:ext>
            </a:extLst>
          </p:cNvPr>
          <p:cNvPicPr>
            <a:picLocks xmlns:a="http://schemas.openxmlformats.org/drawingml/2006/main" noChangeAspect="1"/>
          </p:cNvPicPr>
          <p:nvPr/>
        </p:nvPicPr>
        <p:blipFill>
          <a:blip xmlns:r="http://schemas.openxmlformats.org/officeDocument/2006/relationships" xmlns:a="http://schemas.openxmlformats.org/drawingml/2006/main" r:embed="Re9a4cde1c1374784"/>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F90C8683-6F8D-4985-AEB2-FD4CCCF34EAB}"/>
              </a:ext>
            </a:extLst>
          </p:cNvPr>
          <p:cNvPicPr>
            <a:picLocks xmlns:a="http://schemas.openxmlformats.org/drawingml/2006/main" noChangeAspect="1"/>
          </p:cNvPicPr>
          <p:nvPr/>
        </p:nvPicPr>
        <p:blipFill>
          <a:blip xmlns:r="http://schemas.openxmlformats.org/officeDocument/2006/relationships" xmlns:a="http://schemas.openxmlformats.org/drawingml/2006/main" r:embed="R723b6cbbd0024774"/>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664AB3B2-C47F-4EB5-8A09-E258793F9DC4}"/>
              </a:ext>
            </a:extLst>
          </p:cNvPr>
          <p:cNvPicPr>
            <a:picLocks xmlns:a="http://schemas.openxmlformats.org/drawingml/2006/main" noChangeAspect="1"/>
          </p:cNvPicPr>
          <p:nvPr/>
        </p:nvPicPr>
        <p:blipFill>
          <a:blip xmlns:r="http://schemas.openxmlformats.org/officeDocument/2006/relationships" xmlns:a="http://schemas.openxmlformats.org/drawingml/2006/main" r:embed="R1e5d6d676d44479b"/>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2026-10-11T01:24:34.5650000Z</dcterms:created>
  <dcterms:modified xsi:type="dcterms:W3CDTF">2026-10-11T01:24:34.5650000Z</dcterms:modified>
</coreProperties>
</file>