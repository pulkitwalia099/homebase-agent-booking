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95a78c1ca645aa" /><Relationship Type="http://schemas.openxmlformats.org/officeDocument/2006/relationships/extended-properties" Target="/docProps/app.xml" Id="R53f1240148164376" /><Relationship Type="http://schemas.openxmlformats.org/officeDocument/2006/relationships/officeDocument" Target="/ppt/presentation.xml" Id="R5474cc3630b34f88" /></Relationships>
</file>

<file path=ppt/presentation.xml><?xml version="1.0" encoding="utf-8"?>
<p:presentation xmlns:p="http://schemas.openxmlformats.org/presentationml/2006/main">
  <p:sldMasterIdLst>
    <p:sldMasterId xmlns:r="http://schemas.openxmlformats.org/officeDocument/2006/relationships" id="2147483648" r:id="Rb7a05033677346da"/>
  </p:sldMasterIdLst>
  <p:notesMasterIdLst>
    <p:notesMasterId xmlns:r="http://schemas.openxmlformats.org/officeDocument/2006/relationships" r:id="Rd21a6126dd0f45ee"/>
  </p:notesMasterIdLst>
  <p:sldIdLst>
    <p:sldId xmlns:r="http://schemas.openxmlformats.org/officeDocument/2006/relationships" id="256" r:id="R4db7f0608e604e48"/>
    <p:sldId xmlns:r="http://schemas.openxmlformats.org/officeDocument/2006/relationships" id="257" r:id="R0611ad34869b485f"/>
    <p:sldId xmlns:r="http://schemas.openxmlformats.org/officeDocument/2006/relationships" id="258" r:id="R436896ea37c340fd"/>
    <p:sldId xmlns:r="http://schemas.openxmlformats.org/officeDocument/2006/relationships" id="259" r:id="R73bd73800fdf4e61"/>
    <p:sldId xmlns:r="http://schemas.openxmlformats.org/officeDocument/2006/relationships" id="260" r:id="Red08bd5b6740421f"/>
    <p:sldId xmlns:r="http://schemas.openxmlformats.org/officeDocument/2006/relationships" id="261" r:id="Rf1bf5aa757a242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a5da2c24b64dbf" /><Relationship Type="http://schemas.openxmlformats.org/officeDocument/2006/relationships/slideMaster" Target="/ppt/slideMasters/slideMaster1.xml" Id="Rb7a05033677346da" /><Relationship Type="http://schemas.openxmlformats.org/officeDocument/2006/relationships/notesMaster" Target="/ppt/notesMasters/notesMaster1.xml" Id="Rd21a6126dd0f45ee" /><Relationship Type="http://schemas.openxmlformats.org/officeDocument/2006/relationships/presProps" Target="/ppt/presProps.xml" Id="Re62bfaa0e3514398" /><Relationship Type="http://schemas.openxmlformats.org/officeDocument/2006/relationships/tableStyles" Target="/ppt/tableStyles.xml" Id="Rc8bdedb1126943eb" /><Relationship Type="http://schemas.openxmlformats.org/officeDocument/2006/relationships/slide" Target="/ppt/slides/slide1.xml" Id="R4db7f0608e604e48" /><Relationship Type="http://schemas.openxmlformats.org/officeDocument/2006/relationships/slide" Target="/ppt/slides/slide2.xml" Id="R0611ad34869b485f" /><Relationship Type="http://schemas.openxmlformats.org/officeDocument/2006/relationships/slide" Target="/ppt/slides/slide3.xml" Id="R436896ea37c340fd" /><Relationship Type="http://schemas.openxmlformats.org/officeDocument/2006/relationships/slide" Target="/ppt/slides/slide4.xml" Id="R73bd73800fdf4e61" /><Relationship Type="http://schemas.openxmlformats.org/officeDocument/2006/relationships/slide" Target="/ppt/slides/slide5.xml" Id="Red08bd5b6740421f" /><Relationship Type="http://schemas.openxmlformats.org/officeDocument/2006/relationships/slide" Target="/ppt/slides/slide6.xml" Id="Rf1bf5aa757a242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1cc0c6b44849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d58363a2e54650" /><Relationship Type="http://schemas.openxmlformats.org/officeDocument/2006/relationships/notesMaster" Target="/ppt/notesMasters/notesMaster1.xml" Id="R5f5011016f1044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6f39a810504a55" /><Relationship Type="http://schemas.openxmlformats.org/officeDocument/2006/relationships/notesMaster" Target="/ppt/notesMasters/notesMaster1.xml" Id="Rbd2a5e3f14d54b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ab13f337ec419a" /><Relationship Type="http://schemas.openxmlformats.org/officeDocument/2006/relationships/notesMaster" Target="/ppt/notesMasters/notesMaster1.xml" Id="R578e2414c38b48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9e0965005541ca" /><Relationship Type="http://schemas.openxmlformats.org/officeDocument/2006/relationships/notesMaster" Target="/ppt/notesMasters/notesMaster1.xml" Id="R0637416d0a2744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82811ea0b14827" /><Relationship Type="http://schemas.openxmlformats.org/officeDocument/2006/relationships/notesMaster" Target="/ppt/notesMasters/notesMaster1.xml" Id="Rd104a46467ae4f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acb812229e4ed1" /><Relationship Type="http://schemas.openxmlformats.org/officeDocument/2006/relationships/notesMaster" Target="/ppt/notesMasters/notesMaster1.xml" Id="Ra538c4f92c6c46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progression of customer tasks, not product launch chronology. Yellow Pages made businesses and phone numbers discoverable; calls remained manual. Web search and listing sites expanded search/filtering. Maps made location and reviews central, although reviews and ratings also predate Maps. Some search/Maps listings and existing vertical platforms already support appointments/payments. The matrix describes a typical fragmented local-service journey, not a universal absence of booking. Agents can act by browsing/calling; GoLocal would supply structured data and transaction tools for participating authorized businesses. Quotes can require follow-up, inspection or merchant acceptance. Payments require approved checkout, customer consent and platform-appropriate integrations. The Stripe analogy means shared transaction infrastructure, not a claim that GoLocal is a licensed payment processor or solely a payments company. No planned tool is presented as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5f0bc39b274e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3b5b9b65ab40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1b42cd011841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57f6d2538443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714c2cf0b940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afed315c7949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901f1880aa4a63" /><Relationship Type="http://schemas.openxmlformats.org/officeDocument/2006/relationships/slideLayout" Target="/ppt/slideLayouts/slideLayout1.xml" Id="Reee61c0963e04e9a" /><Relationship Type="http://schemas.openxmlformats.org/officeDocument/2006/relationships/slideLayout" Target="/ppt/slideLayouts/slideLayout2.xml" Id="R82ef1bf632184e94" /><Relationship Type="http://schemas.openxmlformats.org/officeDocument/2006/relationships/slideLayout" Target="/ppt/slideLayouts/slideLayout3.xml" Id="Rf90a59d1b6dd4f06" /><Relationship Type="http://schemas.openxmlformats.org/officeDocument/2006/relationships/slideLayout" Target="/ppt/slideLayouts/slideLayout4.xml" Id="R07439824e60f405e" /><Relationship Type="http://schemas.openxmlformats.org/officeDocument/2006/relationships/slideLayout" Target="/ppt/slideLayouts/slideLayout5.xml" Id="Rb0560e9ea1974cc3" /><Relationship Type="http://schemas.openxmlformats.org/officeDocument/2006/relationships/slideLayout" Target="/ppt/slideLayouts/slideLayout6.xml" Id="R5b2f4ef20bc447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e61c0963e04e9a"/>
    <p:sldLayoutId xmlns:r="http://schemas.openxmlformats.org/officeDocument/2006/relationships" id="2147483650" r:id="R82ef1bf632184e94"/>
    <p:sldLayoutId xmlns:r="http://schemas.openxmlformats.org/officeDocument/2006/relationships" id="2147483651" r:id="Rf90a59d1b6dd4f06"/>
    <p:sldLayoutId xmlns:r="http://schemas.openxmlformats.org/officeDocument/2006/relationships" id="2147483652" r:id="R07439824e60f405e"/>
    <p:sldLayoutId xmlns:r="http://schemas.openxmlformats.org/officeDocument/2006/relationships" id="2147483653" r:id="Rb0560e9ea1974cc3"/>
    <p:sldLayoutId xmlns:r="http://schemas.openxmlformats.org/officeDocument/2006/relationships" id="2147483654" r:id="R5b2f4ef20bc447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ec2c36ba274775" /><Relationship Type="http://schemas.openxmlformats.org/officeDocument/2006/relationships/notesSlide" Target="/ppt/notesSlides/notesSlide1.xml" Id="Re7f61c291ae44d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639ff4f4b04d73" /><Relationship Type="http://schemas.openxmlformats.org/officeDocument/2006/relationships/notesSlide" Target="/ppt/notesSlides/notesSlide2.xml" Id="R97b5ba61f6e043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cb3ab92a2d40c1" /><Relationship Type="http://schemas.openxmlformats.org/officeDocument/2006/relationships/notesSlide" Target="/ppt/notesSlides/notesSlide3.xml" Id="R67eb507523ec46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f352127f86420e" /><Relationship Type="http://schemas.openxmlformats.org/officeDocument/2006/relationships/notesSlide" Target="/ppt/notesSlides/notesSlide4.xml" Id="R5ce83ec4945949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66ecd00c6943dd" /><Relationship Type="http://schemas.openxmlformats.org/officeDocument/2006/relationships/notesSlide" Target="/ppt/notesSlides/notesSlide5.xml" Id="Rc7fc9470b9f84a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e039602b5a41fd" /><Relationship Type="http://schemas.openxmlformats.org/officeDocument/2006/relationships/notesSlide" Target="/ppt/notesSlides/notesSlide6.xml" Id="R19875d73264c478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7B2259C-7072-4D64-96F7-4D2A838ECA2A}"/>
              </a:ext>
            </a:extLst>
          </p:cNvPr>
          <p:cNvSpPr>
            <a:spLocks xmlns:a="http://schemas.openxmlformats.org/drawingml/2006/main" noGrp="1"/>
          </p:cNvSpPr>
          <p:nvPr/>
        </p:nvSpPr>
        <p:spPr>
          <a:xfrm xmlns:a="http://schemas.openxmlformats.org/drawingml/2006/main">
            <a:off x="457200" y="2476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8352F"/>
                </a:solidFill>
                <a:latin typeface="Helvetica Neue"/>
                <a:ea typeface="Helvetica Neue"/>
                <a:cs typeface="Helvetica Neue"/>
              </a:defRPr>
            </a:defPPr>
          </a:lstStyle>
          <a:p xmlns:a="http://schemas.openxmlformats.org/drawingml/2006/main">
            <a:pPr>
              <a:defRPr sz="3450" b="1">
                <a:solidFill>
                  <a:srgbClr val="18352F"/>
                </a:solidFill>
                <a:latin typeface="Helvetica Neue"/>
                <a:ea typeface="Helvetica Neue"/>
                <a:cs typeface="Helvetica Neue"/>
              </a:defRPr>
            </a:pPr>
            <a:r>
              <a:rPr sz="3450" b="1">
                <a:solidFill>
                  <a:srgbClr val="18352F"/>
                </a:solidFill>
                <a:latin typeface="Helvetica Neue"/>
                <a:ea typeface="Helvetica Neue"/>
                <a:cs typeface="Helvetica Neue"/>
              </a:rPr>
              <a:t>GoLocal</a:t>
            </a:r>
          </a:p>
        </p:txBody>
      </p:sp>
      <p:sp>
        <p:nvSpPr>
          <p:cNvPr id="2" name="text-1">
            <a:extLst xmlns:a="http://schemas.openxmlformats.org/drawingml/2006/main">
              <a:ext uri="{FF2B5EF4-FFF2-40B4-BE49-F238E27FC236}">
                <a16:creationId xmlns:a16="http://schemas.microsoft.com/office/drawing/2014/main" id="{F2EADE29-275D-44C4-8DD4-F3E9D73445A8}"/>
              </a:ext>
            </a:extLst>
          </p:cNvPr>
          <p:cNvSpPr>
            <a:spLocks xmlns:a="http://schemas.openxmlformats.org/drawingml/2006/main" noGrp="1"/>
          </p:cNvSpPr>
          <p:nvPr/>
        </p:nvSpPr>
        <p:spPr>
          <a:xfrm xmlns:a="http://schemas.openxmlformats.org/drawingml/2006/main">
            <a:off x="4000500" y="352425"/>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215C4E"/>
                </a:solidFill>
                <a:latin typeface="Helvetica Neue"/>
                <a:ea typeface="Helvetica Neue"/>
                <a:cs typeface="Helvetica Neue"/>
              </a:defRPr>
            </a:defPPr>
          </a:lstStyle>
          <a:p xmlns:a="http://schemas.openxmlformats.org/drawingml/2006/main">
            <a:pPr>
              <a:defRPr sz="2250" b="1">
                <a:solidFill>
                  <a:srgbClr val="215C4E"/>
                </a:solidFill>
                <a:latin typeface="Helvetica Neue"/>
                <a:ea typeface="Helvetica Neue"/>
                <a:cs typeface="Helvetica Neue"/>
              </a:defRPr>
            </a:pPr>
            <a:r>
              <a:rPr sz="2250" b="1">
                <a:solidFill>
                  <a:srgbClr val="215C4E"/>
                </a:solidFill>
                <a:latin typeface="Helvetica Neue"/>
                <a:ea typeface="Helvetica Neue"/>
                <a:cs typeface="Helvetica Neue"/>
              </a:rPr>
              <a:t>Stripe for home-service bookings</a:t>
            </a:r>
          </a:p>
        </p:txBody>
      </p:sp>
      <p:sp>
        <p:nvSpPr>
          <p:cNvPr id="3" name="text-2">
            <a:extLst xmlns:a="http://schemas.openxmlformats.org/drawingml/2006/main">
              <a:ext uri="{FF2B5EF4-FFF2-40B4-BE49-F238E27FC236}">
                <a16:creationId xmlns:a16="http://schemas.microsoft.com/office/drawing/2014/main" id="{018245B4-9FD2-4A7C-87B0-C89D3B8DB250}"/>
              </a:ext>
            </a:extLst>
          </p:cNvPr>
          <p:cNvSpPr>
            <a:spLocks xmlns:a="http://schemas.openxmlformats.org/drawingml/2006/main" noGrp="1"/>
          </p:cNvSpPr>
          <p:nvPr/>
        </p:nvSpPr>
        <p:spPr>
          <a:xfrm xmlns:a="http://schemas.openxmlformats.org/drawingml/2006/main">
            <a:off x="457200" y="1047750"/>
            <a:ext cx="11277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00" b="1">
                <a:solidFill>
                  <a:srgbClr val="18352F"/>
                </a:solidFill>
                <a:latin typeface="Helvetica Neue"/>
                <a:ea typeface="Helvetica Neue"/>
                <a:cs typeface="Helvetica Neue"/>
              </a:defRPr>
            </a:defPPr>
          </a:lstStyle>
          <a:p xmlns:a="http://schemas.openxmlformats.org/drawingml/2006/main">
            <a:pPr>
              <a:defRPr sz="2700" b="1">
                <a:solidFill>
                  <a:srgbClr val="18352F"/>
                </a:solidFill>
                <a:latin typeface="Helvetica Neue"/>
                <a:ea typeface="Helvetica Neue"/>
                <a:cs typeface="Helvetica Neue"/>
              </a:defRPr>
            </a:pPr>
            <a:r>
              <a:rPr sz="2700" b="1">
                <a:solidFill>
                  <a:srgbClr val="18352F"/>
                </a:solidFill>
                <a:latin typeface="Helvetica Neue"/>
                <a:ea typeface="Helvetica Neue"/>
                <a:cs typeface="Helvetica Neue"/>
              </a:rPr>
              <a:t>Each platform made more of the local-service journey easier</a:t>
            </a:r>
          </a:p>
        </p:txBody>
      </p:sp>
      <p:graphicFrame>
        <p:nvGraphicFramePr>
          <p:cNvPr id="4" name="">
            <a:extLst xmlns:a="http://schemas.openxmlformats.org/drawingml/2006/main">
              <a:ext uri="{FF2B5EF4-FFF2-40B4-BE49-F238E27FC236}">
                <a16:creationId xmlns:a16="http://schemas.microsoft.com/office/drawing/2014/main" id="{637CEEE2-3413-41A5-88BD-FC20F8F16AE9}"/>
              </a:ext>
            </a:extLst>
          </p:cNvPr>
          <p:cNvGraphicFramePr/>
          <p:nvPr/>
        </p:nvGraphicFramePr>
        <p:xfrm>
          <a:off xmlns:a="http://schemas.openxmlformats.org/drawingml/2006/main" x="457200" y="1924050"/>
          <a:ext xmlns:a="http://schemas.openxmlformats.org/drawingml/2006/main" cx="11277600" cy="3733800"/>
        </p:xfrm>
        <a:graphic xmlns:a="http://schemas.openxmlformats.org/drawingml/2006/main">
          <a:graphicData uri="http://schemas.openxmlformats.org/drawingml/2006/table">
            <a:tbl>
              <a:tblPr firstRow="0" firstCol="0" bandRow="0"/>
              <a:tblGrid>
                <a:gridCol w="2133600"/>
                <a:gridCol w="1828800"/>
                <a:gridCol w="1828800"/>
                <a:gridCol w="1828800"/>
                <a:gridCol w="1828800"/>
                <a:gridCol w="1828800"/>
              </a:tblGrid>
              <a:tr h="666750">
                <a:tc>
                  <a:txBody>
                    <a:bodyPr wrap="square">
                      <a:noAutofit/>
                    </a:bodyPr>
                    <a:lstStyle/>
                    <a:p>
                      <a:pPr algn="l"/>
                      <a:r>
                        <a:rPr sz="1500" b="1">
                          <a:solidFill>
                            <a:srgbClr val="18352F"/>
                          </a:solidFill>
                          <a:latin typeface="Helvetica Neue"/>
                          <a:ea typeface="Helvetica Neue"/>
                          <a:cs typeface="Helvetica Neue"/>
                        </a:rPr>
                        <a:t>Customer task</a:t>
                      </a:r>
                    </a:p>
                  </a:txBody>
                  <a:tcPr marL="95250" marR="95250" marT="76200" marB="47625" anchor="ctr">
                    <a:solidFill>
                      <a:srgbClr val="F3F4F2"/>
                    </a:solidFill>
                  </a:tcPr>
                </a:tc>
                <a:tc>
                  <a:txBody>
                    <a:bodyPr wrap="square">
                      <a:noAutofit/>
                    </a:bodyPr>
                    <a:lstStyle/>
                    <a:p>
                      <a:pPr algn="ctr"/>
                      <a:r>
                        <a:rPr sz="1500" b="1">
                          <a:solidFill>
                            <a:srgbClr val="18352F"/>
                          </a:solidFill>
                          <a:latin typeface="Helvetica Neue"/>
                          <a:ea typeface="Helvetica Neue"/>
                          <a:cs typeface="Helvetica Neue"/>
                        </a:rPr>
                        <a:t>Phone era</a:t>
                      </a:r>
                    </a:p>
                    <a:p>
                      <a:pPr algn="ctr"/>
                      <a:r>
                        <a:rPr sz="1500" b="1">
                          <a:solidFill>
                            <a:srgbClr val="18352F"/>
                          </a:solidFill>
                          <a:latin typeface="Helvetica Neue"/>
                          <a:ea typeface="Helvetica Neue"/>
                          <a:cs typeface="Helvetica Neue"/>
                        </a:rPr>
                        <a:t>Yellow Pages</a:t>
                      </a:r>
                    </a:p>
                  </a:txBody>
                  <a:tcPr marL="95250" marR="95250" marT="76200" marB="47625" anchor="ctr">
                    <a:solidFill>
                      <a:srgbClr val="F3F4F2"/>
                    </a:solidFill>
                  </a:tcPr>
                </a:tc>
                <a:tc>
                  <a:txBody>
                    <a:bodyPr wrap="square">
                      <a:noAutofit/>
                    </a:bodyPr>
                    <a:lstStyle/>
                    <a:p>
                      <a:pPr algn="ctr"/>
                      <a:r>
                        <a:rPr sz="1500" b="1">
                          <a:solidFill>
                            <a:srgbClr val="18352F"/>
                          </a:solidFill>
                          <a:latin typeface="Helvetica Neue"/>
                          <a:ea typeface="Helvetica Neue"/>
                          <a:cs typeface="Helvetica Neue"/>
                        </a:rPr>
                        <a:t>Web era</a:t>
                      </a:r>
                    </a:p>
                    <a:p>
                      <a:pPr algn="ctr"/>
                      <a:r>
                        <a:rPr sz="1500" b="1">
                          <a:solidFill>
                            <a:srgbClr val="18352F"/>
                          </a:solidFill>
                          <a:latin typeface="Helvetica Neue"/>
                          <a:ea typeface="Helvetica Neue"/>
                          <a:cs typeface="Helvetica Neue"/>
                        </a:rPr>
                        <a:t>Google / sites</a:t>
                      </a:r>
                    </a:p>
                  </a:txBody>
                  <a:tcPr marL="95250" marR="95250" marT="76200" marB="47625" anchor="ctr">
                    <a:solidFill>
                      <a:srgbClr val="F3F4F2"/>
                    </a:solidFill>
                  </a:tcPr>
                </a:tc>
                <a:tc>
                  <a:txBody>
                    <a:bodyPr wrap="square">
                      <a:noAutofit/>
                    </a:bodyPr>
                    <a:lstStyle/>
                    <a:p>
                      <a:pPr algn="ctr"/>
                      <a:r>
                        <a:rPr sz="1500" b="1">
                          <a:solidFill>
                            <a:srgbClr val="18352F"/>
                          </a:solidFill>
                          <a:latin typeface="Helvetica Neue"/>
                          <a:ea typeface="Helvetica Neue"/>
                          <a:cs typeface="Helvetica Neue"/>
                        </a:rPr>
                        <a:t>Mobile era</a:t>
                      </a:r>
                    </a:p>
                    <a:p>
                      <a:pPr algn="ctr"/>
                      <a:r>
                        <a:rPr sz="1500" b="1">
                          <a:solidFill>
                            <a:srgbClr val="18352F"/>
                          </a:solidFill>
                          <a:latin typeface="Helvetica Neue"/>
                          <a:ea typeface="Helvetica Neue"/>
                          <a:cs typeface="Helvetica Neue"/>
                        </a:rPr>
                        <a:t>Maps</a:t>
                      </a:r>
                    </a:p>
                  </a:txBody>
                  <a:tcPr marL="95250" marR="95250" marT="76200" marB="47625" anchor="ctr">
                    <a:solidFill>
                      <a:srgbClr val="F3F4F2"/>
                    </a:solidFill>
                  </a:tcPr>
                </a:tc>
                <a:tc>
                  <a:txBody>
                    <a:bodyPr wrap="square">
                      <a:noAutofit/>
                    </a:bodyPr>
                    <a:lstStyle/>
                    <a:p>
                      <a:pPr algn="ctr"/>
                      <a:r>
                        <a:rPr sz="1500" b="1">
                          <a:solidFill>
                            <a:srgbClr val="18352F"/>
                          </a:solidFill>
                          <a:latin typeface="Helvetica Neue"/>
                          <a:ea typeface="Helvetica Neue"/>
                          <a:cs typeface="Helvetica Neue"/>
                        </a:rPr>
                        <a:t>Agent era</a:t>
                      </a:r>
                    </a:p>
                    <a:p>
                      <a:pPr algn="ctr"/>
                      <a:r>
                        <a:rPr sz="1500" b="1">
                          <a:solidFill>
                            <a:srgbClr val="18352F"/>
                          </a:solidFill>
                          <a:latin typeface="Helvetica Neue"/>
                          <a:ea typeface="Helvetica Neue"/>
                          <a:cs typeface="Helvetica Neue"/>
                        </a:rPr>
                        <a:t>Personal agents</a:t>
                      </a:r>
                    </a:p>
                  </a:txBody>
                  <a:tcPr marL="95250" marR="95250" marT="76200" marB="47625" anchor="ctr">
                    <a:solidFill>
                      <a:srgbClr val="F3F4F2"/>
                    </a:solidFill>
                  </a:tcPr>
                </a:tc>
                <a:tc>
                  <a:txBody>
                    <a:bodyPr wrap="square">
                      <a:noAutofit/>
                    </a:bodyPr>
                    <a:lstStyle/>
                    <a:p>
                      <a:pPr algn="ctr"/>
                      <a:r>
                        <a:rPr sz="1500" b="1">
                          <a:solidFill>
                            <a:srgbClr val="215C4E"/>
                          </a:solidFill>
                          <a:latin typeface="Helvetica Neue"/>
                          <a:ea typeface="Helvetica Neue"/>
                          <a:cs typeface="Helvetica Neue"/>
                        </a:rPr>
                        <a:t>GoLocal</a:t>
                      </a:r>
                    </a:p>
                    <a:p>
                      <a:pPr algn="ctr"/>
                      <a:r>
                        <a:rPr sz="1500" b="1">
                          <a:solidFill>
                            <a:srgbClr val="215C4E"/>
                          </a:solidFill>
                          <a:latin typeface="Helvetica Neue"/>
                          <a:ea typeface="Helvetica Neue"/>
                          <a:cs typeface="Helvetica Neue"/>
                        </a:rPr>
                        <a:t>Planned layer</a:t>
                      </a:r>
                    </a:p>
                  </a:txBody>
                  <a:tcPr marL="95250" marR="95250" marT="76200" marB="47625" anchor="ctr">
                    <a:solidFill>
                      <a:srgbClr val="F3F4F2"/>
                    </a:solidFill>
                  </a:tcPr>
                </a:tc>
              </a:tr>
              <a:tr h="438150">
                <a:tc>
                  <a:txBody>
                    <a:bodyPr wrap="square">
                      <a:noAutofit/>
                    </a:bodyPr>
                    <a:lstStyle/>
                    <a:p>
                      <a:pPr algn="l"/>
                      <a:r>
                        <a:rPr sz="1500" b="1">
                          <a:solidFill>
                            <a:srgbClr val="18352F"/>
                          </a:solidFill>
                          <a:latin typeface="Helvetica Neue"/>
                          <a:ea typeface="Helvetica Neue"/>
                          <a:cs typeface="Helvetica Neue"/>
                        </a:rPr>
                        <a:t>Find business</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Directory</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Search</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Nearby search</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Agent search</a:t>
                      </a:r>
                    </a:p>
                  </a:txBody>
                  <a:tcPr marL="95250" marR="95250" marT="76200" marB="47625" anchor="ctr">
                    <a:solidFill>
                      <a:srgbClr val="FFFFFF"/>
                    </a:solidFill>
                  </a:tcPr>
                </a:tc>
                <a:tc>
                  <a:txBody>
                    <a:bodyPr wrap="square">
                      <a:noAutofit/>
                    </a:bodyPr>
                    <a:lstStyle/>
                    <a:p>
                      <a:pPr algn="ctr"/>
                      <a:r>
                        <a:rPr sz="1500" b="0">
                          <a:solidFill>
                            <a:srgbClr val="215C4E"/>
                          </a:solidFill>
                          <a:latin typeface="Helvetica Neue"/>
                          <a:ea typeface="Helvetica Neue"/>
                          <a:cs typeface="Helvetica Neue"/>
                        </a:rPr>
                        <a:t>Agent search</a:t>
                      </a:r>
                    </a:p>
                  </a:txBody>
                  <a:tcPr marL="95250" marR="95250" marT="76200" marB="47625" anchor="ctr">
                    <a:solidFill>
                      <a:srgbClr val="E5EFEA"/>
                    </a:solidFill>
                  </a:tcPr>
                </a:tc>
              </a:tr>
              <a:tr h="438150">
                <a:tc>
                  <a:txBody>
                    <a:bodyPr wrap="square">
                      <a:noAutofit/>
                    </a:bodyPr>
                    <a:lstStyle/>
                    <a:p>
                      <a:pPr algn="l"/>
                      <a:r>
                        <a:rPr sz="1500" b="1">
                          <a:solidFill>
                            <a:srgbClr val="18352F"/>
                          </a:solidFill>
                          <a:latin typeface="Helvetica Neue"/>
                          <a:ea typeface="Helvetica Neue"/>
                          <a:cs typeface="Helvetica Neue"/>
                        </a:rPr>
                        <a:t>Compare options</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Call around</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Filters</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Reviews</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Agent compares</a:t>
                      </a:r>
                    </a:p>
                  </a:txBody>
                  <a:tcPr marL="95250" marR="95250" marT="76200" marB="47625" anchor="ctr">
                    <a:solidFill>
                      <a:srgbClr val="FFFFFF"/>
                    </a:solidFill>
                  </a:tcPr>
                </a:tc>
                <a:tc>
                  <a:txBody>
                    <a:bodyPr wrap="square">
                      <a:noAutofit/>
                    </a:bodyPr>
                    <a:lstStyle/>
                    <a:p>
                      <a:pPr algn="ctr"/>
                      <a:r>
                        <a:rPr sz="1500" b="0">
                          <a:solidFill>
                            <a:srgbClr val="215C4E"/>
                          </a:solidFill>
                          <a:latin typeface="Helvetica Neue"/>
                          <a:ea typeface="Helvetica Neue"/>
                          <a:cs typeface="Helvetica Neue"/>
                        </a:rPr>
                        <a:t>Structured data</a:t>
                      </a:r>
                    </a:p>
                  </a:txBody>
                  <a:tcPr marL="95250" marR="95250" marT="76200" marB="47625" anchor="ctr">
                    <a:solidFill>
                      <a:srgbClr val="E5EFEA"/>
                    </a:solidFill>
                  </a:tcPr>
                </a:tc>
              </a:tr>
              <a:tr h="438150">
                <a:tc>
                  <a:txBody>
                    <a:bodyPr wrap="square">
                      <a:noAutofit/>
                    </a:bodyPr>
                    <a:lstStyle/>
                    <a:p>
                      <a:pPr algn="l"/>
                      <a:r>
                        <a:rPr sz="1500" b="1">
                          <a:solidFill>
                            <a:srgbClr val="18352F"/>
                          </a:solidFill>
                          <a:latin typeface="Helvetica Neue"/>
                          <a:ea typeface="Helvetica Neue"/>
                          <a:cs typeface="Helvetica Neue"/>
                        </a:rPr>
                        <a:t>Check coverage</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Address</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Address / site</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Map / distance</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Browse / call</a:t>
                      </a:r>
                    </a:p>
                  </a:txBody>
                  <a:tcPr marL="95250" marR="95250" marT="76200" marB="47625" anchor="ctr">
                    <a:solidFill>
                      <a:srgbClr val="FFFFFF"/>
                    </a:solidFill>
                  </a:tcPr>
                </a:tc>
                <a:tc>
                  <a:txBody>
                    <a:bodyPr wrap="square">
                      <a:noAutofit/>
                    </a:bodyPr>
                    <a:lstStyle/>
                    <a:p>
                      <a:pPr algn="ctr"/>
                      <a:r>
                        <a:rPr sz="1500" b="0">
                          <a:solidFill>
                            <a:srgbClr val="215C4E"/>
                          </a:solidFill>
                          <a:latin typeface="Helvetica Neue"/>
                          <a:ea typeface="Helvetica Neue"/>
                          <a:cs typeface="Helvetica Neue"/>
                        </a:rPr>
                        <a:t>Coverage data</a:t>
                      </a:r>
                    </a:p>
                  </a:txBody>
                  <a:tcPr marL="95250" marR="95250" marT="76200" marB="47625" anchor="ctr">
                    <a:solidFill>
                      <a:srgbClr val="E5EFEA"/>
                    </a:solidFill>
                  </a:tcPr>
                </a:tc>
              </a:tr>
              <a:tr h="438150">
                <a:tc>
                  <a:txBody>
                    <a:bodyPr wrap="square">
                      <a:noAutofit/>
                    </a:bodyPr>
                    <a:lstStyle/>
                    <a:p>
                      <a:pPr algn="l"/>
                      <a:r>
                        <a:rPr sz="1500" b="1">
                          <a:solidFill>
                            <a:srgbClr val="18352F"/>
                          </a:solidFill>
                          <a:latin typeface="Helvetica Neue"/>
                          <a:ea typeface="Helvetica Neue"/>
                          <a:cs typeface="Helvetica Neue"/>
                        </a:rPr>
                        <a:t>Scope &amp; quote</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Form / 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Site / 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Agent outreach</a:t>
                      </a:r>
                    </a:p>
                  </a:txBody>
                  <a:tcPr marL="95250" marR="95250" marT="76200" marB="47625" anchor="ctr">
                    <a:solidFill>
                      <a:srgbClr val="FFFFFF"/>
                    </a:solidFill>
                  </a:tcPr>
                </a:tc>
                <a:tc>
                  <a:txBody>
                    <a:bodyPr wrap="square">
                      <a:noAutofit/>
                    </a:bodyPr>
                    <a:lstStyle/>
                    <a:p>
                      <a:pPr algn="ctr"/>
                      <a:r>
                        <a:rPr sz="1500" b="0">
                          <a:solidFill>
                            <a:srgbClr val="215C4E"/>
                          </a:solidFill>
                          <a:latin typeface="Helvetica Neue"/>
                          <a:ea typeface="Helvetica Neue"/>
                          <a:cs typeface="Helvetica Neue"/>
                        </a:rPr>
                        <a:t>Quote workflow</a:t>
                      </a:r>
                    </a:p>
                  </a:txBody>
                  <a:tcPr marL="95250" marR="95250" marT="76200" marB="47625" anchor="ctr">
                    <a:solidFill>
                      <a:srgbClr val="E5EFEA"/>
                    </a:solidFill>
                  </a:tcPr>
                </a:tc>
              </a:tr>
              <a:tr h="438150">
                <a:tc>
                  <a:txBody>
                    <a:bodyPr wrap="square">
                      <a:noAutofit/>
                    </a:bodyPr>
                    <a:lstStyle/>
                    <a:p>
                      <a:pPr algn="l"/>
                      <a:r>
                        <a:rPr sz="1500" b="1">
                          <a:solidFill>
                            <a:srgbClr val="18352F"/>
                          </a:solidFill>
                          <a:latin typeface="Helvetica Neue"/>
                          <a:ea typeface="Helvetica Neue"/>
                          <a:cs typeface="Helvetica Neue"/>
                        </a:rPr>
                        <a:t>Check slots</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Site / 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Site / 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Agent outreach</a:t>
                      </a:r>
                    </a:p>
                  </a:txBody>
                  <a:tcPr marL="95250" marR="95250" marT="76200" marB="47625" anchor="ctr">
                    <a:solidFill>
                      <a:srgbClr val="FFFFFF"/>
                    </a:solidFill>
                  </a:tcPr>
                </a:tc>
                <a:tc>
                  <a:txBody>
                    <a:bodyPr wrap="square">
                      <a:noAutofit/>
                    </a:bodyPr>
                    <a:lstStyle/>
                    <a:p>
                      <a:pPr algn="ctr"/>
                      <a:r>
                        <a:rPr sz="1500" b="0">
                          <a:solidFill>
                            <a:srgbClr val="215C4E"/>
                          </a:solidFill>
                          <a:latin typeface="Helvetica Neue"/>
                          <a:ea typeface="Helvetica Neue"/>
                          <a:cs typeface="Helvetica Neue"/>
                        </a:rPr>
                        <a:t>Live slots</a:t>
                      </a:r>
                    </a:p>
                  </a:txBody>
                  <a:tcPr marL="95250" marR="95250" marT="76200" marB="47625" anchor="ctr">
                    <a:solidFill>
                      <a:srgbClr val="E5EFEA"/>
                    </a:solidFill>
                  </a:tcPr>
                </a:tc>
              </a:tr>
              <a:tr h="438150">
                <a:tc>
                  <a:txBody>
                    <a:bodyPr wrap="square">
                      <a:noAutofit/>
                    </a:bodyPr>
                    <a:lstStyle/>
                    <a:p>
                      <a:pPr algn="l"/>
                      <a:r>
                        <a:rPr sz="1500" b="1">
                          <a:solidFill>
                            <a:srgbClr val="18352F"/>
                          </a:solidFill>
                          <a:latin typeface="Helvetica Neue"/>
                          <a:ea typeface="Helvetica Neue"/>
                          <a:cs typeface="Helvetica Neue"/>
                        </a:rPr>
                        <a:t>Book the job</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Site / 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Site / call</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Agent action</a:t>
                      </a:r>
                    </a:p>
                  </a:txBody>
                  <a:tcPr marL="95250" marR="95250" marT="76200" marB="47625" anchor="ctr">
                    <a:solidFill>
                      <a:srgbClr val="FFFFFF"/>
                    </a:solidFill>
                  </a:tcPr>
                </a:tc>
                <a:tc>
                  <a:txBody>
                    <a:bodyPr wrap="square">
                      <a:noAutofit/>
                    </a:bodyPr>
                    <a:lstStyle/>
                    <a:p>
                      <a:pPr algn="ctr"/>
                      <a:r>
                        <a:rPr sz="1500" b="0">
                          <a:solidFill>
                            <a:srgbClr val="215C4E"/>
                          </a:solidFill>
                          <a:latin typeface="Helvetica Neue"/>
                          <a:ea typeface="Helvetica Neue"/>
                          <a:cs typeface="Helvetica Neue"/>
                        </a:rPr>
                        <a:t>Booking tools</a:t>
                      </a:r>
                    </a:p>
                  </a:txBody>
                  <a:tcPr marL="95250" marR="95250" marT="76200" marB="47625" anchor="ctr">
                    <a:solidFill>
                      <a:srgbClr val="E5EFEA"/>
                    </a:solidFill>
                  </a:tcPr>
                </a:tc>
              </a:tr>
              <a:tr h="438150">
                <a:tc>
                  <a:txBody>
                    <a:bodyPr wrap="square">
                      <a:noAutofit/>
                    </a:bodyPr>
                    <a:lstStyle/>
                    <a:p>
                      <a:pPr algn="l"/>
                      <a:r>
                        <a:rPr sz="1500" b="1">
                          <a:solidFill>
                            <a:srgbClr val="18352F"/>
                          </a:solidFill>
                          <a:latin typeface="Helvetica Neue"/>
                          <a:ea typeface="Helvetica Neue"/>
                          <a:cs typeface="Helvetica Neue"/>
                        </a:rPr>
                        <a:t>Pay &amp; manage</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Direct</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Direct</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Direct</a:t>
                      </a:r>
                    </a:p>
                  </a:txBody>
                  <a:tcPr marL="95250" marR="95250" marT="76200" marB="47625" anchor="ctr">
                    <a:solidFill>
                      <a:srgbClr val="FFFFFF"/>
                    </a:solidFill>
                  </a:tcPr>
                </a:tc>
                <a:tc>
                  <a:txBody>
                    <a:bodyPr wrap="square">
                      <a:noAutofit/>
                    </a:bodyPr>
                    <a:lstStyle/>
                    <a:p>
                      <a:pPr algn="ctr"/>
                      <a:r>
                        <a:rPr sz="1500" b="0">
                          <a:solidFill>
                            <a:srgbClr val="18352F"/>
                          </a:solidFill>
                          <a:latin typeface="Helvetica Neue"/>
                          <a:ea typeface="Helvetica Neue"/>
                          <a:cs typeface="Helvetica Neue"/>
                        </a:rPr>
                        <a:t>Agent action</a:t>
                      </a:r>
                    </a:p>
                  </a:txBody>
                  <a:tcPr marL="95250" marR="95250" marT="76200" marB="47625" anchor="ctr">
                    <a:solidFill>
                      <a:srgbClr val="FFFFFF"/>
                    </a:solidFill>
                  </a:tcPr>
                </a:tc>
                <a:tc>
                  <a:txBody>
                    <a:bodyPr wrap="square">
                      <a:noAutofit/>
                    </a:bodyPr>
                    <a:lstStyle/>
                    <a:p>
                      <a:pPr algn="ctr"/>
                      <a:r>
                        <a:rPr sz="1500" b="0">
                          <a:solidFill>
                            <a:srgbClr val="215C4E"/>
                          </a:solidFill>
                          <a:latin typeface="Helvetica Neue"/>
                          <a:ea typeface="Helvetica Neue"/>
                          <a:cs typeface="Helvetica Neue"/>
                        </a:rPr>
                        <a:t>Pay / manage</a:t>
                      </a:r>
                    </a:p>
                  </a:txBody>
                  <a:tcPr marL="95250" marR="95250" marT="76200" marB="47625" anchor="ctr">
                    <a:solidFill>
                      <a:srgbClr val="E5EFEA"/>
                    </a:solidFill>
                  </a:tcPr>
                </a:tc>
              </a:tr>
            </a:tbl>
          </a:graphicData>
        </a:graphic>
      </p:graphicFrame>
      <p:sp>
        <p:nvSpPr>
          <p:cNvPr id="5" name="text-3">
            <a:extLst xmlns:a="http://schemas.openxmlformats.org/drawingml/2006/main">
              <a:ext uri="{FF2B5EF4-FFF2-40B4-BE49-F238E27FC236}">
                <a16:creationId xmlns:a16="http://schemas.microsoft.com/office/drawing/2014/main" id="{BFC154D9-A553-46FA-BBC3-2FA2DE042E9A}"/>
              </a:ext>
            </a:extLst>
          </p:cNvPr>
          <p:cNvSpPr>
            <a:spLocks xmlns:a="http://schemas.openxmlformats.org/drawingml/2006/main" noGrp="1"/>
          </p:cNvSpPr>
          <p:nvPr/>
        </p:nvSpPr>
        <p:spPr>
          <a:xfrm xmlns:a="http://schemas.openxmlformats.org/drawingml/2006/main">
            <a:off x="457200" y="5819775"/>
            <a:ext cx="11277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Local services, booked by your personal agent.</a:t>
            </a:r>
          </a:p>
        </p:txBody>
      </p:sp>
      <p:sp>
        <p:nvSpPr>
          <p:cNvPr id="6" name="text-4">
            <a:extLst xmlns:a="http://schemas.openxmlformats.org/drawingml/2006/main">
              <a:ext uri="{FF2B5EF4-FFF2-40B4-BE49-F238E27FC236}">
                <a16:creationId xmlns:a16="http://schemas.microsoft.com/office/drawing/2014/main" id="{04227996-5A76-46C6-A040-EAAC2152DF6C}"/>
              </a:ext>
            </a:extLst>
          </p:cNvPr>
          <p:cNvSpPr>
            <a:spLocks xmlns:a="http://schemas.openxmlformats.org/drawingml/2006/main" noGrp="1"/>
          </p:cNvSpPr>
          <p:nvPr/>
        </p:nvSpPr>
        <p:spPr>
          <a:xfrm xmlns:a="http://schemas.openxmlformats.org/drawingml/2006/main">
            <a:off x="457200" y="6257925"/>
            <a:ext cx="1080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Typical workflow; capabilities vary. Complex quotes still need business input. GoLocal tools are planned.</a:t>
            </a:r>
          </a:p>
        </p:txBody>
      </p:sp>
      <p:sp>
        <p:nvSpPr>
          <p:cNvPr id="7" name="text-5">
            <a:extLst xmlns:a="http://schemas.openxmlformats.org/drawingml/2006/main">
              <a:ext uri="{FF2B5EF4-FFF2-40B4-BE49-F238E27FC236}">
                <a16:creationId xmlns:a16="http://schemas.microsoft.com/office/drawing/2014/main" id="{774DB7D0-45D3-4035-9F9E-E76843327BB3}"/>
              </a:ext>
            </a:extLst>
          </p:cNvPr>
          <p:cNvSpPr>
            <a:spLocks xmlns:a="http://schemas.openxmlformats.org/drawingml/2006/main" noGrp="1"/>
          </p:cNvSpPr>
          <p:nvPr/>
        </p:nvSpPr>
        <p:spPr>
          <a:xfrm xmlns:a="http://schemas.openxmlformats.org/drawingml/2006/main">
            <a:off x="11049000" y="6534150"/>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$600B</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home services within a</a:t>
            </a:r>
          </a:p>
          <a:p xmlns:a="http://schemas.openxmlformats.org/drawingml/2006/main">
            <a:pPr>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$2T local-services market</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025937FB-44CF-4D18-B160-D4BC7A1CAB3D}"/>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AA31A7A7-9817-4053-A5D4-2BCA3F2B19AE}"/>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6BF18573-716F-4743-B35A-0218992EC752}"/>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C20F140D-8140-43EB-A7A5-527E8DAE1C05}"/>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CD521D9D-C82F-4C85-ABF2-EB6C39A8A4CA}"/>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A57CA0F6-AF9D-4FE7-9B44-1B0E3BFEEE57}"/>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C312281D-720B-4A6B-9E45-609E0B92142D}"/>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493424B5-9525-4F41-AACF-506E6B4C9C1E}"/>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85ED3B3D-E91E-4BB1-8786-7C1774E014B5}"/>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Dots</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F1D7A03A-6D74-4B3C-90C2-754A179D44FF}"/>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8EA0440E-B90E-44DC-99CD-B97635525756}"/>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252AE666-C380-44E7-9F56-7D8CA79DB6D9}"/>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5D24405E-93AB-4013-BBA1-573089EB5BB5}"/>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2026-10-10T22:33:34.3630000Z</dcterms:created>
  <dcterms:modified xsi:type="dcterms:W3CDTF">2026-10-10T22:33:34.3630000Z</dcterms:modified>
</coreProperties>
</file>