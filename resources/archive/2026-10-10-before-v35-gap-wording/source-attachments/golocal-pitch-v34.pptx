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63" r:id="rId2"/>
    <p:sldId id="257" r:id="rId3"/>
    <p:sldId id="258" r:id="rId4"/>
    <p:sldId id="259" r:id="rId5"/>
    <p:sldId id="260" r:id="rId6"/>
    <p:sldId id="261" r:id="rId7"/>
    <p:sldId id="262" r:id="rId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85"/>
  </p:normalViewPr>
  <p:slideViewPr>
    <p:cSldViewPr snapToGrid="0">
      <p:cViewPr varScale="1">
        <p:scale>
          <a:sx n="95" d="100"/>
          <a:sy n="95" d="100"/>
        </p:scale>
        <p:origin x="200"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a:p>
            <a:r>
              <a:t>Cover artwork edited with the built-in image-generation tool at the founder’s request to add a lawn-mowing worker and a roofer. Conceptual illustration, not a photograph of live operations. Source artwork retained; versioned edited asset: output/imagegen/golocal-cover-v33.png.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cold start requires both useful participating supply and users with real booking needs. One-time setup is an intended experience on compatible platforms and may require sign-in and approval. Each transaction still requires the relevant user authorization.</a:t>
            </a:r>
          </a:p>
          <a:p>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a:r>
              <a:t>Expansion is a subsequent decision: demonstrate the local loop and viable economics in one city/category, use that proof to add related categories within the city, then repeat in more cities. Supply and demand still need to be established in each new market.</a:t>
            </a:r>
          </a:p>
          <a:p>
            <a:r>
              <a:t>Proposed commercial model clarified by the founder on October 10, 2026: businesses pay a fee equal to 10% of the booking amount. This same 10% fee is shared between GoLocal and contributing software partners or channel partners. It is not a 10% fee plus a separate partner fee, and GoLocal does not retain the full 10%. The allocation among GoLocal and partners has not been specified or agreed. This is the intended pricing model, not evidence of collected revenue, signed merchant terms or paid continuation. Eligibility, collection timing, repeat bookings, cancellations and refunds still require commercial terms. Contribution must cover acquisition, partner share, integration, support, payment and exception-handling costs.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7DEA33C-04CC-4142-BE91-C830BDD080A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D5F36821-6108-4999-8623-899E645C5CF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E3E9C23-F88E-4B26-9ED1-FF13C3B3F94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1877624-7B75-4ABB-9549-98AB4E404E4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6582531E-58F9-4E97-BEE2-A5AF64392BA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3E7F64E-40F6-4EAB-88FF-C6221C1BD3E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472CB5DF-9F2E-44B8-9CE9-7A995A3B050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1FBAF9DD-0EFA-424A-B9BC-62623C9B06D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A3F0720-9661-4BC8-BA55-1F49ED7D6AF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82CA2249-D475-4C73-BF2C-30661840F52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jpeg"/><Relationship Id="rId7"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hyperlink" Target="https://www.linkedin.com/in/rohit-jain-343437187/" TargetMode="External"/><Relationship Id="rId5" Type="http://schemas.openxmlformats.org/officeDocument/2006/relationships/hyperlink" Target="https://www.linkedin.com/in/pulkitwalia/" TargetMode="External"/><Relationship Id="rId4" Type="http://schemas.openxmlformats.org/officeDocument/2006/relationships/image" Target="../media/image8.jpeg"/><Relationship Id="rId9"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EBAB8E-2157-4C77-A6FE-F3AA190ACB4D}"/>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v28-text-0">
            <a:extLst>
              <a:ext uri="{FF2B5EF4-FFF2-40B4-BE49-F238E27FC236}">
                <a16:creationId xmlns:a16="http://schemas.microsoft.com/office/drawing/2014/main" id="{BDDCEA24-C42F-433F-8032-ECDBF9DD5137}"/>
              </a:ext>
            </a:extLst>
          </p:cNvPr>
          <p:cNvSpPr>
            <a:spLocks noGrp="1"/>
          </p:cNvSpPr>
          <p:nvPr/>
        </p:nvSpPr>
        <p:spPr>
          <a:xfrm>
            <a:off x="609600" y="952500"/>
            <a:ext cx="5191125" cy="952500"/>
          </a:xfrm>
          <a:prstGeom prst="rect">
            <a:avLst/>
          </a:prstGeom>
          <a:noFill/>
          <a:ln w="0">
            <a:noFill/>
            <a:prstDash val="solid"/>
          </a:ln>
        </p:spPr>
        <p:txBody>
          <a:bodyPr wrap="square" lIns="0" tIns="0" rIns="0" bIns="0" anchor="t">
            <a:noAutofit/>
          </a:bodyPr>
          <a:lstStyle>
            <a:defPPr algn="l">
              <a:defRPr sz="6000" b="1">
                <a:solidFill>
                  <a:srgbClr val="F5F2E9"/>
                </a:solidFill>
                <a:latin typeface="Helvetica Neue"/>
                <a:ea typeface="Helvetica Neue"/>
                <a:cs typeface="Helvetica Neue"/>
              </a:defRPr>
            </a:defPPr>
          </a:lstStyle>
          <a:p>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a:ext uri="{FF2B5EF4-FFF2-40B4-BE49-F238E27FC236}">
                <a16:creationId xmlns:a16="http://schemas.microsoft.com/office/drawing/2014/main" id="{7A9DF34D-74A2-406C-9DE6-3F86B5CBDDD0}"/>
              </a:ext>
            </a:extLst>
          </p:cNvPr>
          <p:cNvSpPr>
            <a:spLocks noGrp="1"/>
          </p:cNvSpPr>
          <p:nvPr/>
        </p:nvSpPr>
        <p:spPr>
          <a:xfrm>
            <a:off x="609600" y="2143125"/>
            <a:ext cx="4619625" cy="1809750"/>
          </a:xfrm>
          <a:prstGeom prst="rect">
            <a:avLst/>
          </a:prstGeom>
          <a:noFill/>
          <a:ln w="0">
            <a:noFill/>
            <a:prstDash val="solid"/>
          </a:ln>
        </p:spPr>
        <p:txBody>
          <a:bodyPr wrap="square" lIns="0" tIns="0" rIns="0" bIns="0" anchor="t">
            <a:noAutofit/>
          </a:bodyPr>
          <a:lstStyle>
            <a:defPPr algn="l">
              <a:defRPr sz="3525" b="1">
                <a:solidFill>
                  <a:srgbClr val="F5F2E9"/>
                </a:solidFill>
                <a:latin typeface="Helvetica Neue"/>
                <a:ea typeface="Helvetica Neue"/>
                <a:cs typeface="Helvetica Neue"/>
              </a:defRPr>
            </a:defPPr>
          </a:lstStyle>
          <a:p>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a:ext uri="{FF2B5EF4-FFF2-40B4-BE49-F238E27FC236}">
                <a16:creationId xmlns:a16="http://schemas.microsoft.com/office/drawing/2014/main" id="{A8597BA7-8903-4DF7-A402-3367D52645B7}"/>
              </a:ext>
            </a:extLst>
          </p:cNvPr>
          <p:cNvSpPr>
            <a:spLocks noGrp="1"/>
          </p:cNvSpPr>
          <p:nvPr/>
        </p:nvSpPr>
        <p:spPr>
          <a:xfrm>
            <a:off x="609600" y="4257675"/>
            <a:ext cx="4333875" cy="809625"/>
          </a:xfrm>
          <a:prstGeom prst="rect">
            <a:avLst/>
          </a:prstGeom>
          <a:noFill/>
          <a:ln w="0">
            <a:noFill/>
            <a:prstDash val="solid"/>
          </a:ln>
        </p:spPr>
        <p:txBody>
          <a:bodyPr wrap="square" lIns="0" tIns="0" rIns="0" bIns="0" anchor="t">
            <a:noAutofit/>
          </a:bodyPr>
          <a:lstStyle>
            <a:defPPr algn="l">
              <a:defRPr sz="1875" b="0">
                <a:solidFill>
                  <a:srgbClr val="DDE4D6"/>
                </a:solidFill>
                <a:latin typeface="Helvetica Neue"/>
                <a:ea typeface="Helvetica Neue"/>
                <a:cs typeface="Helvetica Neue"/>
              </a:defRPr>
            </a:defPPr>
          </a:lstStyle>
          <a:p>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325990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9"/>
        </a:solidFill>
        <a:effectLst/>
      </p:bgPr>
    </p:bg>
    <p:spTree>
      <p:nvGrpSpPr>
        <p:cNvPr id="1" name=""/>
        <p:cNvGrpSpPr/>
        <p:nvPr/>
      </p:nvGrpSpPr>
      <p:grpSpPr>
        <a:xfrm>
          <a:off x="0" y="0"/>
          <a:ext cx="0" cy="0"/>
          <a:chOff x="0" y="0"/>
          <a:chExt cx="0" cy="0"/>
        </a:xfrm>
      </p:grpSpPr>
      <p:sp>
        <p:nvSpPr>
          <p:cNvPr id="8" name="v30-text-0">
            <a:extLst>
              <a:ext uri="{FF2B5EF4-FFF2-40B4-BE49-F238E27FC236}">
                <a16:creationId xmlns:a16="http://schemas.microsoft.com/office/drawing/2014/main" id="{ADA5C052-3DC5-4F4A-9C13-460C18C6AC4D}"/>
              </a:ext>
            </a:extLst>
          </p:cNvPr>
          <p:cNvSpPr>
            <a:spLocks noGrp="1"/>
          </p:cNvSpPr>
          <p:nvPr/>
        </p:nvSpPr>
        <p:spPr>
          <a:xfrm>
            <a:off x="609600" y="285750"/>
            <a:ext cx="9525000" cy="247650"/>
          </a:xfrm>
          <a:prstGeom prst="rect">
            <a:avLst/>
          </a:prstGeom>
          <a:noFill/>
          <a:ln w="0">
            <a:noFill/>
            <a:prstDash val="solid"/>
          </a:ln>
        </p:spPr>
        <p:txBody>
          <a:bodyPr wrap="square" lIns="0" tIns="0" rIns="0" bIns="0" anchor="t">
            <a:noAutofit/>
          </a:bodyPr>
          <a:lstStyle>
            <a:defPPr algn="l">
              <a:defRPr sz="1275" b="1">
                <a:solidFill>
                  <a:srgbClr val="53716A"/>
                </a:solidFill>
                <a:latin typeface="Helvetica Neue"/>
                <a:ea typeface="Helvetica Neue"/>
                <a:cs typeface="Helvetica Neue"/>
              </a:defRPr>
            </a:defPPr>
          </a:lstStyle>
          <a:p>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30-text-1">
            <a:extLst>
              <a:ext uri="{FF2B5EF4-FFF2-40B4-BE49-F238E27FC236}">
                <a16:creationId xmlns:a16="http://schemas.microsoft.com/office/drawing/2014/main" id="{243905A4-A235-46A8-88B2-9CCE52ED8F00}"/>
              </a:ext>
            </a:extLst>
          </p:cNvPr>
          <p:cNvSpPr>
            <a:spLocks noGrp="1"/>
          </p:cNvSpPr>
          <p:nvPr/>
        </p:nvSpPr>
        <p:spPr>
          <a:xfrm>
            <a:off x="609600" y="752475"/>
            <a:ext cx="10972800" cy="571500"/>
          </a:xfrm>
          <a:prstGeom prst="rect">
            <a:avLst/>
          </a:prstGeom>
          <a:noFill/>
          <a:ln w="0">
            <a:noFill/>
            <a:prstDash val="solid"/>
          </a:ln>
        </p:spPr>
        <p:txBody>
          <a:bodyPr wrap="square" lIns="0" tIns="0" rIns="0" bIns="0" anchor="t">
            <a:noAutofit/>
          </a:bodyPr>
          <a:lstStyle>
            <a:defPPr algn="l">
              <a:defRPr sz="3300" b="1">
                <a:solidFill>
                  <a:srgbClr val="103D3B"/>
                </a:solidFill>
                <a:latin typeface="Helvetica Neue"/>
                <a:ea typeface="Helvetica Neue"/>
                <a:cs typeface="Helvetica Neue"/>
              </a:defRPr>
            </a:defPPr>
          </a:lstStyle>
          <a:p>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3" name="v30-text-2">
            <a:extLst>
              <a:ext uri="{FF2B5EF4-FFF2-40B4-BE49-F238E27FC236}">
                <a16:creationId xmlns:a16="http://schemas.microsoft.com/office/drawing/2014/main" id="{8F4C96EF-044C-4CF6-BCFE-D8BF33020705}"/>
              </a:ext>
            </a:extLst>
          </p:cNvPr>
          <p:cNvSpPr>
            <a:spLocks noGrp="1"/>
          </p:cNvSpPr>
          <p:nvPr/>
        </p:nvSpPr>
        <p:spPr>
          <a:xfrm>
            <a:off x="609600" y="1296759"/>
            <a:ext cx="10972800" cy="590550"/>
          </a:xfrm>
          <a:prstGeom prst="rect">
            <a:avLst/>
          </a:prstGeom>
          <a:noFill/>
          <a:ln w="0">
            <a:noFill/>
            <a:prstDash val="solid"/>
          </a:ln>
        </p:spPr>
        <p:txBody>
          <a:bodyPr wrap="square" lIns="0" tIns="0" rIns="0" bIns="0" anchor="t">
            <a:noAutofit/>
          </a:bodyPr>
          <a:lstStyle>
            <a:defPPr algn="l">
              <a:defRPr sz="1800" b="0">
                <a:solidFill>
                  <a:srgbClr val="53716A"/>
                </a:solidFill>
                <a:latin typeface="Helvetica Neue"/>
                <a:ea typeface="Helvetica Neue"/>
                <a:cs typeface="Helvetica Neue"/>
              </a:defRPr>
            </a:defPPr>
          </a:lstStyle>
          <a:p>
            <a:pPr algn="l">
              <a:buNone/>
              <a:defRPr sz="1800" b="0">
                <a:solidFill>
                  <a:srgbClr val="53716A"/>
                </a:solidFill>
                <a:latin typeface="Helvetica Neue"/>
                <a:ea typeface="Helvetica Neue"/>
                <a:cs typeface="Helvetica Neue"/>
              </a:defRPr>
            </a:pPr>
            <a:r>
              <a:rPr sz="1800" b="0" dirty="0">
                <a:solidFill>
                  <a:srgbClr val="53716A"/>
                </a:solidFill>
                <a:latin typeface="Helvetica Neue"/>
                <a:ea typeface="Helvetica Neue"/>
                <a:cs typeface="Helvetica Neue"/>
              </a:rPr>
              <a:t>Users once called businesses to scope the job.</a:t>
            </a:r>
          </a:p>
          <a:p>
            <a:pPr algn="l">
              <a:buNone/>
              <a:defRPr sz="1800" b="0">
                <a:solidFill>
                  <a:srgbClr val="53716A"/>
                </a:solidFill>
                <a:latin typeface="Helvetica Neue"/>
                <a:ea typeface="Helvetica Neue"/>
                <a:cs typeface="Helvetica Neue"/>
              </a:defRPr>
            </a:pPr>
            <a:r>
              <a:rPr sz="1800" b="0" dirty="0">
                <a:solidFill>
                  <a:srgbClr val="53716A"/>
                </a:solidFill>
                <a:latin typeface="Helvetica Neue"/>
                <a:ea typeface="Helvetica Neue"/>
                <a:cs typeface="Helvetica Neue"/>
              </a:rPr>
              <a:t>Personal agents can now scope it with the customer, then act on live business data.</a:t>
            </a:r>
          </a:p>
        </p:txBody>
      </p:sp>
      <p:graphicFrame>
        <p:nvGraphicFramePr>
          <p:cNvPr id="4" name="Table 3">
            <a:extLst>
              <a:ext uri="{FF2B5EF4-FFF2-40B4-BE49-F238E27FC236}">
                <a16:creationId xmlns:a16="http://schemas.microsoft.com/office/drawing/2014/main" id="{F44A8A38-2F68-4930-A11C-0161D7447394}"/>
              </a:ext>
            </a:extLst>
          </p:cNvPr>
          <p:cNvGraphicFramePr/>
          <p:nvPr/>
        </p:nvGraphicFramePr>
        <p:xfrm>
          <a:off x="609600" y="2076450"/>
          <a:ext cx="10972800" cy="3467100"/>
        </p:xfrm>
        <a:graphic>
          <a:graphicData uri="http://schemas.openxmlformats.org/drawingml/2006/table">
            <a:tbl>
              <a:tblPr/>
              <a:tblGrid>
                <a:gridCol w="2667000">
                  <a:extLst>
                    <a:ext uri="{9D8B030D-6E8A-4147-A177-3AD203B41FA5}">
                      <a16:colId xmlns:a16="http://schemas.microsoft.com/office/drawing/2014/main" val="20000"/>
                    </a:ext>
                  </a:extLst>
                </a:gridCol>
                <a:gridCol w="1661160">
                  <a:extLst>
                    <a:ext uri="{9D8B030D-6E8A-4147-A177-3AD203B41FA5}">
                      <a16:colId xmlns:a16="http://schemas.microsoft.com/office/drawing/2014/main" val="20001"/>
                    </a:ext>
                  </a:extLst>
                </a:gridCol>
                <a:gridCol w="1661160">
                  <a:extLst>
                    <a:ext uri="{9D8B030D-6E8A-4147-A177-3AD203B41FA5}">
                      <a16:colId xmlns:a16="http://schemas.microsoft.com/office/drawing/2014/main" val="20002"/>
                    </a:ext>
                  </a:extLst>
                </a:gridCol>
                <a:gridCol w="1661160">
                  <a:extLst>
                    <a:ext uri="{9D8B030D-6E8A-4147-A177-3AD203B41FA5}">
                      <a16:colId xmlns:a16="http://schemas.microsoft.com/office/drawing/2014/main" val="20003"/>
                    </a:ext>
                  </a:extLst>
                </a:gridCol>
                <a:gridCol w="1661160">
                  <a:extLst>
                    <a:ext uri="{9D8B030D-6E8A-4147-A177-3AD203B41FA5}">
                      <a16:colId xmlns:a16="http://schemas.microsoft.com/office/drawing/2014/main" val="20004"/>
                    </a:ext>
                  </a:extLst>
                </a:gridCol>
                <a:gridCol w="1661160">
                  <a:extLst>
                    <a:ext uri="{9D8B030D-6E8A-4147-A177-3AD203B41FA5}">
                      <a16:colId xmlns:a16="http://schemas.microsoft.com/office/drawing/2014/main" val="20005"/>
                    </a:ext>
                  </a:extLst>
                </a:gridCol>
              </a:tblGrid>
              <a:tr h="285750">
                <a:tc>
                  <a:txBody>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extLst>
                  <a:ext uri="{0D108BD9-81ED-4DB2-BD59-A6C34878D82A}">
                    <a16:rowId xmlns:a16="http://schemas.microsoft.com/office/drawing/2014/main" val="10000"/>
                  </a:ext>
                </a:extLst>
              </a:tr>
              <a:tr h="285750">
                <a:tc>
                  <a:txBody>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extLst>
                  <a:ext uri="{0D108BD9-81ED-4DB2-BD59-A6C34878D82A}">
                    <a16:rowId xmlns:a16="http://schemas.microsoft.com/office/drawing/2014/main" val="10001"/>
                  </a:ext>
                </a:extLst>
              </a:tr>
              <a:tr h="552450">
                <a:tc>
                  <a:txBody>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extLst>
                  <a:ext uri="{0D108BD9-81ED-4DB2-BD59-A6C34878D82A}">
                    <a16:rowId xmlns:a16="http://schemas.microsoft.com/office/drawing/2014/main" val="10002"/>
                  </a:ext>
                </a:extLst>
              </a:tr>
              <a:tr h="304800">
                <a:tc>
                  <a:txBody>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extLst>
                  <a:ext uri="{0D108BD9-81ED-4DB2-BD59-A6C34878D82A}">
                    <a16:rowId xmlns:a16="http://schemas.microsoft.com/office/drawing/2014/main" val="10003"/>
                  </a:ext>
                </a:extLst>
              </a:tr>
              <a:tr h="304800">
                <a:tc>
                  <a:txBody>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extLst>
                  <a:ext uri="{0D108BD9-81ED-4DB2-BD59-A6C34878D82A}">
                    <a16:rowId xmlns:a16="http://schemas.microsoft.com/office/drawing/2014/main" val="10004"/>
                  </a:ext>
                </a:extLst>
              </a:tr>
              <a:tr h="304800">
                <a:tc>
                  <a:txBody>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extLst>
                  <a:ext uri="{0D108BD9-81ED-4DB2-BD59-A6C34878D82A}">
                    <a16:rowId xmlns:a16="http://schemas.microsoft.com/office/drawing/2014/main" val="10005"/>
                  </a:ext>
                </a:extLst>
              </a:tr>
              <a:tr h="304800">
                <a:tc>
                  <a:txBody>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extLst>
                  <a:ext uri="{0D108BD9-81ED-4DB2-BD59-A6C34878D82A}">
                    <a16:rowId xmlns:a16="http://schemas.microsoft.com/office/drawing/2014/main" val="10006"/>
                  </a:ext>
                </a:extLst>
              </a:tr>
              <a:tr h="304800">
                <a:tc>
                  <a:txBody>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extLst>
                  <a:ext uri="{0D108BD9-81ED-4DB2-BD59-A6C34878D82A}">
                    <a16:rowId xmlns:a16="http://schemas.microsoft.com/office/drawing/2014/main" val="10007"/>
                  </a:ext>
                </a:extLst>
              </a:tr>
              <a:tr h="409575">
                <a:tc>
                  <a:txBody>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19050" cap="flat" cmpd="sng" algn="ctr">
                      <a:solidFill>
                        <a:srgbClr val="F5F2E9"/>
                      </a:solidFill>
                      <a:prstDash val="solid"/>
                      <a:round/>
                      <a:headEnd type="none" w="med" len="med"/>
                      <a:tailEnd type="none" w="med" len="med"/>
                    </a:lnT>
                    <a:lnB w="19050">
                      <a:solidFill>
                        <a:srgbClr val="F5F2E9"/>
                      </a:solidFill>
                    </a:lnB>
                    <a:solidFill>
                      <a:srgbClr val="F0E2D9"/>
                    </a:solidFill>
                  </a:tcPr>
                </a:tc>
                <a:tc rowSpan="2" gridSpan="5">
                  <a:txBody>
                    <a:bodyPr/>
                    <a:lstStyle/>
                    <a:p>
                      <a:pPr algn="ctr">
                        <a:buNone/>
                      </a:pPr>
                      <a:r>
                        <a:rPr sz="1650" b="1">
                          <a:solidFill>
                            <a:srgbClr val="A34E3F"/>
                          </a:solidFill>
                          <a:latin typeface="Helvetica Neue"/>
                          <a:ea typeface="Helvetica Neue"/>
                          <a:cs typeface="Helvetica Neue"/>
                        </a:rPr>
                        <a:t>MISSING: a shared live data layer for local businesses</a:t>
                      </a:r>
                    </a:p>
                    <a:p>
                      <a:pPr algn="ctr">
                        <a:buNone/>
                      </a:pPr>
                      <a:r>
                        <a:rPr sz="1650" b="1">
                          <a:solidFill>
                            <a:srgbClr val="A34E3F"/>
                          </a:solidFill>
                          <a:latin typeface="Helvetica Neue"/>
                          <a:ea typeface="Helvetica Neue"/>
                          <a:cs typeface="Helvetica Neue"/>
                        </a:rPr>
                        <a:t>Services, pricing and availability, connected to booking &amp; payment</a:t>
                      </a:r>
                    </a:p>
                  </a:txBody>
                  <a:tcPr marL="66675" marR="57150" marT="19050" marB="19050" anchor="ctr">
                    <a:lnL w="19050">
                      <a:solidFill>
                        <a:srgbClr val="F5F2E9"/>
                      </a:solidFill>
                    </a:lnL>
                    <a:lnR w="19050">
                      <a:solidFill>
                        <a:srgbClr val="F5F2E9"/>
                      </a:solidFill>
                    </a:lnR>
                    <a:lnT w="19050" cap="flat" cmpd="sng" algn="ctr">
                      <a:solidFill>
                        <a:srgbClr val="F5F2E9"/>
                      </a:solidFill>
                      <a:prstDash val="solid"/>
                      <a:round/>
                      <a:headEnd type="none" w="med" len="med"/>
                      <a:tailEnd type="none" w="med" len="med"/>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extLst>
                  <a:ext uri="{0D108BD9-81ED-4DB2-BD59-A6C34878D82A}">
                    <a16:rowId xmlns:a16="http://schemas.microsoft.com/office/drawing/2014/main" val="10008"/>
                  </a:ext>
                </a:extLst>
              </a:tr>
              <a:tr h="409575">
                <a:tc>
                  <a:txBody>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gridSpan="5"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extLst>
                  <a:ext uri="{0D108BD9-81ED-4DB2-BD59-A6C34878D82A}">
                    <a16:rowId xmlns:a16="http://schemas.microsoft.com/office/drawing/2014/main" val="10009"/>
                  </a:ext>
                </a:extLst>
              </a:tr>
            </a:tbl>
          </a:graphicData>
        </a:graphic>
      </p:graphicFrame>
      <p:sp>
        <p:nvSpPr>
          <p:cNvPr id="5" name="v30-text-3">
            <a:extLst>
              <a:ext uri="{FF2B5EF4-FFF2-40B4-BE49-F238E27FC236}">
                <a16:creationId xmlns:a16="http://schemas.microsoft.com/office/drawing/2014/main" id="{18B77D59-D1BB-43F2-8A95-F43D36E4DEA1}"/>
              </a:ext>
            </a:extLst>
          </p:cNvPr>
          <p:cNvSpPr>
            <a:spLocks noGrp="1"/>
          </p:cNvSpPr>
          <p:nvPr/>
        </p:nvSpPr>
        <p:spPr>
          <a:xfrm>
            <a:off x="609600" y="5762625"/>
            <a:ext cx="10972800" cy="666750"/>
          </a:xfrm>
          <a:prstGeom prst="rect">
            <a:avLst/>
          </a:prstGeom>
          <a:noFill/>
          <a:ln w="0">
            <a:noFill/>
            <a:prstDash val="solid"/>
          </a:ln>
        </p:spPr>
        <p:txBody>
          <a:bodyPr wrap="square" lIns="0" tIns="0" rIns="0" bIns="0" anchor="t">
            <a:noAutofit/>
          </a:bodyPr>
          <a:lstStyle>
            <a:defPPr algn="l">
              <a:defRPr sz="2100" b="1">
                <a:solidFill>
                  <a:srgbClr val="103D3B"/>
                </a:solidFill>
                <a:latin typeface="Helvetica Neue"/>
                <a:ea typeface="Helvetica Neue"/>
                <a:cs typeface="Helvetica Neue"/>
              </a:defRPr>
            </a:defPPr>
          </a:lstStyle>
          <a:p>
            <a:pPr algn="l">
              <a:buNone/>
              <a:defRPr sz="2100" b="1">
                <a:solidFill>
                  <a:srgbClr val="103D3B"/>
                </a:solidFill>
                <a:latin typeface="Helvetica Neue"/>
                <a:ea typeface="Helvetica Neue"/>
                <a:cs typeface="Helvetica Neue"/>
              </a:defRPr>
            </a:pPr>
            <a:r>
              <a:rPr sz="2100" b="1" dirty="0">
                <a:solidFill>
                  <a:srgbClr val="103D3B"/>
                </a:solidFill>
                <a:latin typeface="Helvetica Neue"/>
                <a:ea typeface="Helvetica Neue"/>
                <a:cs typeface="Helvetica Neue"/>
              </a:rPr>
              <a:t>The live data layer that enables agent bookings can capture value</a:t>
            </a:r>
          </a:p>
          <a:p>
            <a:pPr algn="l">
              <a:buNone/>
              <a:defRPr sz="2100" b="1">
                <a:solidFill>
                  <a:srgbClr val="103D3B"/>
                </a:solidFill>
                <a:latin typeface="Helvetica Neue"/>
                <a:ea typeface="Helvetica Neue"/>
                <a:cs typeface="Helvetica Neue"/>
              </a:defRPr>
            </a:pPr>
            <a:r>
              <a:rPr sz="2100" b="1" dirty="0">
                <a:solidFill>
                  <a:srgbClr val="103D3B"/>
                </a:solidFill>
                <a:latin typeface="Helvetica Neue"/>
                <a:ea typeface="Helvetica Neue"/>
                <a:cs typeface="Helvetica Neue"/>
              </a:rPr>
              <a:t>from the $1.2T local-services spending pool.</a:t>
            </a:r>
          </a:p>
        </p:txBody>
      </p:sp>
      <p:sp>
        <p:nvSpPr>
          <p:cNvPr id="6" name="v30-text-4">
            <a:extLst>
              <a:ext uri="{FF2B5EF4-FFF2-40B4-BE49-F238E27FC236}">
                <a16:creationId xmlns:a16="http://schemas.microsoft.com/office/drawing/2014/main" id="{1F1DFEBF-554A-41C0-853E-1BA9FE87610F}"/>
              </a:ext>
            </a:extLst>
          </p:cNvPr>
          <p:cNvSpPr>
            <a:spLocks noGrp="1"/>
          </p:cNvSpPr>
          <p:nvPr/>
        </p:nvSpPr>
        <p:spPr>
          <a:xfrm>
            <a:off x="609600" y="6486525"/>
            <a:ext cx="10668000" cy="190500"/>
          </a:xfrm>
          <a:prstGeom prst="rect">
            <a:avLst/>
          </a:prstGeom>
          <a:noFill/>
          <a:ln w="0">
            <a:noFill/>
            <a:prstDash val="solid"/>
          </a:ln>
        </p:spPr>
        <p:txBody>
          <a:bodyPr wrap="square" lIns="0" tIns="0" rIns="0" bIns="0" anchor="t">
            <a:noAutofit/>
          </a:bodyPr>
          <a:lstStyle>
            <a:defPPr algn="l">
              <a:defRPr sz="938" b="0">
                <a:solidFill>
                  <a:srgbClr val="53716A"/>
                </a:solidFill>
                <a:latin typeface="Helvetica Neue"/>
                <a:ea typeface="Helvetica Neue"/>
                <a:cs typeface="Helvetica Neue"/>
              </a:defRPr>
            </a:defPPr>
          </a:lstStyle>
          <a:p>
            <a:pPr algn="l">
              <a:buNone/>
              <a:defRPr sz="938" b="0">
                <a:solidFill>
                  <a:srgbClr val="53716A"/>
                </a:solidFill>
                <a:latin typeface="Helvetica Neue"/>
                <a:ea typeface="Helvetica Neue"/>
                <a:cs typeface="Helvetica Neue"/>
              </a:defRPr>
            </a:pPr>
            <a:r>
              <a:rPr sz="938" b="0" dirty="0">
                <a:solidFill>
                  <a:srgbClr val="53716A"/>
                </a:solidFill>
                <a:latin typeface="Helvetica Neue"/>
                <a:ea typeface="Helvetica Neue"/>
                <a:cs typeface="Helvetica Neue"/>
              </a:rPr>
              <a:t>≈$1.2T annual U.S. spending across selected categories; mixed 2023–25 sources, including materials/DIY. </a:t>
            </a:r>
          </a:p>
        </p:txBody>
      </p:sp>
      <p:sp>
        <p:nvSpPr>
          <p:cNvPr id="7" name="v30-text-5">
            <a:extLst>
              <a:ext uri="{FF2B5EF4-FFF2-40B4-BE49-F238E27FC236}">
                <a16:creationId xmlns:a16="http://schemas.microsoft.com/office/drawing/2014/main" id="{1B0D603A-7571-4A29-9CD2-469B869CB11D}"/>
              </a:ext>
            </a:extLst>
          </p:cNvPr>
          <p:cNvSpPr>
            <a:spLocks noGrp="1"/>
          </p:cNvSpPr>
          <p:nvPr/>
        </p:nvSpPr>
        <p:spPr>
          <a:xfrm>
            <a:off x="11049000" y="6667500"/>
            <a:ext cx="666750" cy="180975"/>
          </a:xfrm>
          <a:prstGeom prst="rect">
            <a:avLst/>
          </a:prstGeom>
          <a:noFill/>
          <a:ln w="0">
            <a:noFill/>
            <a:prstDash val="solid"/>
          </a:ln>
        </p:spPr>
        <p:txBody>
          <a:bodyPr wrap="square" lIns="0" tIns="0" rIns="0" bIns="0" anchor="t">
            <a:noAutofit/>
          </a:bodyPr>
          <a:lstStyle>
            <a:defPPr algn="l">
              <a:defRPr sz="1125" b="0">
                <a:solidFill>
                  <a:srgbClr val="53716A"/>
                </a:solidFill>
                <a:latin typeface="Helvetica Neue"/>
                <a:ea typeface="Helvetica Neue"/>
                <a:cs typeface="Helvetica Neue"/>
              </a:defRPr>
            </a:defPPr>
          </a:lstStyle>
          <a:p>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9"/>
        </a:solidFill>
        <a:effectLst/>
      </p:bgPr>
    </p:bg>
    <p:spTree>
      <p:nvGrpSpPr>
        <p:cNvPr id="1" name=""/>
        <p:cNvGrpSpPr/>
        <p:nvPr/>
      </p:nvGrpSpPr>
      <p:grpSpPr>
        <a:xfrm>
          <a:off x="0" y="0"/>
          <a:ext cx="0" cy="0"/>
          <a:chOff x="0" y="0"/>
          <a:chExt cx="0" cy="0"/>
        </a:xfrm>
      </p:grpSpPr>
      <p:cxnSp>
        <p:nvCxnSpPr>
          <p:cNvPr id="57" name="Straight Arrow Connector 56">
            <a:extLst>
              <a:ext uri="{FF2B5EF4-FFF2-40B4-BE49-F238E27FC236}">
                <a16:creationId xmlns:a16="http://schemas.microsoft.com/office/drawing/2014/main" id="{8AD97F76-F88B-42F0-96A9-BAC3C073E3BF}"/>
              </a:ext>
            </a:extLst>
          </p:cNvPr>
          <p:cNvCxnSpPr>
            <a:stCxn id="32" idx="3"/>
            <a:endCxn id="44" idx="1"/>
          </p:cNvCxnSpPr>
          <p:nvPr/>
        </p:nvCxnSpPr>
        <p:spPr>
          <a:xfrm>
            <a:off x="9810750" y="4905375"/>
            <a:ext cx="552450" cy="0"/>
          </a:xfrm>
          <a:prstGeom prst="straightConnector1">
            <a:avLst/>
          </a:prstGeom>
          <a:ln w="19050">
            <a:solidFill>
              <a:srgbClr val="236C4E"/>
            </a:solidFill>
            <a:prstDash val="solid"/>
            <a:headEnd type="arrow" w="sm" len="sm"/>
            <a:tailEnd type="arrow" w="sm" len="sm"/>
          </a:ln>
        </p:spPr>
      </p:cxnSp>
      <p:cxnSp>
        <p:nvCxnSpPr>
          <p:cNvPr id="56" name="Elbow Connector 55">
            <a:extLst>
              <a:ext uri="{FF2B5EF4-FFF2-40B4-BE49-F238E27FC236}">
                <a16:creationId xmlns:a16="http://schemas.microsoft.com/office/drawing/2014/main" id="{B89D1A17-EE5E-4BAE-A71B-2B27AA7C71ED}"/>
              </a:ext>
            </a:extLst>
          </p:cNvPr>
          <p:cNvCxnSpPr>
            <a:stCxn id="25" idx="3"/>
            <a:endCxn id="32" idx="1"/>
          </p:cNvCxnSpPr>
          <p:nvPr/>
        </p:nvCxnSpPr>
        <p:spPr>
          <a:xfrm>
            <a:off x="6610350" y="4133850"/>
            <a:ext cx="533400" cy="771525"/>
          </a:xfrm>
          <a:prstGeom prst="bentConnector3">
            <a:avLst>
              <a:gd name="adj1" fmla="val 50000"/>
            </a:avLst>
          </a:prstGeom>
          <a:ln w="19050">
            <a:solidFill>
              <a:srgbClr val="236C4E"/>
            </a:solidFill>
            <a:prstDash val="solid"/>
            <a:headEnd type="arrow" w="sm" len="sm"/>
            <a:tailEnd type="arrow" w="sm" len="sm"/>
          </a:ln>
        </p:spPr>
      </p:cxnSp>
      <p:cxnSp>
        <p:nvCxnSpPr>
          <p:cNvPr id="55" name="Straight Arrow Connector 54">
            <a:extLst>
              <a:ext uri="{FF2B5EF4-FFF2-40B4-BE49-F238E27FC236}">
                <a16:creationId xmlns:a16="http://schemas.microsoft.com/office/drawing/2014/main" id="{53391360-8E2E-4D6F-B74C-3F490CDBC48F}"/>
              </a:ext>
            </a:extLst>
          </p:cNvPr>
          <p:cNvCxnSpPr>
            <a:stCxn id="31" idx="3"/>
            <a:endCxn id="43" idx="1"/>
          </p:cNvCxnSpPr>
          <p:nvPr/>
        </p:nvCxnSpPr>
        <p:spPr>
          <a:xfrm>
            <a:off x="9810750" y="4000500"/>
            <a:ext cx="552450" cy="0"/>
          </a:xfrm>
          <a:prstGeom prst="straightConnector1">
            <a:avLst/>
          </a:prstGeom>
          <a:ln w="19050">
            <a:solidFill>
              <a:srgbClr val="236C4E"/>
            </a:solidFill>
            <a:prstDash val="solid"/>
            <a:headEnd type="arrow" w="sm" len="sm"/>
            <a:tailEnd type="arrow" w="sm" len="sm"/>
          </a:ln>
        </p:spPr>
      </p:cxnSp>
      <p:cxnSp>
        <p:nvCxnSpPr>
          <p:cNvPr id="54" name="Elbow Connector 53">
            <a:extLst>
              <a:ext uri="{FF2B5EF4-FFF2-40B4-BE49-F238E27FC236}">
                <a16:creationId xmlns:a16="http://schemas.microsoft.com/office/drawing/2014/main" id="{5D4B0D8C-3685-48A6-85BF-256B7FD8B609}"/>
              </a:ext>
            </a:extLst>
          </p:cNvPr>
          <p:cNvCxnSpPr>
            <a:stCxn id="25" idx="3"/>
            <a:endCxn id="31" idx="1"/>
          </p:cNvCxnSpPr>
          <p:nvPr/>
        </p:nvCxnSpPr>
        <p:spPr>
          <a:xfrm flipV="1">
            <a:off x="6610350" y="4000500"/>
            <a:ext cx="533400" cy="133350"/>
          </a:xfrm>
          <a:prstGeom prst="bentConnector3">
            <a:avLst>
              <a:gd name="adj1" fmla="val 50000"/>
            </a:avLst>
          </a:prstGeom>
          <a:ln w="19050">
            <a:solidFill>
              <a:srgbClr val="236C4E"/>
            </a:solidFill>
            <a:prstDash val="solid"/>
            <a:headEnd type="arrow" w="sm" len="sm"/>
            <a:tailEnd type="arrow" w="sm" len="sm"/>
          </a:ln>
        </p:spPr>
      </p:cxnSp>
      <p:cxnSp>
        <p:nvCxnSpPr>
          <p:cNvPr id="53" name="Straight Arrow Connector 52">
            <a:extLst>
              <a:ext uri="{FF2B5EF4-FFF2-40B4-BE49-F238E27FC236}">
                <a16:creationId xmlns:a16="http://schemas.microsoft.com/office/drawing/2014/main" id="{698835C3-8121-4AD6-854A-23DA5BD93BEF}"/>
              </a:ext>
            </a:extLst>
          </p:cNvPr>
          <p:cNvCxnSpPr>
            <a:stCxn id="30" idx="3"/>
            <a:endCxn id="42" idx="1"/>
          </p:cNvCxnSpPr>
          <p:nvPr/>
        </p:nvCxnSpPr>
        <p:spPr>
          <a:xfrm>
            <a:off x="9810750" y="3124200"/>
            <a:ext cx="552450" cy="0"/>
          </a:xfrm>
          <a:prstGeom prst="straightConnector1">
            <a:avLst/>
          </a:prstGeom>
          <a:ln w="19050">
            <a:solidFill>
              <a:srgbClr val="236C4E"/>
            </a:solidFill>
            <a:prstDash val="solid"/>
            <a:headEnd type="arrow" w="sm" len="sm"/>
            <a:tailEnd type="arrow" w="sm" len="sm"/>
          </a:ln>
        </p:spPr>
      </p:cxnSp>
      <p:cxnSp>
        <p:nvCxnSpPr>
          <p:cNvPr id="52" name="Elbow Connector 51">
            <a:extLst>
              <a:ext uri="{FF2B5EF4-FFF2-40B4-BE49-F238E27FC236}">
                <a16:creationId xmlns:a16="http://schemas.microsoft.com/office/drawing/2014/main" id="{4F6183BC-47F7-448D-9D4A-C8024F6D6A86}"/>
              </a:ext>
            </a:extLst>
          </p:cNvPr>
          <p:cNvCxnSpPr>
            <a:stCxn id="25" idx="3"/>
            <a:endCxn id="30" idx="1"/>
          </p:cNvCxnSpPr>
          <p:nvPr/>
        </p:nvCxnSpPr>
        <p:spPr>
          <a:xfrm flipV="1">
            <a:off x="6610350" y="3124200"/>
            <a:ext cx="533400" cy="1009650"/>
          </a:xfrm>
          <a:prstGeom prst="bentConnector3">
            <a:avLst>
              <a:gd name="adj1" fmla="val 50000"/>
            </a:avLst>
          </a:prstGeom>
          <a:ln w="19050">
            <a:solidFill>
              <a:srgbClr val="236C4E"/>
            </a:solidFill>
            <a:prstDash val="solid"/>
            <a:headEnd type="arrow" w="sm" len="sm"/>
            <a:tailEnd type="arrow" w="sm" len="sm"/>
          </a:ln>
        </p:spPr>
      </p:cxnSp>
      <p:cxnSp>
        <p:nvCxnSpPr>
          <p:cNvPr id="51" name="Elbow Connector 50">
            <a:extLst>
              <a:ext uri="{FF2B5EF4-FFF2-40B4-BE49-F238E27FC236}">
                <a16:creationId xmlns:a16="http://schemas.microsoft.com/office/drawing/2014/main" id="{15230622-3AC3-400B-84C3-A126F62A91B7}"/>
              </a:ext>
            </a:extLst>
          </p:cNvPr>
          <p:cNvCxnSpPr>
            <a:stCxn id="16" idx="3"/>
            <a:endCxn id="25" idx="1"/>
          </p:cNvCxnSpPr>
          <p:nvPr/>
        </p:nvCxnSpPr>
        <p:spPr>
          <a:xfrm flipV="1">
            <a:off x="2362200" y="4133850"/>
            <a:ext cx="838200" cy="1076325"/>
          </a:xfrm>
          <a:prstGeom prst="bentConnector3">
            <a:avLst>
              <a:gd name="adj1" fmla="val 50000"/>
            </a:avLst>
          </a:prstGeom>
          <a:ln w="19050">
            <a:solidFill>
              <a:srgbClr val="236C4E"/>
            </a:solidFill>
            <a:prstDash val="solid"/>
            <a:headEnd type="arrow" w="sm" len="sm"/>
            <a:tailEnd type="arrow" w="sm" len="sm"/>
          </a:ln>
        </p:spPr>
      </p:cxnSp>
      <p:cxnSp>
        <p:nvCxnSpPr>
          <p:cNvPr id="50" name="Elbow Connector 49">
            <a:extLst>
              <a:ext uri="{FF2B5EF4-FFF2-40B4-BE49-F238E27FC236}">
                <a16:creationId xmlns:a16="http://schemas.microsoft.com/office/drawing/2014/main" id="{99346121-5729-41FD-9DBA-12A40F11910C}"/>
              </a:ext>
            </a:extLst>
          </p:cNvPr>
          <p:cNvCxnSpPr>
            <a:stCxn id="15" idx="3"/>
            <a:endCxn id="25" idx="1"/>
          </p:cNvCxnSpPr>
          <p:nvPr/>
        </p:nvCxnSpPr>
        <p:spPr>
          <a:xfrm flipV="1">
            <a:off x="2362200" y="4133850"/>
            <a:ext cx="838200" cy="695325"/>
          </a:xfrm>
          <a:prstGeom prst="bentConnector3">
            <a:avLst>
              <a:gd name="adj1" fmla="val 50000"/>
            </a:avLst>
          </a:prstGeom>
          <a:ln w="19050">
            <a:solidFill>
              <a:srgbClr val="236C4E"/>
            </a:solidFill>
            <a:prstDash val="solid"/>
            <a:headEnd type="arrow" w="sm" len="sm"/>
            <a:tailEnd type="arrow" w="sm" len="sm"/>
          </a:ln>
        </p:spPr>
      </p:cxnSp>
      <p:cxnSp>
        <p:nvCxnSpPr>
          <p:cNvPr id="49" name="Elbow Connector 48">
            <a:extLst>
              <a:ext uri="{FF2B5EF4-FFF2-40B4-BE49-F238E27FC236}">
                <a16:creationId xmlns:a16="http://schemas.microsoft.com/office/drawing/2014/main" id="{A920BEF7-93AE-435C-B2FA-50B851690663}"/>
              </a:ext>
            </a:extLst>
          </p:cNvPr>
          <p:cNvCxnSpPr>
            <a:stCxn id="14" idx="3"/>
            <a:endCxn id="25" idx="1"/>
          </p:cNvCxnSpPr>
          <p:nvPr/>
        </p:nvCxnSpPr>
        <p:spPr>
          <a:xfrm flipV="1">
            <a:off x="2362200" y="4133850"/>
            <a:ext cx="838200" cy="314325"/>
          </a:xfrm>
          <a:prstGeom prst="bentConnector3">
            <a:avLst>
              <a:gd name="adj1" fmla="val 50000"/>
            </a:avLst>
          </a:prstGeom>
          <a:ln w="19050">
            <a:solidFill>
              <a:srgbClr val="236C4E"/>
            </a:solidFill>
            <a:prstDash val="solid"/>
            <a:headEnd type="arrow" w="sm" len="sm"/>
            <a:tailEnd type="arrow" w="sm" len="sm"/>
          </a:ln>
        </p:spPr>
      </p:cxnSp>
      <p:cxnSp>
        <p:nvCxnSpPr>
          <p:cNvPr id="48" name="Elbow Connector 47">
            <a:extLst>
              <a:ext uri="{FF2B5EF4-FFF2-40B4-BE49-F238E27FC236}">
                <a16:creationId xmlns:a16="http://schemas.microsoft.com/office/drawing/2014/main" id="{B82EA1D5-B844-4C00-B6C3-B765256B9409}"/>
              </a:ext>
            </a:extLst>
          </p:cNvPr>
          <p:cNvCxnSpPr>
            <a:stCxn id="13" idx="3"/>
            <a:endCxn id="25" idx="1"/>
          </p:cNvCxnSpPr>
          <p:nvPr/>
        </p:nvCxnSpPr>
        <p:spPr>
          <a:xfrm>
            <a:off x="2362200" y="4067175"/>
            <a:ext cx="838200" cy="66675"/>
          </a:xfrm>
          <a:prstGeom prst="bentConnector3">
            <a:avLst>
              <a:gd name="adj1" fmla="val 50000"/>
            </a:avLst>
          </a:prstGeom>
          <a:ln w="19050">
            <a:solidFill>
              <a:srgbClr val="236C4E"/>
            </a:solidFill>
            <a:prstDash val="solid"/>
            <a:headEnd type="arrow" w="sm" len="sm"/>
            <a:tailEnd type="arrow" w="sm" len="sm"/>
          </a:ln>
        </p:spPr>
      </p:cxnSp>
      <p:cxnSp>
        <p:nvCxnSpPr>
          <p:cNvPr id="47" name="Elbow Connector 46">
            <a:extLst>
              <a:ext uri="{FF2B5EF4-FFF2-40B4-BE49-F238E27FC236}">
                <a16:creationId xmlns:a16="http://schemas.microsoft.com/office/drawing/2014/main" id="{BD1C93BF-2806-4E96-94E9-649F83462FC2}"/>
              </a:ext>
            </a:extLst>
          </p:cNvPr>
          <p:cNvCxnSpPr>
            <a:stCxn id="12" idx="3"/>
            <a:endCxn id="25" idx="1"/>
          </p:cNvCxnSpPr>
          <p:nvPr/>
        </p:nvCxnSpPr>
        <p:spPr>
          <a:xfrm>
            <a:off x="2362200" y="3686175"/>
            <a:ext cx="838200" cy="447675"/>
          </a:xfrm>
          <a:prstGeom prst="bentConnector3">
            <a:avLst>
              <a:gd name="adj1" fmla="val 50000"/>
            </a:avLst>
          </a:prstGeom>
          <a:ln w="19050">
            <a:solidFill>
              <a:srgbClr val="236C4E"/>
            </a:solidFill>
            <a:prstDash val="solid"/>
            <a:headEnd type="arrow" w="sm" len="sm"/>
            <a:tailEnd type="arrow" w="sm" len="sm"/>
          </a:ln>
        </p:spPr>
      </p:cxnSp>
      <p:cxnSp>
        <p:nvCxnSpPr>
          <p:cNvPr id="46" name="Elbow Connector 45">
            <a:extLst>
              <a:ext uri="{FF2B5EF4-FFF2-40B4-BE49-F238E27FC236}">
                <a16:creationId xmlns:a16="http://schemas.microsoft.com/office/drawing/2014/main" id="{567D2DD1-DEF1-4413-8E52-2649243A2D47}"/>
              </a:ext>
            </a:extLst>
          </p:cNvPr>
          <p:cNvCxnSpPr>
            <a:stCxn id="11" idx="3"/>
            <a:endCxn id="25" idx="1"/>
          </p:cNvCxnSpPr>
          <p:nvPr/>
        </p:nvCxnSpPr>
        <p:spPr>
          <a:xfrm>
            <a:off x="2362200" y="3305175"/>
            <a:ext cx="838200" cy="828675"/>
          </a:xfrm>
          <a:prstGeom prst="bentConnector3">
            <a:avLst>
              <a:gd name="adj1" fmla="val 50000"/>
            </a:avLst>
          </a:prstGeom>
          <a:ln w="19050">
            <a:solidFill>
              <a:srgbClr val="236C4E"/>
            </a:solidFill>
            <a:prstDash val="solid"/>
            <a:headEnd type="arrow" w="sm" len="sm"/>
            <a:tailEnd type="arrow" w="sm" len="sm"/>
          </a:ln>
        </p:spPr>
      </p:cxnSp>
      <p:cxnSp>
        <p:nvCxnSpPr>
          <p:cNvPr id="45" name="Elbow Connector 44">
            <a:extLst>
              <a:ext uri="{FF2B5EF4-FFF2-40B4-BE49-F238E27FC236}">
                <a16:creationId xmlns:a16="http://schemas.microsoft.com/office/drawing/2014/main" id="{42CF1409-AF20-4C0E-9448-73A9B41FF31D}"/>
              </a:ext>
            </a:extLst>
          </p:cNvPr>
          <p:cNvCxnSpPr>
            <a:stCxn id="10" idx="3"/>
            <a:endCxn id="25" idx="1"/>
          </p:cNvCxnSpPr>
          <p:nvPr/>
        </p:nvCxnSpPr>
        <p:spPr>
          <a:xfrm>
            <a:off x="2362200" y="2924175"/>
            <a:ext cx="838200" cy="1209675"/>
          </a:xfrm>
          <a:prstGeom prst="bentConnector3">
            <a:avLst>
              <a:gd name="adj1" fmla="val 50000"/>
            </a:avLst>
          </a:prstGeom>
          <a:ln w="19050">
            <a:solidFill>
              <a:srgbClr val="236C4E"/>
            </a:solidFill>
            <a:prstDash val="solid"/>
            <a:headEnd type="arrow" w="sm" len="sm"/>
            <a:tailEnd type="arrow" w="sm" len="sm"/>
          </a:ln>
        </p:spPr>
      </p:cxnSp>
      <p:sp>
        <p:nvSpPr>
          <p:cNvPr id="63" name="booking-layer-text-0">
            <a:extLst>
              <a:ext uri="{FF2B5EF4-FFF2-40B4-BE49-F238E27FC236}">
                <a16:creationId xmlns:a16="http://schemas.microsoft.com/office/drawing/2014/main" id="{780846B9-89B6-42C8-88A6-077B482B99AC}"/>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defRPr sz="1275" b="1">
                <a:solidFill>
                  <a:srgbClr val="65746C"/>
                </a:solidFill>
                <a:latin typeface="Helvetica Neue"/>
                <a:ea typeface="Helvetica Neue"/>
                <a:cs typeface="Helvetica Neue"/>
              </a:defRPr>
            </a:defPPr>
          </a:lstStyle>
          <a:p>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a:ext uri="{FF2B5EF4-FFF2-40B4-BE49-F238E27FC236}">
                <a16:creationId xmlns:a16="http://schemas.microsoft.com/office/drawing/2014/main" id="{558838F4-FB49-405E-B523-5CF53F03D7AD}"/>
              </a:ext>
            </a:extLst>
          </p:cNvPr>
          <p:cNvSpPr>
            <a:spLocks noGrp="1"/>
          </p:cNvSpPr>
          <p:nvPr/>
        </p:nvSpPr>
        <p:spPr>
          <a:xfrm>
            <a:off x="495300" y="619125"/>
            <a:ext cx="11201400" cy="628650"/>
          </a:xfrm>
          <a:prstGeom prst="rect">
            <a:avLst/>
          </a:prstGeom>
          <a:noFill/>
          <a:ln w="0">
            <a:noFill/>
            <a:prstDash val="solid"/>
          </a:ln>
        </p:spPr>
        <p:txBody>
          <a:bodyPr wrap="square" lIns="0" tIns="0" rIns="0" bIns="0" anchor="t">
            <a:noAutofit/>
          </a:bodyPr>
          <a:lstStyle>
            <a:defPPr>
              <a:defRPr sz="3300" b="1">
                <a:solidFill>
                  <a:srgbClr val="193C32"/>
                </a:solidFill>
                <a:latin typeface="Helvetica Neue"/>
                <a:ea typeface="Helvetica Neue"/>
                <a:cs typeface="Helvetica Neue"/>
              </a:defRPr>
            </a:defPPr>
          </a:lstStyle>
          <a:p>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a:ext uri="{FF2B5EF4-FFF2-40B4-BE49-F238E27FC236}">
                <a16:creationId xmlns:a16="http://schemas.microsoft.com/office/drawing/2014/main" id="{D5C55A98-D2FC-4D22-BDAF-425BD652E5A4}"/>
              </a:ext>
            </a:extLst>
          </p:cNvPr>
          <p:cNvSpPr>
            <a:spLocks noGrp="1"/>
          </p:cNvSpPr>
          <p:nvPr/>
        </p:nvSpPr>
        <p:spPr>
          <a:xfrm>
            <a:off x="495300" y="1362075"/>
            <a:ext cx="11201400" cy="457200"/>
          </a:xfrm>
          <a:prstGeom prst="rect">
            <a:avLst/>
          </a:prstGeom>
          <a:noFill/>
          <a:ln w="0">
            <a:noFill/>
            <a:prstDash val="solid"/>
          </a:ln>
        </p:spPr>
        <p:txBody>
          <a:bodyPr wrap="square" lIns="0" tIns="0" rIns="0" bIns="0" anchor="t">
            <a:noAutofit/>
          </a:bodyPr>
          <a:lstStyle>
            <a:defPPr>
              <a:defRPr sz="2025" b="0">
                <a:solidFill>
                  <a:srgbClr val="65746C"/>
                </a:solidFill>
                <a:latin typeface="Helvetica Neue"/>
                <a:ea typeface="Helvetica Neue"/>
                <a:cs typeface="Helvetica Neue"/>
              </a:defRPr>
            </a:defPPr>
          </a:lstStyle>
          <a:p>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a:ext uri="{FF2B5EF4-FFF2-40B4-BE49-F238E27FC236}">
                <a16:creationId xmlns:a16="http://schemas.microsoft.com/office/drawing/2014/main" id="{25D62D51-3ACC-42B9-AF5C-085EBB1C6C26}"/>
              </a:ext>
            </a:extLst>
          </p:cNvPr>
          <p:cNvSpPr>
            <a:spLocks noGrp="1"/>
          </p:cNvSpPr>
          <p:nvPr/>
        </p:nvSpPr>
        <p:spPr>
          <a:xfrm>
            <a:off x="495300" y="2152650"/>
            <a:ext cx="1866900" cy="285750"/>
          </a:xfrm>
          <a:prstGeom prst="rect">
            <a:avLst/>
          </a:prstGeom>
          <a:noFill/>
          <a:ln w="0">
            <a:noFill/>
            <a:prstDash val="solid"/>
          </a:ln>
        </p:spPr>
        <p:txBody>
          <a:bodyPr wrap="square" lIns="0" tIns="0" rIns="0" bIns="0" anchor="t">
            <a:noAutofit/>
          </a:bodyPr>
          <a:lstStyle>
            <a:defPPr>
              <a:defRPr sz="1650" b="1">
                <a:solidFill>
                  <a:srgbClr val="193C32"/>
                </a:solidFill>
                <a:latin typeface="Helvetica Neue"/>
                <a:ea typeface="Helvetica Neue"/>
                <a:cs typeface="Helvetica Neue"/>
              </a:defRPr>
            </a:defPPr>
          </a:lstStyle>
          <a:p>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a:ext uri="{FF2B5EF4-FFF2-40B4-BE49-F238E27FC236}">
                <a16:creationId xmlns:a16="http://schemas.microsoft.com/office/drawing/2014/main" id="{D27E49B2-4AE1-4370-860E-31238EBC6788}"/>
              </a:ext>
            </a:extLst>
          </p:cNvPr>
          <p:cNvSpPr>
            <a:spLocks noGrp="1"/>
          </p:cNvSpPr>
          <p:nvPr/>
        </p:nvSpPr>
        <p:spPr>
          <a:xfrm>
            <a:off x="495300" y="2476500"/>
            <a:ext cx="1866900" cy="266700"/>
          </a:xfrm>
          <a:prstGeom prst="rect">
            <a:avLst/>
          </a:prstGeom>
          <a:noFill/>
          <a:ln w="0">
            <a:noFill/>
            <a:prstDash val="solid"/>
          </a:ln>
        </p:spPr>
        <p:txBody>
          <a:bodyPr wrap="square" lIns="0" tIns="0" rIns="0" bIns="0" anchor="t">
            <a:noAutofit/>
          </a:bodyPr>
          <a:lstStyle>
            <a:defPPr>
              <a:defRPr sz="1425" b="0">
                <a:solidFill>
                  <a:srgbClr val="65746C"/>
                </a:solidFill>
                <a:latin typeface="Helvetica Neue"/>
                <a:ea typeface="Helvetica Neue"/>
                <a:cs typeface="Helvetica Neue"/>
              </a:defRPr>
            </a:defPPr>
          </a:lstStyle>
          <a:p>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a:ext uri="{FF2B5EF4-FFF2-40B4-BE49-F238E27FC236}">
                <a16:creationId xmlns:a16="http://schemas.microsoft.com/office/drawing/2014/main" id="{1C0B045E-DE72-45BB-9114-EFBA9CC9C157}"/>
              </a:ext>
            </a:extLst>
          </p:cNvPr>
          <p:cNvSpPr>
            <a:spLocks noGrp="1"/>
          </p:cNvSpPr>
          <p:nvPr/>
        </p:nvSpPr>
        <p:spPr>
          <a:xfrm>
            <a:off x="3200400" y="2152650"/>
            <a:ext cx="3409950" cy="295275"/>
          </a:xfrm>
          <a:prstGeom prst="rect">
            <a:avLst/>
          </a:prstGeom>
          <a:noFill/>
          <a:ln w="0">
            <a:noFill/>
            <a:prstDash val="solid"/>
          </a:ln>
        </p:spPr>
        <p:txBody>
          <a:bodyPr wrap="square" lIns="0" tIns="0" rIns="0" bIns="0" anchor="t">
            <a:noAutofit/>
          </a:bodyPr>
          <a:lstStyle>
            <a:defPPr>
              <a:defRPr sz="1650" b="1">
                <a:solidFill>
                  <a:srgbClr val="193C32"/>
                </a:solidFill>
                <a:latin typeface="Helvetica Neue"/>
                <a:ea typeface="Helvetica Neue"/>
                <a:cs typeface="Helvetica Neue"/>
              </a:defRPr>
            </a:defPPr>
          </a:lstStyle>
          <a:p>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a:ext uri="{FF2B5EF4-FFF2-40B4-BE49-F238E27FC236}">
                <a16:creationId xmlns:a16="http://schemas.microsoft.com/office/drawing/2014/main" id="{2FC5CA1D-5A2A-4CEA-AF88-28C06E1AA264}"/>
              </a:ext>
            </a:extLst>
          </p:cNvPr>
          <p:cNvSpPr>
            <a:spLocks noGrp="1"/>
          </p:cNvSpPr>
          <p:nvPr/>
        </p:nvSpPr>
        <p:spPr>
          <a:xfrm>
            <a:off x="7059386" y="2233617"/>
            <a:ext cx="2751364" cy="295265"/>
          </a:xfrm>
          <a:prstGeom prst="rect">
            <a:avLst/>
          </a:prstGeom>
          <a:noFill/>
          <a:ln w="0">
            <a:noFill/>
            <a:prstDash val="solid"/>
          </a:ln>
        </p:spPr>
        <p:txBody>
          <a:bodyPr wrap="square" lIns="0" tIns="0" rIns="0" bIns="0" anchor="t">
            <a:noAutofit/>
          </a:bodyPr>
          <a:lstStyle>
            <a:defPPr>
              <a:defRPr sz="1575" b="1">
                <a:solidFill>
                  <a:srgbClr val="193C32"/>
                </a:solidFill>
                <a:latin typeface="Helvetica Neue"/>
                <a:ea typeface="Helvetica Neue"/>
                <a:cs typeface="Helvetica Neue"/>
              </a:defRPr>
            </a:defPPr>
          </a:lstStyle>
          <a:p>
            <a:pPr>
              <a:buNone/>
              <a:defRPr sz="1575" b="1">
                <a:solidFill>
                  <a:srgbClr val="193C32"/>
                </a:solidFill>
                <a:latin typeface="Helvetica Neue"/>
                <a:ea typeface="Helvetica Neue"/>
                <a:cs typeface="Helvetica Neue"/>
              </a:defRPr>
            </a:pPr>
            <a:r>
              <a:rPr lang="en-US" sz="1575" b="1" dirty="0" err="1">
                <a:solidFill>
                  <a:srgbClr val="193C32"/>
                </a:solidFill>
                <a:latin typeface="Helvetica Neue"/>
                <a:ea typeface="Helvetica Neue"/>
                <a:cs typeface="Helvetica Neue"/>
              </a:rPr>
              <a:t>Eg.</a:t>
            </a:r>
            <a:r>
              <a:rPr lang="en-US" sz="1575" b="1" dirty="0">
                <a:solidFill>
                  <a:srgbClr val="193C32"/>
                </a:solidFill>
                <a:latin typeface="Helvetica Neue"/>
                <a:ea typeface="Helvetica Neue"/>
                <a:cs typeface="Helvetica Neue"/>
              </a:rPr>
              <a:t> </a:t>
            </a:r>
            <a:r>
              <a:rPr sz="1575" b="1" dirty="0">
                <a:solidFill>
                  <a:srgbClr val="193C32"/>
                </a:solidFill>
                <a:latin typeface="Helvetica Neue"/>
                <a:ea typeface="Helvetica Neue"/>
                <a:cs typeface="Helvetica Neue"/>
              </a:rPr>
              <a:t>Plumbing software stack</a:t>
            </a:r>
          </a:p>
        </p:txBody>
      </p:sp>
      <p:sp>
        <p:nvSpPr>
          <p:cNvPr id="9" name="booking-layer-text-8">
            <a:extLst>
              <a:ext uri="{FF2B5EF4-FFF2-40B4-BE49-F238E27FC236}">
                <a16:creationId xmlns:a16="http://schemas.microsoft.com/office/drawing/2014/main" id="{D5ED5DD5-348A-40D0-B661-0AB61FC9256A}"/>
              </a:ext>
            </a:extLst>
          </p:cNvPr>
          <p:cNvSpPr>
            <a:spLocks noGrp="1"/>
          </p:cNvSpPr>
          <p:nvPr/>
        </p:nvSpPr>
        <p:spPr>
          <a:xfrm>
            <a:off x="10363200" y="2124075"/>
            <a:ext cx="1333500" cy="523875"/>
          </a:xfrm>
          <a:prstGeom prst="rect">
            <a:avLst/>
          </a:prstGeom>
          <a:noFill/>
          <a:ln w="0">
            <a:noFill/>
            <a:prstDash val="solid"/>
          </a:ln>
        </p:spPr>
        <p:txBody>
          <a:bodyPr wrap="square" lIns="0" tIns="0" rIns="0" bIns="0" anchor="t">
            <a:noAutofit/>
          </a:bodyPr>
          <a:lstStyle>
            <a:defPPr>
              <a:defRPr sz="1575" b="1">
                <a:solidFill>
                  <a:srgbClr val="193C32"/>
                </a:solidFill>
                <a:latin typeface="Helvetica Neue"/>
                <a:ea typeface="Helvetica Neue"/>
                <a:cs typeface="Helvetica Neue"/>
              </a:defRPr>
            </a:defPPr>
          </a:lstStyle>
          <a:p>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a:ext uri="{FF2B5EF4-FFF2-40B4-BE49-F238E27FC236}">
                <a16:creationId xmlns:a16="http://schemas.microsoft.com/office/drawing/2014/main" id="{C5BE2521-AF10-4909-92F1-A7D9E53DFEBA}"/>
              </a:ext>
            </a:extLst>
          </p:cNvPr>
          <p:cNvSpPr>
            <a:spLocks noGrp="1"/>
          </p:cNvSpPr>
          <p:nvPr/>
        </p:nvSpPr>
        <p:spPr>
          <a:xfrm>
            <a:off x="495300" y="2762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a:ext uri="{FF2B5EF4-FFF2-40B4-BE49-F238E27FC236}">
                <a16:creationId xmlns:a16="http://schemas.microsoft.com/office/drawing/2014/main" id="{5BE92FEF-B9A3-49B6-AE30-B5D9AE989CA7}"/>
              </a:ext>
            </a:extLst>
          </p:cNvPr>
          <p:cNvSpPr>
            <a:spLocks noGrp="1"/>
          </p:cNvSpPr>
          <p:nvPr/>
        </p:nvSpPr>
        <p:spPr>
          <a:xfrm>
            <a:off x="495300" y="3143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sp>
        <p:nvSpPr>
          <p:cNvPr id="12" name="booking-layer-node-11">
            <a:extLst>
              <a:ext uri="{FF2B5EF4-FFF2-40B4-BE49-F238E27FC236}">
                <a16:creationId xmlns:a16="http://schemas.microsoft.com/office/drawing/2014/main" id="{9AC664CA-0C30-422C-802F-2582A5C5E69A}"/>
              </a:ext>
            </a:extLst>
          </p:cNvPr>
          <p:cNvSpPr>
            <a:spLocks noGrp="1"/>
          </p:cNvSpPr>
          <p:nvPr/>
        </p:nvSpPr>
        <p:spPr>
          <a:xfrm>
            <a:off x="495300" y="3524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a:ext uri="{FF2B5EF4-FFF2-40B4-BE49-F238E27FC236}">
                <a16:creationId xmlns:a16="http://schemas.microsoft.com/office/drawing/2014/main" id="{184F9E6D-A0F9-433B-BC7B-8B634B43FA0D}"/>
              </a:ext>
            </a:extLst>
          </p:cNvPr>
          <p:cNvSpPr>
            <a:spLocks noGrp="1"/>
          </p:cNvSpPr>
          <p:nvPr/>
        </p:nvSpPr>
        <p:spPr>
          <a:xfrm>
            <a:off x="495300" y="3905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sp>
        <p:nvSpPr>
          <p:cNvPr id="14" name="booking-layer-node-13">
            <a:extLst>
              <a:ext uri="{FF2B5EF4-FFF2-40B4-BE49-F238E27FC236}">
                <a16:creationId xmlns:a16="http://schemas.microsoft.com/office/drawing/2014/main" id="{657ECBFD-9328-43BE-9C40-9DD102C43416}"/>
              </a:ext>
            </a:extLst>
          </p:cNvPr>
          <p:cNvSpPr>
            <a:spLocks noGrp="1"/>
          </p:cNvSpPr>
          <p:nvPr/>
        </p:nvSpPr>
        <p:spPr>
          <a:xfrm>
            <a:off x="495300" y="4286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sp>
        <p:nvSpPr>
          <p:cNvPr id="15" name="booking-layer-node-14">
            <a:extLst>
              <a:ext uri="{FF2B5EF4-FFF2-40B4-BE49-F238E27FC236}">
                <a16:creationId xmlns:a16="http://schemas.microsoft.com/office/drawing/2014/main" id="{877FB408-43FD-4283-86ED-F2F9299DC889}"/>
              </a:ext>
            </a:extLst>
          </p:cNvPr>
          <p:cNvSpPr>
            <a:spLocks noGrp="1"/>
          </p:cNvSpPr>
          <p:nvPr/>
        </p:nvSpPr>
        <p:spPr>
          <a:xfrm>
            <a:off x="495300" y="4667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sp>
        <p:nvSpPr>
          <p:cNvPr id="16" name="booking-layer-node-15">
            <a:extLst>
              <a:ext uri="{FF2B5EF4-FFF2-40B4-BE49-F238E27FC236}">
                <a16:creationId xmlns:a16="http://schemas.microsoft.com/office/drawing/2014/main" id="{4ADA72F3-71A5-474A-82D5-32213561CCCF}"/>
              </a:ext>
            </a:extLst>
          </p:cNvPr>
          <p:cNvSpPr>
            <a:spLocks noGrp="1"/>
          </p:cNvSpPr>
          <p:nvPr/>
        </p:nvSpPr>
        <p:spPr>
          <a:xfrm>
            <a:off x="495300" y="5048250"/>
            <a:ext cx="1866900" cy="323850"/>
          </a:xfrm>
          <a:prstGeom prst="rect">
            <a:avLst/>
          </a:prstGeom>
          <a:solidFill>
            <a:srgbClr val="FFFFFF"/>
          </a:solidFill>
          <a:ln w="14288">
            <a:solidFill>
              <a:srgbClr val="CDD5CE"/>
            </a:solidFill>
            <a:prstDash val="solid"/>
          </a:ln>
        </p:spPr>
        <p:txBody>
          <a:bodyPr wrap="square" lIns="38100" tIns="38100" rIns="38100" bIns="38100" anchor="ctr">
            <a:noAutofit/>
          </a:bodyPr>
          <a:lstStyle>
            <a:defPPr algn="ctr">
              <a:defRPr sz="1650" b="1">
                <a:solidFill>
                  <a:srgbClr val="101010"/>
                </a:solidFill>
                <a:latin typeface="Helvetica Neue"/>
                <a:ea typeface="Helvetica Neue"/>
                <a:cs typeface="Helvetica Neue"/>
              </a:defRPr>
            </a:defPPr>
          </a:lstStyle>
          <a:p>
            <a:endParaRPr/>
          </a:p>
        </p:txBody>
      </p:sp>
      <p:pic>
        <p:nvPicPr>
          <p:cNvPr id="17" name="Picture 16">
            <a:extLst>
              <a:ext uri="{FF2B5EF4-FFF2-40B4-BE49-F238E27FC236}">
                <a16:creationId xmlns:a16="http://schemas.microsoft.com/office/drawing/2014/main" id="{D288609A-1432-4E47-9665-8369DB445874}"/>
              </a:ext>
            </a:extLst>
          </p:cNvPr>
          <p:cNvPicPr>
            <a:picLocks noChangeAspect="1"/>
          </p:cNvPicPr>
          <p:nvPr/>
        </p:nvPicPr>
        <p:blipFill>
          <a:blip r:embed="rId3"/>
          <a:srcRect l="8000" t="33000" r="6500" b="35000"/>
          <a:stretch/>
        </p:blipFill>
        <p:spPr>
          <a:xfrm>
            <a:off x="904875" y="3181350"/>
            <a:ext cx="1047750" cy="257175"/>
          </a:xfrm>
          <a:prstGeom prst="rect">
            <a:avLst/>
          </a:prstGeom>
        </p:spPr>
      </p:pic>
      <p:pic>
        <p:nvPicPr>
          <p:cNvPr id="18" name="Picture 17">
            <a:extLst>
              <a:ext uri="{FF2B5EF4-FFF2-40B4-BE49-F238E27FC236}">
                <a16:creationId xmlns:a16="http://schemas.microsoft.com/office/drawing/2014/main" id="{0A548894-5FEA-46CD-B9AE-E7DF02B3A6DE}"/>
              </a:ext>
            </a:extLst>
          </p:cNvPr>
          <p:cNvPicPr>
            <a:picLocks noChangeAspect="1"/>
          </p:cNvPicPr>
          <p:nvPr/>
        </p:nvPicPr>
        <p:blipFill>
          <a:blip r:embed="rId4"/>
          <a:srcRect l="6000" t="39500" r="9500" b="37000"/>
          <a:stretch/>
        </p:blipFill>
        <p:spPr>
          <a:xfrm>
            <a:off x="828675" y="3943350"/>
            <a:ext cx="1200150" cy="257175"/>
          </a:xfrm>
          <a:prstGeom prst="rect">
            <a:avLst/>
          </a:prstGeom>
        </p:spPr>
      </p:pic>
      <p:pic>
        <p:nvPicPr>
          <p:cNvPr id="19" name="Picture 18">
            <a:extLst>
              <a:ext uri="{FF2B5EF4-FFF2-40B4-BE49-F238E27FC236}">
                <a16:creationId xmlns:a16="http://schemas.microsoft.com/office/drawing/2014/main" id="{6715FFEC-31A9-4B78-B979-B538F90E2962}"/>
              </a:ext>
            </a:extLst>
          </p:cNvPr>
          <p:cNvPicPr>
            <a:picLocks noChangeAspect="1"/>
          </p:cNvPicPr>
          <p:nvPr/>
        </p:nvPicPr>
        <p:blipFill>
          <a:blip r:embed="rId5"/>
          <a:srcRect l="21000" t="26000" r="21000" b="32000"/>
          <a:stretch/>
        </p:blipFill>
        <p:spPr>
          <a:xfrm>
            <a:off x="962025" y="4314825"/>
            <a:ext cx="933450" cy="266700"/>
          </a:xfrm>
          <a:prstGeom prst="rect">
            <a:avLst/>
          </a:prstGeom>
        </p:spPr>
      </p:pic>
      <p:pic>
        <p:nvPicPr>
          <p:cNvPr id="20" name="Picture 19">
            <a:extLst>
              <a:ext uri="{FF2B5EF4-FFF2-40B4-BE49-F238E27FC236}">
                <a16:creationId xmlns:a16="http://schemas.microsoft.com/office/drawing/2014/main" id="{298A1BC4-23A5-4233-9504-E1B14146AE9B}"/>
              </a:ext>
            </a:extLst>
          </p:cNvPr>
          <p:cNvPicPr>
            <a:picLocks noChangeAspect="1"/>
          </p:cNvPicPr>
          <p:nvPr/>
        </p:nvPicPr>
        <p:blipFill>
          <a:blip r:embed="rId6"/>
          <a:srcRect l="3500" t="7000" r="69500" b="11000"/>
          <a:stretch/>
        </p:blipFill>
        <p:spPr>
          <a:xfrm>
            <a:off x="838200" y="4695825"/>
            <a:ext cx="257175" cy="266700"/>
          </a:xfrm>
          <a:prstGeom prst="rect">
            <a:avLst/>
          </a:prstGeom>
        </p:spPr>
      </p:pic>
      <p:sp>
        <p:nvSpPr>
          <p:cNvPr id="21" name="booking-layer-text-16">
            <a:extLst>
              <a:ext uri="{FF2B5EF4-FFF2-40B4-BE49-F238E27FC236}">
                <a16:creationId xmlns:a16="http://schemas.microsoft.com/office/drawing/2014/main" id="{B44C165E-AEAF-47F5-8904-554268F63319}"/>
              </a:ext>
            </a:extLst>
          </p:cNvPr>
          <p:cNvSpPr>
            <a:spLocks noGrp="1"/>
          </p:cNvSpPr>
          <p:nvPr/>
        </p:nvSpPr>
        <p:spPr>
          <a:xfrm>
            <a:off x="1209675" y="4714875"/>
            <a:ext cx="1095375" cy="238125"/>
          </a:xfrm>
          <a:prstGeom prst="rect">
            <a:avLst/>
          </a:prstGeom>
          <a:noFill/>
          <a:ln w="0">
            <a:noFill/>
            <a:prstDash val="solid"/>
          </a:ln>
        </p:spPr>
        <p:txBody>
          <a:bodyPr wrap="square" lIns="0" tIns="0" rIns="0" bIns="0" anchor="t">
            <a:noAutofit/>
          </a:bodyPr>
          <a:lstStyle>
            <a:defPPr>
              <a:defRPr sz="1575" b="1">
                <a:solidFill>
                  <a:srgbClr val="101010"/>
                </a:solidFill>
                <a:latin typeface="Helvetica Neue"/>
                <a:ea typeface="Helvetica Neue"/>
                <a:cs typeface="Helvetica Neue"/>
              </a:defRPr>
            </a:defPPr>
          </a:lstStyle>
          <a:p>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a:ext uri="{FF2B5EF4-FFF2-40B4-BE49-F238E27FC236}">
                <a16:creationId xmlns:a16="http://schemas.microsoft.com/office/drawing/2014/main" id="{256ACED1-EBC1-46FF-90DE-B7D06D0CCB3D}"/>
              </a:ext>
            </a:extLst>
          </p:cNvPr>
          <p:cNvPicPr>
            <a:picLocks noChangeAspect="1"/>
          </p:cNvPicPr>
          <p:nvPr/>
        </p:nvPicPr>
        <p:blipFill>
          <a:blip r:embed="rId7"/>
          <a:srcRect/>
          <a:stretch/>
        </p:blipFill>
        <p:spPr>
          <a:xfrm>
            <a:off x="981075" y="5086350"/>
            <a:ext cx="247650" cy="247650"/>
          </a:xfrm>
          <a:prstGeom prst="rect">
            <a:avLst/>
          </a:prstGeom>
        </p:spPr>
      </p:pic>
      <p:sp>
        <p:nvSpPr>
          <p:cNvPr id="23" name="booking-layer-text-17">
            <a:extLst>
              <a:ext uri="{FF2B5EF4-FFF2-40B4-BE49-F238E27FC236}">
                <a16:creationId xmlns:a16="http://schemas.microsoft.com/office/drawing/2014/main" id="{7807ACC5-6E11-4442-8DAE-E40658E334E7}"/>
              </a:ext>
            </a:extLst>
          </p:cNvPr>
          <p:cNvSpPr>
            <a:spLocks noGrp="1"/>
          </p:cNvSpPr>
          <p:nvPr/>
        </p:nvSpPr>
        <p:spPr>
          <a:xfrm>
            <a:off x="1323975" y="5095875"/>
            <a:ext cx="857250" cy="238125"/>
          </a:xfrm>
          <a:prstGeom prst="rect">
            <a:avLst/>
          </a:prstGeom>
          <a:noFill/>
          <a:ln w="0">
            <a:noFill/>
            <a:prstDash val="solid"/>
          </a:ln>
        </p:spPr>
        <p:txBody>
          <a:bodyPr wrap="square" lIns="0" tIns="0" rIns="0" bIns="0" anchor="t">
            <a:noAutofit/>
          </a:bodyPr>
          <a:lstStyle>
            <a:defPPr>
              <a:defRPr sz="1575" b="1">
                <a:solidFill>
                  <a:srgbClr val="101010"/>
                </a:solidFill>
                <a:latin typeface="Helvetica Neue"/>
                <a:ea typeface="Helvetica Neue"/>
                <a:cs typeface="Helvetica Neue"/>
              </a:defRPr>
            </a:defPPr>
          </a:lstStyle>
          <a:p>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a:ext uri="{FF2B5EF4-FFF2-40B4-BE49-F238E27FC236}">
                <a16:creationId xmlns:a16="http://schemas.microsoft.com/office/drawing/2014/main" id="{32C0CC3B-119F-4144-9827-BE99EADABABB}"/>
              </a:ext>
            </a:extLst>
          </p:cNvPr>
          <p:cNvSpPr>
            <a:spLocks noGrp="1"/>
          </p:cNvSpPr>
          <p:nvPr/>
        </p:nvSpPr>
        <p:spPr>
          <a:xfrm>
            <a:off x="495300" y="5445578"/>
            <a:ext cx="2190750" cy="247650"/>
          </a:xfrm>
          <a:prstGeom prst="rect">
            <a:avLst/>
          </a:prstGeom>
          <a:noFill/>
          <a:ln w="0">
            <a:noFill/>
            <a:prstDash val="solid"/>
          </a:ln>
        </p:spPr>
        <p:txBody>
          <a:bodyPr wrap="square" lIns="0" tIns="0" rIns="0" bIns="0" anchor="t">
            <a:noAutofit/>
          </a:bodyPr>
          <a:lstStyle>
            <a:defPPr>
              <a:defRPr sz="1350" b="0">
                <a:solidFill>
                  <a:srgbClr val="65746C"/>
                </a:solidFill>
                <a:latin typeface="Helvetica Neue"/>
                <a:ea typeface="Helvetica Neue"/>
                <a:cs typeface="Helvetica Neue"/>
              </a:defRPr>
            </a:defPPr>
          </a:lstStyle>
          <a:p>
            <a:pPr>
              <a:buNone/>
              <a:defRPr sz="1350" b="0">
                <a:solidFill>
                  <a:srgbClr val="65746C"/>
                </a:solidFill>
                <a:latin typeface="Helvetica Neue"/>
                <a:ea typeface="Helvetica Neue"/>
                <a:cs typeface="Helvetica Neue"/>
              </a:defRPr>
            </a:pPr>
            <a:r>
              <a:rPr lang="en-US" sz="1100" b="0" dirty="0">
                <a:solidFill>
                  <a:srgbClr val="65746C"/>
                </a:solidFill>
                <a:latin typeface="Helvetica Neue"/>
                <a:ea typeface="Helvetica Neue"/>
                <a:cs typeface="Helvetica Neue"/>
              </a:rPr>
              <a:t>*</a:t>
            </a:r>
            <a:r>
              <a:rPr sz="1100" b="0" dirty="0">
                <a:solidFill>
                  <a:srgbClr val="65746C"/>
                </a:solidFill>
                <a:latin typeface="Helvetica Neue"/>
                <a:ea typeface="Helvetica Neue"/>
                <a:cs typeface="Helvetica Neue"/>
              </a:rPr>
              <a:t>Claude</a:t>
            </a:r>
            <a:r>
              <a:rPr lang="en-US" sz="1100" b="0" dirty="0">
                <a:solidFill>
                  <a:srgbClr val="65746C"/>
                </a:solidFill>
                <a:latin typeface="Helvetica Neue"/>
                <a:ea typeface="Helvetica Neue"/>
                <a:cs typeface="Helvetica Neue"/>
              </a:rPr>
              <a:t> &amp;</a:t>
            </a:r>
            <a:r>
              <a:rPr lang="en-US" sz="1100" dirty="0">
                <a:solidFill>
                  <a:srgbClr val="65746C"/>
                </a:solidFill>
                <a:latin typeface="Helvetica Neue"/>
                <a:ea typeface="Helvetica Neue"/>
                <a:cs typeface="Helvetica Neue"/>
              </a:rPr>
              <a:t> Google launching soon</a:t>
            </a:r>
            <a:r>
              <a:rPr sz="1350" b="0" dirty="0">
                <a:solidFill>
                  <a:srgbClr val="65746C"/>
                </a:solidFill>
                <a:latin typeface="Helvetica Neue"/>
                <a:ea typeface="Helvetica Neue"/>
                <a:cs typeface="Helvetica Neue"/>
              </a:rPr>
              <a:t> </a:t>
            </a:r>
          </a:p>
        </p:txBody>
      </p:sp>
      <p:sp>
        <p:nvSpPr>
          <p:cNvPr id="25" name="booking-layer-node-19">
            <a:extLst>
              <a:ext uri="{FF2B5EF4-FFF2-40B4-BE49-F238E27FC236}">
                <a16:creationId xmlns:a16="http://schemas.microsoft.com/office/drawing/2014/main" id="{74AA40FC-02C1-4BE0-8313-7735099DCF1D}"/>
              </a:ext>
            </a:extLst>
          </p:cNvPr>
          <p:cNvSpPr>
            <a:spLocks noGrp="1"/>
          </p:cNvSpPr>
          <p:nvPr/>
        </p:nvSpPr>
        <p:spPr>
          <a:xfrm>
            <a:off x="3200400" y="2762250"/>
            <a:ext cx="3409950" cy="2743200"/>
          </a:xfrm>
          <a:prstGeom prst="rect">
            <a:avLst/>
          </a:prstGeom>
          <a:solidFill>
            <a:srgbClr val="236C4E"/>
          </a:solidFill>
          <a:ln w="14288">
            <a:solidFill>
              <a:srgbClr val="236C4E"/>
            </a:solidFill>
            <a:prstDash val="solid"/>
          </a:ln>
        </p:spPr>
        <p:txBody>
          <a:bodyPr wrap="square" lIns="76200" tIns="76200" rIns="76200" bIns="76200" anchor="ctr">
            <a:noAutofit/>
          </a:bodyPr>
          <a:lstStyle>
            <a:defPPr algn="ctr">
              <a:defRPr sz="1800" b="1">
                <a:solidFill>
                  <a:srgbClr val="FFFFFF"/>
                </a:solidFill>
                <a:latin typeface="Helvetica Neue"/>
                <a:ea typeface="Helvetica Neue"/>
                <a:cs typeface="Helvetica Neue"/>
              </a:defRPr>
            </a:defPPr>
          </a:lstStyle>
          <a:p>
            <a:endParaRPr/>
          </a:p>
        </p:txBody>
      </p:sp>
      <p:sp>
        <p:nvSpPr>
          <p:cNvPr id="26" name="booking-layer-text-20">
            <a:extLst>
              <a:ext uri="{FF2B5EF4-FFF2-40B4-BE49-F238E27FC236}">
                <a16:creationId xmlns:a16="http://schemas.microsoft.com/office/drawing/2014/main" id="{C6D36CF4-F934-46A7-A7ED-AE0B6B0A28B7}"/>
              </a:ext>
            </a:extLst>
          </p:cNvPr>
          <p:cNvSpPr>
            <a:spLocks noGrp="1"/>
          </p:cNvSpPr>
          <p:nvPr/>
        </p:nvSpPr>
        <p:spPr>
          <a:xfrm>
            <a:off x="3400425" y="2971800"/>
            <a:ext cx="3000375" cy="447675"/>
          </a:xfrm>
          <a:prstGeom prst="rect">
            <a:avLst/>
          </a:prstGeom>
          <a:noFill/>
          <a:ln w="0">
            <a:noFill/>
            <a:prstDash val="solid"/>
          </a:ln>
        </p:spPr>
        <p:txBody>
          <a:bodyPr wrap="square" lIns="0" tIns="0" rIns="0" bIns="0" anchor="t">
            <a:noAutofit/>
          </a:bodyPr>
          <a:lstStyle>
            <a:defPPr>
              <a:defRPr sz="2775" b="1">
                <a:solidFill>
                  <a:srgbClr val="FFFFFF"/>
                </a:solidFill>
                <a:latin typeface="Helvetica Neue"/>
                <a:ea typeface="Helvetica Neue"/>
                <a:cs typeface="Helvetica Neue"/>
              </a:defRPr>
            </a:defPPr>
          </a:lstStyle>
          <a:p>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a:ext uri="{FF2B5EF4-FFF2-40B4-BE49-F238E27FC236}">
                <a16:creationId xmlns:a16="http://schemas.microsoft.com/office/drawing/2014/main" id="{D2E9DA3D-BADC-411C-9816-D7B830B85686}"/>
              </a:ext>
            </a:extLst>
          </p:cNvPr>
          <p:cNvSpPr>
            <a:spLocks noGrp="1"/>
          </p:cNvSpPr>
          <p:nvPr/>
        </p:nvSpPr>
        <p:spPr>
          <a:xfrm>
            <a:off x="3400425" y="3495675"/>
            <a:ext cx="3000375" cy="352425"/>
          </a:xfrm>
          <a:prstGeom prst="rect">
            <a:avLst/>
          </a:prstGeom>
          <a:noFill/>
          <a:ln w="0">
            <a:noFill/>
            <a:prstDash val="solid"/>
          </a:ln>
        </p:spPr>
        <p:txBody>
          <a:bodyPr wrap="square" lIns="0" tIns="0" rIns="0" bIns="0" anchor="t">
            <a:noAutofit/>
          </a:bodyPr>
          <a:lstStyle>
            <a:defPPr>
              <a:defRPr sz="1725" b="1">
                <a:solidFill>
                  <a:srgbClr val="FFFFFF"/>
                </a:solidFill>
                <a:latin typeface="Helvetica Neue"/>
                <a:ea typeface="Helvetica Neue"/>
                <a:cs typeface="Helvetica Neue"/>
              </a:defRPr>
            </a:defPPr>
          </a:lstStyle>
          <a:p>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a:ext uri="{FF2B5EF4-FFF2-40B4-BE49-F238E27FC236}">
                <a16:creationId xmlns:a16="http://schemas.microsoft.com/office/drawing/2014/main" id="{C930747B-9306-4183-8241-FF8F43990C91}"/>
              </a:ext>
            </a:extLst>
          </p:cNvPr>
          <p:cNvSpPr>
            <a:spLocks noGrp="1"/>
          </p:cNvSpPr>
          <p:nvPr/>
        </p:nvSpPr>
        <p:spPr>
          <a:xfrm>
            <a:off x="3400425" y="4010025"/>
            <a:ext cx="3000375" cy="838200"/>
          </a:xfrm>
          <a:prstGeom prst="rect">
            <a:avLst/>
          </a:prstGeom>
          <a:noFill/>
          <a:ln w="0">
            <a:noFill/>
            <a:prstDash val="solid"/>
          </a:ln>
        </p:spPr>
        <p:txBody>
          <a:bodyPr wrap="square" lIns="0" tIns="0" rIns="0" bIns="0" anchor="t">
            <a:noAutofit/>
          </a:bodyPr>
          <a:lstStyle>
            <a:defPPr>
              <a:defRPr sz="1575" b="0">
                <a:solidFill>
                  <a:srgbClr val="FFFFFF"/>
                </a:solidFill>
                <a:latin typeface="Helvetica Neue"/>
                <a:ea typeface="Helvetica Neue"/>
                <a:cs typeface="Helvetica Neue"/>
              </a:defRPr>
            </a:defPPr>
          </a:lstStyle>
          <a:p>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a:ext uri="{FF2B5EF4-FFF2-40B4-BE49-F238E27FC236}">
                <a16:creationId xmlns:a16="http://schemas.microsoft.com/office/drawing/2014/main" id="{85C28355-C62A-4204-9E75-6908910F82D4}"/>
              </a:ext>
            </a:extLst>
          </p:cNvPr>
          <p:cNvSpPr>
            <a:spLocks noGrp="1"/>
          </p:cNvSpPr>
          <p:nvPr/>
        </p:nvSpPr>
        <p:spPr>
          <a:xfrm>
            <a:off x="3400425" y="5067300"/>
            <a:ext cx="3000375" cy="295275"/>
          </a:xfrm>
          <a:prstGeom prst="rect">
            <a:avLst/>
          </a:prstGeom>
          <a:noFill/>
          <a:ln w="0">
            <a:noFill/>
            <a:prstDash val="solid"/>
          </a:ln>
        </p:spPr>
        <p:txBody>
          <a:bodyPr wrap="square" lIns="0" tIns="0" rIns="0" bIns="0" anchor="t">
            <a:noAutofit/>
          </a:bodyPr>
          <a:lstStyle>
            <a:defPPr>
              <a:defRPr sz="1650" b="1">
                <a:solidFill>
                  <a:srgbClr val="FFFFFF"/>
                </a:solidFill>
                <a:latin typeface="Helvetica Neue"/>
                <a:ea typeface="Helvetica Neue"/>
                <a:cs typeface="Helvetica Neue"/>
              </a:defRPr>
            </a:defPPr>
          </a:lstStyle>
          <a:p>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a:ext uri="{FF2B5EF4-FFF2-40B4-BE49-F238E27FC236}">
                <a16:creationId xmlns:a16="http://schemas.microsoft.com/office/drawing/2014/main" id="{A4A8E40D-D041-4171-A580-3214F68214AE}"/>
              </a:ext>
            </a:extLst>
          </p:cNvPr>
          <p:cNvSpPr>
            <a:spLocks noGrp="1"/>
          </p:cNvSpPr>
          <p:nvPr/>
        </p:nvSpPr>
        <p:spPr>
          <a:xfrm>
            <a:off x="7143750" y="2752725"/>
            <a:ext cx="2667000" cy="74295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800" b="1">
                <a:solidFill>
                  <a:srgbClr val="193C32"/>
                </a:solidFill>
                <a:latin typeface="Helvetica Neue"/>
                <a:ea typeface="Helvetica Neue"/>
                <a:cs typeface="Helvetica Neue"/>
              </a:defRPr>
            </a:defPPr>
          </a:lstStyle>
          <a:p>
            <a:endParaRPr/>
          </a:p>
        </p:txBody>
      </p:sp>
      <p:sp>
        <p:nvSpPr>
          <p:cNvPr id="31" name="booking-layer-node-25">
            <a:extLst>
              <a:ext uri="{FF2B5EF4-FFF2-40B4-BE49-F238E27FC236}">
                <a16:creationId xmlns:a16="http://schemas.microsoft.com/office/drawing/2014/main" id="{381E847E-A9FA-4F37-B3E5-C61763DD5015}"/>
              </a:ext>
            </a:extLst>
          </p:cNvPr>
          <p:cNvSpPr>
            <a:spLocks noGrp="1"/>
          </p:cNvSpPr>
          <p:nvPr/>
        </p:nvSpPr>
        <p:spPr>
          <a:xfrm>
            <a:off x="7143750" y="3629025"/>
            <a:ext cx="2667000" cy="74295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800" b="1">
                <a:solidFill>
                  <a:srgbClr val="193C32"/>
                </a:solidFill>
                <a:latin typeface="Helvetica Neue"/>
                <a:ea typeface="Helvetica Neue"/>
                <a:cs typeface="Helvetica Neue"/>
              </a:defRPr>
            </a:defPPr>
          </a:lstStyle>
          <a:p>
            <a:endParaRPr/>
          </a:p>
        </p:txBody>
      </p:sp>
      <p:sp>
        <p:nvSpPr>
          <p:cNvPr id="32" name="booking-layer-node-26">
            <a:extLst>
              <a:ext uri="{FF2B5EF4-FFF2-40B4-BE49-F238E27FC236}">
                <a16:creationId xmlns:a16="http://schemas.microsoft.com/office/drawing/2014/main" id="{6C43306A-9317-4532-A9D7-E457E756AD02}"/>
              </a:ext>
            </a:extLst>
          </p:cNvPr>
          <p:cNvSpPr>
            <a:spLocks noGrp="1"/>
          </p:cNvSpPr>
          <p:nvPr/>
        </p:nvSpPr>
        <p:spPr>
          <a:xfrm>
            <a:off x="7143750" y="4505325"/>
            <a:ext cx="2667000" cy="80010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800" b="1">
                <a:solidFill>
                  <a:srgbClr val="193C32"/>
                </a:solidFill>
                <a:latin typeface="Helvetica Neue"/>
                <a:ea typeface="Helvetica Neue"/>
                <a:cs typeface="Helvetica Neue"/>
              </a:defRPr>
            </a:defPPr>
          </a:lstStyle>
          <a:p>
            <a:endParaRPr/>
          </a:p>
        </p:txBody>
      </p:sp>
      <p:sp>
        <p:nvSpPr>
          <p:cNvPr id="33" name="booking-layer-text-27">
            <a:extLst>
              <a:ext uri="{FF2B5EF4-FFF2-40B4-BE49-F238E27FC236}">
                <a16:creationId xmlns:a16="http://schemas.microsoft.com/office/drawing/2014/main" id="{F7AA3C7C-9687-4831-B1E3-609571EA6283}"/>
              </a:ext>
            </a:extLst>
          </p:cNvPr>
          <p:cNvSpPr>
            <a:spLocks noGrp="1"/>
          </p:cNvSpPr>
          <p:nvPr/>
        </p:nvSpPr>
        <p:spPr>
          <a:xfrm>
            <a:off x="7258050" y="28194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a:ext uri="{FF2B5EF4-FFF2-40B4-BE49-F238E27FC236}">
                <a16:creationId xmlns:a16="http://schemas.microsoft.com/office/drawing/2014/main" id="{DAF92F19-6F68-463C-A5D7-17C7BF943389}"/>
              </a:ext>
            </a:extLst>
          </p:cNvPr>
          <p:cNvSpPr>
            <a:spLocks noGrp="1"/>
          </p:cNvSpPr>
          <p:nvPr/>
        </p:nvSpPr>
        <p:spPr>
          <a:xfrm>
            <a:off x="7258050" y="30480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a:ext uri="{FF2B5EF4-FFF2-40B4-BE49-F238E27FC236}">
                <a16:creationId xmlns:a16="http://schemas.microsoft.com/office/drawing/2014/main" id="{EFFD3163-3DDB-4787-B7DC-5B310C25C6B8}"/>
              </a:ext>
            </a:extLst>
          </p:cNvPr>
          <p:cNvSpPr>
            <a:spLocks noGrp="1"/>
          </p:cNvSpPr>
          <p:nvPr/>
        </p:nvSpPr>
        <p:spPr>
          <a:xfrm>
            <a:off x="7258050" y="3276600"/>
            <a:ext cx="2438400" cy="209550"/>
          </a:xfrm>
          <a:prstGeom prst="rect">
            <a:avLst/>
          </a:prstGeom>
          <a:noFill/>
          <a:ln w="0">
            <a:noFill/>
            <a:prstDash val="solid"/>
          </a:ln>
        </p:spPr>
        <p:txBody>
          <a:bodyPr wrap="square" lIns="0" tIns="0" rIns="0" bIns="0" anchor="t">
            <a:noAutofit/>
          </a:bodyPr>
          <a:lstStyle>
            <a:defPPr>
              <a:defRPr sz="1275" b="0">
                <a:solidFill>
                  <a:srgbClr val="65746C"/>
                </a:solidFill>
                <a:latin typeface="Helvetica Neue"/>
                <a:ea typeface="Helvetica Neue"/>
                <a:cs typeface="Helvetica Neue"/>
              </a:defRPr>
            </a:defPPr>
          </a:lstStyle>
          <a:p>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a:ext uri="{FF2B5EF4-FFF2-40B4-BE49-F238E27FC236}">
                <a16:creationId xmlns:a16="http://schemas.microsoft.com/office/drawing/2014/main" id="{640864B5-5C1A-4DE5-9D3F-17B4BF336541}"/>
              </a:ext>
            </a:extLst>
          </p:cNvPr>
          <p:cNvSpPr>
            <a:spLocks noGrp="1"/>
          </p:cNvSpPr>
          <p:nvPr/>
        </p:nvSpPr>
        <p:spPr>
          <a:xfrm>
            <a:off x="7258050" y="36957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a:ext uri="{FF2B5EF4-FFF2-40B4-BE49-F238E27FC236}">
                <a16:creationId xmlns:a16="http://schemas.microsoft.com/office/drawing/2014/main" id="{623A8565-8E22-49E9-BA3D-0EFB49F4B012}"/>
              </a:ext>
            </a:extLst>
          </p:cNvPr>
          <p:cNvSpPr>
            <a:spLocks noGrp="1"/>
          </p:cNvSpPr>
          <p:nvPr/>
        </p:nvSpPr>
        <p:spPr>
          <a:xfrm>
            <a:off x="7258050" y="39243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a:ext uri="{FF2B5EF4-FFF2-40B4-BE49-F238E27FC236}">
                <a16:creationId xmlns:a16="http://schemas.microsoft.com/office/drawing/2014/main" id="{E69B47E3-FC57-4C21-B033-DB430D828C62}"/>
              </a:ext>
            </a:extLst>
          </p:cNvPr>
          <p:cNvSpPr>
            <a:spLocks noGrp="1"/>
          </p:cNvSpPr>
          <p:nvPr/>
        </p:nvSpPr>
        <p:spPr>
          <a:xfrm>
            <a:off x="7258050" y="4152900"/>
            <a:ext cx="2438400" cy="209550"/>
          </a:xfrm>
          <a:prstGeom prst="rect">
            <a:avLst/>
          </a:prstGeom>
          <a:noFill/>
          <a:ln w="0">
            <a:noFill/>
            <a:prstDash val="solid"/>
          </a:ln>
        </p:spPr>
        <p:txBody>
          <a:bodyPr wrap="square" lIns="0" tIns="0" rIns="0" bIns="0" anchor="t">
            <a:noAutofit/>
          </a:bodyPr>
          <a:lstStyle>
            <a:defPPr>
              <a:defRPr sz="1350" b="1">
                <a:solidFill>
                  <a:srgbClr val="193C32"/>
                </a:solidFill>
                <a:latin typeface="Helvetica Neue"/>
                <a:ea typeface="Helvetica Neue"/>
                <a:cs typeface="Helvetica Neue"/>
              </a:defRPr>
            </a:defPPr>
          </a:lstStyle>
          <a:p>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a:ext uri="{FF2B5EF4-FFF2-40B4-BE49-F238E27FC236}">
                <a16:creationId xmlns:a16="http://schemas.microsoft.com/office/drawing/2014/main" id="{34FFBC60-20E6-445B-9EB8-05E52E28C49C}"/>
              </a:ext>
            </a:extLst>
          </p:cNvPr>
          <p:cNvSpPr>
            <a:spLocks noGrp="1"/>
          </p:cNvSpPr>
          <p:nvPr/>
        </p:nvSpPr>
        <p:spPr>
          <a:xfrm>
            <a:off x="7258050" y="4572000"/>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a:ext uri="{FF2B5EF4-FFF2-40B4-BE49-F238E27FC236}">
                <a16:creationId xmlns:a16="http://schemas.microsoft.com/office/drawing/2014/main" id="{75764D65-252C-45A0-9B39-5D9214475394}"/>
              </a:ext>
            </a:extLst>
          </p:cNvPr>
          <p:cNvSpPr>
            <a:spLocks noGrp="1"/>
          </p:cNvSpPr>
          <p:nvPr/>
        </p:nvSpPr>
        <p:spPr>
          <a:xfrm>
            <a:off x="7258050" y="4810125"/>
            <a:ext cx="2438400" cy="228600"/>
          </a:xfrm>
          <a:prstGeom prst="rect">
            <a:avLst/>
          </a:prstGeom>
          <a:noFill/>
          <a:ln w="0">
            <a:noFill/>
            <a:prstDash val="solid"/>
          </a:ln>
        </p:spPr>
        <p:txBody>
          <a:bodyPr wrap="square" lIns="0" tIns="0" rIns="0" bIns="0" anchor="t">
            <a:noAutofit/>
          </a:bodyPr>
          <a:lstStyle>
            <a:defPPr>
              <a:defRPr sz="1425" b="1">
                <a:solidFill>
                  <a:srgbClr val="193C32"/>
                </a:solidFill>
                <a:latin typeface="Helvetica Neue"/>
                <a:ea typeface="Helvetica Neue"/>
                <a:cs typeface="Helvetica Neue"/>
              </a:defRPr>
            </a:defPPr>
          </a:lstStyle>
          <a:p>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a:ext uri="{FF2B5EF4-FFF2-40B4-BE49-F238E27FC236}">
                <a16:creationId xmlns:a16="http://schemas.microsoft.com/office/drawing/2014/main" id="{1F54E58A-93CF-4529-BE74-48271C8062FA}"/>
              </a:ext>
            </a:extLst>
          </p:cNvPr>
          <p:cNvSpPr>
            <a:spLocks noGrp="1"/>
          </p:cNvSpPr>
          <p:nvPr/>
        </p:nvSpPr>
        <p:spPr>
          <a:xfrm>
            <a:off x="7258050" y="5067300"/>
            <a:ext cx="2438400" cy="200025"/>
          </a:xfrm>
          <a:prstGeom prst="rect">
            <a:avLst/>
          </a:prstGeom>
          <a:noFill/>
          <a:ln w="0">
            <a:noFill/>
            <a:prstDash val="solid"/>
          </a:ln>
        </p:spPr>
        <p:txBody>
          <a:bodyPr wrap="square" lIns="0" tIns="0" rIns="0" bIns="0" anchor="t">
            <a:noAutofit/>
          </a:bodyPr>
          <a:lstStyle>
            <a:defPPr>
              <a:defRPr sz="1275" b="0">
                <a:solidFill>
                  <a:srgbClr val="65746C"/>
                </a:solidFill>
                <a:latin typeface="Helvetica Neue"/>
                <a:ea typeface="Helvetica Neue"/>
                <a:cs typeface="Helvetica Neue"/>
              </a:defRPr>
            </a:defPPr>
          </a:lstStyle>
          <a:p>
            <a:pPr>
              <a:buNone/>
              <a:defRPr sz="1275" b="0">
                <a:solidFill>
                  <a:srgbClr val="65746C"/>
                </a:solidFill>
                <a:latin typeface="Helvetica Neue"/>
                <a:ea typeface="Helvetica Neue"/>
                <a:cs typeface="Helvetica Neue"/>
              </a:defRPr>
            </a:pPr>
            <a:endParaRPr/>
          </a:p>
        </p:txBody>
      </p:sp>
      <p:sp>
        <p:nvSpPr>
          <p:cNvPr id="42" name="booking-layer-node-36">
            <a:extLst>
              <a:ext uri="{FF2B5EF4-FFF2-40B4-BE49-F238E27FC236}">
                <a16:creationId xmlns:a16="http://schemas.microsoft.com/office/drawing/2014/main" id="{F23562F6-92C0-4E2A-9C4E-14CAF1AB025D}"/>
              </a:ext>
            </a:extLst>
          </p:cNvPr>
          <p:cNvSpPr>
            <a:spLocks noGrp="1"/>
          </p:cNvSpPr>
          <p:nvPr/>
        </p:nvSpPr>
        <p:spPr>
          <a:xfrm>
            <a:off x="10363200" y="2752725"/>
            <a:ext cx="1333500" cy="74295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575" b="1">
                <a:solidFill>
                  <a:srgbClr val="193C32"/>
                </a:solidFill>
                <a:latin typeface="Helvetica Neue"/>
                <a:ea typeface="Helvetica Neue"/>
                <a:cs typeface="Helvetica Neue"/>
              </a:defRPr>
            </a:defPPr>
          </a:lstStyle>
          <a:p>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a:ext uri="{FF2B5EF4-FFF2-40B4-BE49-F238E27FC236}">
                <a16:creationId xmlns:a16="http://schemas.microsoft.com/office/drawing/2014/main" id="{E0913280-755C-4FC9-B294-B8877BA719C3}"/>
              </a:ext>
            </a:extLst>
          </p:cNvPr>
          <p:cNvSpPr>
            <a:spLocks noGrp="1"/>
          </p:cNvSpPr>
          <p:nvPr/>
        </p:nvSpPr>
        <p:spPr>
          <a:xfrm>
            <a:off x="10363200" y="3629025"/>
            <a:ext cx="1333500" cy="74295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575" b="1">
                <a:solidFill>
                  <a:srgbClr val="193C32"/>
                </a:solidFill>
                <a:latin typeface="Helvetica Neue"/>
                <a:ea typeface="Helvetica Neue"/>
                <a:cs typeface="Helvetica Neue"/>
              </a:defRPr>
            </a:defPPr>
          </a:lstStyle>
          <a:p>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a:ext uri="{FF2B5EF4-FFF2-40B4-BE49-F238E27FC236}">
                <a16:creationId xmlns:a16="http://schemas.microsoft.com/office/drawing/2014/main" id="{CD61F4F2-BFCA-4380-B3D6-9E65D8B5C450}"/>
              </a:ext>
            </a:extLst>
          </p:cNvPr>
          <p:cNvSpPr>
            <a:spLocks noGrp="1"/>
          </p:cNvSpPr>
          <p:nvPr/>
        </p:nvSpPr>
        <p:spPr>
          <a:xfrm>
            <a:off x="10363200" y="4505325"/>
            <a:ext cx="1333500" cy="800100"/>
          </a:xfrm>
          <a:prstGeom prst="rect">
            <a:avLst/>
          </a:prstGeom>
          <a:solidFill>
            <a:srgbClr val="F0F2EE"/>
          </a:solidFill>
          <a:ln w="14288">
            <a:solidFill>
              <a:srgbClr val="CDD5CE"/>
            </a:solidFill>
            <a:prstDash val="solid"/>
          </a:ln>
        </p:spPr>
        <p:txBody>
          <a:bodyPr wrap="square" lIns="76200" tIns="76200" rIns="76200" bIns="76200" anchor="ctr">
            <a:noAutofit/>
          </a:bodyPr>
          <a:lstStyle>
            <a:defPPr algn="ctr">
              <a:defRPr sz="1575" b="1">
                <a:solidFill>
                  <a:srgbClr val="193C32"/>
                </a:solidFill>
                <a:latin typeface="Helvetica Neue"/>
                <a:ea typeface="Helvetica Neue"/>
                <a:cs typeface="Helvetica Neue"/>
              </a:defRPr>
            </a:defPPr>
          </a:lstStyle>
          <a:p>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a:ext uri="{FF2B5EF4-FFF2-40B4-BE49-F238E27FC236}">
                <a16:creationId xmlns:a16="http://schemas.microsoft.com/office/drawing/2014/main" id="{FA822E6B-449C-4790-9B5C-EF573D939BBE}"/>
              </a:ext>
            </a:extLst>
          </p:cNvPr>
          <p:cNvSpPr>
            <a:spLocks noGrp="1"/>
          </p:cNvSpPr>
          <p:nvPr/>
        </p:nvSpPr>
        <p:spPr>
          <a:xfrm>
            <a:off x="7143750" y="5400675"/>
            <a:ext cx="4552950" cy="371475"/>
          </a:xfrm>
          <a:prstGeom prst="rect">
            <a:avLst/>
          </a:prstGeom>
          <a:noFill/>
          <a:ln w="0">
            <a:noFill/>
            <a:prstDash val="solid"/>
          </a:ln>
        </p:spPr>
        <p:txBody>
          <a:bodyPr wrap="square" lIns="0" tIns="0" rIns="0" bIns="0" anchor="t">
            <a:noAutofit/>
          </a:bodyPr>
          <a:lstStyle>
            <a:defPPr>
              <a:defRPr sz="1350" b="1">
                <a:solidFill>
                  <a:srgbClr val="236C4E"/>
                </a:solidFill>
                <a:latin typeface="Helvetica Neue"/>
                <a:ea typeface="Helvetica Neue"/>
                <a:cs typeface="Helvetica Neue"/>
              </a:defRPr>
            </a:defPPr>
          </a:lstStyle>
          <a:p>
            <a:pPr>
              <a:buNone/>
              <a:defRPr sz="1350" b="1">
                <a:solidFill>
                  <a:srgbClr val="236C4E"/>
                </a:solidFill>
                <a:latin typeface="Helvetica Neue"/>
                <a:ea typeface="Helvetica Neue"/>
                <a:cs typeface="Helvetica Neue"/>
              </a:defRPr>
            </a:pPr>
            <a:r>
              <a:rPr sz="1350" b="1" dirty="0">
                <a:solidFill>
                  <a:srgbClr val="236C4E"/>
                </a:solidFill>
                <a:latin typeface="Helvetica Neue"/>
                <a:ea typeface="Helvetica Neue"/>
                <a:cs typeface="Helvetica Neue"/>
              </a:rPr>
              <a:t>Each category has its own software mix.</a:t>
            </a:r>
          </a:p>
        </p:txBody>
      </p:sp>
      <p:sp>
        <p:nvSpPr>
          <p:cNvPr id="59" name="booking-layer-text-40">
            <a:extLst>
              <a:ext uri="{FF2B5EF4-FFF2-40B4-BE49-F238E27FC236}">
                <a16:creationId xmlns:a16="http://schemas.microsoft.com/office/drawing/2014/main" id="{F64613CD-0DA4-4247-B4D8-7BA61504B61F}"/>
              </a:ext>
            </a:extLst>
          </p:cNvPr>
          <p:cNvSpPr>
            <a:spLocks noGrp="1"/>
          </p:cNvSpPr>
          <p:nvPr/>
        </p:nvSpPr>
        <p:spPr>
          <a:xfrm>
            <a:off x="495300" y="5781675"/>
            <a:ext cx="11201400" cy="381000"/>
          </a:xfrm>
          <a:prstGeom prst="rect">
            <a:avLst/>
          </a:prstGeom>
          <a:noFill/>
          <a:ln w="0">
            <a:noFill/>
            <a:prstDash val="solid"/>
          </a:ln>
        </p:spPr>
        <p:txBody>
          <a:bodyPr wrap="square" lIns="0" tIns="0" rIns="0" bIns="0" anchor="t">
            <a:noAutofit/>
          </a:bodyPr>
          <a:lstStyle>
            <a:defPPr>
              <a:defRPr sz="2100" b="1">
                <a:solidFill>
                  <a:srgbClr val="193C32"/>
                </a:solidFill>
                <a:latin typeface="Helvetica Neue"/>
                <a:ea typeface="Helvetica Neue"/>
                <a:cs typeface="Helvetica Neue"/>
              </a:defRPr>
            </a:defPPr>
          </a:lstStyle>
          <a:p>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a:ext uri="{FF2B5EF4-FFF2-40B4-BE49-F238E27FC236}">
                <a16:creationId xmlns:a16="http://schemas.microsoft.com/office/drawing/2014/main" id="{03CB5374-FA64-4A7A-AD8D-323F3E11523C}"/>
              </a:ext>
            </a:extLst>
          </p:cNvPr>
          <p:cNvSpPr>
            <a:spLocks noGrp="1"/>
          </p:cNvSpPr>
          <p:nvPr/>
        </p:nvSpPr>
        <p:spPr>
          <a:xfrm>
            <a:off x="495300" y="6210300"/>
            <a:ext cx="11201400" cy="323850"/>
          </a:xfrm>
          <a:prstGeom prst="rect">
            <a:avLst/>
          </a:prstGeom>
          <a:noFill/>
          <a:ln w="0">
            <a:noFill/>
            <a:prstDash val="solid"/>
          </a:ln>
        </p:spPr>
        <p:txBody>
          <a:bodyPr wrap="square" lIns="0" tIns="0" rIns="0" bIns="0" anchor="t">
            <a:noAutofit/>
          </a:bodyPr>
          <a:lstStyle>
            <a:defPPr>
              <a:defRPr sz="1875" b="0">
                <a:solidFill>
                  <a:srgbClr val="236C4E"/>
                </a:solidFill>
                <a:latin typeface="Helvetica Neue"/>
                <a:ea typeface="Helvetica Neue"/>
                <a:cs typeface="Helvetica Neue"/>
              </a:defRPr>
            </a:defPPr>
          </a:lstStyle>
          <a:p>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2" name="booking-layer-text-43">
            <a:extLst>
              <a:ext uri="{FF2B5EF4-FFF2-40B4-BE49-F238E27FC236}">
                <a16:creationId xmlns:a16="http://schemas.microsoft.com/office/drawing/2014/main" id="{5CD82E1E-F31D-41BF-B159-FA5EFFFF6B38}"/>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defRPr sz="1275" b="0">
                <a:solidFill>
                  <a:srgbClr val="65746C"/>
                </a:solidFill>
                <a:latin typeface="Helvetica Neue"/>
                <a:ea typeface="Helvetica Neue"/>
                <a:cs typeface="Helvetica Neue"/>
              </a:defRPr>
            </a:defPPr>
          </a:lstStyle>
          <a:p>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9"/>
        </a:solidFill>
        <a:effectLst/>
      </p:bgPr>
    </p:bg>
    <p:spTree>
      <p:nvGrpSpPr>
        <p:cNvPr id="1" name=""/>
        <p:cNvGrpSpPr/>
        <p:nvPr/>
      </p:nvGrpSpPr>
      <p:grpSpPr>
        <a:xfrm>
          <a:off x="0" y="0"/>
          <a:ext cx="0" cy="0"/>
          <a:chOff x="0" y="0"/>
          <a:chExt cx="0" cy="0"/>
        </a:xfrm>
      </p:grpSpPr>
      <p:sp>
        <p:nvSpPr>
          <p:cNvPr id="19" name="v31-text-0">
            <a:extLst>
              <a:ext uri="{FF2B5EF4-FFF2-40B4-BE49-F238E27FC236}">
                <a16:creationId xmlns:a16="http://schemas.microsoft.com/office/drawing/2014/main" id="{F1F8C8EB-1D23-44A0-8DFF-F6E656B0CDBF}"/>
              </a:ext>
            </a:extLst>
          </p:cNvPr>
          <p:cNvSpPr>
            <a:spLocks noGrp="1"/>
          </p:cNvSpPr>
          <p:nvPr/>
        </p:nvSpPr>
        <p:spPr>
          <a:xfrm>
            <a:off x="609600" y="285750"/>
            <a:ext cx="9525000" cy="247650"/>
          </a:xfrm>
          <a:prstGeom prst="rect">
            <a:avLst/>
          </a:prstGeom>
          <a:noFill/>
          <a:ln w="0">
            <a:noFill/>
            <a:prstDash val="solid"/>
          </a:ln>
        </p:spPr>
        <p:txBody>
          <a:bodyPr wrap="square" lIns="0" tIns="0" rIns="0" bIns="0" anchor="t">
            <a:noAutofit/>
          </a:bodyPr>
          <a:lstStyle>
            <a:defPPr algn="l">
              <a:defRPr sz="1275" b="1">
                <a:solidFill>
                  <a:srgbClr val="53716A"/>
                </a:solidFill>
                <a:latin typeface="Helvetica Neue"/>
                <a:ea typeface="Helvetica Neue"/>
                <a:cs typeface="Helvetica Neue"/>
              </a:defRPr>
            </a:defPPr>
          </a:lstStyle>
          <a:p>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
            <a:extLst>
              <a:ext uri="{FF2B5EF4-FFF2-40B4-BE49-F238E27FC236}">
                <a16:creationId xmlns:a16="http://schemas.microsoft.com/office/drawing/2014/main" id="{E9923D42-483B-46BE-AAAB-E583237E4C10}"/>
              </a:ext>
            </a:extLst>
          </p:cNvPr>
          <p:cNvSpPr>
            <a:spLocks noGrp="1"/>
          </p:cNvSpPr>
          <p:nvPr/>
        </p:nvSpPr>
        <p:spPr>
          <a:xfrm>
            <a:off x="609600" y="742950"/>
            <a:ext cx="10972800" cy="571500"/>
          </a:xfrm>
          <a:prstGeom prst="rect">
            <a:avLst/>
          </a:prstGeom>
          <a:noFill/>
          <a:ln w="0">
            <a:noFill/>
            <a:prstDash val="solid"/>
          </a:ln>
        </p:spPr>
        <p:txBody>
          <a:bodyPr wrap="square" lIns="0" tIns="0" rIns="0" bIns="0" anchor="t">
            <a:noAutofit/>
          </a:bodyPr>
          <a:lstStyle>
            <a:defPPr algn="l">
              <a:defRPr sz="3225" b="1">
                <a:solidFill>
                  <a:srgbClr val="103D3B"/>
                </a:solidFill>
                <a:latin typeface="Helvetica Neue"/>
                <a:ea typeface="Helvetica Neue"/>
                <a:cs typeface="Helvetica Neue"/>
              </a:defRPr>
            </a:defPPr>
          </a:lstStyle>
          <a:p>
            <a:pPr algn="l">
              <a:buNone/>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2">
            <a:extLst>
              <a:ext uri="{FF2B5EF4-FFF2-40B4-BE49-F238E27FC236}">
                <a16:creationId xmlns:a16="http://schemas.microsoft.com/office/drawing/2014/main" id="{3ECA9D22-E94A-4735-8333-93BAA2F9AEB5}"/>
              </a:ext>
            </a:extLst>
          </p:cNvPr>
          <p:cNvSpPr>
            <a:spLocks noGrp="1"/>
          </p:cNvSpPr>
          <p:nvPr/>
        </p:nvSpPr>
        <p:spPr>
          <a:xfrm>
            <a:off x="609600" y="1400175"/>
            <a:ext cx="10972800" cy="381000"/>
          </a:xfrm>
          <a:prstGeom prst="rect">
            <a:avLst/>
          </a:prstGeom>
          <a:noFill/>
          <a:ln w="0">
            <a:noFill/>
            <a:prstDash val="solid"/>
          </a:ln>
        </p:spPr>
        <p:txBody>
          <a:bodyPr wrap="square" lIns="0" tIns="0" rIns="0" bIns="0" anchor="t">
            <a:noAutofit/>
          </a:bodyPr>
          <a:lstStyle>
            <a:defPPr algn="l">
              <a:defRPr sz="1800" b="0">
                <a:solidFill>
                  <a:srgbClr val="53716A"/>
                </a:solidFill>
                <a:latin typeface="Helvetica Neue"/>
                <a:ea typeface="Helvetica Neue"/>
                <a:cs typeface="Helvetica Neue"/>
              </a:defRPr>
            </a:defPPr>
          </a:lstStyle>
          <a:p>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Table 3">
            <a:extLst>
              <a:ext uri="{FF2B5EF4-FFF2-40B4-BE49-F238E27FC236}">
                <a16:creationId xmlns:a16="http://schemas.microsoft.com/office/drawing/2014/main" id="{D563F86F-E5B9-40FC-A0AC-D054F1C52F3E}"/>
              </a:ext>
            </a:extLst>
          </p:cNvPr>
          <p:cNvGraphicFramePr/>
          <p:nvPr/>
        </p:nvGraphicFramePr>
        <p:xfrm>
          <a:off x="609600" y="1905000"/>
          <a:ext cx="10972800" cy="1562100"/>
        </p:xfrm>
        <a:graphic>
          <a:graphicData uri="http://schemas.openxmlformats.org/drawingml/2006/table">
            <a:tbl>
              <a:tblPr/>
              <a:tblGrid>
                <a:gridCol w="1581150">
                  <a:extLst>
                    <a:ext uri="{9D8B030D-6E8A-4147-A177-3AD203B41FA5}">
                      <a16:colId xmlns:a16="http://schemas.microsoft.com/office/drawing/2014/main" val="20000"/>
                    </a:ext>
                  </a:extLst>
                </a:gridCol>
                <a:gridCol w="4552950">
                  <a:extLst>
                    <a:ext uri="{9D8B030D-6E8A-4147-A177-3AD203B41FA5}">
                      <a16:colId xmlns:a16="http://schemas.microsoft.com/office/drawing/2014/main" val="20001"/>
                    </a:ext>
                  </a:extLst>
                </a:gridCol>
                <a:gridCol w="4838700">
                  <a:extLst>
                    <a:ext uri="{9D8B030D-6E8A-4147-A177-3AD203B41FA5}">
                      <a16:colId xmlns:a16="http://schemas.microsoft.com/office/drawing/2014/main" val="20002"/>
                    </a:ext>
                  </a:extLst>
                </a:gridCol>
              </a:tblGrid>
              <a:tr h="781050">
                <a:tc>
                  <a:txBody>
                    <a:bodyPr/>
                    <a:lstStyle/>
                    <a:p>
                      <a:pPr algn="l">
                        <a:buNone/>
                      </a:pPr>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a:lstStyle/>
                    <a:p>
                      <a:pPr algn="l">
                        <a:buNone/>
                      </a:pPr>
                      <a:r>
                        <a:rPr sz="1575" b="0">
                          <a:solidFill>
                            <a:srgbClr val="103D3B"/>
                          </a:solidFill>
                          <a:latin typeface="Helvetica Neue"/>
                          <a:ea typeface="Helvetica Neue"/>
                          <a:cs typeface="Helvetica Neue"/>
                        </a:rPr>
                        <a:t>Search Google listings. Call 2–3 businesses.</a:t>
                      </a:r>
                    </a:p>
                    <a:p>
                      <a:pPr algn="l">
                        <a:buNone/>
                      </a:pPr>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a:lstStyle/>
                    <a:p>
                      <a:pPr algn="l">
                        <a:buNone/>
                      </a:pPr>
                      <a:r>
                        <a:rPr sz="1575" b="0">
                          <a:solidFill>
                            <a:srgbClr val="103D3B"/>
                          </a:solidFill>
                          <a:latin typeface="Helvetica Neue"/>
                          <a:ea typeface="Helvetica Neue"/>
                          <a:cs typeface="Helvetica Neue"/>
                        </a:rPr>
                        <a:t>A narrow search can miss better matches.</a:t>
                      </a:r>
                    </a:p>
                    <a:p>
                      <a:pPr algn="l">
                        <a:buNone/>
                      </a:pPr>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extLst>
                  <a:ext uri="{0D108BD9-81ED-4DB2-BD59-A6C34878D82A}">
                    <a16:rowId xmlns:a16="http://schemas.microsoft.com/office/drawing/2014/main" val="10000"/>
                  </a:ext>
                </a:extLst>
              </a:tr>
              <a:tr h="781050">
                <a:tc>
                  <a:txBody>
                    <a:bodyPr/>
                    <a:lstStyle/>
                    <a:p>
                      <a:pPr algn="l">
                        <a:buNone/>
                      </a:pPr>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0" cap="flat" cmpd="sng" algn="ctr">
                      <a:solidFill>
                        <a:srgbClr val="F5F2E9"/>
                      </a:solidFill>
                      <a:prstDash val="solid"/>
                      <a:round/>
                      <a:headEnd type="none" w="med" len="med"/>
                      <a:tailEnd type="none" w="med" len="med"/>
                    </a:lnT>
                    <a:lnB w="0">
                      <a:solidFill>
                        <a:srgbClr val="F5F2E9"/>
                      </a:solidFill>
                    </a:lnB>
                    <a:solidFill>
                      <a:srgbClr val="E1EADC"/>
                    </a:solidFill>
                  </a:tcPr>
                </a:tc>
                <a:tc>
                  <a:txBody>
                    <a:bodyPr/>
                    <a:lstStyle/>
                    <a:p>
                      <a:pPr algn="l">
                        <a:buNone/>
                      </a:pPr>
                      <a:r>
                        <a:rPr sz="1575" b="0">
                          <a:solidFill>
                            <a:srgbClr val="103D3B"/>
                          </a:solidFill>
                          <a:latin typeface="Helvetica Neue"/>
                          <a:ea typeface="Helvetica Neue"/>
                          <a:cs typeface="Helvetica Neue"/>
                        </a:rPr>
                        <a:t>Search hundreds of connected businesses.</a:t>
                      </a:r>
                    </a:p>
                    <a:p>
                      <a:pPr algn="l">
                        <a:buNone/>
                      </a:pPr>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0" cap="flat" cmpd="sng" algn="ctr">
                      <a:solidFill>
                        <a:srgbClr val="F5F2E9"/>
                      </a:solidFill>
                      <a:prstDash val="solid"/>
                      <a:round/>
                      <a:headEnd type="none" w="med" len="med"/>
                      <a:tailEnd type="none" w="med" len="med"/>
                    </a:lnT>
                    <a:lnB w="0">
                      <a:solidFill>
                        <a:srgbClr val="F5F2E9"/>
                      </a:solidFill>
                    </a:lnB>
                    <a:solidFill>
                      <a:srgbClr val="E1EADC"/>
                    </a:solidFill>
                  </a:tcPr>
                </a:tc>
                <a:tc>
                  <a:txBody>
                    <a:bodyPr/>
                    <a:lstStyle/>
                    <a:p>
                      <a:pPr algn="l">
                        <a:buNone/>
                      </a:pPr>
                      <a:r>
                        <a:rPr sz="1575" b="0">
                          <a:solidFill>
                            <a:srgbClr val="103D3B"/>
                          </a:solidFill>
                          <a:latin typeface="Helvetica Neue"/>
                          <a:ea typeface="Helvetica Neue"/>
                          <a:cs typeface="Helvetica Neue"/>
                        </a:rPr>
                        <a:t>Compare price, live availability, specialization</a:t>
                      </a:r>
                    </a:p>
                    <a:p>
                      <a:pPr algn="l">
                        <a:buNone/>
                      </a:pPr>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0" cap="flat" cmpd="sng" algn="ctr">
                      <a:solidFill>
                        <a:srgbClr val="F5F2E9"/>
                      </a:solidFill>
                      <a:prstDash val="solid"/>
                      <a:round/>
                      <a:headEnd type="none" w="med" len="med"/>
                      <a:tailEnd type="none" w="med" len="med"/>
                    </a:lnT>
                    <a:lnB w="0">
                      <a:solidFill>
                        <a:srgbClr val="F5F2E9"/>
                      </a:solidFill>
                    </a:lnB>
                    <a:solidFill>
                      <a:srgbClr val="E1EADC"/>
                    </a:solidFill>
                  </a:tcPr>
                </a:tc>
                <a:extLst>
                  <a:ext uri="{0D108BD9-81ED-4DB2-BD59-A6C34878D82A}">
                    <a16:rowId xmlns:a16="http://schemas.microsoft.com/office/drawing/2014/main" val="10001"/>
                  </a:ext>
                </a:extLst>
              </a:tr>
            </a:tbl>
          </a:graphicData>
        </a:graphic>
      </p:graphicFrame>
      <p:sp>
        <p:nvSpPr>
          <p:cNvPr id="5" name="v31-text-3">
            <a:extLst>
              <a:ext uri="{FF2B5EF4-FFF2-40B4-BE49-F238E27FC236}">
                <a16:creationId xmlns:a16="http://schemas.microsoft.com/office/drawing/2014/main" id="{B132B958-7D87-42F4-A5A2-2A0A917B7366}"/>
              </a:ext>
            </a:extLst>
          </p:cNvPr>
          <p:cNvSpPr>
            <a:spLocks noGrp="1"/>
          </p:cNvSpPr>
          <p:nvPr/>
        </p:nvSpPr>
        <p:spPr>
          <a:xfrm>
            <a:off x="609600" y="3762375"/>
            <a:ext cx="10477500" cy="238125"/>
          </a:xfrm>
          <a:prstGeom prst="rect">
            <a:avLst/>
          </a:prstGeom>
          <a:noFill/>
          <a:ln w="0">
            <a:noFill/>
            <a:prstDash val="solid"/>
          </a:ln>
        </p:spPr>
        <p:txBody>
          <a:bodyPr wrap="square" lIns="0" tIns="0" rIns="0" bIns="0" anchor="t">
            <a:noAutofit/>
          </a:bodyPr>
          <a:lstStyle>
            <a:defPPr algn="l">
              <a:defRPr sz="1200" b="1">
                <a:solidFill>
                  <a:srgbClr val="53716A"/>
                </a:solidFill>
                <a:latin typeface="Helvetica Neue"/>
                <a:ea typeface="Helvetica Neue"/>
                <a:cs typeface="Helvetica Neue"/>
              </a:defRPr>
            </a:defPPr>
          </a:lstStyle>
          <a:p>
            <a:pPr algn="l">
              <a:buNone/>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4">
            <a:extLst>
              <a:ext uri="{FF2B5EF4-FFF2-40B4-BE49-F238E27FC236}">
                <a16:creationId xmlns:a16="http://schemas.microsoft.com/office/drawing/2014/main" id="{3A22AD76-2F77-44FC-B236-472374BFC5E3}"/>
              </a:ext>
            </a:extLst>
          </p:cNvPr>
          <p:cNvSpPr>
            <a:spLocks noGrp="1"/>
          </p:cNvSpPr>
          <p:nvPr/>
        </p:nvSpPr>
        <p:spPr>
          <a:xfrm>
            <a:off x="609600" y="4086225"/>
            <a:ext cx="10972800" cy="400050"/>
          </a:xfrm>
          <a:prstGeom prst="rect">
            <a:avLst/>
          </a:prstGeom>
          <a:noFill/>
          <a:ln w="0">
            <a:noFill/>
            <a:prstDash val="solid"/>
          </a:ln>
        </p:spPr>
        <p:txBody>
          <a:bodyPr wrap="square" lIns="0" tIns="0" rIns="0" bIns="0" anchor="t">
            <a:noAutofit/>
          </a:bodyPr>
          <a:lstStyle>
            <a:defPPr algn="l">
              <a:defRPr sz="2025" b="1">
                <a:solidFill>
                  <a:srgbClr val="103D3B"/>
                </a:solidFill>
                <a:latin typeface="Helvetica Neue"/>
                <a:ea typeface="Helvetica Neue"/>
                <a:cs typeface="Helvetica Neue"/>
              </a:defRPr>
            </a:defPPr>
          </a:lstStyle>
          <a:p>
            <a:pPr algn="l">
              <a:buNone/>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5">
            <a:extLst>
              <a:ext uri="{FF2B5EF4-FFF2-40B4-BE49-F238E27FC236}">
                <a16:creationId xmlns:a16="http://schemas.microsoft.com/office/drawing/2014/main" id="{966DF0A5-16BD-43A5-A573-344F93B48D31}"/>
              </a:ext>
            </a:extLst>
          </p:cNvPr>
          <p:cNvSpPr>
            <a:spLocks noGrp="1"/>
          </p:cNvSpPr>
          <p:nvPr/>
        </p:nvSpPr>
        <p:spPr>
          <a:xfrm>
            <a:off x="609600" y="4610100"/>
            <a:ext cx="2647950" cy="304800"/>
          </a:xfrm>
          <a:prstGeom prst="rect">
            <a:avLst/>
          </a:prstGeom>
          <a:noFill/>
          <a:ln w="0">
            <a:noFill/>
            <a:prstDash val="solid"/>
          </a:ln>
        </p:spPr>
        <p:txBody>
          <a:bodyPr wrap="square" lIns="0" tIns="0" rIns="0" bIns="0" anchor="t">
            <a:noAutofit/>
          </a:bodyPr>
          <a:lstStyle>
            <a:defPPr algn="l">
              <a:defRPr sz="1650" b="1">
                <a:solidFill>
                  <a:srgbClr val="103D3B"/>
                </a:solidFill>
                <a:latin typeface="Helvetica Neue"/>
                <a:ea typeface="Helvetica Neue"/>
                <a:cs typeface="Helvetica Neue"/>
              </a:defRPr>
            </a:defPPr>
          </a:lstStyle>
          <a:p>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6">
            <a:extLst>
              <a:ext uri="{FF2B5EF4-FFF2-40B4-BE49-F238E27FC236}">
                <a16:creationId xmlns:a16="http://schemas.microsoft.com/office/drawing/2014/main" id="{E3A497E9-ABD5-4FDD-B03F-605AC0CC5904}"/>
              </a:ext>
            </a:extLst>
          </p:cNvPr>
          <p:cNvSpPr>
            <a:spLocks noGrp="1"/>
          </p:cNvSpPr>
          <p:nvPr/>
        </p:nvSpPr>
        <p:spPr>
          <a:xfrm>
            <a:off x="609600" y="5010150"/>
            <a:ext cx="2647950" cy="790575"/>
          </a:xfrm>
          <a:prstGeom prst="rect">
            <a:avLst/>
          </a:prstGeom>
          <a:noFill/>
          <a:ln w="0">
            <a:noFill/>
            <a:prstDash val="solid"/>
          </a:ln>
        </p:spPr>
        <p:txBody>
          <a:bodyPr wrap="square" lIns="0" tIns="0" rIns="0" bIns="0" anchor="t">
            <a:noAutofit/>
          </a:bodyPr>
          <a:lstStyle>
            <a:defPPr algn="l">
              <a:defRPr sz="1500" b="0">
                <a:solidFill>
                  <a:srgbClr val="103D3B"/>
                </a:solidFill>
                <a:latin typeface="Helvetica Neue"/>
                <a:ea typeface="Helvetica Neue"/>
                <a:cs typeface="Helvetica Neue"/>
              </a:defRPr>
            </a:defPPr>
          </a:lstStyle>
          <a:p>
            <a:pPr algn="l">
              <a:buNone/>
              <a:defRPr sz="1500" b="0">
                <a:solidFill>
                  <a:srgbClr val="103D3B"/>
                </a:solidFill>
                <a:latin typeface="Helvetica Neue"/>
                <a:ea typeface="Helvetica Neue"/>
                <a:cs typeface="Helvetica Neue"/>
              </a:defRPr>
            </a:pPr>
            <a:r>
              <a:rPr lang="en-US" sz="1500" b="0" dirty="0">
                <a:solidFill>
                  <a:srgbClr val="103D3B"/>
                </a:solidFill>
                <a:latin typeface="Helvetica Neue"/>
                <a:ea typeface="Helvetica Neue"/>
                <a:cs typeface="Helvetica Neue"/>
              </a:rPr>
              <a:t>Agent works with user and </a:t>
            </a:r>
          </a:p>
          <a:p>
            <a:pPr algn="l">
              <a:buNone/>
              <a:defRPr sz="1500" b="0">
                <a:solidFill>
                  <a:srgbClr val="103D3B"/>
                </a:solidFill>
                <a:latin typeface="Helvetica Neue"/>
                <a:ea typeface="Helvetica Neue"/>
                <a:cs typeface="Helvetica Neue"/>
              </a:defRPr>
            </a:pPr>
            <a:r>
              <a:rPr lang="en-US" sz="1500" b="0" dirty="0">
                <a:solidFill>
                  <a:srgbClr val="103D3B"/>
                </a:solidFill>
                <a:latin typeface="Helvetica Neue"/>
                <a:ea typeface="Helvetica Neue"/>
                <a:cs typeface="Helvetica Neue"/>
              </a:rPr>
              <a:t>Go-local to scope the work with photos and questions </a:t>
            </a:r>
            <a:endParaRPr sz="1500" b="0" dirty="0">
              <a:solidFill>
                <a:srgbClr val="103D3B"/>
              </a:solidFill>
              <a:latin typeface="Helvetica Neue"/>
              <a:ea typeface="Helvetica Neue"/>
              <a:cs typeface="Helvetica Neue"/>
            </a:endParaRPr>
          </a:p>
        </p:txBody>
      </p:sp>
      <p:sp>
        <p:nvSpPr>
          <p:cNvPr id="9" name="v31-text-7">
            <a:extLst>
              <a:ext uri="{FF2B5EF4-FFF2-40B4-BE49-F238E27FC236}">
                <a16:creationId xmlns:a16="http://schemas.microsoft.com/office/drawing/2014/main" id="{618604E1-578F-40B3-90EF-1B9319CC3E0E}"/>
              </a:ext>
            </a:extLst>
          </p:cNvPr>
          <p:cNvSpPr>
            <a:spLocks noGrp="1"/>
          </p:cNvSpPr>
          <p:nvPr/>
        </p:nvSpPr>
        <p:spPr>
          <a:xfrm>
            <a:off x="3467100" y="4610100"/>
            <a:ext cx="2647950" cy="304800"/>
          </a:xfrm>
          <a:prstGeom prst="rect">
            <a:avLst/>
          </a:prstGeom>
          <a:noFill/>
          <a:ln w="0">
            <a:noFill/>
            <a:prstDash val="solid"/>
          </a:ln>
        </p:spPr>
        <p:txBody>
          <a:bodyPr wrap="square" lIns="0" tIns="0" rIns="0" bIns="0" anchor="t">
            <a:noAutofit/>
          </a:bodyPr>
          <a:lstStyle>
            <a:defPPr algn="l">
              <a:defRPr sz="1650" b="1">
                <a:solidFill>
                  <a:srgbClr val="236C4E"/>
                </a:solidFill>
                <a:latin typeface="Helvetica Neue"/>
                <a:ea typeface="Helvetica Neue"/>
                <a:cs typeface="Helvetica Neue"/>
              </a:defRPr>
            </a:defPPr>
          </a:lstStyle>
          <a:p>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8">
            <a:extLst>
              <a:ext uri="{FF2B5EF4-FFF2-40B4-BE49-F238E27FC236}">
                <a16:creationId xmlns:a16="http://schemas.microsoft.com/office/drawing/2014/main" id="{E57A3C66-702B-49A7-8267-BD5381F09756}"/>
              </a:ext>
            </a:extLst>
          </p:cNvPr>
          <p:cNvSpPr>
            <a:spLocks noGrp="1"/>
          </p:cNvSpPr>
          <p:nvPr/>
        </p:nvSpPr>
        <p:spPr>
          <a:xfrm>
            <a:off x="3467100" y="5010150"/>
            <a:ext cx="2647950" cy="790575"/>
          </a:xfrm>
          <a:prstGeom prst="rect">
            <a:avLst/>
          </a:prstGeom>
          <a:noFill/>
          <a:ln w="0">
            <a:noFill/>
            <a:prstDash val="solid"/>
          </a:ln>
        </p:spPr>
        <p:txBody>
          <a:bodyPr wrap="square" lIns="0" tIns="0" rIns="0" bIns="0" anchor="t">
            <a:noAutofit/>
          </a:bodyPr>
          <a:lstStyle>
            <a:defPPr algn="l">
              <a:defRPr sz="1500" b="0">
                <a:solidFill>
                  <a:srgbClr val="103D3B"/>
                </a:solidFill>
                <a:latin typeface="Helvetica Neue"/>
                <a:ea typeface="Helvetica Neue"/>
                <a:cs typeface="Helvetica Neue"/>
              </a:defRPr>
            </a:defPPr>
          </a:lstStyle>
          <a:p>
            <a:pPr algn="l">
              <a:buNone/>
              <a:defRPr sz="1500" b="0">
                <a:solidFill>
                  <a:srgbClr val="103D3B"/>
                </a:solidFill>
                <a:latin typeface="Helvetica Neue"/>
                <a:ea typeface="Helvetica Neue"/>
                <a:cs typeface="Helvetica Neue"/>
              </a:defRPr>
            </a:pPr>
            <a:r>
              <a:rPr sz="1500" b="0" dirty="0">
                <a:solidFill>
                  <a:srgbClr val="103D3B"/>
                </a:solidFill>
                <a:latin typeface="Helvetica Neue"/>
                <a:ea typeface="Helvetica Neue"/>
                <a:cs typeface="Helvetica Neue"/>
              </a:rPr>
              <a:t>Finds suitable providers</a:t>
            </a:r>
            <a:r>
              <a:rPr lang="en-US" sz="1500" dirty="0">
                <a:solidFill>
                  <a:srgbClr val="103D3B"/>
                </a:solidFill>
                <a:latin typeface="Helvetica Neue"/>
                <a:ea typeface="Helvetica Neue"/>
                <a:cs typeface="Helvetica Neue"/>
              </a:rPr>
              <a:t> across </a:t>
            </a:r>
            <a:r>
              <a:rPr lang="en-US" sz="1500" b="0" dirty="0">
                <a:solidFill>
                  <a:srgbClr val="103D3B"/>
                </a:solidFill>
                <a:latin typeface="Helvetica Neue"/>
                <a:ea typeface="Helvetica Neue"/>
                <a:cs typeface="Helvetica Neue"/>
              </a:rPr>
              <a:t> ratings</a:t>
            </a:r>
            <a:r>
              <a:rPr sz="1500" b="0" dirty="0">
                <a:solidFill>
                  <a:srgbClr val="103D3B"/>
                </a:solidFill>
                <a:latin typeface="Helvetica Neue"/>
                <a:ea typeface="Helvetica Neue"/>
                <a:cs typeface="Helvetica Neue"/>
              </a:rPr>
              <a:t>,</a:t>
            </a:r>
            <a:r>
              <a:rPr lang="en-US" sz="1500" dirty="0">
                <a:solidFill>
                  <a:srgbClr val="103D3B"/>
                </a:solidFill>
                <a:latin typeface="Helvetica Neue"/>
                <a:ea typeface="Helvetica Neue"/>
                <a:cs typeface="Helvetica Neue"/>
              </a:rPr>
              <a:t> </a:t>
            </a:r>
            <a:r>
              <a:rPr sz="1500" b="0" dirty="0">
                <a:solidFill>
                  <a:srgbClr val="103D3B"/>
                </a:solidFill>
                <a:latin typeface="Helvetica Neue"/>
                <a:ea typeface="Helvetica Neue"/>
                <a:cs typeface="Helvetica Neue"/>
              </a:rPr>
              <a:t>availability</a:t>
            </a:r>
            <a:r>
              <a:rPr lang="en-US" sz="1500" b="0" dirty="0">
                <a:solidFill>
                  <a:srgbClr val="103D3B"/>
                </a:solidFill>
                <a:latin typeface="Helvetica Neue"/>
                <a:ea typeface="Helvetica Neue"/>
                <a:cs typeface="Helvetica Neue"/>
              </a:rPr>
              <a:t> and pricing</a:t>
            </a:r>
            <a:endParaRPr sz="1500" b="0" dirty="0">
              <a:solidFill>
                <a:srgbClr val="103D3B"/>
              </a:solidFill>
              <a:latin typeface="Helvetica Neue"/>
              <a:ea typeface="Helvetica Neue"/>
              <a:cs typeface="Helvetica Neue"/>
            </a:endParaRPr>
          </a:p>
        </p:txBody>
      </p:sp>
      <p:sp>
        <p:nvSpPr>
          <p:cNvPr id="11" name="v31-text-9">
            <a:extLst>
              <a:ext uri="{FF2B5EF4-FFF2-40B4-BE49-F238E27FC236}">
                <a16:creationId xmlns:a16="http://schemas.microsoft.com/office/drawing/2014/main" id="{A6535DB2-F6C2-4C61-AA3A-F2783DF038A5}"/>
              </a:ext>
            </a:extLst>
          </p:cNvPr>
          <p:cNvSpPr>
            <a:spLocks noGrp="1"/>
          </p:cNvSpPr>
          <p:nvPr/>
        </p:nvSpPr>
        <p:spPr>
          <a:xfrm>
            <a:off x="6324600" y="4610100"/>
            <a:ext cx="2647950" cy="304800"/>
          </a:xfrm>
          <a:prstGeom prst="rect">
            <a:avLst/>
          </a:prstGeom>
          <a:noFill/>
          <a:ln w="0">
            <a:noFill/>
            <a:prstDash val="solid"/>
          </a:ln>
        </p:spPr>
        <p:txBody>
          <a:bodyPr wrap="square" lIns="0" tIns="0" rIns="0" bIns="0" anchor="t">
            <a:noAutofit/>
          </a:bodyPr>
          <a:lstStyle>
            <a:defPPr algn="l">
              <a:defRPr sz="1650" b="1">
                <a:solidFill>
                  <a:srgbClr val="103D3B"/>
                </a:solidFill>
                <a:latin typeface="Helvetica Neue"/>
                <a:ea typeface="Helvetica Neue"/>
                <a:cs typeface="Helvetica Neue"/>
              </a:defRPr>
            </a:defPPr>
          </a:lstStyle>
          <a:p>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10">
            <a:extLst>
              <a:ext uri="{FF2B5EF4-FFF2-40B4-BE49-F238E27FC236}">
                <a16:creationId xmlns:a16="http://schemas.microsoft.com/office/drawing/2014/main" id="{18B02C09-B853-4E71-827C-037B91BF763B}"/>
              </a:ext>
            </a:extLst>
          </p:cNvPr>
          <p:cNvSpPr>
            <a:spLocks noGrp="1"/>
          </p:cNvSpPr>
          <p:nvPr/>
        </p:nvSpPr>
        <p:spPr>
          <a:xfrm>
            <a:off x="6324600" y="5010150"/>
            <a:ext cx="2647950" cy="790575"/>
          </a:xfrm>
          <a:prstGeom prst="rect">
            <a:avLst/>
          </a:prstGeom>
          <a:noFill/>
          <a:ln w="0">
            <a:noFill/>
            <a:prstDash val="solid"/>
          </a:ln>
        </p:spPr>
        <p:txBody>
          <a:bodyPr wrap="square" lIns="0" tIns="0" rIns="0" bIns="0" anchor="t">
            <a:noAutofit/>
          </a:bodyPr>
          <a:lstStyle>
            <a:defPPr algn="l">
              <a:defRPr sz="1500" b="0">
                <a:solidFill>
                  <a:srgbClr val="103D3B"/>
                </a:solidFill>
                <a:latin typeface="Helvetica Neue"/>
                <a:ea typeface="Helvetica Neue"/>
                <a:cs typeface="Helvetica Neue"/>
              </a:defRPr>
            </a:defPPr>
          </a:lstStyle>
          <a:p>
            <a:pPr algn="l">
              <a:buNone/>
              <a:defRPr sz="1500" b="0">
                <a:solidFill>
                  <a:srgbClr val="103D3B"/>
                </a:solidFill>
                <a:latin typeface="Helvetica Neue"/>
                <a:ea typeface="Helvetica Neue"/>
                <a:cs typeface="Helvetica Neue"/>
              </a:defRPr>
            </a:pPr>
            <a:r>
              <a:rPr sz="1500" b="0" dirty="0">
                <a:solidFill>
                  <a:srgbClr val="103D3B"/>
                </a:solidFill>
                <a:latin typeface="Helvetica Neue"/>
                <a:ea typeface="Helvetica Neue"/>
                <a:cs typeface="Helvetica Neue"/>
              </a:rPr>
              <a:t>Chooses </a:t>
            </a:r>
            <a:r>
              <a:rPr lang="en-US" sz="1500" b="0" dirty="0">
                <a:solidFill>
                  <a:srgbClr val="103D3B"/>
                </a:solidFill>
                <a:latin typeface="Helvetica Neue"/>
                <a:ea typeface="Helvetica Neue"/>
                <a:cs typeface="Helvetica Neue"/>
              </a:rPr>
              <a:t>best match </a:t>
            </a:r>
            <a:endParaRPr sz="1500" b="0" dirty="0">
              <a:solidFill>
                <a:srgbClr val="103D3B"/>
              </a:solidFill>
              <a:latin typeface="Helvetica Neue"/>
              <a:ea typeface="Helvetica Neue"/>
              <a:cs typeface="Helvetica Neue"/>
            </a:endParaRPr>
          </a:p>
          <a:p>
            <a:pPr algn="l">
              <a:buNone/>
              <a:defRPr sz="1500" b="0">
                <a:solidFill>
                  <a:srgbClr val="103D3B"/>
                </a:solidFill>
                <a:latin typeface="Helvetica Neue"/>
                <a:ea typeface="Helvetica Neue"/>
                <a:cs typeface="Helvetica Neue"/>
              </a:defRPr>
            </a:pPr>
            <a:r>
              <a:rPr sz="1500" b="0" dirty="0">
                <a:solidFill>
                  <a:srgbClr val="103D3B"/>
                </a:solidFill>
                <a:latin typeface="Helvetica Neue"/>
                <a:ea typeface="Helvetica Neue"/>
                <a:cs typeface="Helvetica Neue"/>
              </a:rPr>
              <a:t>Authorizes the $79 visit</a:t>
            </a:r>
          </a:p>
          <a:p>
            <a:pPr algn="l">
              <a:buNone/>
              <a:defRPr sz="1500" b="0">
                <a:solidFill>
                  <a:srgbClr val="103D3B"/>
                </a:solidFill>
                <a:latin typeface="Helvetica Neue"/>
                <a:ea typeface="Helvetica Neue"/>
                <a:cs typeface="Helvetica Neue"/>
              </a:defRPr>
            </a:pPr>
            <a:r>
              <a:rPr sz="1500" b="0" dirty="0">
                <a:solidFill>
                  <a:srgbClr val="103D3B"/>
                </a:solidFill>
                <a:latin typeface="Helvetica Neue"/>
                <a:ea typeface="Helvetica Neue"/>
                <a:cs typeface="Helvetica Neue"/>
              </a:rPr>
              <a:t>and payment.</a:t>
            </a:r>
          </a:p>
        </p:txBody>
      </p:sp>
      <p:sp>
        <p:nvSpPr>
          <p:cNvPr id="13" name="v31-text-11">
            <a:extLst>
              <a:ext uri="{FF2B5EF4-FFF2-40B4-BE49-F238E27FC236}">
                <a16:creationId xmlns:a16="http://schemas.microsoft.com/office/drawing/2014/main" id="{FF4FCD7E-B9C0-4B0B-B470-6CA543F2E900}"/>
              </a:ext>
            </a:extLst>
          </p:cNvPr>
          <p:cNvSpPr>
            <a:spLocks noGrp="1"/>
          </p:cNvSpPr>
          <p:nvPr/>
        </p:nvSpPr>
        <p:spPr>
          <a:xfrm>
            <a:off x="9182100" y="4610100"/>
            <a:ext cx="2400300" cy="304800"/>
          </a:xfrm>
          <a:prstGeom prst="rect">
            <a:avLst/>
          </a:prstGeom>
          <a:noFill/>
          <a:ln w="0">
            <a:noFill/>
            <a:prstDash val="solid"/>
          </a:ln>
        </p:spPr>
        <p:txBody>
          <a:bodyPr wrap="square" lIns="0" tIns="0" rIns="0" bIns="0" anchor="t">
            <a:noAutofit/>
          </a:bodyPr>
          <a:lstStyle>
            <a:defPPr algn="l">
              <a:defRPr sz="1650" b="1">
                <a:solidFill>
                  <a:srgbClr val="236C4E"/>
                </a:solidFill>
                <a:latin typeface="Helvetica Neue"/>
                <a:ea typeface="Helvetica Neue"/>
                <a:cs typeface="Helvetica Neue"/>
              </a:defRPr>
            </a:defPPr>
          </a:lstStyle>
          <a:p>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12">
            <a:extLst>
              <a:ext uri="{FF2B5EF4-FFF2-40B4-BE49-F238E27FC236}">
                <a16:creationId xmlns:a16="http://schemas.microsoft.com/office/drawing/2014/main" id="{CB0F95B8-9D3F-42BF-913E-60A45DE272FB}"/>
              </a:ext>
            </a:extLst>
          </p:cNvPr>
          <p:cNvSpPr>
            <a:spLocks noGrp="1"/>
          </p:cNvSpPr>
          <p:nvPr/>
        </p:nvSpPr>
        <p:spPr>
          <a:xfrm>
            <a:off x="9182100" y="5010150"/>
            <a:ext cx="2400300" cy="790575"/>
          </a:xfrm>
          <a:prstGeom prst="rect">
            <a:avLst/>
          </a:prstGeom>
          <a:noFill/>
          <a:ln w="0">
            <a:noFill/>
            <a:prstDash val="solid"/>
          </a:ln>
        </p:spPr>
        <p:txBody>
          <a:bodyPr wrap="square" lIns="0" tIns="0" rIns="0" bIns="0" anchor="t">
            <a:noAutofit/>
          </a:bodyPr>
          <a:lstStyle>
            <a:defPPr algn="l">
              <a:defRPr sz="1500" b="0">
                <a:solidFill>
                  <a:srgbClr val="103D3B"/>
                </a:solidFill>
                <a:latin typeface="Helvetica Neue"/>
                <a:ea typeface="Helvetica Neue"/>
                <a:cs typeface="Helvetica Neue"/>
              </a:defRPr>
            </a:defPPr>
          </a:lstStyle>
          <a:p>
            <a:pPr algn="l">
              <a:buNone/>
              <a:defRPr sz="1500" b="0">
                <a:solidFill>
                  <a:srgbClr val="103D3B"/>
                </a:solidFill>
                <a:latin typeface="Helvetica Neue"/>
                <a:ea typeface="Helvetica Neue"/>
                <a:cs typeface="Helvetica Neue"/>
              </a:defRPr>
            </a:pPr>
            <a:r>
              <a:rPr sz="1500" b="0" dirty="0">
                <a:solidFill>
                  <a:srgbClr val="103D3B"/>
                </a:solidFill>
                <a:latin typeface="Helvetica Neue"/>
                <a:ea typeface="Helvetica Neue"/>
                <a:cs typeface="Helvetica Neue"/>
              </a:rPr>
              <a:t>Books in provider system.</a:t>
            </a:r>
          </a:p>
          <a:p>
            <a:pPr algn="l">
              <a:buNone/>
              <a:defRPr sz="1500" b="0">
                <a:solidFill>
                  <a:srgbClr val="103D3B"/>
                </a:solidFill>
                <a:latin typeface="Helvetica Neue"/>
                <a:ea typeface="Helvetica Neue"/>
                <a:cs typeface="Helvetica Neue"/>
              </a:defRPr>
            </a:pPr>
            <a:r>
              <a:rPr sz="1500" b="0" dirty="0">
                <a:solidFill>
                  <a:srgbClr val="103D3B"/>
                </a:solidFill>
                <a:latin typeface="Helvetica Neue"/>
                <a:ea typeface="Helvetica Neue"/>
                <a:cs typeface="Helvetica Neue"/>
              </a:rPr>
              <a:t>Returns booking ID and</a:t>
            </a:r>
          </a:p>
          <a:p>
            <a:pPr algn="l">
              <a:buNone/>
              <a:defRPr sz="1500" b="0">
                <a:solidFill>
                  <a:srgbClr val="103D3B"/>
                </a:solidFill>
                <a:latin typeface="Helvetica Neue"/>
                <a:ea typeface="Helvetica Neue"/>
                <a:cs typeface="Helvetica Neue"/>
              </a:defRPr>
            </a:pPr>
            <a:r>
              <a:rPr sz="1500" b="0" dirty="0">
                <a:solidFill>
                  <a:srgbClr val="103D3B"/>
                </a:solidFill>
                <a:latin typeface="Helvetica Neue"/>
                <a:ea typeface="Helvetica Neue"/>
                <a:cs typeface="Helvetica Neue"/>
              </a:rPr>
              <a:t>payment status.</a:t>
            </a:r>
          </a:p>
        </p:txBody>
      </p:sp>
      <p:sp>
        <p:nvSpPr>
          <p:cNvPr id="15" name="v31-text-13">
            <a:extLst>
              <a:ext uri="{FF2B5EF4-FFF2-40B4-BE49-F238E27FC236}">
                <a16:creationId xmlns:a16="http://schemas.microsoft.com/office/drawing/2014/main" id="{6D3B9BBC-6172-46AA-8D0C-E94267AD8D1F}"/>
              </a:ext>
            </a:extLst>
          </p:cNvPr>
          <p:cNvSpPr>
            <a:spLocks noGrp="1"/>
          </p:cNvSpPr>
          <p:nvPr/>
        </p:nvSpPr>
        <p:spPr>
          <a:xfrm>
            <a:off x="609600" y="5905500"/>
            <a:ext cx="10972800" cy="381000"/>
          </a:xfrm>
          <a:prstGeom prst="rect">
            <a:avLst/>
          </a:prstGeom>
          <a:noFill/>
          <a:ln w="0">
            <a:noFill/>
            <a:prstDash val="solid"/>
          </a:ln>
        </p:spPr>
        <p:txBody>
          <a:bodyPr wrap="square" lIns="0" tIns="0" rIns="0" bIns="0" anchor="t">
            <a:noAutofit/>
          </a:bodyPr>
          <a:lstStyle>
            <a:defPPr algn="l">
              <a:defRPr sz="2100" b="1">
                <a:solidFill>
                  <a:srgbClr val="236C4E"/>
                </a:solidFill>
                <a:latin typeface="Helvetica Neue"/>
                <a:ea typeface="Helvetica Neue"/>
                <a:cs typeface="Helvetica Neue"/>
              </a:defRPr>
            </a:defPPr>
          </a:lstStyle>
          <a:p>
            <a:pPr algn="l">
              <a:buNone/>
              <a:defRPr sz="2100" b="1">
                <a:solidFill>
                  <a:srgbClr val="236C4E"/>
                </a:solidFill>
                <a:latin typeface="Helvetica Neue"/>
                <a:ea typeface="Helvetica Neue"/>
                <a:cs typeface="Helvetica Neue"/>
              </a:defRPr>
            </a:pPr>
            <a:r>
              <a:rPr sz="2100" b="1" dirty="0">
                <a:solidFill>
                  <a:srgbClr val="236C4E"/>
                </a:solidFill>
                <a:latin typeface="Helvetica Neue"/>
                <a:ea typeface="Helvetica Neue"/>
                <a:cs typeface="Helvetica Neue"/>
              </a:rPr>
              <a:t>Confirmed: Oak Plumbing, tomorrow 9–11 am</a:t>
            </a:r>
          </a:p>
        </p:txBody>
      </p:sp>
      <p:sp>
        <p:nvSpPr>
          <p:cNvPr id="16" name="v31-text-14">
            <a:extLst>
              <a:ext uri="{FF2B5EF4-FFF2-40B4-BE49-F238E27FC236}">
                <a16:creationId xmlns:a16="http://schemas.microsoft.com/office/drawing/2014/main" id="{22C67580-34D1-49BC-ADD6-B9B4C984F269}"/>
              </a:ext>
            </a:extLst>
          </p:cNvPr>
          <p:cNvSpPr>
            <a:spLocks noGrp="1"/>
          </p:cNvSpPr>
          <p:nvPr/>
        </p:nvSpPr>
        <p:spPr>
          <a:xfrm>
            <a:off x="609600" y="6257925"/>
            <a:ext cx="10972800" cy="257175"/>
          </a:xfrm>
          <a:prstGeom prst="rect">
            <a:avLst/>
          </a:prstGeom>
          <a:noFill/>
          <a:ln w="0">
            <a:noFill/>
            <a:prstDash val="solid"/>
          </a:ln>
        </p:spPr>
        <p:txBody>
          <a:bodyPr wrap="square" lIns="0" tIns="0" rIns="0" bIns="0" anchor="t">
            <a:noAutofit/>
          </a:bodyPr>
          <a:lstStyle>
            <a:defPPr algn="l">
              <a:defRPr sz="1350" b="0">
                <a:solidFill>
                  <a:srgbClr val="53716A"/>
                </a:solidFill>
                <a:latin typeface="Helvetica Neue"/>
                <a:ea typeface="Helvetica Neue"/>
                <a:cs typeface="Helvetica Neue"/>
              </a:defRPr>
            </a:defPPr>
          </a:lstStyle>
          <a:p>
            <a:pPr algn="l">
              <a:buNone/>
              <a:defRPr sz="1350" b="0">
                <a:solidFill>
                  <a:srgbClr val="53716A"/>
                </a:solidFill>
                <a:latin typeface="Helvetica Neue"/>
                <a:ea typeface="Helvetica Neue"/>
                <a:cs typeface="Helvetica Neue"/>
              </a:defRPr>
            </a:pPr>
            <a:r>
              <a:rPr sz="1350" b="0" dirty="0">
                <a:solidFill>
                  <a:srgbClr val="53716A"/>
                </a:solidFill>
                <a:latin typeface="Helvetica Neue"/>
                <a:ea typeface="Helvetica Neue"/>
                <a:cs typeface="Helvetica Neue"/>
              </a:rPr>
              <a:t>Booking GL-1042. $79 visit fee authorized. </a:t>
            </a:r>
          </a:p>
        </p:txBody>
      </p:sp>
      <p:sp>
        <p:nvSpPr>
          <p:cNvPr id="18" name="v31-text-16">
            <a:extLst>
              <a:ext uri="{FF2B5EF4-FFF2-40B4-BE49-F238E27FC236}">
                <a16:creationId xmlns:a16="http://schemas.microsoft.com/office/drawing/2014/main" id="{72DB3F0C-6E0B-4F99-BBEC-61E0A9585480}"/>
              </a:ext>
            </a:extLst>
          </p:cNvPr>
          <p:cNvSpPr>
            <a:spLocks noGrp="1"/>
          </p:cNvSpPr>
          <p:nvPr/>
        </p:nvSpPr>
        <p:spPr>
          <a:xfrm>
            <a:off x="11049000" y="6638925"/>
            <a:ext cx="666750" cy="190500"/>
          </a:xfrm>
          <a:prstGeom prst="rect">
            <a:avLst/>
          </a:prstGeom>
          <a:noFill/>
          <a:ln w="0">
            <a:noFill/>
            <a:prstDash val="solid"/>
          </a:ln>
        </p:spPr>
        <p:txBody>
          <a:bodyPr wrap="square" lIns="0" tIns="0" rIns="0" bIns="0" anchor="t">
            <a:noAutofit/>
          </a:bodyPr>
          <a:lstStyle>
            <a:defPPr algn="l">
              <a:defRPr sz="1125" b="0">
                <a:solidFill>
                  <a:srgbClr val="53716A"/>
                </a:solidFill>
                <a:latin typeface="Helvetica Neue"/>
                <a:ea typeface="Helvetica Neue"/>
                <a:cs typeface="Helvetica Neue"/>
              </a:defRPr>
            </a:defPPr>
          </a:lstStyle>
          <a:p>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9"/>
        </a:solidFill>
        <a:effectLst/>
      </p:bgPr>
    </p:bg>
    <p:spTree>
      <p:nvGrpSpPr>
        <p:cNvPr id="1" name=""/>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0D8D7378-4DFA-429D-BCE0-F8F088E739E5}"/>
              </a:ext>
            </a:extLst>
          </p:cNvPr>
          <p:cNvCxnSpPr>
            <a:stCxn id="13" idx="0"/>
            <a:endCxn id="10" idx="2"/>
          </p:cNvCxnSpPr>
          <p:nvPr/>
        </p:nvCxnSpPr>
        <p:spPr>
          <a:xfrm flipV="1">
            <a:off x="5881688" y="3514725"/>
            <a:ext cx="0" cy="609600"/>
          </a:xfrm>
          <a:prstGeom prst="straightConnector1">
            <a:avLst/>
          </a:prstGeom>
          <a:ln w="19050">
            <a:solidFill>
              <a:srgbClr val="236C4E"/>
            </a:solidFill>
            <a:prstDash val="solid"/>
            <a:tailEnd type="arrow" w="sm" len="sm"/>
          </a:ln>
        </p:spPr>
      </p:cxnSp>
      <p:cxnSp>
        <p:nvCxnSpPr>
          <p:cNvPr id="16" name="Straight Arrow Connector 15">
            <a:extLst>
              <a:ext uri="{FF2B5EF4-FFF2-40B4-BE49-F238E27FC236}">
                <a16:creationId xmlns:a16="http://schemas.microsoft.com/office/drawing/2014/main" id="{6BE25303-44FE-4A12-AAF3-60DB079A6031}"/>
              </a:ext>
            </a:extLst>
          </p:cNvPr>
          <p:cNvCxnSpPr>
            <a:cxnSpLocks/>
          </p:cNvCxnSpPr>
          <p:nvPr/>
        </p:nvCxnSpPr>
        <p:spPr>
          <a:xfrm flipH="1" flipV="1">
            <a:off x="7790328" y="4486275"/>
            <a:ext cx="962025" cy="9525"/>
          </a:xfrm>
          <a:prstGeom prst="straightConnector1">
            <a:avLst/>
          </a:prstGeom>
          <a:ln w="19050">
            <a:solidFill>
              <a:srgbClr val="236C4E"/>
            </a:solidFill>
            <a:prstDash val="solid"/>
            <a:tailEnd type="arrow" w="sm" len="sm"/>
          </a:ln>
        </p:spPr>
      </p:cxnSp>
      <p:cxnSp>
        <p:nvCxnSpPr>
          <p:cNvPr id="15" name="Straight Arrow Connector 14">
            <a:extLst>
              <a:ext uri="{FF2B5EF4-FFF2-40B4-BE49-F238E27FC236}">
                <a16:creationId xmlns:a16="http://schemas.microsoft.com/office/drawing/2014/main" id="{24733582-96BD-44B1-AF80-B01432CEF02A}"/>
              </a:ext>
            </a:extLst>
          </p:cNvPr>
          <p:cNvCxnSpPr>
            <a:stCxn id="11" idx="2"/>
            <a:endCxn id="12" idx="0"/>
          </p:cNvCxnSpPr>
          <p:nvPr/>
        </p:nvCxnSpPr>
        <p:spPr>
          <a:xfrm>
            <a:off x="10063163" y="3695700"/>
            <a:ext cx="0" cy="476250"/>
          </a:xfrm>
          <a:prstGeom prst="straightConnector1">
            <a:avLst/>
          </a:prstGeom>
          <a:ln w="19050">
            <a:solidFill>
              <a:srgbClr val="236C4E"/>
            </a:solidFill>
            <a:prstDash val="solid"/>
            <a:tailEnd type="arrow" w="sm" len="sm"/>
          </a:ln>
        </p:spPr>
      </p:cxnSp>
      <p:cxnSp>
        <p:nvCxnSpPr>
          <p:cNvPr id="14" name="Straight Arrow Connector 13">
            <a:extLst>
              <a:ext uri="{FF2B5EF4-FFF2-40B4-BE49-F238E27FC236}">
                <a16:creationId xmlns:a16="http://schemas.microsoft.com/office/drawing/2014/main" id="{E502F63B-804A-4208-B663-636A07C9565B}"/>
              </a:ext>
            </a:extLst>
          </p:cNvPr>
          <p:cNvCxnSpPr>
            <a:stCxn id="10" idx="3"/>
            <a:endCxn id="11" idx="1"/>
          </p:cNvCxnSpPr>
          <p:nvPr/>
        </p:nvCxnSpPr>
        <p:spPr>
          <a:xfrm>
            <a:off x="7467600" y="3195638"/>
            <a:ext cx="962025" cy="9525"/>
          </a:xfrm>
          <a:prstGeom prst="straightConnector1">
            <a:avLst/>
          </a:prstGeom>
          <a:ln w="19050">
            <a:solidFill>
              <a:srgbClr val="236C4E"/>
            </a:solidFill>
            <a:prstDash val="solid"/>
            <a:tailEnd type="arrow" w="sm" len="sm"/>
          </a:ln>
        </p:spPr>
      </p:cxnSp>
      <p:sp>
        <p:nvSpPr>
          <p:cNvPr id="23" name="v27-text-7">
            <a:extLst>
              <a:ext uri="{FF2B5EF4-FFF2-40B4-BE49-F238E27FC236}">
                <a16:creationId xmlns:a16="http://schemas.microsoft.com/office/drawing/2014/main" id="{552406B7-7212-4A4E-9D8F-4BF49224FCF5}"/>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lgn="l">
              <a:defRPr sz="1275" b="1">
                <a:solidFill>
                  <a:srgbClr val="65746C"/>
                </a:solidFill>
                <a:latin typeface="Helvetica Neue"/>
                <a:ea typeface="Helvetica Neue"/>
                <a:cs typeface="Helvetica Neue"/>
              </a:defRPr>
            </a:defPPr>
          </a:lstStyle>
          <a:p>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a:ext uri="{FF2B5EF4-FFF2-40B4-BE49-F238E27FC236}">
                <a16:creationId xmlns:a16="http://schemas.microsoft.com/office/drawing/2014/main" id="{09EF2AB4-50EE-4D03-BB1C-EA0D87949576}"/>
              </a:ext>
            </a:extLst>
          </p:cNvPr>
          <p:cNvSpPr>
            <a:spLocks noGrp="1"/>
          </p:cNvSpPr>
          <p:nvPr/>
        </p:nvSpPr>
        <p:spPr>
          <a:xfrm>
            <a:off x="495300" y="619125"/>
            <a:ext cx="11201400" cy="600075"/>
          </a:xfrm>
          <a:prstGeom prst="rect">
            <a:avLst/>
          </a:prstGeom>
          <a:noFill/>
          <a:ln w="0">
            <a:noFill/>
            <a:prstDash val="solid"/>
          </a:ln>
        </p:spPr>
        <p:txBody>
          <a:bodyPr wrap="square" lIns="0" tIns="0" rIns="0" bIns="0" anchor="t">
            <a:noAutofit/>
          </a:bodyPr>
          <a:lstStyle>
            <a:defPPr algn="l">
              <a:defRPr sz="3300" b="1">
                <a:solidFill>
                  <a:srgbClr val="193C32"/>
                </a:solidFill>
                <a:latin typeface="Helvetica Neue"/>
                <a:ea typeface="Helvetica Neue"/>
                <a:cs typeface="Helvetica Neue"/>
              </a:defRPr>
            </a:defPPr>
          </a:lstStyle>
          <a:p>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a:ext uri="{FF2B5EF4-FFF2-40B4-BE49-F238E27FC236}">
                <a16:creationId xmlns:a16="http://schemas.microsoft.com/office/drawing/2014/main" id="{6751AF65-204F-462C-93D4-1DBF2FD9D9F9}"/>
              </a:ext>
            </a:extLst>
          </p:cNvPr>
          <p:cNvSpPr>
            <a:spLocks noGrp="1"/>
          </p:cNvSpPr>
          <p:nvPr/>
        </p:nvSpPr>
        <p:spPr>
          <a:xfrm>
            <a:off x="495300" y="1343025"/>
            <a:ext cx="11201400" cy="438150"/>
          </a:xfrm>
          <a:prstGeom prst="rect">
            <a:avLst/>
          </a:prstGeom>
          <a:noFill/>
          <a:ln w="0">
            <a:noFill/>
            <a:prstDash val="solid"/>
          </a:ln>
        </p:spPr>
        <p:txBody>
          <a:bodyPr wrap="square" lIns="0" tIns="0" rIns="0" bIns="0" anchor="t">
            <a:noAutofit/>
          </a:bodyPr>
          <a:lstStyle>
            <a:defPPr algn="l">
              <a:defRPr sz="2025" b="0">
                <a:solidFill>
                  <a:srgbClr val="65746C"/>
                </a:solidFill>
                <a:latin typeface="Helvetica Neue"/>
                <a:ea typeface="Helvetica Neue"/>
                <a:cs typeface="Helvetica Neue"/>
              </a:defRPr>
            </a:defPPr>
          </a:lstStyle>
          <a:p>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a:ext uri="{FF2B5EF4-FFF2-40B4-BE49-F238E27FC236}">
                <a16:creationId xmlns:a16="http://schemas.microsoft.com/office/drawing/2014/main" id="{6C7C6279-3DD2-4E61-BB69-C15A5C0182D3}"/>
              </a:ext>
            </a:extLst>
          </p:cNvPr>
          <p:cNvSpPr>
            <a:spLocks noGrp="1"/>
          </p:cNvSpPr>
          <p:nvPr/>
        </p:nvSpPr>
        <p:spPr>
          <a:xfrm>
            <a:off x="495300" y="2105025"/>
            <a:ext cx="3286125" cy="381000"/>
          </a:xfrm>
          <a:prstGeom prst="rect">
            <a:avLst/>
          </a:prstGeom>
          <a:noFill/>
          <a:ln w="0">
            <a:noFill/>
            <a:prstDash val="solid"/>
          </a:ln>
        </p:spPr>
        <p:txBody>
          <a:bodyPr wrap="square" lIns="0" tIns="0" rIns="0" bIns="0" anchor="t">
            <a:noAutofit/>
          </a:bodyPr>
          <a:lstStyle>
            <a:defPPr algn="l">
              <a:defRPr sz="2100" b="1">
                <a:solidFill>
                  <a:srgbClr val="193C32"/>
                </a:solidFill>
                <a:latin typeface="Helvetica Neue"/>
                <a:ea typeface="Helvetica Neue"/>
                <a:cs typeface="Helvetica Neue"/>
              </a:defRPr>
            </a:defPPr>
          </a:lstStyle>
          <a:p>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a:ext uri="{FF2B5EF4-FFF2-40B4-BE49-F238E27FC236}">
                <a16:creationId xmlns:a16="http://schemas.microsoft.com/office/drawing/2014/main" id="{A4B74ED6-7AE9-47F3-9C6C-57CA1ABDE3C1}"/>
              </a:ext>
            </a:extLst>
          </p:cNvPr>
          <p:cNvSpPr>
            <a:spLocks noGrp="1"/>
          </p:cNvSpPr>
          <p:nvPr/>
        </p:nvSpPr>
        <p:spPr>
          <a:xfrm>
            <a:off x="495300" y="2600325"/>
            <a:ext cx="3286125" cy="981075"/>
          </a:xfrm>
          <a:prstGeom prst="rect">
            <a:avLst/>
          </a:prstGeom>
          <a:noFill/>
          <a:ln w="0">
            <a:noFill/>
            <a:prstDash val="solid"/>
          </a:ln>
        </p:spPr>
        <p:txBody>
          <a:bodyPr wrap="square" lIns="0" tIns="0" rIns="0" bIns="0" anchor="t">
            <a:noAutofit/>
          </a:bodyPr>
          <a:lstStyle>
            <a:defPPr algn="l">
              <a:defRPr sz="1875" b="0">
                <a:solidFill>
                  <a:srgbClr val="193C32"/>
                </a:solidFill>
                <a:latin typeface="Helvetica Neue"/>
                <a:ea typeface="Helvetica Neue"/>
                <a:cs typeface="Helvetica Neue"/>
              </a:defRPr>
            </a:defPPr>
          </a:lstStyle>
          <a:p>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a:ext uri="{FF2B5EF4-FFF2-40B4-BE49-F238E27FC236}">
                <a16:creationId xmlns:a16="http://schemas.microsoft.com/office/drawing/2014/main" id="{D038FF64-F9D1-4FBB-8426-6E1D62BB74DC}"/>
              </a:ext>
            </a:extLst>
          </p:cNvPr>
          <p:cNvSpPr>
            <a:spLocks noGrp="1"/>
          </p:cNvSpPr>
          <p:nvPr/>
        </p:nvSpPr>
        <p:spPr>
          <a:xfrm>
            <a:off x="495300" y="3914775"/>
            <a:ext cx="3286125" cy="381000"/>
          </a:xfrm>
          <a:prstGeom prst="rect">
            <a:avLst/>
          </a:prstGeom>
          <a:noFill/>
          <a:ln w="0">
            <a:noFill/>
            <a:prstDash val="solid"/>
          </a:ln>
        </p:spPr>
        <p:txBody>
          <a:bodyPr wrap="square" lIns="0" tIns="0" rIns="0" bIns="0" anchor="t">
            <a:noAutofit/>
          </a:bodyPr>
          <a:lstStyle>
            <a:defPPr algn="l">
              <a:defRPr sz="2100" b="1">
                <a:solidFill>
                  <a:srgbClr val="193C32"/>
                </a:solidFill>
                <a:latin typeface="Helvetica Neue"/>
                <a:ea typeface="Helvetica Neue"/>
                <a:cs typeface="Helvetica Neue"/>
              </a:defRPr>
            </a:defPPr>
          </a:lstStyle>
          <a:p>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a:ext uri="{FF2B5EF4-FFF2-40B4-BE49-F238E27FC236}">
                <a16:creationId xmlns:a16="http://schemas.microsoft.com/office/drawing/2014/main" id="{191837B7-7E9C-449A-BADA-EA779B7CD341}"/>
              </a:ext>
            </a:extLst>
          </p:cNvPr>
          <p:cNvSpPr>
            <a:spLocks noGrp="1"/>
          </p:cNvSpPr>
          <p:nvPr/>
        </p:nvSpPr>
        <p:spPr>
          <a:xfrm>
            <a:off x="495300" y="4410075"/>
            <a:ext cx="3286125" cy="619125"/>
          </a:xfrm>
          <a:prstGeom prst="rect">
            <a:avLst/>
          </a:prstGeom>
          <a:noFill/>
          <a:ln w="0">
            <a:noFill/>
            <a:prstDash val="solid"/>
          </a:ln>
        </p:spPr>
        <p:txBody>
          <a:bodyPr wrap="square" lIns="0" tIns="0" rIns="0" bIns="0" anchor="t">
            <a:noAutofit/>
          </a:bodyPr>
          <a:lstStyle>
            <a:defPPr algn="l">
              <a:defRPr sz="2025" b="1">
                <a:solidFill>
                  <a:srgbClr val="236C4E"/>
                </a:solidFill>
                <a:latin typeface="Helvetica Neue"/>
                <a:ea typeface="Helvetica Neue"/>
                <a:cs typeface="Helvetica Neue"/>
              </a:defRPr>
            </a:defPPr>
          </a:lstStyle>
          <a:p>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a:ext uri="{FF2B5EF4-FFF2-40B4-BE49-F238E27FC236}">
                <a16:creationId xmlns:a16="http://schemas.microsoft.com/office/drawing/2014/main" id="{F35D870C-26D8-4432-8D17-27531F6A6155}"/>
              </a:ext>
            </a:extLst>
          </p:cNvPr>
          <p:cNvSpPr>
            <a:spLocks noGrp="1"/>
          </p:cNvSpPr>
          <p:nvPr/>
        </p:nvSpPr>
        <p:spPr>
          <a:xfrm>
            <a:off x="495300" y="5191125"/>
            <a:ext cx="3333750" cy="5143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a:ext uri="{FF2B5EF4-FFF2-40B4-BE49-F238E27FC236}">
                <a16:creationId xmlns:a16="http://schemas.microsoft.com/office/drawing/2014/main" id="{6529E900-B225-4C1D-AAC0-C63E23B875B5}"/>
              </a:ext>
            </a:extLst>
          </p:cNvPr>
          <p:cNvSpPr>
            <a:spLocks noGrp="1"/>
          </p:cNvSpPr>
          <p:nvPr/>
        </p:nvSpPr>
        <p:spPr>
          <a:xfrm>
            <a:off x="4295775" y="2105025"/>
            <a:ext cx="7400925" cy="381000"/>
          </a:xfrm>
          <a:prstGeom prst="rect">
            <a:avLst/>
          </a:prstGeom>
          <a:noFill/>
          <a:ln w="0">
            <a:noFill/>
            <a:prstDash val="solid"/>
          </a:ln>
        </p:spPr>
        <p:txBody>
          <a:bodyPr wrap="square" lIns="0" tIns="0" rIns="0" bIns="0" anchor="t">
            <a:noAutofit/>
          </a:bodyPr>
          <a:lstStyle>
            <a:defPPr algn="l">
              <a:defRPr sz="2100" b="1">
                <a:solidFill>
                  <a:srgbClr val="193C32"/>
                </a:solidFill>
                <a:latin typeface="Helvetica Neue"/>
                <a:ea typeface="Helvetica Neue"/>
                <a:cs typeface="Helvetica Neue"/>
              </a:defRPr>
            </a:defPPr>
          </a:lstStyle>
          <a:p>
            <a:pPr algn="l">
              <a:buNone/>
              <a:defRPr sz="2100" b="1">
                <a:solidFill>
                  <a:srgbClr val="193C32"/>
                </a:solidFill>
                <a:latin typeface="Helvetica Neue"/>
                <a:ea typeface="Helvetica Neue"/>
                <a:cs typeface="Helvetica Neue"/>
              </a:defRPr>
            </a:pPr>
            <a:r>
              <a:rPr sz="2100" b="1" dirty="0">
                <a:solidFill>
                  <a:srgbClr val="193C32"/>
                </a:solidFill>
                <a:latin typeface="Helvetica Neue"/>
                <a:ea typeface="Helvetica Neue"/>
                <a:cs typeface="Helvetica Neue"/>
              </a:rPr>
              <a:t>3  The network effect</a:t>
            </a:r>
          </a:p>
        </p:txBody>
      </p:sp>
      <p:sp>
        <p:nvSpPr>
          <p:cNvPr id="10" name="v27-text-16">
            <a:extLst>
              <a:ext uri="{FF2B5EF4-FFF2-40B4-BE49-F238E27FC236}">
                <a16:creationId xmlns:a16="http://schemas.microsoft.com/office/drawing/2014/main" id="{41F248C4-2E34-45F4-B7A0-3D0F4A273D15}"/>
              </a:ext>
            </a:extLst>
          </p:cNvPr>
          <p:cNvSpPr>
            <a:spLocks noGrp="1"/>
          </p:cNvSpPr>
          <p:nvPr/>
        </p:nvSpPr>
        <p:spPr>
          <a:xfrm>
            <a:off x="4295775" y="2876550"/>
            <a:ext cx="3171825" cy="638175"/>
          </a:xfrm>
          <a:prstGeom prst="rect">
            <a:avLst/>
          </a:prstGeom>
          <a:noFill/>
          <a:ln w="0">
            <a:noFill/>
            <a:prstDash val="solid"/>
          </a:ln>
        </p:spPr>
        <p:txBody>
          <a:bodyPr wrap="square" lIns="0" tIns="0" rIns="0" bIns="0" anchor="t">
            <a:noAutofit/>
          </a:bodyPr>
          <a:lstStyle>
            <a:defPPr algn="ctr">
              <a:defRPr sz="2100" b="1">
                <a:solidFill>
                  <a:srgbClr val="236C4E"/>
                </a:solidFill>
                <a:latin typeface="Helvetica Neue"/>
                <a:ea typeface="Helvetica Neue"/>
                <a:cs typeface="Helvetica Neue"/>
              </a:defRPr>
            </a:defPPr>
          </a:lstStyle>
          <a:p>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a:ext uri="{FF2B5EF4-FFF2-40B4-BE49-F238E27FC236}">
                <a16:creationId xmlns:a16="http://schemas.microsoft.com/office/drawing/2014/main" id="{97FBEBDF-09DA-4E8D-83F4-1657A435BB03}"/>
              </a:ext>
            </a:extLst>
          </p:cNvPr>
          <p:cNvSpPr>
            <a:spLocks noGrp="1"/>
          </p:cNvSpPr>
          <p:nvPr/>
        </p:nvSpPr>
        <p:spPr>
          <a:xfrm>
            <a:off x="8429625" y="2714625"/>
            <a:ext cx="3267075" cy="981075"/>
          </a:xfrm>
          <a:prstGeom prst="rect">
            <a:avLst/>
          </a:prstGeom>
          <a:noFill/>
          <a:ln w="0">
            <a:noFill/>
            <a:prstDash val="solid"/>
          </a:ln>
        </p:spPr>
        <p:txBody>
          <a:bodyPr wrap="square" lIns="0" tIns="0" rIns="0" bIns="0" anchor="t">
            <a:noAutofit/>
          </a:bodyPr>
          <a:lstStyle>
            <a:defPPr algn="ctr">
              <a:defRPr sz="1950" b="1">
                <a:solidFill>
                  <a:srgbClr val="193C32"/>
                </a:solidFill>
                <a:latin typeface="Helvetica Neue"/>
                <a:ea typeface="Helvetica Neue"/>
                <a:cs typeface="Helvetica Neue"/>
              </a:defRPr>
            </a:defPPr>
          </a:lstStyle>
          <a:p>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a:ext uri="{FF2B5EF4-FFF2-40B4-BE49-F238E27FC236}">
                <a16:creationId xmlns:a16="http://schemas.microsoft.com/office/drawing/2014/main" id="{D8C682C3-FB27-45C7-9DD3-12C2E8E52A0D}"/>
              </a:ext>
            </a:extLst>
          </p:cNvPr>
          <p:cNvSpPr>
            <a:spLocks noGrp="1"/>
          </p:cNvSpPr>
          <p:nvPr/>
        </p:nvSpPr>
        <p:spPr>
          <a:xfrm>
            <a:off x="8429625" y="4171950"/>
            <a:ext cx="3267075" cy="647700"/>
          </a:xfrm>
          <a:prstGeom prst="rect">
            <a:avLst/>
          </a:prstGeom>
          <a:noFill/>
          <a:ln w="0">
            <a:noFill/>
            <a:prstDash val="solid"/>
          </a:ln>
        </p:spPr>
        <p:txBody>
          <a:bodyPr wrap="square" lIns="0" tIns="0" rIns="0" bIns="0" anchor="t">
            <a:noAutofit/>
          </a:bodyPr>
          <a:lstStyle>
            <a:defPPr algn="ctr">
              <a:defRPr sz="2100" b="1">
                <a:solidFill>
                  <a:srgbClr val="236C4E"/>
                </a:solidFill>
                <a:latin typeface="Helvetica Neue"/>
                <a:ea typeface="Helvetica Neue"/>
                <a:cs typeface="Helvetica Neue"/>
              </a:defRPr>
            </a:defPPr>
          </a:lstStyle>
          <a:p>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a:ext uri="{FF2B5EF4-FFF2-40B4-BE49-F238E27FC236}">
                <a16:creationId xmlns:a16="http://schemas.microsoft.com/office/drawing/2014/main" id="{9DA05B9F-2AE2-4577-8F47-50D875FC15C5}"/>
              </a:ext>
            </a:extLst>
          </p:cNvPr>
          <p:cNvSpPr>
            <a:spLocks noGrp="1"/>
          </p:cNvSpPr>
          <p:nvPr/>
        </p:nvSpPr>
        <p:spPr>
          <a:xfrm>
            <a:off x="4295775" y="4124325"/>
            <a:ext cx="3171825" cy="723900"/>
          </a:xfrm>
          <a:prstGeom prst="rect">
            <a:avLst/>
          </a:prstGeom>
          <a:noFill/>
          <a:ln w="0">
            <a:noFill/>
            <a:prstDash val="solid"/>
          </a:ln>
        </p:spPr>
        <p:txBody>
          <a:bodyPr wrap="square" lIns="0" tIns="0" rIns="0" bIns="0" anchor="t">
            <a:noAutofit/>
          </a:bodyPr>
          <a:lstStyle>
            <a:defPPr algn="ctr">
              <a:defRPr sz="1875" b="1">
                <a:solidFill>
                  <a:srgbClr val="193C32"/>
                </a:solidFill>
                <a:latin typeface="Helvetica Neue"/>
                <a:ea typeface="Helvetica Neue"/>
                <a:cs typeface="Helvetica Neue"/>
              </a:defRPr>
            </a:defPPr>
          </a:lstStyle>
          <a:p>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a:ext uri="{FF2B5EF4-FFF2-40B4-BE49-F238E27FC236}">
                <a16:creationId xmlns:a16="http://schemas.microsoft.com/office/drawing/2014/main" id="{E3B4DB50-D0D0-4E6D-874A-FBCC20F6A1F3}"/>
              </a:ext>
            </a:extLst>
          </p:cNvPr>
          <p:cNvSpPr>
            <a:spLocks noGrp="1"/>
          </p:cNvSpPr>
          <p:nvPr/>
        </p:nvSpPr>
        <p:spPr>
          <a:xfrm>
            <a:off x="4295775" y="5219700"/>
            <a:ext cx="7400925" cy="600075"/>
          </a:xfrm>
          <a:prstGeom prst="rect">
            <a:avLst/>
          </a:prstGeom>
          <a:noFill/>
          <a:ln w="0">
            <a:noFill/>
            <a:prstDash val="solid"/>
          </a:ln>
        </p:spPr>
        <p:txBody>
          <a:bodyPr wrap="square" lIns="0" tIns="0" rIns="0" bIns="0" anchor="t">
            <a:noAutofit/>
          </a:bodyPr>
          <a:lstStyle>
            <a:defPPr algn="l">
              <a:defRPr sz="1875" b="1">
                <a:solidFill>
                  <a:srgbClr val="236C4E"/>
                </a:solidFill>
                <a:latin typeface="Helvetica Neue"/>
                <a:ea typeface="Helvetica Neue"/>
                <a:cs typeface="Helvetica Neue"/>
              </a:defRPr>
            </a:defPPr>
          </a:lstStyle>
          <a:p>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a:ext uri="{FF2B5EF4-FFF2-40B4-BE49-F238E27FC236}">
                <a16:creationId xmlns:a16="http://schemas.microsoft.com/office/drawing/2014/main" id="{DDCB9C01-99BC-4627-A8E9-CB047DB5BA0F}"/>
              </a:ext>
            </a:extLst>
          </p:cNvPr>
          <p:cNvSpPr>
            <a:spLocks noGrp="1"/>
          </p:cNvSpPr>
          <p:nvPr/>
        </p:nvSpPr>
        <p:spPr>
          <a:xfrm>
            <a:off x="495300" y="5994026"/>
            <a:ext cx="11201400" cy="209550"/>
          </a:xfrm>
          <a:prstGeom prst="rect">
            <a:avLst/>
          </a:prstGeom>
          <a:noFill/>
          <a:ln w="0">
            <a:noFill/>
            <a:prstDash val="solid"/>
          </a:ln>
        </p:spPr>
        <p:txBody>
          <a:bodyPr wrap="square" lIns="0" tIns="0" rIns="0" bIns="0" anchor="t">
            <a:noAutofit/>
          </a:bodyPr>
          <a:lstStyle>
            <a:defPPr algn="l">
              <a:defRPr sz="1200" b="1">
                <a:solidFill>
                  <a:srgbClr val="236C4E"/>
                </a:solidFill>
                <a:latin typeface="Helvetica Neue"/>
                <a:ea typeface="Helvetica Neue"/>
                <a:cs typeface="Helvetica Neue"/>
              </a:defRPr>
            </a:defPPr>
          </a:lstStyle>
          <a:p>
            <a:pPr algn="l">
              <a:buNone/>
              <a:defRPr sz="1200" b="1">
                <a:solidFill>
                  <a:srgbClr val="236C4E"/>
                </a:solidFill>
                <a:latin typeface="Helvetica Neue"/>
                <a:ea typeface="Helvetica Neue"/>
                <a:cs typeface="Helvetica Neue"/>
              </a:defRPr>
            </a:pPr>
            <a:r>
              <a:rPr sz="1200" b="1" dirty="0">
                <a:solidFill>
                  <a:srgbClr val="236C4E"/>
                </a:solidFill>
                <a:latin typeface="Helvetica Neue"/>
                <a:ea typeface="Helvetica Neue"/>
                <a:cs typeface="Helvetica Neue"/>
              </a:rPr>
              <a:t>REVENUE MODEL</a:t>
            </a:r>
          </a:p>
        </p:txBody>
      </p:sp>
      <p:sp>
        <p:nvSpPr>
          <p:cNvPr id="20" name="v27-text-22">
            <a:extLst>
              <a:ext uri="{FF2B5EF4-FFF2-40B4-BE49-F238E27FC236}">
                <a16:creationId xmlns:a16="http://schemas.microsoft.com/office/drawing/2014/main" id="{0522C01E-D05D-4CA4-9C25-943BC026B5AF}"/>
              </a:ext>
            </a:extLst>
          </p:cNvPr>
          <p:cNvSpPr>
            <a:spLocks noGrp="1"/>
          </p:cNvSpPr>
          <p:nvPr/>
        </p:nvSpPr>
        <p:spPr>
          <a:xfrm>
            <a:off x="495300" y="6222626"/>
            <a:ext cx="11201400" cy="495300"/>
          </a:xfrm>
          <a:prstGeom prst="rect">
            <a:avLst/>
          </a:prstGeom>
          <a:noFill/>
          <a:ln w="0">
            <a:noFill/>
            <a:prstDash val="solid"/>
          </a:ln>
        </p:spPr>
        <p:txBody>
          <a:bodyPr wrap="square" lIns="0" tIns="0" rIns="0" bIns="0" anchor="t">
            <a:noAutofit/>
          </a:bodyPr>
          <a:lstStyle>
            <a:defPPr algn="l">
              <a:defRPr sz="1575" b="0">
                <a:solidFill>
                  <a:srgbClr val="103D3B"/>
                </a:solidFill>
                <a:latin typeface="Helvetica Neue"/>
                <a:ea typeface="Helvetica Neue"/>
                <a:cs typeface="Helvetica Neue"/>
              </a:defRPr>
            </a:defPPr>
          </a:lstStyle>
          <a:p>
            <a:pPr algn="l">
              <a:buNone/>
              <a:defRPr sz="1575" b="0">
                <a:solidFill>
                  <a:srgbClr val="103D3B"/>
                </a:solidFill>
                <a:latin typeface="Helvetica Neue"/>
                <a:ea typeface="Helvetica Neue"/>
                <a:cs typeface="Helvetica Neue"/>
              </a:defRPr>
            </a:pPr>
            <a:r>
              <a:rPr sz="1575" b="0" dirty="0">
                <a:solidFill>
                  <a:srgbClr val="103D3B"/>
                </a:solidFill>
                <a:latin typeface="Helvetica Neue"/>
                <a:ea typeface="Helvetica Neue"/>
                <a:cs typeface="Helvetica Neue"/>
              </a:rPr>
              <a:t>Businesses pay 10% of the booking amount.</a:t>
            </a:r>
            <a:r>
              <a:rPr lang="en-US" sz="1575" b="0" dirty="0">
                <a:solidFill>
                  <a:srgbClr val="103D3B"/>
                </a:solidFill>
                <a:latin typeface="Helvetica Neue"/>
                <a:ea typeface="Helvetica Neue"/>
                <a:cs typeface="Helvetica Neue"/>
              </a:rPr>
              <a:t> </a:t>
            </a:r>
            <a:r>
              <a:rPr sz="1575" b="0" dirty="0">
                <a:solidFill>
                  <a:srgbClr val="103D3B"/>
                </a:solidFill>
                <a:latin typeface="Helvetica Neue"/>
                <a:ea typeface="Helvetica Neue"/>
                <a:cs typeface="Helvetica Neue"/>
              </a:rPr>
              <a:t>That 10% fee is shared between GoLocal and software or channel partners.</a:t>
            </a:r>
          </a:p>
        </p:txBody>
      </p:sp>
      <p:sp>
        <p:nvSpPr>
          <p:cNvPr id="22" name="v27-text-24">
            <a:extLst>
              <a:ext uri="{FF2B5EF4-FFF2-40B4-BE49-F238E27FC236}">
                <a16:creationId xmlns:a16="http://schemas.microsoft.com/office/drawing/2014/main" id="{5FEF83CC-D718-44D3-B7C7-D7399EFDA53A}"/>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65746C"/>
                </a:solidFill>
                <a:latin typeface="Helvetica Neue"/>
                <a:ea typeface="Helvetica Neue"/>
                <a:cs typeface="Helvetica Neue"/>
              </a:defRPr>
            </a:defPPr>
          </a:lstStyle>
          <a:p>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cxnSp>
        <p:nvCxnSpPr>
          <p:cNvPr id="25" name="Straight Connector 24">
            <a:extLst>
              <a:ext uri="{FF2B5EF4-FFF2-40B4-BE49-F238E27FC236}">
                <a16:creationId xmlns:a16="http://schemas.microsoft.com/office/drawing/2014/main" id="{3D4BEA1F-B2CA-EA71-8ECC-AD4D4EBF875F}"/>
              </a:ext>
            </a:extLst>
          </p:cNvPr>
          <p:cNvCxnSpPr>
            <a:cxnSpLocks/>
          </p:cNvCxnSpPr>
          <p:nvPr/>
        </p:nvCxnSpPr>
        <p:spPr>
          <a:xfrm>
            <a:off x="3833132" y="2130879"/>
            <a:ext cx="0" cy="3816000"/>
          </a:xfrm>
          <a:prstGeom prst="line">
            <a:avLst/>
          </a:prstGeom>
          <a:ln w="28575"/>
        </p:spPr>
        <p:style>
          <a:lnRef idx="2">
            <a:schemeClr val="accent3"/>
          </a:lnRef>
          <a:fillRef idx="0">
            <a:schemeClr val="accent3"/>
          </a:fillRef>
          <a:effectRef idx="1">
            <a:schemeClr val="accent3"/>
          </a:effectRef>
          <a:fontRef idx="minor">
            <a:schemeClr val="tx1"/>
          </a:fontRef>
        </p:style>
      </p:cxnSp>
      <p:cxnSp>
        <p:nvCxnSpPr>
          <p:cNvPr id="29" name="Straight Arrow Connector 28">
            <a:extLst>
              <a:ext uri="{FF2B5EF4-FFF2-40B4-BE49-F238E27FC236}">
                <a16:creationId xmlns:a16="http://schemas.microsoft.com/office/drawing/2014/main" id="{C66D891C-DA19-509C-4BAF-EC1A951B5F9B}"/>
              </a:ext>
            </a:extLst>
          </p:cNvPr>
          <p:cNvCxnSpPr>
            <a:cxnSpLocks/>
          </p:cNvCxnSpPr>
          <p:nvPr/>
        </p:nvCxnSpPr>
        <p:spPr>
          <a:xfrm>
            <a:off x="2003612" y="3554506"/>
            <a:ext cx="0" cy="33337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76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3D3B"/>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AD38230A-7D1A-4612-BC10-063B75563388}"/>
              </a:ext>
            </a:extLst>
          </p:cNvPr>
          <p:cNvCxnSpPr>
            <a:stCxn id="12" idx="3"/>
            <a:endCxn id="13" idx="1"/>
          </p:cNvCxnSpPr>
          <p:nvPr/>
        </p:nvCxnSpPr>
        <p:spPr>
          <a:xfrm>
            <a:off x="7572375" y="5943600"/>
            <a:ext cx="885825" cy="0"/>
          </a:xfrm>
          <a:prstGeom prst="straightConnector1">
            <a:avLst/>
          </a:prstGeom>
          <a:ln w="19050">
            <a:solidFill>
              <a:srgbClr val="BDCCAD"/>
            </a:solidFill>
            <a:prstDash val="solid"/>
            <a:tailEnd type="arrow" w="sm" len="sm"/>
          </a:ln>
        </p:spPr>
      </p:cxnSp>
      <p:cxnSp>
        <p:nvCxnSpPr>
          <p:cNvPr id="14" name="Straight Arrow Connector 13">
            <a:extLst>
              <a:ext uri="{FF2B5EF4-FFF2-40B4-BE49-F238E27FC236}">
                <a16:creationId xmlns:a16="http://schemas.microsoft.com/office/drawing/2014/main" id="{C049D60C-DF8A-45C4-A92D-0CB858BD6B14}"/>
              </a:ext>
            </a:extLst>
          </p:cNvPr>
          <p:cNvCxnSpPr>
            <a:stCxn id="11" idx="3"/>
            <a:endCxn id="12" idx="1"/>
          </p:cNvCxnSpPr>
          <p:nvPr/>
        </p:nvCxnSpPr>
        <p:spPr>
          <a:xfrm>
            <a:off x="3448050" y="5943600"/>
            <a:ext cx="914400" cy="0"/>
          </a:xfrm>
          <a:prstGeom prst="straightConnector1">
            <a:avLst/>
          </a:prstGeom>
          <a:ln w="19050">
            <a:solidFill>
              <a:srgbClr val="BDCCAD"/>
            </a:solidFill>
            <a:prstDash val="solid"/>
            <a:tailEnd type="arrow" w="sm" len="sm"/>
          </a:ln>
        </p:spPr>
      </p:cxnSp>
      <p:sp>
        <p:nvSpPr>
          <p:cNvPr id="18" name="v27-text-25">
            <a:extLst>
              <a:ext uri="{FF2B5EF4-FFF2-40B4-BE49-F238E27FC236}">
                <a16:creationId xmlns:a16="http://schemas.microsoft.com/office/drawing/2014/main" id="{8CDEA6FE-6022-4A89-85B7-85384BBD90F2}"/>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lgn="l">
              <a:defRPr sz="1275" b="1">
                <a:solidFill>
                  <a:srgbClr val="BDCCAD"/>
                </a:solidFill>
                <a:latin typeface="Helvetica Neue"/>
                <a:ea typeface="Helvetica Neue"/>
                <a:cs typeface="Helvetica Neue"/>
              </a:defRPr>
            </a:defPPr>
          </a:lstStyle>
          <a:p>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a:ext uri="{FF2B5EF4-FFF2-40B4-BE49-F238E27FC236}">
                <a16:creationId xmlns:a16="http://schemas.microsoft.com/office/drawing/2014/main" id="{B30EE2F4-AA61-4FD3-B96E-3D2DCEE5947A}"/>
              </a:ext>
            </a:extLst>
          </p:cNvPr>
          <p:cNvSpPr>
            <a:spLocks noGrp="1"/>
          </p:cNvSpPr>
          <p:nvPr/>
        </p:nvSpPr>
        <p:spPr>
          <a:xfrm>
            <a:off x="495300" y="619125"/>
            <a:ext cx="11201400" cy="600075"/>
          </a:xfrm>
          <a:prstGeom prst="rect">
            <a:avLst/>
          </a:prstGeom>
          <a:noFill/>
          <a:ln w="0">
            <a:noFill/>
            <a:prstDash val="solid"/>
          </a:ln>
        </p:spPr>
        <p:txBody>
          <a:bodyPr wrap="square" lIns="0" tIns="0" rIns="0" bIns="0" anchor="t">
            <a:noAutofit/>
          </a:bodyPr>
          <a:lstStyle>
            <a:defPPr algn="l">
              <a:defRPr sz="3300" b="1">
                <a:solidFill>
                  <a:srgbClr val="F5F2E9"/>
                </a:solidFill>
                <a:latin typeface="Helvetica Neue"/>
                <a:ea typeface="Helvetica Neue"/>
                <a:cs typeface="Helvetica Neue"/>
              </a:defRPr>
            </a:defPPr>
          </a:lstStyle>
          <a:p>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a:ext uri="{FF2B5EF4-FFF2-40B4-BE49-F238E27FC236}">
                <a16:creationId xmlns:a16="http://schemas.microsoft.com/office/drawing/2014/main" id="{68333EAB-847D-41F6-B55B-E9CE4227D4E8}"/>
              </a:ext>
            </a:extLst>
          </p:cNvPr>
          <p:cNvSpPr>
            <a:spLocks noGrp="1"/>
          </p:cNvSpPr>
          <p:nvPr/>
        </p:nvSpPr>
        <p:spPr>
          <a:xfrm>
            <a:off x="495300" y="1343025"/>
            <a:ext cx="11201400" cy="438150"/>
          </a:xfrm>
          <a:prstGeom prst="rect">
            <a:avLst/>
          </a:prstGeom>
          <a:noFill/>
          <a:ln w="0">
            <a:noFill/>
            <a:prstDash val="solid"/>
          </a:ln>
        </p:spPr>
        <p:txBody>
          <a:bodyPr wrap="square" lIns="0" tIns="0" rIns="0" bIns="0" anchor="t">
            <a:noAutofit/>
          </a:bodyPr>
          <a:lstStyle>
            <a:defPPr algn="l">
              <a:defRPr sz="2025" b="0">
                <a:solidFill>
                  <a:srgbClr val="F5F2E9"/>
                </a:solidFill>
                <a:latin typeface="Helvetica Neue"/>
                <a:ea typeface="Helvetica Neue"/>
                <a:cs typeface="Helvetica Neue"/>
              </a:defRPr>
            </a:defPPr>
          </a:lstStyle>
          <a:p>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a:ext uri="{FF2B5EF4-FFF2-40B4-BE49-F238E27FC236}">
                <a16:creationId xmlns:a16="http://schemas.microsoft.com/office/drawing/2014/main" id="{F2B4C196-67E2-4BFC-9EE2-4381623CBCEF}"/>
              </a:ext>
            </a:extLst>
          </p:cNvPr>
          <p:cNvSpPr>
            <a:spLocks noGrp="1"/>
          </p:cNvSpPr>
          <p:nvPr/>
        </p:nvSpPr>
        <p:spPr>
          <a:xfrm>
            <a:off x="495300" y="2076450"/>
            <a:ext cx="4857750" cy="1104900"/>
          </a:xfrm>
          <a:prstGeom prst="rect">
            <a:avLst/>
          </a:prstGeom>
          <a:noFill/>
          <a:ln w="0">
            <a:noFill/>
            <a:prstDash val="solid"/>
          </a:ln>
        </p:spPr>
        <p:txBody>
          <a:bodyPr wrap="square" lIns="0" tIns="0" rIns="0" bIns="0" anchor="t">
            <a:noAutofit/>
          </a:bodyPr>
          <a:lstStyle>
            <a:defPPr algn="l">
              <a:defRPr sz="7650" b="1">
                <a:solidFill>
                  <a:srgbClr val="F5F2E9"/>
                </a:solidFill>
                <a:latin typeface="Helvetica Neue"/>
                <a:ea typeface="Helvetica Neue"/>
                <a:cs typeface="Helvetica Neue"/>
              </a:defRPr>
            </a:defPPr>
          </a:lstStyle>
          <a:p>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a:ext uri="{FF2B5EF4-FFF2-40B4-BE49-F238E27FC236}">
                <a16:creationId xmlns:a16="http://schemas.microsoft.com/office/drawing/2014/main" id="{9CC75DF1-7295-4137-AEC4-7E0CC4FEB9DE}"/>
              </a:ext>
            </a:extLst>
          </p:cNvPr>
          <p:cNvSpPr>
            <a:spLocks noGrp="1"/>
          </p:cNvSpPr>
          <p:nvPr/>
        </p:nvSpPr>
        <p:spPr>
          <a:xfrm>
            <a:off x="495300" y="3257550"/>
            <a:ext cx="4857750" cy="409575"/>
          </a:xfrm>
          <a:prstGeom prst="rect">
            <a:avLst/>
          </a:prstGeom>
          <a:noFill/>
          <a:ln w="0">
            <a:noFill/>
            <a:prstDash val="solid"/>
          </a:ln>
        </p:spPr>
        <p:txBody>
          <a:bodyPr wrap="square" lIns="0" tIns="0" rIns="0" bIns="0" anchor="t">
            <a:noAutofit/>
          </a:bodyPr>
          <a:lstStyle>
            <a:defPPr algn="l">
              <a:defRPr sz="2550" b="1">
                <a:solidFill>
                  <a:srgbClr val="F5F2E9"/>
                </a:solidFill>
                <a:latin typeface="Helvetica Neue"/>
                <a:ea typeface="Helvetica Neue"/>
                <a:cs typeface="Helvetica Neue"/>
              </a:defRPr>
            </a:defPPr>
          </a:lstStyle>
          <a:p>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a:ext uri="{FF2B5EF4-FFF2-40B4-BE49-F238E27FC236}">
                <a16:creationId xmlns:a16="http://schemas.microsoft.com/office/drawing/2014/main" id="{8170CF0F-AA38-4196-999E-4DAFE6288CA0}"/>
              </a:ext>
            </a:extLst>
          </p:cNvPr>
          <p:cNvSpPr>
            <a:spLocks noGrp="1"/>
          </p:cNvSpPr>
          <p:nvPr/>
        </p:nvSpPr>
        <p:spPr>
          <a:xfrm>
            <a:off x="495300" y="3800475"/>
            <a:ext cx="4857750" cy="733425"/>
          </a:xfrm>
          <a:prstGeom prst="rect">
            <a:avLst/>
          </a:prstGeom>
          <a:noFill/>
          <a:ln w="0">
            <a:noFill/>
            <a:prstDash val="solid"/>
          </a:ln>
        </p:spPr>
        <p:txBody>
          <a:bodyPr wrap="square" lIns="0" tIns="0" rIns="0" bIns="0" anchor="t">
            <a:noAutofit/>
          </a:bodyPr>
          <a:lstStyle>
            <a:defPPr algn="l">
              <a:defRPr sz="2100" b="0">
                <a:solidFill>
                  <a:srgbClr val="F5F2E9"/>
                </a:solidFill>
                <a:latin typeface="Helvetica Neue"/>
                <a:ea typeface="Helvetica Neue"/>
                <a:cs typeface="Helvetica Neue"/>
              </a:defRPr>
            </a:defPPr>
          </a:lstStyle>
          <a:p>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a:ext uri="{FF2B5EF4-FFF2-40B4-BE49-F238E27FC236}">
                <a16:creationId xmlns:a16="http://schemas.microsoft.com/office/drawing/2014/main" id="{E9E0E8FA-C44E-42A0-B4E6-C2D30B1C2FDC}"/>
              </a:ext>
            </a:extLst>
          </p:cNvPr>
          <p:cNvSpPr>
            <a:spLocks noGrp="1"/>
          </p:cNvSpPr>
          <p:nvPr/>
        </p:nvSpPr>
        <p:spPr>
          <a:xfrm>
            <a:off x="6553200" y="2076450"/>
            <a:ext cx="5143500" cy="1104900"/>
          </a:xfrm>
          <a:prstGeom prst="rect">
            <a:avLst/>
          </a:prstGeom>
          <a:noFill/>
          <a:ln w="0">
            <a:noFill/>
            <a:prstDash val="solid"/>
          </a:ln>
        </p:spPr>
        <p:txBody>
          <a:bodyPr wrap="square" lIns="0" tIns="0" rIns="0" bIns="0" anchor="t">
            <a:noAutofit/>
          </a:bodyPr>
          <a:lstStyle>
            <a:defPPr algn="l">
              <a:defRPr sz="7650" b="1">
                <a:solidFill>
                  <a:srgbClr val="F5F2E9"/>
                </a:solidFill>
                <a:latin typeface="Helvetica Neue"/>
                <a:ea typeface="Helvetica Neue"/>
                <a:cs typeface="Helvetica Neue"/>
              </a:defRPr>
            </a:defPPr>
          </a:lstStyle>
          <a:p>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a:ext uri="{FF2B5EF4-FFF2-40B4-BE49-F238E27FC236}">
                <a16:creationId xmlns:a16="http://schemas.microsoft.com/office/drawing/2014/main" id="{4B2BABC2-6450-40EC-B70F-D11DC084AD5E}"/>
              </a:ext>
            </a:extLst>
          </p:cNvPr>
          <p:cNvSpPr>
            <a:spLocks noGrp="1"/>
          </p:cNvSpPr>
          <p:nvPr/>
        </p:nvSpPr>
        <p:spPr>
          <a:xfrm>
            <a:off x="6553200" y="3257550"/>
            <a:ext cx="5143500" cy="409575"/>
          </a:xfrm>
          <a:prstGeom prst="rect">
            <a:avLst/>
          </a:prstGeom>
          <a:noFill/>
          <a:ln w="0">
            <a:noFill/>
            <a:prstDash val="solid"/>
          </a:ln>
        </p:spPr>
        <p:txBody>
          <a:bodyPr wrap="square" lIns="0" tIns="0" rIns="0" bIns="0" anchor="t">
            <a:noAutofit/>
          </a:bodyPr>
          <a:lstStyle>
            <a:defPPr algn="l">
              <a:defRPr sz="2550" b="1">
                <a:solidFill>
                  <a:srgbClr val="F5F2E9"/>
                </a:solidFill>
                <a:latin typeface="Helvetica Neue"/>
                <a:ea typeface="Helvetica Neue"/>
                <a:cs typeface="Helvetica Neue"/>
              </a:defRPr>
            </a:defPPr>
          </a:lstStyle>
          <a:p>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a:ext uri="{FF2B5EF4-FFF2-40B4-BE49-F238E27FC236}">
                <a16:creationId xmlns:a16="http://schemas.microsoft.com/office/drawing/2014/main" id="{4711A170-9F96-486F-B1B1-ADEC38729566}"/>
              </a:ext>
            </a:extLst>
          </p:cNvPr>
          <p:cNvSpPr>
            <a:spLocks noGrp="1"/>
          </p:cNvSpPr>
          <p:nvPr/>
        </p:nvSpPr>
        <p:spPr>
          <a:xfrm>
            <a:off x="6553200" y="3800475"/>
            <a:ext cx="5143500" cy="733425"/>
          </a:xfrm>
          <a:prstGeom prst="rect">
            <a:avLst/>
          </a:prstGeom>
          <a:noFill/>
          <a:ln w="0">
            <a:noFill/>
            <a:prstDash val="solid"/>
          </a:ln>
        </p:spPr>
        <p:txBody>
          <a:bodyPr wrap="square" lIns="0" tIns="0" rIns="0" bIns="0" anchor="t">
            <a:noAutofit/>
          </a:bodyPr>
          <a:lstStyle>
            <a:defPPr algn="l">
              <a:defRPr sz="2025" b="0">
                <a:solidFill>
                  <a:srgbClr val="F5F2E9"/>
                </a:solidFill>
                <a:latin typeface="Helvetica Neue"/>
                <a:ea typeface="Helvetica Neue"/>
                <a:cs typeface="Helvetica Neue"/>
              </a:defRPr>
            </a:defPPr>
          </a:lstStyle>
          <a:p>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a:ext uri="{FF2B5EF4-FFF2-40B4-BE49-F238E27FC236}">
                <a16:creationId xmlns:a16="http://schemas.microsoft.com/office/drawing/2014/main" id="{F1697D3A-CDEE-4E34-B96E-50E20D79BF32}"/>
              </a:ext>
            </a:extLst>
          </p:cNvPr>
          <p:cNvSpPr>
            <a:spLocks noGrp="1"/>
          </p:cNvSpPr>
          <p:nvPr/>
        </p:nvSpPr>
        <p:spPr>
          <a:xfrm>
            <a:off x="495300" y="4914900"/>
            <a:ext cx="11201400" cy="438150"/>
          </a:xfrm>
          <a:prstGeom prst="rect">
            <a:avLst/>
          </a:prstGeom>
          <a:noFill/>
          <a:ln w="0">
            <a:noFill/>
            <a:prstDash val="solid"/>
          </a:ln>
        </p:spPr>
        <p:txBody>
          <a:bodyPr wrap="square" lIns="0" tIns="0" rIns="0" bIns="0" anchor="t">
            <a:noAutofit/>
          </a:bodyPr>
          <a:lstStyle>
            <a:defPPr algn="l">
              <a:defRPr sz="2325" b="1">
                <a:solidFill>
                  <a:srgbClr val="F5F2E9"/>
                </a:solidFill>
                <a:latin typeface="Helvetica Neue"/>
                <a:ea typeface="Helvetica Neue"/>
                <a:cs typeface="Helvetica Neue"/>
              </a:defRPr>
            </a:defPPr>
          </a:lstStyle>
          <a:p>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a:ext uri="{FF2B5EF4-FFF2-40B4-BE49-F238E27FC236}">
                <a16:creationId xmlns:a16="http://schemas.microsoft.com/office/drawing/2014/main" id="{383220E3-CB4C-40A8-BC8E-40D2C06DF114}"/>
              </a:ext>
            </a:extLst>
          </p:cNvPr>
          <p:cNvSpPr>
            <a:spLocks noGrp="1"/>
          </p:cNvSpPr>
          <p:nvPr/>
        </p:nvSpPr>
        <p:spPr>
          <a:xfrm>
            <a:off x="495300" y="5648325"/>
            <a:ext cx="2952750" cy="590550"/>
          </a:xfrm>
          <a:prstGeom prst="rect">
            <a:avLst/>
          </a:prstGeom>
          <a:noFill/>
          <a:ln w="0">
            <a:noFill/>
            <a:prstDash val="solid"/>
          </a:ln>
        </p:spPr>
        <p:txBody>
          <a:bodyPr wrap="square" lIns="0" tIns="0" rIns="0" bIns="0" anchor="t">
            <a:noAutofit/>
          </a:bodyPr>
          <a:lstStyle>
            <a:defPPr algn="l">
              <a:defRPr sz="1950" b="1">
                <a:solidFill>
                  <a:srgbClr val="F5F2E9"/>
                </a:solidFill>
                <a:latin typeface="Helvetica Neue"/>
                <a:ea typeface="Helvetica Neue"/>
                <a:cs typeface="Helvetica Neue"/>
              </a:defRPr>
            </a:defPPr>
          </a:lstStyle>
          <a:p>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a:ext uri="{FF2B5EF4-FFF2-40B4-BE49-F238E27FC236}">
                <a16:creationId xmlns:a16="http://schemas.microsoft.com/office/drawing/2014/main" id="{6341BF38-1761-4079-BC8F-8130D8D93DBC}"/>
              </a:ext>
            </a:extLst>
          </p:cNvPr>
          <p:cNvSpPr>
            <a:spLocks noGrp="1"/>
          </p:cNvSpPr>
          <p:nvPr/>
        </p:nvSpPr>
        <p:spPr>
          <a:xfrm>
            <a:off x="4362450" y="5648325"/>
            <a:ext cx="3209925" cy="590550"/>
          </a:xfrm>
          <a:prstGeom prst="rect">
            <a:avLst/>
          </a:prstGeom>
          <a:noFill/>
          <a:ln w="0">
            <a:noFill/>
            <a:prstDash val="solid"/>
          </a:ln>
        </p:spPr>
        <p:txBody>
          <a:bodyPr wrap="square" lIns="0" tIns="0" rIns="0" bIns="0" anchor="t">
            <a:noAutofit/>
          </a:bodyPr>
          <a:lstStyle>
            <a:defPPr algn="l">
              <a:defRPr sz="1950" b="1">
                <a:solidFill>
                  <a:srgbClr val="F5F2E9"/>
                </a:solidFill>
                <a:latin typeface="Helvetica Neue"/>
                <a:ea typeface="Helvetica Neue"/>
                <a:cs typeface="Helvetica Neue"/>
              </a:defRPr>
            </a:defPPr>
          </a:lstStyle>
          <a:p>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a:ext uri="{FF2B5EF4-FFF2-40B4-BE49-F238E27FC236}">
                <a16:creationId xmlns:a16="http://schemas.microsoft.com/office/drawing/2014/main" id="{D4322935-603A-4E67-84FC-D6251CC32E27}"/>
              </a:ext>
            </a:extLst>
          </p:cNvPr>
          <p:cNvSpPr>
            <a:spLocks noGrp="1"/>
          </p:cNvSpPr>
          <p:nvPr/>
        </p:nvSpPr>
        <p:spPr>
          <a:xfrm>
            <a:off x="8458200" y="5648325"/>
            <a:ext cx="3238500" cy="590550"/>
          </a:xfrm>
          <a:prstGeom prst="rect">
            <a:avLst/>
          </a:prstGeom>
          <a:noFill/>
          <a:ln w="0">
            <a:noFill/>
            <a:prstDash val="solid"/>
          </a:ln>
        </p:spPr>
        <p:txBody>
          <a:bodyPr wrap="square" lIns="0" tIns="0" rIns="0" bIns="0" anchor="t">
            <a:noAutofit/>
          </a:bodyPr>
          <a:lstStyle>
            <a:defPPr algn="l">
              <a:defRPr sz="1950" b="1">
                <a:solidFill>
                  <a:srgbClr val="F5F2E9"/>
                </a:solidFill>
                <a:latin typeface="Helvetica Neue"/>
                <a:ea typeface="Helvetica Neue"/>
                <a:cs typeface="Helvetica Neue"/>
              </a:defRPr>
            </a:defPPr>
          </a:lstStyle>
          <a:p>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7" name="v27-text-39">
            <a:extLst>
              <a:ext uri="{FF2B5EF4-FFF2-40B4-BE49-F238E27FC236}">
                <a16:creationId xmlns:a16="http://schemas.microsoft.com/office/drawing/2014/main" id="{55AFBA45-A988-4AA9-9E76-851EFE96F695}"/>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F5F2E9"/>
                </a:solidFill>
                <a:latin typeface="Helvetica Neue"/>
                <a:ea typeface="Helvetica Neue"/>
                <a:cs typeface="Helvetica Neue"/>
              </a:defRPr>
            </a:defPPr>
          </a:lstStyle>
          <a:p>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9"/>
        </a:solidFill>
        <a:effectLst/>
      </p:bgPr>
    </p:bg>
    <p:spTree>
      <p:nvGrpSpPr>
        <p:cNvPr id="1" name=""/>
        <p:cNvGrpSpPr/>
        <p:nvPr/>
      </p:nvGrpSpPr>
      <p:grpSpPr>
        <a:xfrm>
          <a:off x="0" y="0"/>
          <a:ext cx="0" cy="0"/>
          <a:chOff x="0" y="0"/>
          <a:chExt cx="0" cy="0"/>
        </a:xfrm>
      </p:grpSpPr>
      <p:sp>
        <p:nvSpPr>
          <p:cNvPr id="20" name="team-premium-0">
            <a:extLst>
              <a:ext uri="{FF2B5EF4-FFF2-40B4-BE49-F238E27FC236}">
                <a16:creationId xmlns:a16="http://schemas.microsoft.com/office/drawing/2014/main" id="{FE086505-BCA8-42A1-A449-4AA38B3E9D34}"/>
              </a:ext>
            </a:extLst>
          </p:cNvPr>
          <p:cNvSpPr>
            <a:spLocks noGrp="1"/>
          </p:cNvSpPr>
          <p:nvPr/>
        </p:nvSpPr>
        <p:spPr>
          <a:xfrm>
            <a:off x="495300" y="257175"/>
            <a:ext cx="11201400" cy="238125"/>
          </a:xfrm>
          <a:prstGeom prst="rect">
            <a:avLst/>
          </a:prstGeom>
          <a:noFill/>
          <a:ln w="0">
            <a:noFill/>
            <a:prstDash val="solid"/>
          </a:ln>
        </p:spPr>
        <p:txBody>
          <a:bodyPr wrap="square" lIns="0" tIns="0" rIns="0" bIns="0" anchor="t">
            <a:noAutofit/>
          </a:bodyPr>
          <a:lstStyle>
            <a:defPPr algn="l">
              <a:defRPr sz="1275" b="1">
                <a:solidFill>
                  <a:srgbClr val="65746C"/>
                </a:solidFill>
                <a:latin typeface="Helvetica Neue"/>
                <a:ea typeface="Helvetica Neue"/>
                <a:cs typeface="Helvetica Neue"/>
              </a:defRPr>
            </a:defPPr>
          </a:lstStyle>
          <a:p>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a:ext uri="{FF2B5EF4-FFF2-40B4-BE49-F238E27FC236}">
                <a16:creationId xmlns:a16="http://schemas.microsoft.com/office/drawing/2014/main" id="{9137416B-2BE1-4055-BEEA-E988545DADB8}"/>
              </a:ext>
            </a:extLst>
          </p:cNvPr>
          <p:cNvSpPr>
            <a:spLocks noGrp="1"/>
          </p:cNvSpPr>
          <p:nvPr/>
        </p:nvSpPr>
        <p:spPr>
          <a:xfrm>
            <a:off x="495300" y="619125"/>
            <a:ext cx="11201400" cy="647700"/>
          </a:xfrm>
          <a:prstGeom prst="rect">
            <a:avLst/>
          </a:prstGeom>
          <a:noFill/>
          <a:ln w="0">
            <a:noFill/>
            <a:prstDash val="solid"/>
          </a:ln>
        </p:spPr>
        <p:txBody>
          <a:bodyPr wrap="square" lIns="0" tIns="0" rIns="0" bIns="0" anchor="t">
            <a:noAutofit/>
          </a:bodyPr>
          <a:lstStyle>
            <a:defPPr algn="l">
              <a:defRPr sz="3450" b="1">
                <a:solidFill>
                  <a:srgbClr val="193C32"/>
                </a:solidFill>
                <a:latin typeface="Helvetica Neue"/>
                <a:ea typeface="Helvetica Neue"/>
                <a:cs typeface="Helvetica Neue"/>
              </a:defRPr>
            </a:defPPr>
          </a:lstStyle>
          <a:p>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a:ext uri="{FF2B5EF4-FFF2-40B4-BE49-F238E27FC236}">
                <a16:creationId xmlns:a16="http://schemas.microsoft.com/office/drawing/2014/main" id="{E89227EC-FD2B-48DF-A21D-A41558DB49DF}"/>
              </a:ext>
            </a:extLst>
          </p:cNvPr>
          <p:cNvPicPr>
            <a:picLocks noChangeAspect="1"/>
          </p:cNvPicPr>
          <p:nvPr/>
        </p:nvPicPr>
        <p:blipFill>
          <a:blip r:embed="rId3"/>
          <a:stretch/>
        </p:blipFill>
        <p:spPr>
          <a:xfrm>
            <a:off x="495300" y="1666875"/>
            <a:ext cx="1257300" cy="1257300"/>
          </a:xfrm>
          <a:prstGeom prst="roundRect">
            <a:avLst>
              <a:gd name="adj" fmla="val 12121"/>
            </a:avLst>
          </a:prstGeom>
        </p:spPr>
      </p:pic>
      <p:pic>
        <p:nvPicPr>
          <p:cNvPr id="4" name="Picture 3">
            <a:extLst>
              <a:ext uri="{FF2B5EF4-FFF2-40B4-BE49-F238E27FC236}">
                <a16:creationId xmlns:a16="http://schemas.microsoft.com/office/drawing/2014/main" id="{F46673D9-ABCE-40F2-A063-A5EB374E19D6}"/>
              </a:ext>
            </a:extLst>
          </p:cNvPr>
          <p:cNvPicPr>
            <a:picLocks noChangeAspect="1"/>
          </p:cNvPicPr>
          <p:nvPr/>
        </p:nvPicPr>
        <p:blipFill>
          <a:blip r:embed="rId4"/>
          <a:stretch/>
        </p:blipFill>
        <p:spPr>
          <a:xfrm>
            <a:off x="6553200" y="1666875"/>
            <a:ext cx="1257300" cy="1257300"/>
          </a:xfrm>
          <a:prstGeom prst="roundRect">
            <a:avLst>
              <a:gd name="adj" fmla="val 12121"/>
            </a:avLst>
          </a:prstGeom>
        </p:spPr>
      </p:pic>
      <p:sp>
        <p:nvSpPr>
          <p:cNvPr id="5" name="team-premium-2">
            <a:extLst>
              <a:ext uri="{FF2B5EF4-FFF2-40B4-BE49-F238E27FC236}">
                <a16:creationId xmlns:a16="http://schemas.microsoft.com/office/drawing/2014/main" id="{6876597E-8A94-49AA-A5D1-9C782D39AE84}"/>
              </a:ext>
            </a:extLst>
          </p:cNvPr>
          <p:cNvSpPr>
            <a:spLocks noGrp="1"/>
          </p:cNvSpPr>
          <p:nvPr/>
        </p:nvSpPr>
        <p:spPr>
          <a:xfrm>
            <a:off x="2000250" y="1666875"/>
            <a:ext cx="2667000" cy="466725"/>
          </a:xfrm>
          <a:prstGeom prst="rect">
            <a:avLst/>
          </a:prstGeom>
          <a:noFill/>
          <a:ln w="0">
            <a:noFill/>
            <a:prstDash val="solid"/>
          </a:ln>
        </p:spPr>
        <p:txBody>
          <a:bodyPr wrap="square" lIns="0" tIns="0" rIns="0" bIns="0" anchor="t">
            <a:noAutofit/>
          </a:bodyPr>
          <a:lstStyle>
            <a:defPPr algn="l">
              <a:defRPr sz="2700" b="1">
                <a:solidFill>
                  <a:srgbClr val="193C32"/>
                </a:solidFill>
                <a:latin typeface="Helvetica Neue"/>
                <a:ea typeface="Helvetica Neue"/>
                <a:cs typeface="Helvetica Neue"/>
              </a:defRPr>
            </a:defPPr>
          </a:lstStyle>
          <a:p>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a:ext uri="{FF2B5EF4-FFF2-40B4-BE49-F238E27FC236}">
                <a16:creationId xmlns:a16="http://schemas.microsoft.com/office/drawing/2014/main" id="{9C6B3158-020C-4CA1-863B-72B584401299}"/>
              </a:ext>
            </a:extLst>
          </p:cNvPr>
          <p:cNvSpPr>
            <a:spLocks noGrp="1"/>
          </p:cNvSpPr>
          <p:nvPr/>
        </p:nvSpPr>
        <p:spPr>
          <a:xfrm>
            <a:off x="2000250" y="2152650"/>
            <a:ext cx="3810000" cy="323850"/>
          </a:xfrm>
          <a:prstGeom prst="rect">
            <a:avLst/>
          </a:prstGeom>
          <a:noFill/>
          <a:ln w="0">
            <a:noFill/>
            <a:prstDash val="solid"/>
          </a:ln>
        </p:spPr>
        <p:txBody>
          <a:bodyPr wrap="square" lIns="0" tIns="0" rIns="0" bIns="0" anchor="t">
            <a:noAutofit/>
          </a:bodyPr>
          <a:lstStyle>
            <a:defPPr algn="l">
              <a:defRPr sz="1725" b="1">
                <a:solidFill>
                  <a:srgbClr val="236C4E"/>
                </a:solidFill>
                <a:latin typeface="Helvetica Neue"/>
                <a:ea typeface="Helvetica Neue"/>
                <a:cs typeface="Helvetica Neue"/>
              </a:defRPr>
            </a:defPPr>
          </a:lstStyle>
          <a:p>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a:ext uri="{FF2B5EF4-FFF2-40B4-BE49-F238E27FC236}">
                <a16:creationId xmlns:a16="http://schemas.microsoft.com/office/drawing/2014/main" id="{2FF1F676-1DD0-4611-B3A3-B0D7011C83D2}"/>
              </a:ext>
            </a:extLst>
          </p:cNvPr>
          <p:cNvSpPr>
            <a:spLocks noGrp="1"/>
          </p:cNvSpPr>
          <p:nvPr/>
        </p:nvSpPr>
        <p:spPr>
          <a:xfrm>
            <a:off x="4905375" y="1781175"/>
            <a:ext cx="904875" cy="276225"/>
          </a:xfrm>
          <a:prstGeom prst="rect">
            <a:avLst/>
          </a:prstGeom>
          <a:noFill/>
          <a:ln w="0">
            <a:noFill/>
            <a:prstDash val="solid"/>
          </a:ln>
        </p:spPr>
        <p:txBody>
          <a:bodyPr wrap="square" lIns="0" tIns="0" rIns="0" bIns="0" anchor="t">
            <a:noAutofit/>
          </a:bodyPr>
          <a:lstStyle>
            <a:defPPr algn="l">
              <a:defRPr sz="1350" b="0">
                <a:solidFill>
                  <a:srgbClr val="65746C"/>
                </a:solidFill>
                <a:latin typeface="Helvetica Neue"/>
                <a:ea typeface="Helvetica Neue"/>
                <a:cs typeface="Helvetica Neue"/>
              </a:defRPr>
            </a:defPPr>
          </a:lstStyle>
          <a:p>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r:id="rId5"/>
              </a:rPr>
              <a:t>LinkedIn</a:t>
            </a:r>
          </a:p>
        </p:txBody>
      </p:sp>
      <p:sp>
        <p:nvSpPr>
          <p:cNvPr id="8" name="team-premium-5">
            <a:extLst>
              <a:ext uri="{FF2B5EF4-FFF2-40B4-BE49-F238E27FC236}">
                <a16:creationId xmlns:a16="http://schemas.microsoft.com/office/drawing/2014/main" id="{1AD92C3B-A22F-4FAD-976E-8B7E9098971D}"/>
              </a:ext>
            </a:extLst>
          </p:cNvPr>
          <p:cNvSpPr>
            <a:spLocks noGrp="1"/>
          </p:cNvSpPr>
          <p:nvPr/>
        </p:nvSpPr>
        <p:spPr>
          <a:xfrm>
            <a:off x="8058150" y="1666875"/>
            <a:ext cx="1952625" cy="466725"/>
          </a:xfrm>
          <a:prstGeom prst="rect">
            <a:avLst/>
          </a:prstGeom>
          <a:noFill/>
          <a:ln w="0">
            <a:noFill/>
            <a:prstDash val="solid"/>
          </a:ln>
        </p:spPr>
        <p:txBody>
          <a:bodyPr wrap="square" lIns="0" tIns="0" rIns="0" bIns="0" anchor="t">
            <a:noAutofit/>
          </a:bodyPr>
          <a:lstStyle>
            <a:defPPr algn="l">
              <a:defRPr sz="2700" b="1">
                <a:solidFill>
                  <a:srgbClr val="193C32"/>
                </a:solidFill>
                <a:latin typeface="Helvetica Neue"/>
                <a:ea typeface="Helvetica Neue"/>
                <a:cs typeface="Helvetica Neue"/>
              </a:defRPr>
            </a:defPPr>
          </a:lstStyle>
          <a:p>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a:ext uri="{FF2B5EF4-FFF2-40B4-BE49-F238E27FC236}">
                <a16:creationId xmlns:a16="http://schemas.microsoft.com/office/drawing/2014/main" id="{1CBA991C-4205-4F04-8D91-8911AF4B864B}"/>
              </a:ext>
            </a:extLst>
          </p:cNvPr>
          <p:cNvSpPr>
            <a:spLocks noGrp="1"/>
          </p:cNvSpPr>
          <p:nvPr/>
        </p:nvSpPr>
        <p:spPr>
          <a:xfrm>
            <a:off x="8058150" y="2152650"/>
            <a:ext cx="1762125" cy="323850"/>
          </a:xfrm>
          <a:prstGeom prst="rect">
            <a:avLst/>
          </a:prstGeom>
          <a:noFill/>
          <a:ln w="0">
            <a:noFill/>
            <a:prstDash val="solid"/>
          </a:ln>
        </p:spPr>
        <p:txBody>
          <a:bodyPr wrap="square" lIns="0" tIns="0" rIns="0" bIns="0" anchor="t">
            <a:noAutofit/>
          </a:bodyPr>
          <a:lstStyle>
            <a:defPPr algn="l">
              <a:defRPr sz="1800" b="1">
                <a:solidFill>
                  <a:srgbClr val="236C4E"/>
                </a:solidFill>
                <a:latin typeface="Helvetica Neue"/>
                <a:ea typeface="Helvetica Neue"/>
                <a:cs typeface="Helvetica Neue"/>
              </a:defRPr>
            </a:defPPr>
          </a:lstStyle>
          <a:p>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a:ext uri="{FF2B5EF4-FFF2-40B4-BE49-F238E27FC236}">
                <a16:creationId xmlns:a16="http://schemas.microsoft.com/office/drawing/2014/main" id="{80658FC1-CD06-49AB-A436-A48065CD7CE3}"/>
              </a:ext>
            </a:extLst>
          </p:cNvPr>
          <p:cNvSpPr>
            <a:spLocks noGrp="1"/>
          </p:cNvSpPr>
          <p:nvPr/>
        </p:nvSpPr>
        <p:spPr>
          <a:xfrm>
            <a:off x="10125075" y="1781175"/>
            <a:ext cx="1238250" cy="276225"/>
          </a:xfrm>
          <a:prstGeom prst="rect">
            <a:avLst/>
          </a:prstGeom>
          <a:noFill/>
          <a:ln w="0">
            <a:noFill/>
            <a:prstDash val="solid"/>
          </a:ln>
        </p:spPr>
        <p:txBody>
          <a:bodyPr wrap="square" lIns="0" tIns="0" rIns="0" bIns="0" anchor="t">
            <a:noAutofit/>
          </a:bodyPr>
          <a:lstStyle>
            <a:defPPr algn="l">
              <a:defRPr sz="1350" b="0">
                <a:solidFill>
                  <a:srgbClr val="65746C"/>
                </a:solidFill>
                <a:latin typeface="Helvetica Neue"/>
                <a:ea typeface="Helvetica Neue"/>
                <a:cs typeface="Helvetica Neue"/>
              </a:defRPr>
            </a:defPPr>
          </a:lstStyle>
          <a:p>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r:id="rId6"/>
              </a:rPr>
              <a:t>LinkedIn</a:t>
            </a:r>
          </a:p>
        </p:txBody>
      </p:sp>
      <p:pic>
        <p:nvPicPr>
          <p:cNvPr id="11" name="Picture 10">
            <a:extLst>
              <a:ext uri="{FF2B5EF4-FFF2-40B4-BE49-F238E27FC236}">
                <a16:creationId xmlns:a16="http://schemas.microsoft.com/office/drawing/2014/main" id="{A93717F7-23D2-403D-905F-DEEDF255446F}"/>
              </a:ext>
            </a:extLst>
          </p:cNvPr>
          <p:cNvPicPr>
            <a:picLocks noChangeAspect="1"/>
          </p:cNvPicPr>
          <p:nvPr/>
        </p:nvPicPr>
        <p:blipFill>
          <a:blip r:embed="rId7"/>
          <a:stretch/>
        </p:blipFill>
        <p:spPr>
          <a:xfrm>
            <a:off x="2000250" y="2619375"/>
            <a:ext cx="419100" cy="419100"/>
          </a:xfrm>
          <a:prstGeom prst="rect">
            <a:avLst/>
          </a:prstGeom>
        </p:spPr>
      </p:pic>
      <p:sp>
        <p:nvSpPr>
          <p:cNvPr id="12" name="team-premium-8">
            <a:extLst>
              <a:ext uri="{FF2B5EF4-FFF2-40B4-BE49-F238E27FC236}">
                <a16:creationId xmlns:a16="http://schemas.microsoft.com/office/drawing/2014/main" id="{7E3CA637-624D-4AAD-8E83-02E285C48BB3}"/>
              </a:ext>
            </a:extLst>
          </p:cNvPr>
          <p:cNvSpPr>
            <a:spLocks noGrp="1"/>
          </p:cNvSpPr>
          <p:nvPr/>
        </p:nvSpPr>
        <p:spPr>
          <a:xfrm>
            <a:off x="2571750" y="2600325"/>
            <a:ext cx="3333750" cy="561975"/>
          </a:xfrm>
          <a:prstGeom prst="rect">
            <a:avLst/>
          </a:prstGeom>
          <a:noFill/>
          <a:ln w="0">
            <a:noFill/>
            <a:prstDash val="solid"/>
          </a:ln>
        </p:spPr>
        <p:txBody>
          <a:bodyPr wrap="square" lIns="0" tIns="0" rIns="0" bIns="0" anchor="t">
            <a:noAutofit/>
          </a:bodyPr>
          <a:lstStyle>
            <a:defPPr algn="l">
              <a:defRPr sz="1575" b="0">
                <a:solidFill>
                  <a:srgbClr val="65746C"/>
                </a:solidFill>
                <a:latin typeface="Helvetica Neue"/>
                <a:ea typeface="Helvetica Neue"/>
                <a:cs typeface="Helvetica Neue"/>
              </a:defRPr>
            </a:defPPr>
          </a:lstStyle>
          <a:p>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a:ext uri="{FF2B5EF4-FFF2-40B4-BE49-F238E27FC236}">
                <a16:creationId xmlns:a16="http://schemas.microsoft.com/office/drawing/2014/main" id="{E80C627F-9113-48D2-B889-4C80DC3487C0}"/>
              </a:ext>
            </a:extLst>
          </p:cNvPr>
          <p:cNvPicPr>
            <a:picLocks noChangeAspect="1"/>
          </p:cNvPicPr>
          <p:nvPr/>
        </p:nvPicPr>
        <p:blipFill>
          <a:blip r:embed="rId8"/>
          <a:stretch/>
        </p:blipFill>
        <p:spPr>
          <a:xfrm>
            <a:off x="8058150" y="2582466"/>
            <a:ext cx="342900" cy="321469"/>
          </a:xfrm>
          <a:prstGeom prst="rect">
            <a:avLst/>
          </a:prstGeom>
        </p:spPr>
      </p:pic>
      <p:sp>
        <p:nvSpPr>
          <p:cNvPr id="14" name="team-premium-9">
            <a:extLst>
              <a:ext uri="{FF2B5EF4-FFF2-40B4-BE49-F238E27FC236}">
                <a16:creationId xmlns:a16="http://schemas.microsoft.com/office/drawing/2014/main" id="{5E028DA2-DD30-40E0-BD52-F0FD217B419C}"/>
              </a:ext>
            </a:extLst>
          </p:cNvPr>
          <p:cNvSpPr>
            <a:spLocks noGrp="1"/>
          </p:cNvSpPr>
          <p:nvPr/>
        </p:nvSpPr>
        <p:spPr>
          <a:xfrm>
            <a:off x="8553450" y="2609850"/>
            <a:ext cx="3143250" cy="32385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a:ext uri="{FF2B5EF4-FFF2-40B4-BE49-F238E27FC236}">
                <a16:creationId xmlns:a16="http://schemas.microsoft.com/office/drawing/2014/main" id="{2AF214B4-3377-471A-B1F5-BC1FCD6C5224}"/>
              </a:ext>
            </a:extLst>
          </p:cNvPr>
          <p:cNvPicPr>
            <a:picLocks noChangeAspect="1"/>
          </p:cNvPicPr>
          <p:nvPr/>
        </p:nvPicPr>
        <p:blipFill>
          <a:blip r:embed="rId9"/>
          <a:stretch/>
        </p:blipFill>
        <p:spPr>
          <a:xfrm>
            <a:off x="8058150" y="3043707"/>
            <a:ext cx="342900" cy="256237"/>
          </a:xfrm>
          <a:prstGeom prst="rect">
            <a:avLst/>
          </a:prstGeom>
        </p:spPr>
      </p:pic>
      <p:sp>
        <p:nvSpPr>
          <p:cNvPr id="16" name="team-premium-10">
            <a:extLst>
              <a:ext uri="{FF2B5EF4-FFF2-40B4-BE49-F238E27FC236}">
                <a16:creationId xmlns:a16="http://schemas.microsoft.com/office/drawing/2014/main" id="{819BCC42-91C4-4913-9152-2C5ECF6DEEC2}"/>
              </a:ext>
            </a:extLst>
          </p:cNvPr>
          <p:cNvSpPr>
            <a:spLocks noGrp="1"/>
          </p:cNvSpPr>
          <p:nvPr/>
        </p:nvSpPr>
        <p:spPr>
          <a:xfrm>
            <a:off x="8553450" y="3038475"/>
            <a:ext cx="3143250" cy="304800"/>
          </a:xfrm>
          <a:prstGeom prst="rect">
            <a:avLst/>
          </a:prstGeom>
          <a:noFill/>
          <a:ln w="0">
            <a:noFill/>
            <a:prstDash val="solid"/>
          </a:ln>
        </p:spPr>
        <p:txBody>
          <a:bodyPr wrap="square" lIns="0" tIns="0" rIns="0" bIns="0" anchor="t">
            <a:noAutofit/>
          </a:bodyPr>
          <a:lstStyle>
            <a:defPPr algn="l">
              <a:defRPr sz="1500" b="0">
                <a:solidFill>
                  <a:srgbClr val="65746C"/>
                </a:solidFill>
                <a:latin typeface="Helvetica Neue"/>
                <a:ea typeface="Helvetica Neue"/>
                <a:cs typeface="Helvetica Neue"/>
              </a:defRPr>
            </a:defPPr>
          </a:lstStyle>
          <a:p>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a:ext uri="{FF2B5EF4-FFF2-40B4-BE49-F238E27FC236}">
                <a16:creationId xmlns:a16="http://schemas.microsoft.com/office/drawing/2014/main" id="{9CD3FA75-DADB-42A0-B21B-2091DEF33B7E}"/>
              </a:ext>
            </a:extLst>
          </p:cNvPr>
          <p:cNvSpPr>
            <a:spLocks noGrp="1"/>
          </p:cNvSpPr>
          <p:nvPr/>
        </p:nvSpPr>
        <p:spPr>
          <a:xfrm>
            <a:off x="495300" y="3686175"/>
            <a:ext cx="5314950" cy="2581275"/>
          </a:xfrm>
          <a:prstGeom prst="rect">
            <a:avLst/>
          </a:prstGeom>
          <a:noFill/>
          <a:ln w="0">
            <a:noFill/>
            <a:prstDash val="solid"/>
          </a:ln>
        </p:spPr>
        <p:txBody>
          <a:bodyPr wrap="square" lIns="0" tIns="0" rIns="0" bIns="0" anchor="t">
            <a:noAutofit/>
          </a:bodyPr>
          <a:lstStyle>
            <a:defPPr algn="l">
              <a:defRPr sz="1950" b="0">
                <a:solidFill>
                  <a:srgbClr val="193C32"/>
                </a:solidFill>
                <a:latin typeface="Helvetica Neue"/>
                <a:ea typeface="Helvetica Neue"/>
                <a:cs typeface="Helvetica Neue"/>
              </a:defRPr>
            </a:defPPr>
          </a:lstStyle>
          <a:p>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a:ext uri="{FF2B5EF4-FFF2-40B4-BE49-F238E27FC236}">
                <a16:creationId xmlns:a16="http://schemas.microsoft.com/office/drawing/2014/main" id="{B74F479A-3BCE-4289-B4A2-D3F3E0BC7DCD}"/>
              </a:ext>
            </a:extLst>
          </p:cNvPr>
          <p:cNvSpPr>
            <a:spLocks noGrp="1"/>
          </p:cNvSpPr>
          <p:nvPr/>
        </p:nvSpPr>
        <p:spPr>
          <a:xfrm>
            <a:off x="6553200" y="3686175"/>
            <a:ext cx="5143500" cy="2581275"/>
          </a:xfrm>
          <a:prstGeom prst="rect">
            <a:avLst/>
          </a:prstGeom>
          <a:noFill/>
          <a:ln w="0">
            <a:noFill/>
            <a:prstDash val="solid"/>
          </a:ln>
        </p:spPr>
        <p:txBody>
          <a:bodyPr wrap="square" lIns="0" tIns="0" rIns="0" bIns="0" anchor="t">
            <a:noAutofit/>
          </a:bodyPr>
          <a:lstStyle>
            <a:defPPr algn="l">
              <a:defRPr sz="1950" b="0">
                <a:solidFill>
                  <a:srgbClr val="193C32"/>
                </a:solidFill>
                <a:latin typeface="Helvetica Neue"/>
                <a:ea typeface="Helvetica Neue"/>
                <a:cs typeface="Helvetica Neue"/>
              </a:defRPr>
            </a:defPPr>
          </a:lstStyle>
          <a:p>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a:ext uri="{FF2B5EF4-FFF2-40B4-BE49-F238E27FC236}">
                <a16:creationId xmlns:a16="http://schemas.microsoft.com/office/drawing/2014/main" id="{00C72333-1F4A-4A90-AEBE-E98E7D08609E}"/>
              </a:ext>
            </a:extLst>
          </p:cNvPr>
          <p:cNvSpPr>
            <a:spLocks noGrp="1"/>
          </p:cNvSpPr>
          <p:nvPr/>
        </p:nvSpPr>
        <p:spPr>
          <a:xfrm>
            <a:off x="11049000" y="6619875"/>
            <a:ext cx="666750" cy="200025"/>
          </a:xfrm>
          <a:prstGeom prst="rect">
            <a:avLst/>
          </a:prstGeom>
          <a:noFill/>
          <a:ln w="0">
            <a:noFill/>
            <a:prstDash val="solid"/>
          </a:ln>
        </p:spPr>
        <p:txBody>
          <a:bodyPr wrap="square" lIns="0" tIns="0" rIns="0" bIns="0" anchor="t">
            <a:noAutofit/>
          </a:bodyPr>
          <a:lstStyle>
            <a:defPPr algn="l">
              <a:defRPr sz="1275" b="0">
                <a:solidFill>
                  <a:srgbClr val="65746C"/>
                </a:solidFill>
                <a:latin typeface="Helvetica Neue"/>
                <a:ea typeface="Helvetica Neue"/>
                <a:cs typeface="Helvetica Neue"/>
              </a:defRPr>
            </a:defPPr>
          </a:lstStyle>
          <a:p>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2603</Words>
  <Application>Microsoft Macintosh PowerPoint</Application>
  <DocSecurity>0</DocSecurity>
  <PresentationFormat>Widescreen</PresentationFormat>
  <Paragraphs>220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Walia, Pulkit</cp:lastModifiedBy>
  <cp:revision>1</cp:revision>
  <dcterms:created xsi:type="dcterms:W3CDTF">2026-10-11T02:48:18Z</dcterms:created>
  <dcterms:modified xsi:type="dcterms:W3CDTF">2026-10-11T03:07:25Z</dcterms:modified>
</cp:coreProperties>
</file>