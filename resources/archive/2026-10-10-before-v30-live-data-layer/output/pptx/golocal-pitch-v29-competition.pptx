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8ca980c60524ead" /><Relationship Type="http://schemas.openxmlformats.org/officeDocument/2006/relationships/extended-properties" Target="/docProps/app.xml" Id="R6e3d13c115bf4fc8" /><Relationship Type="http://schemas.openxmlformats.org/officeDocument/2006/relationships/officeDocument" Target="/ppt/presentation.xml" Id="R14e01130cc214f6a" /></Relationships>
</file>

<file path=ppt/presentation.xml><?xml version="1.0" encoding="utf-8"?>
<p:presentation xmlns:p="http://schemas.openxmlformats.org/presentationml/2006/main">
  <p:sldMasterIdLst>
    <p:sldMasterId xmlns:r="http://schemas.openxmlformats.org/officeDocument/2006/relationships" id="2147483648" r:id="Rce16209726404088"/>
  </p:sldMasterIdLst>
  <p:notesMasterIdLst>
    <p:notesMasterId xmlns:r="http://schemas.openxmlformats.org/officeDocument/2006/relationships" r:id="Ra9f655f1f2b2470d"/>
  </p:notesMasterIdLst>
  <p:sldIdLst>
    <p:sldId xmlns:r="http://schemas.openxmlformats.org/officeDocument/2006/relationships" id="256" r:id="R6fb169d67bb542d2"/>
    <p:sldId xmlns:r="http://schemas.openxmlformats.org/officeDocument/2006/relationships" id="257" r:id="R0284695b610c4249"/>
    <p:sldId xmlns:r="http://schemas.openxmlformats.org/officeDocument/2006/relationships" id="258" r:id="Rd72ea258d9f44311"/>
    <p:sldId xmlns:r="http://schemas.openxmlformats.org/officeDocument/2006/relationships" id="259" r:id="Rd82de54ebbd24f29"/>
    <p:sldId xmlns:r="http://schemas.openxmlformats.org/officeDocument/2006/relationships" id="260" r:id="R7fd6d86b04b54cd5"/>
    <p:sldId xmlns:r="http://schemas.openxmlformats.org/officeDocument/2006/relationships" id="261" r:id="Rf42bbcaf41134421"/>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22d7a9b13404399" /><Relationship Type="http://schemas.openxmlformats.org/officeDocument/2006/relationships/slideMaster" Target="/ppt/slideMasters/slideMaster1.xml" Id="Rce16209726404088" /><Relationship Type="http://schemas.openxmlformats.org/officeDocument/2006/relationships/notesMaster" Target="/ppt/notesMasters/notesMaster1.xml" Id="Ra9f655f1f2b2470d" /><Relationship Type="http://schemas.openxmlformats.org/officeDocument/2006/relationships/presProps" Target="/ppt/presProps.xml" Id="Rec80aba2cf0b4b29" /><Relationship Type="http://schemas.openxmlformats.org/officeDocument/2006/relationships/viewProps" Target="/ppt/viewProps.xml" Id="R318a118ae39249c5" /><Relationship Type="http://schemas.openxmlformats.org/officeDocument/2006/relationships/tableStyles" Target="/ppt/tableStyles.xml" Id="Rd16ea7fbe86041aa" /><Relationship Type="http://schemas.openxmlformats.org/officeDocument/2006/relationships/slide" Target="/ppt/slides/slide1.xml" Id="R6fb169d67bb542d2" /><Relationship Type="http://schemas.openxmlformats.org/officeDocument/2006/relationships/slide" Target="/ppt/slides/slide2.xml" Id="R0284695b610c4249" /><Relationship Type="http://schemas.openxmlformats.org/officeDocument/2006/relationships/slide" Target="/ppt/slides/slide3.xml" Id="Rd72ea258d9f44311" /><Relationship Type="http://schemas.openxmlformats.org/officeDocument/2006/relationships/slide" Target="/ppt/slides/slide4.xml" Id="Rd82de54ebbd24f29" /><Relationship Type="http://schemas.openxmlformats.org/officeDocument/2006/relationships/slide" Target="/ppt/slides/slide5.xml" Id="R7fd6d86b04b54cd5" /><Relationship Type="http://schemas.openxmlformats.org/officeDocument/2006/relationships/slide" Target="/ppt/slides/slide6.xml" Id="Rf42bbcaf411344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e00fd73d0640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fbd77ba8e342e8" /><Relationship Type="http://schemas.openxmlformats.org/officeDocument/2006/relationships/notesMaster" Target="/ppt/notesMasters/notesMaster1.xml" Id="R6ee313ccc65e4c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ac02ae50dd4164" /><Relationship Type="http://schemas.openxmlformats.org/officeDocument/2006/relationships/notesMaster" Target="/ppt/notesMasters/notesMaster1.xml" Id="R246f408e803940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368099c6404dc8" /><Relationship Type="http://schemas.openxmlformats.org/officeDocument/2006/relationships/notesMaster" Target="/ppt/notesMasters/notesMaster1.xml" Id="Re87eb61b058942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5c41874863466b" /><Relationship Type="http://schemas.openxmlformats.org/officeDocument/2006/relationships/notesMaster" Target="/ppt/notesMasters/notesMaster1.xml" Id="Rfd13cc349fff4e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2d18a0915f463b" /><Relationship Type="http://schemas.openxmlformats.org/officeDocument/2006/relationships/notesMaster" Target="/ppt/notesMasters/notesMaster1.xml" Id="R57b568b68d9942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9c7243d9f6438d" /><Relationship Type="http://schemas.openxmlformats.org/officeDocument/2006/relationships/notesMaster" Target="/ppt/notesMasters/notesMaster1.xml" Id="R692e8a2c90df47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timeline shows illustrative eras of dominant consumer experiences, not platform launch dates or universal feature coverage. Personal agents today refers to 2026 and agents capable of using tools. Each green diagonal cell marks the next broad capability. The final two red rows identify the local-service transaction gap: get quotes and schedule, then book and pay. This is fragmented access across providers and agents, not a claim that no individual provider or platform supports transactions. A platform that connects these last steps could capture value via completed bookings and proposed success fees. Significant value is the venture hypothesis, not measured revenue or a guaranteed share of the spending pool.</a:t>
            </a:r>
          </a:p>
          <a:p xmlns:a="http://schemas.openxmlformats.org/drawingml/2006/main">
            <a:r>
              <a:t>Market context: about $1.19T rounded to $1.2T in underlying annual U.S. spending across home improvement/repair (~$600B, including materials and DIY), auto maintenance/repair ($283.802B), personal care/clothing services ($239.558B) and child day care ($65.547B). Mixed years and measures, not GoLocal transactionable volume or fee revenue. Supporting calculation: resources/local-services-tam-2026-10-10.md.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GoLocal's intended product combines participating provider supply with structured booking execution. The diagram describes the proposed architecture, not currently deployed integrations. Software segments overlap and each category has a different mix. Merchant authorization, vendor permissions and supported operations are required. Agents and frameworks shown are ecosystem examples, not signed distribution partners.</a:t>
            </a:r>
          </a:p>
          <a:p xmlns:a="http://schemas.openxmlformats.org/drawingml/2006/main">
            <a:r>
              <a:t>100+ plumbing software products: conservative directory count supplied in resources/plumbing-vendor-depth-evidence-2026-10-10.json. https://www.softwareadvice.com/field-service/plumbing-software-comparison/ . This is not a count of production booking APIs. Official examples: https://buildops.com/industries/plumbing ; https://www.simprogroup.com/industries/plumbing-software ; https://www.servicefusion.com/plumbing-software ; https://www.joblogic.com/industries/plumbing-software/ ; https://www.kickserv.com/industries/plumbing .</a:t>
            </a:r>
          </a:p>
          <a:p xmlns:a="http://schemas.openxmlformats.org/drawingml/2006/main">
            <a:r>
              <a:t>$2B+ is the supplied selected-company funding total, not funding for every pictured product or evidence of local-service demand: Hark over $700M, Instinct $1B Series C plus $350M previously reported total, Town $55M Series A. Source record: resources/agent-funding-evidence-2026-10-10.json. https://hark.com/articles/hark-announces-usd700-million-fundraising-round ; https://www.businesswire.com/news/home/20260928153437/en/ ; https://techcrunch.com/2026/08/26/viral-ai-startup-instinct-has-raised-350-million-at-a-2-5-billion-valuation/ ; https://www.town.com/press/series-a . Original supplied agent logos retained.</a:t>
            </a:r>
          </a:p>
          <a:p xmlns:a="http://schemas.openxmlformats.org/drawingml/2006/main">
            <a:r>
              <a:t>Why a shared layer: recruiting supply, normalizing different workflows and handling booking state can save each agent company from repeating that work. Supplier coverage and reliable execution are the proposed differentiation. Distribution and economics remain to be proven.</a:t>
            </a:r>
          </a:p>
          <a:p xmlns:a="http://schemas.openxmlformats.org/drawingml/2006/main">
            <a:r>
              <a:t>Display uses fewer representative vendor names per segment for clarity. This does not narrow the proposed integration scope or assert vendor exclusivity. Other examples retained in prior evidence include Probook AI, Service Fusion, Commusoft, Joblogic, Kickserv and Topline Pro. Vendor suitability and access remain to be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intended customer journey, not a live GoLocal transaction. Salt Lake City aligns the example with the planned plumbing pilot. Oak Plumbing, the $79 diagnostic visit, 9–11 am slot and booking GL-1042 are fictional. The customer approves the provider, visit fee and payment authorization before execution. Authorization is not payment capture. Repair work requires a separate quote after inspection. GoLocal would return provider-confirmed booking state through authorized software connections; this capability remains to be validated. A completed and paid job, rather than connector installation or a mere request, is the proposed commercial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cold start requires both useful participating supply and users with real booking needs. One-time setup is an intended experience on compatible platforms and may require sign-in and approval. Each transaction still requires the relevant user authorization.</a:t>
            </a:r>
          </a:p>
          <a:p xmlns:a="http://schemas.openxmlformats.org/drawingml/2006/main">
            <a:r>
              <a:t>Proposed network effect: successful bookings create evidence of usefulness and reliability. Where agent discovery and selection mechanisms can use that evidence, agents may suggest GoLocal to more users with similar requests. Those suggestions can bring more local bookings. Demonstrated demand can attract more businesses, improving coverage and availability and making subsequent bookings more useful. This is a commercial hypothesis, not an observed growth loop or a claim that models automatically learn across users. No demand-routing agreement or automatic recommendation mechanism is established.</a:t>
            </a:r>
          </a:p>
          <a:p xmlns:a="http://schemas.openxmlformats.org/drawingml/2006/main">
            <a:r>
              <a:t>Expansion is a subsequent decision: demonstrate the local loop and viable economics in one city/category, use that proof to add related categories within the city, then repeat in more cities. Supply and demand still need to be established in each new market.</a:t>
            </a:r>
          </a:p>
          <a:p xmlns:a="http://schemas.openxmlformats.org/drawingml/2006/main">
            <a:r>
              <a:t>Proposed commercial model: providers pay a success fee on fulfilled new-customer jobs, with a share for contributing partners. Prices, shares and paid continuation have not been agreed. Repeat visits, cancellations and existing-customer changes do not automatically generate acquisition fees. Contribution must cover acquisition, partner share, integration, support, payment and exception-handling costs. A venture-scale opportunity requires repeatable distribution, reusable integrations and profitable delivery, beyond a thin connector or manual booking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pilot: Salt Lake City plumbing. Founder-reported Cactus AI agreement to introduce GoLocal to 50+ service partners. Founder-reported YourCardare regional back-office relationship with another 10+ providers in the pipeline. Counts remain separate because overlap, city/category eligibility, consent and integration readiness are not established. These are introduction channels, not 60+ unique active providers or committed onboardings. The initial milestone is a customer-authorized, provider-confirmed booking through a permitted software connection. No live GoLocal booking, representative agent demand, paid revenue or production reliability has been established in the supplied materials. Pilot evidence should include where eligible requests originate, confirmation and fulfillment, failure/exception rates and contribution after costs. Supplier introductions are early access evidence; they do not establish demand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biographies and credentials, not independently verified for this deck. Pulkit Walia: Urban Company founding team member, helped build from launch to a $3B IPO; launched a home security brand at 19 and grew it to $700K revenue; Bessemer Venture Partners investor with $50M deployed in consumer AI startups; Harvard Business School MBA. The IPO figure refers to Urban Company, not GoLocal. https://www.linkedin.com/in/pulkitwalia/ . Rohit Jain: five years as a senior software engineer at Amazon, Square and Citrix; taught 2,500 engineers system design on Udemy; production MCP integration experience; Texas A&amp;M Computer Science and IIT Kharagpur. https://www.linkedin.com/in/rohit-jain-343437187/ . Founder/cofounder titles, ownership and employment commitment are not implied. Original supplied photos and education logos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4470c62d7a418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53406526f949f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903256cf247415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fb9001e0634d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cd8ab97c640481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f3a0c2942b640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3b4af019274b65" /><Relationship Type="http://schemas.openxmlformats.org/officeDocument/2006/relationships/slideLayout" Target="/ppt/slideLayouts/slideLayout1.xml" Id="R4919746ccdef4457" /><Relationship Type="http://schemas.openxmlformats.org/officeDocument/2006/relationships/slideLayout" Target="/ppt/slideLayouts/slideLayout2.xml" Id="R84092696390c4e02" /><Relationship Type="http://schemas.openxmlformats.org/officeDocument/2006/relationships/slideLayout" Target="/ppt/slideLayouts/slideLayout3.xml" Id="R8a3c3441cdb54617" /><Relationship Type="http://schemas.openxmlformats.org/officeDocument/2006/relationships/slideLayout" Target="/ppt/slideLayouts/slideLayout4.xml" Id="Re9a07eac70fd4274" /><Relationship Type="http://schemas.openxmlformats.org/officeDocument/2006/relationships/slideLayout" Target="/ppt/slideLayouts/slideLayout5.xml" Id="Rd622a3369f2846a8" /><Relationship Type="http://schemas.openxmlformats.org/officeDocument/2006/relationships/slideLayout" Target="/ppt/slideLayouts/slideLayout6.xml" Id="R22ddaf63feea41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19746ccdef4457"/>
    <p:sldLayoutId xmlns:r="http://schemas.openxmlformats.org/officeDocument/2006/relationships" id="2147483650" r:id="R84092696390c4e02"/>
    <p:sldLayoutId xmlns:r="http://schemas.openxmlformats.org/officeDocument/2006/relationships" id="2147483651" r:id="R8a3c3441cdb54617"/>
    <p:sldLayoutId xmlns:r="http://schemas.openxmlformats.org/officeDocument/2006/relationships" id="2147483652" r:id="Re9a07eac70fd4274"/>
    <p:sldLayoutId xmlns:r="http://schemas.openxmlformats.org/officeDocument/2006/relationships" id="2147483653" r:id="Rd622a3369f2846a8"/>
    <p:sldLayoutId xmlns:r="http://schemas.openxmlformats.org/officeDocument/2006/relationships" id="2147483654" r:id="R22ddaf63feea41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b41c8c0b4ad4086" /><Relationship Type="http://schemas.openxmlformats.org/officeDocument/2006/relationships/notesSlide" Target="/ppt/notesSlides/notesSlide1.xml" Id="R96e9f78edfe24d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76fc94e09144924" /><Relationship Type="http://schemas.openxmlformats.org/officeDocument/2006/relationships/image" Target="/ppt/media/image.png" Id="Rf1340c8052e6485c" /><Relationship Type="http://schemas.openxmlformats.org/officeDocument/2006/relationships/image" Target="/ppt/media/image.jpeg" Id="R93a54f9195044df9" /><Relationship Type="http://schemas.openxmlformats.org/officeDocument/2006/relationships/image" Target="/ppt/media/image2.jpeg" Id="R108532c4d6f04434" /><Relationship Type="http://schemas.openxmlformats.org/officeDocument/2006/relationships/image" Target="/ppt/media/image3.jpeg" Id="R78673d3573064fd3" /><Relationship Type="http://schemas.openxmlformats.org/officeDocument/2006/relationships/image" Target="/ppt/media/image2.png" Id="R45ac2a6c54de48a1" /><Relationship Type="http://schemas.openxmlformats.org/officeDocument/2006/relationships/notesSlide" Target="/ppt/notesSlides/notesSlide2.xml" Id="Ra11b4f0c361f42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83db62749f3424c" /><Relationship Type="http://schemas.openxmlformats.org/officeDocument/2006/relationships/notesSlide" Target="/ppt/notesSlides/notesSlide3.xml" Id="R5bfcc9d3ec6349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c109664b91d400c" /><Relationship Type="http://schemas.openxmlformats.org/officeDocument/2006/relationships/notesSlide" Target="/ppt/notesSlides/notesSlide4.xml" Id="R6ae24e5ba44e43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f323641580d4840" /><Relationship Type="http://schemas.openxmlformats.org/officeDocument/2006/relationships/notesSlide" Target="/ppt/notesSlides/notesSlide5.xml" Id="Re68eab50c63046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3634fccb0aa4457" /><Relationship Type="http://schemas.openxmlformats.org/officeDocument/2006/relationships/image" Target="/ppt/media/image4.jpeg" Id="R08770de2fc674ec4" /><Relationship Type="http://schemas.openxmlformats.org/officeDocument/2006/relationships/image" Target="/ppt/media/image5.jpeg" Id="Rb2b89f4ac0714d96" /><Relationship Type="http://schemas.openxmlformats.org/officeDocument/2006/relationships/hyperlink" Target="https://www.linkedin.com/in/pulkitwalia/" TargetMode="External" Id="R15353e9952dd4b06" /><Relationship Type="http://schemas.openxmlformats.org/officeDocument/2006/relationships/hyperlink" Target="https://www.linkedin.com/in/rohit-jain-343437187/" TargetMode="External" Id="R2fbb8912ae584f85" /><Relationship Type="http://schemas.openxmlformats.org/officeDocument/2006/relationships/image" Target="/ppt/media/image6.jpeg" Id="R197dc41b654647cd" /><Relationship Type="http://schemas.openxmlformats.org/officeDocument/2006/relationships/image" Target="/ppt/media/image3.png" Id="Raee53fd1efa74f05" /><Relationship Type="http://schemas.openxmlformats.org/officeDocument/2006/relationships/image" Target="/ppt/media/image7.jpeg" Id="R71aade2d8cef4165" /><Relationship Type="http://schemas.openxmlformats.org/officeDocument/2006/relationships/notesSlide" Target="/ppt/notesSlides/notesSlide6.xml" Id="R9a2d7e14c54f4cce" /></Relationships>
</file>

<file path=ppt/slides/slide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9" name="v29-text-6">
            <a:extLst xmlns:a="http://schemas.openxmlformats.org/drawingml/2006/main">
              <a:ext uri="{FF2B5EF4-FFF2-40B4-BE49-F238E27FC236}">
                <a16:creationId xmlns:a16="http://schemas.microsoft.com/office/drawing/2014/main" id="{20BC19D1-C61F-44CB-9B9B-E5B990B8EC59}"/>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GOLOCAL</a:t>
            </a:r>
          </a:p>
        </p:txBody>
      </p:sp>
      <p:sp>
        <p:nvSpPr>
          <p:cNvPr id="2" name="v29-text-7">
            <a:extLst xmlns:a="http://schemas.openxmlformats.org/drawingml/2006/main">
              <a:ext uri="{FF2B5EF4-FFF2-40B4-BE49-F238E27FC236}">
                <a16:creationId xmlns:a16="http://schemas.microsoft.com/office/drawing/2014/main" id="{28839534-D2DB-4A8B-B246-6D609E25B5A4}"/>
              </a:ext>
            </a:extLst>
          </p:cNvPr>
          <p:cNvSpPr>
            <a:spLocks xmlns:a="http://schemas.openxmlformats.org/drawingml/2006/main" noGrp="1"/>
          </p:cNvSpPr>
          <p:nvPr/>
        </p:nvSpPr>
        <p:spPr>
          <a:xfrm xmlns:a="http://schemas.openxmlformats.org/drawingml/2006/main">
            <a:off x="6572250" y="276225"/>
            <a:ext cx="5010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3716A"/>
                </a:solidFill>
                <a:latin typeface="Helvetica Neue"/>
                <a:ea typeface="Helvetica Neue"/>
                <a:cs typeface="Helvetica Neue"/>
              </a:defRPr>
            </a:defPPr>
          </a:lstStyle>
          <a:p xmlns:a="http://schemas.openxmlformats.org/drawingml/2006/main">
            <a:pPr algn="r">
              <a:defRPr sz="1500" b="0">
                <a:solidFill>
                  <a:srgbClr val="53716A"/>
                </a:solidFill>
                <a:latin typeface="Helvetica Neue"/>
                <a:ea typeface="Helvetica Neue"/>
                <a:cs typeface="Helvetica Neue"/>
              </a:defRPr>
            </a:pPr>
            <a:r>
              <a:rPr sz="1500" b="0">
                <a:solidFill>
                  <a:srgbClr val="53716A"/>
                </a:solidFill>
                <a:latin typeface="Helvetica Neue"/>
                <a:ea typeface="Helvetica Neue"/>
                <a:cs typeface="Helvetica Neue"/>
              </a:rPr>
              <a:t>Local services, booked by your personal agent.</a:t>
            </a:r>
          </a:p>
        </p:txBody>
      </p:sp>
      <p:sp>
        <p:nvSpPr>
          <p:cNvPr id="3" name="v29-text-8">
            <a:extLst xmlns:a="http://schemas.openxmlformats.org/drawingml/2006/main">
              <a:ext uri="{FF2B5EF4-FFF2-40B4-BE49-F238E27FC236}">
                <a16:creationId xmlns:a16="http://schemas.microsoft.com/office/drawing/2014/main" id="{40239AF8-5A7C-4B81-9545-C070E21E0465}"/>
              </a:ext>
            </a:extLst>
          </p:cNvPr>
          <p:cNvSpPr>
            <a:spLocks xmlns:a="http://schemas.openxmlformats.org/drawingml/2006/main" noGrp="1"/>
          </p:cNvSpPr>
          <p:nvPr/>
        </p:nvSpPr>
        <p:spPr>
          <a:xfrm xmlns:a="http://schemas.openxmlformats.org/drawingml/2006/main">
            <a:off x="609600" y="752475"/>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03D3B"/>
                </a:solidFill>
                <a:latin typeface="Helvetica Neue"/>
                <a:ea typeface="Helvetica Neue"/>
                <a:cs typeface="Helvetica Neue"/>
              </a:defRPr>
            </a:defPPr>
          </a:lstStyle>
          <a:p xmlns:a="http://schemas.openxmlformats.org/drawingml/2006/main">
            <a:pPr algn="l">
              <a:defRPr sz="3600" b="1">
                <a:solidFill>
                  <a:srgbClr val="103D3B"/>
                </a:solidFill>
                <a:latin typeface="Helvetica Neue"/>
                <a:ea typeface="Helvetica Neue"/>
                <a:cs typeface="Helvetica Neue"/>
              </a:defRPr>
            </a:pPr>
            <a:r>
              <a:rPr sz="3600" b="1">
                <a:solidFill>
                  <a:srgbClr val="103D3B"/>
                </a:solidFill>
                <a:latin typeface="Helvetica Neue"/>
                <a:ea typeface="Helvetica Neue"/>
                <a:cs typeface="Helvetica Neue"/>
              </a:rPr>
              <a:t>The $1.2T local-services opportunity</a:t>
            </a:r>
          </a:p>
        </p:txBody>
      </p:sp>
      <p:sp>
        <p:nvSpPr>
          <p:cNvPr id="4" name="v29-text-9">
            <a:extLst xmlns:a="http://schemas.openxmlformats.org/drawingml/2006/main">
              <a:ext uri="{FF2B5EF4-FFF2-40B4-BE49-F238E27FC236}">
                <a16:creationId xmlns:a16="http://schemas.microsoft.com/office/drawing/2014/main" id="{30FC0656-67C6-4C0A-B9FD-77CE0DD08DFD}"/>
              </a:ext>
            </a:extLst>
          </p:cNvPr>
          <p:cNvSpPr>
            <a:spLocks xmlns:a="http://schemas.openxmlformats.org/drawingml/2006/main" noGrp="1"/>
          </p:cNvSpPr>
          <p:nvPr/>
        </p:nvSpPr>
        <p:spPr>
          <a:xfrm xmlns:a="http://schemas.openxmlformats.org/drawingml/2006/main">
            <a:off x="609600" y="144780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3716A"/>
                </a:solidFill>
                <a:latin typeface="Helvetica Neue"/>
                <a:ea typeface="Helvetica Neue"/>
                <a:cs typeface="Helvetica Neue"/>
              </a:defRPr>
            </a:defPPr>
          </a:lstStyle>
          <a:p xmlns:a="http://schemas.openxmlformats.org/drawingml/2006/main">
            <a:pPr algn="l">
              <a:defRPr sz="1950" b="0">
                <a:solidFill>
                  <a:srgbClr val="53716A"/>
                </a:solidFill>
                <a:latin typeface="Helvetica Neue"/>
                <a:ea typeface="Helvetica Neue"/>
                <a:cs typeface="Helvetica Neue"/>
              </a:defRPr>
            </a:pPr>
            <a:r>
              <a:rPr sz="1950" b="0">
                <a:solidFill>
                  <a:srgbClr val="53716A"/>
                </a:solidFill>
                <a:latin typeface="Helvetica Neue"/>
                <a:ea typeface="Helvetica Neue"/>
                <a:cs typeface="Helvetica Neue"/>
              </a:rPr>
              <a:t>Each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FC83E513-B416-4214-A3A6-BD5EBAE3909B}"/>
              </a:ext>
            </a:extLst>
          </p:cNvPr>
          <p:cNvGraphicFramePr/>
          <p:nvPr/>
        </p:nvGraphicFramePr>
        <p:xfrm>
          <a:off xmlns:a="http://schemas.openxmlformats.org/drawingml/2006/main" x="609600" y="1971675"/>
          <a:ext xmlns:a="http://schemas.openxmlformats.org/drawingml/2006/main" cx="10972800" cy="3467100"/>
        </p:xfrm>
        <a:graphic xmlns:a="http://schemas.openxmlformats.org/drawingml/2006/main">
          <a:graphicData uri="http://schemas.openxmlformats.org/drawingml/2006/table">
            <a:tbl>
              <a:tblPr firstRow="0" firstCol="0" bandRow="0"/>
              <a:tblGrid>
                <a:gridCol w="2667000"/>
                <a:gridCol w="1661160"/>
                <a:gridCol w="1661160"/>
                <a:gridCol w="1661160"/>
                <a:gridCol w="1661160"/>
                <a:gridCol w="1661160"/>
              </a:tblGrid>
              <a:tr h="285750">
                <a:tc>
                  <a:txBody>
                    <a:bodyPr wrap="square">
                      <a:noAutofit/>
                    </a:bodyPr>
                    <a:lstStyle/>
                    <a:p>
                      <a:pPr algn="l"/>
                      <a:r>
                        <a:rPr sz="1350" b="1">
                          <a:solidFill>
                            <a:srgbClr val="53716A"/>
                          </a:solidFill>
                          <a:latin typeface="Helvetica Neue"/>
                          <a:ea typeface="Helvetica Neue"/>
                          <a:cs typeface="Helvetica Neue"/>
                        </a:rPr>
                        <a:t>ERA</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53716A"/>
                          </a:solidFill>
                          <a:latin typeface="Helvetica Neue"/>
                          <a:ea typeface="Helvetica Neue"/>
                          <a:cs typeface="Helvetica Neue"/>
                        </a:rPr>
                        <a:t>Pre-2000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53716A"/>
                          </a:solidFill>
                          <a:latin typeface="Helvetica Neue"/>
                          <a:ea typeface="Helvetica Neue"/>
                          <a:cs typeface="Helvetica Neue"/>
                        </a:rPr>
                        <a:t>2000–2010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53716A"/>
                          </a:solidFill>
                          <a:latin typeface="Helvetica Neue"/>
                          <a:ea typeface="Helvetica Neue"/>
                          <a:cs typeface="Helvetica Neue"/>
                        </a:rPr>
                        <a:t>2010–2020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53716A"/>
                          </a:solidFill>
                          <a:latin typeface="Helvetica Neue"/>
                          <a:ea typeface="Helvetica Neue"/>
                          <a:cs typeface="Helvetica Neue"/>
                        </a:rPr>
                        <a:t>2020–2025</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FFFFFF"/>
                          </a:solidFill>
                          <a:latin typeface="Helvetica Neue"/>
                          <a:ea typeface="Helvetica Neue"/>
                          <a:cs typeface="Helvetica Neue"/>
                        </a:rPr>
                        <a:t>2026</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285750">
                <a:tc>
                  <a:txBody>
                    <a:bodyPr wrap="square">
                      <a:noAutofit/>
                    </a:bodyPr>
                    <a:lstStyle/>
                    <a:p>
                      <a:pPr algn="l"/>
                      <a:r>
                        <a:rPr sz="1275" b="1">
                          <a:solidFill>
                            <a:srgbClr val="53716A"/>
                          </a:solidFill>
                          <a:latin typeface="Helvetica Neue"/>
                          <a:ea typeface="Helvetica Neue"/>
                          <a:cs typeface="Helvetica Neue"/>
                        </a:rPr>
                        <a:t>Technology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53716A"/>
                          </a:solidFill>
                          <a:latin typeface="Helvetica Neue"/>
                          <a:ea typeface="Helvetica Neue"/>
                          <a:cs typeface="Helvetica Neue"/>
                        </a:rPr>
                        <a:t>Telephones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53716A"/>
                          </a:solidFill>
                          <a:latin typeface="Helvetica Neue"/>
                          <a:ea typeface="Helvetica Neue"/>
                          <a:cs typeface="Helvetica Neue"/>
                        </a:rPr>
                        <a:t>Internet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53716A"/>
                          </a:solidFill>
                          <a:latin typeface="Helvetica Neue"/>
                          <a:ea typeface="Helvetica Neue"/>
                          <a:cs typeface="Helvetica Neue"/>
                        </a:rPr>
                        <a:t>Mobile + GPS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53716A"/>
                          </a:solidFill>
                          <a:latin typeface="Helvetica Neue"/>
                          <a:ea typeface="Helvetica Neue"/>
                          <a:cs typeface="Helvetica Neue"/>
                        </a:rPr>
                        <a:t>LLMs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FFFFFF"/>
                          </a:solidFill>
                          <a:latin typeface="Helvetica Neue"/>
                          <a:ea typeface="Helvetica Neue"/>
                          <a:cs typeface="Helvetica Neue"/>
                        </a:rPr>
                        <a:t>AI + tools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552450">
                <a:tc>
                  <a:txBody>
                    <a:bodyPr wrap="square">
                      <a:noAutofit/>
                    </a:bodyPr>
                    <a:lstStyle/>
                    <a:p>
                      <a:pPr algn="l"/>
                      <a:r>
                        <a:rPr sz="1575" b="1">
                          <a:solidFill>
                            <a:srgbClr val="103D3B"/>
                          </a:solidFill>
                          <a:latin typeface="Helvetica Neue"/>
                          <a:ea typeface="Helvetica Neue"/>
                          <a:cs typeface="Helvetica Neue"/>
                        </a:rPr>
                        <a:t>Platform</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Yellow Pages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Google /</a:t>
                      </a:r>
                    </a:p>
                    <a:p>
                      <a:pPr algn="ctr"/>
                      <a:r>
                        <a:rPr sz="1575" b="1">
                          <a:solidFill>
                            <a:srgbClr val="103D3B"/>
                          </a:solidFill>
                          <a:latin typeface="Helvetica Neue"/>
                          <a:ea typeface="Helvetica Neue"/>
                          <a:cs typeface="Helvetica Neue"/>
                        </a:rPr>
                        <a:t>Craigslist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Google Maps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AI chatbots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FFFFFF"/>
                          </a:solidFill>
                          <a:latin typeface="Helvetica Neue"/>
                          <a:ea typeface="Helvetica Neue"/>
                          <a:cs typeface="Helvetica Neue"/>
                        </a:rPr>
                        <a:t>Personal</a:t>
                      </a:r>
                    </a:p>
                    <a:p>
                      <a:pPr algn="ctr"/>
                      <a:r>
                        <a:rPr sz="1575" b="1">
                          <a:solidFill>
                            <a:srgbClr val="FFFFFF"/>
                          </a:solidFill>
                          <a:latin typeface="Helvetica Neue"/>
                          <a:ea typeface="Helvetica Neue"/>
                          <a:cs typeface="Helvetica Neue"/>
                        </a:rPr>
                        <a:t>agents today</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304800">
                <a:tc>
                  <a:txBody>
                    <a:bodyPr wrap="square">
                      <a:noAutofit/>
                    </a:bodyPr>
                    <a:lstStyle/>
                    <a:p>
                      <a:pPr algn="l"/>
                      <a:r>
                        <a:rPr sz="1500" b="1">
                          <a:solidFill>
                            <a:srgbClr val="103D3B"/>
                          </a:solidFill>
                          <a:latin typeface="Helvetica Neue"/>
                          <a:ea typeface="Helvetica Neue"/>
                          <a:cs typeface="Helvetica Neue"/>
                        </a:rPr>
                        <a:t>Find a business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r>
                        <a:rPr sz="1500" b="1">
                          <a:solidFill>
                            <a:srgbClr val="103D3B"/>
                          </a:solidFill>
                          <a:latin typeface="Helvetica Neue"/>
                          <a:ea typeface="Helvetica Neue"/>
                          <a:cs typeface="Helvetica Neue"/>
                        </a:rPr>
                        <a:t>Compare options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r>
                        <a:rPr sz="1500" b="1">
                          <a:solidFill>
                            <a:srgbClr val="103D3B"/>
                          </a:solidFill>
                          <a:latin typeface="Helvetica Neue"/>
                          <a:ea typeface="Helvetica Neue"/>
                          <a:cs typeface="Helvetica Neue"/>
                        </a:rPr>
                        <a:t>Location &amp; reviews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r>
                        <a:rPr sz="1500" b="1">
                          <a:solidFill>
                            <a:srgbClr val="103D3B"/>
                          </a:solidFill>
                          <a:latin typeface="Helvetica Neue"/>
                          <a:ea typeface="Helvetica Neue"/>
                          <a:cs typeface="Helvetica Neue"/>
                        </a:rPr>
                        <a:t>Conversational request</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r>
                        <a:rPr sz="1500" b="1">
                          <a:solidFill>
                            <a:srgbClr val="103D3B"/>
                          </a:solidFill>
                          <a:latin typeface="Helvetica Neue"/>
                          <a:ea typeface="Helvetica Neue"/>
                          <a:cs typeface="Helvetica Neue"/>
                        </a:rPr>
                        <a:t>Delegate the task</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r>
              <a:tr h="409575">
                <a:tc>
                  <a:txBody>
                    <a:bodyPr wrap="square">
                      <a:noAutofit/>
                    </a:bodyPr>
                    <a:lstStyle/>
                    <a:p>
                      <a:pPr algn="l"/>
                      <a:r>
                        <a:rPr sz="1500" b="1">
                          <a:solidFill>
                            <a:srgbClr val="A34E3F"/>
                          </a:solidFill>
                          <a:latin typeface="Helvetica Neue"/>
                          <a:ea typeface="Helvetica Neue"/>
                          <a:cs typeface="Helvetica Neue"/>
                        </a:rPr>
                        <a:t>Get quotes &amp; schedule</a:t>
                      </a:r>
                    </a:p>
                  </a:txBody>
                  <a:tcPr marL="57150"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gridSpan="5">
                  <a:txBody>
                    <a:bodyPr wrap="square">
                      <a:noAutofit/>
                    </a:bodyPr>
                    <a:lstStyle/>
                    <a:p>
                      <a:pPr algn="ctr"/>
                      <a:r>
                        <a:rPr sz="1575" b="1">
                          <a:solidFill>
                            <a:srgbClr val="A34E3F"/>
                          </a:solidFill>
                          <a:latin typeface="Helvetica Neue"/>
                          <a:ea typeface="Helvetica Neue"/>
                          <a:cs typeface="Helvetica Neue"/>
                        </a:rPr>
                        <a:t>THE GAP: fragmented provider pricing and availability</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r>
              <a:tr h="409575">
                <a:tc>
                  <a:txBody>
                    <a:bodyPr wrap="square">
                      <a:noAutofit/>
                    </a:bodyPr>
                    <a:lstStyle/>
                    <a:p>
                      <a:pPr algn="l"/>
                      <a:r>
                        <a:rPr sz="1500" b="1">
                          <a:solidFill>
                            <a:srgbClr val="A34E3F"/>
                          </a:solidFill>
                          <a:latin typeface="Helvetica Neue"/>
                          <a:ea typeface="Helvetica Neue"/>
                          <a:cs typeface="Helvetica Neue"/>
                        </a:rPr>
                        <a:t>Book &amp; pay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gridSpan="5">
                  <a:txBody>
                    <a:bodyPr wrap="square">
                      <a:noAutofit/>
                    </a:bodyPr>
                    <a:lstStyle/>
                    <a:p>
                      <a:pPr algn="ctr"/>
                      <a:r>
                        <a:rPr sz="1575" b="0">
                          <a:solidFill>
                            <a:srgbClr val="A34E3F"/>
                          </a:solidFill>
                          <a:latin typeface="Helvetica Neue"/>
                          <a:ea typeface="Helvetica Neue"/>
                          <a:cs typeface="Helvetica Neue"/>
                        </a:rPr>
                        <a:t>Separate booking and payment flows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r>
            </a:tbl>
          </a:graphicData>
        </a:graphic>
      </p:graphicFrame>
      <p:sp>
        <p:nvSpPr>
          <p:cNvPr id="6" name="v29-text-10">
            <a:extLst xmlns:a="http://schemas.openxmlformats.org/drawingml/2006/main">
              <a:ext uri="{FF2B5EF4-FFF2-40B4-BE49-F238E27FC236}">
                <a16:creationId xmlns:a16="http://schemas.microsoft.com/office/drawing/2014/main" id="{0EF0B98D-E9DC-4ECD-A481-6F3CDD319FD9}"/>
              </a:ext>
            </a:extLst>
          </p:cNvPr>
          <p:cNvSpPr>
            <a:spLocks xmlns:a="http://schemas.openxmlformats.org/drawingml/2006/main" noGrp="1"/>
          </p:cNvSpPr>
          <p:nvPr/>
        </p:nvSpPr>
        <p:spPr>
          <a:xfrm xmlns:a="http://schemas.openxmlformats.org/drawingml/2006/main">
            <a:off x="609600" y="5667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03D3B"/>
                </a:solidFill>
                <a:latin typeface="Helvetica Neue"/>
                <a:ea typeface="Helvetica Neue"/>
                <a:cs typeface="Helvetica Neue"/>
              </a:defRPr>
            </a:defPPr>
          </a:lstStyle>
          <a:p xmlns:a="http://schemas.openxmlformats.org/drawingml/2006/main">
            <a:pPr algn="l">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A platform that closes these last two steps can capture significant</a:t>
            </a:r>
          </a:p>
          <a:p xmlns:a="http://schemas.openxmlformats.org/drawingml/2006/main">
            <a:pPr algn="l">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value in this $1.2T market by enabling completed bookings.</a:t>
            </a:r>
          </a:p>
        </p:txBody>
      </p:sp>
      <p:sp>
        <p:nvSpPr>
          <p:cNvPr id="7" name="v29-text-11">
            <a:extLst xmlns:a="http://schemas.openxmlformats.org/drawingml/2006/main">
              <a:ext uri="{FF2B5EF4-FFF2-40B4-BE49-F238E27FC236}">
                <a16:creationId xmlns:a16="http://schemas.microsoft.com/office/drawing/2014/main" id="{D88B6FA0-7386-44F5-8077-559F7CD2097F}"/>
              </a:ext>
            </a:extLst>
          </p:cNvPr>
          <p:cNvSpPr>
            <a:spLocks xmlns:a="http://schemas.openxmlformats.org/drawingml/2006/main" noGrp="1"/>
          </p:cNvSpPr>
          <p:nvPr/>
        </p:nvSpPr>
        <p:spPr>
          <a:xfrm xmlns:a="http://schemas.openxmlformats.org/drawingml/2006/main">
            <a:off x="609600" y="64865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a:solidFill>
                  <a:srgbClr val="53716A"/>
                </a:solidFill>
                <a:latin typeface="Helvetica Neue"/>
                <a:ea typeface="Helvetica Neue"/>
                <a:cs typeface="Helvetica Neue"/>
              </a:defRPr>
            </a:defPPr>
          </a:lstStyle>
          <a:p xmlns:a="http://schemas.openxmlformats.org/drawingml/2006/main">
            <a:pPr algn="l">
              <a:defRPr sz="938" b="0">
                <a:solidFill>
                  <a:srgbClr val="53716A"/>
                </a:solidFill>
                <a:latin typeface="Helvetica Neue"/>
                <a:ea typeface="Helvetica Neue"/>
                <a:cs typeface="Helvetica Neue"/>
              </a:defRPr>
            </a:pPr>
            <a:r>
              <a:rPr sz="938" b="0">
                <a:solidFill>
                  <a:srgbClr val="53716A"/>
                </a:solidFill>
                <a:latin typeface="Helvetica Neue"/>
                <a:ea typeface="Helvetica Neue"/>
                <a:cs typeface="Helvetica Neue"/>
              </a:rPr>
              <a:t>≈$1.2T annual U.S. spending across selected categories; mixed 2023–25 sources, including materials/DIY. Eras and capabilities illustrative.</a:t>
            </a:r>
          </a:p>
        </p:txBody>
      </p:sp>
      <p:sp>
        <p:nvSpPr>
          <p:cNvPr id="8" name="v29-text-12">
            <a:extLst xmlns:a="http://schemas.openxmlformats.org/drawingml/2006/main">
              <a:ext uri="{FF2B5EF4-FFF2-40B4-BE49-F238E27FC236}">
                <a16:creationId xmlns:a16="http://schemas.microsoft.com/office/drawing/2014/main" id="{08CA9A25-F0F5-4ADA-905F-2E0D4A35BDB4}"/>
              </a:ext>
            </a:extLst>
          </p:cNvPr>
          <p:cNvSpPr>
            <a:spLocks xmlns:a="http://schemas.openxmlformats.org/drawingml/2006/main" noGrp="1"/>
          </p:cNvSpPr>
          <p:nvPr/>
        </p:nvSpPr>
        <p:spPr>
          <a:xfrm xmlns:a="http://schemas.openxmlformats.org/drawingml/2006/main">
            <a:off x="11049000" y="6667500"/>
            <a:ext cx="666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1 / 6</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57" name="Straight Arrow Connector 56">
            <a:extLst xmlns:a="http://schemas.openxmlformats.org/drawingml/2006/main">
              <a:ext uri="{FF2B5EF4-FFF2-40B4-BE49-F238E27FC236}">
                <a16:creationId xmlns:a16="http://schemas.microsoft.com/office/drawing/2014/main" id="{D2208D4C-78D7-4214-84EE-1BA161D9DD1A}"/>
              </a:ext>
            </a:extLst>
          </p:cNvPr>
          <p:cNvCxnSpPr>
            <a:stCxn xmlns:a="http://schemas.openxmlformats.org/drawingml/2006/main" id="32" idx="3"/>
            <a:endCxn xmlns:a="http://schemas.openxmlformats.org/drawingml/2006/main" id="4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6" name="Elbow Connector 55">
            <a:extLst xmlns:a="http://schemas.openxmlformats.org/drawingml/2006/main">
              <a:ext uri="{FF2B5EF4-FFF2-40B4-BE49-F238E27FC236}">
                <a16:creationId xmlns:a16="http://schemas.microsoft.com/office/drawing/2014/main" id="{34456A0F-7D65-4355-BC42-86B94D85BE1C}"/>
              </a:ext>
            </a:extLst>
          </p:cNvPr>
          <p:cNvCxnSpPr>
            <a:stCxn xmlns:a="http://schemas.openxmlformats.org/drawingml/2006/main" id="25" idx="3"/>
            <a:endCxn xmlns:a="http://schemas.openxmlformats.org/drawingml/2006/main" id="3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5" name="Straight Arrow Connector 54">
            <a:extLst xmlns:a="http://schemas.openxmlformats.org/drawingml/2006/main">
              <a:ext uri="{FF2B5EF4-FFF2-40B4-BE49-F238E27FC236}">
                <a16:creationId xmlns:a16="http://schemas.microsoft.com/office/drawing/2014/main" id="{96FB2C93-398E-427A-AFF4-BBE75B08CC2C}"/>
              </a:ext>
            </a:extLst>
          </p:cNvPr>
          <p:cNvCxnSpPr>
            <a:stCxn xmlns:a="http://schemas.openxmlformats.org/drawingml/2006/main" id="31" idx="3"/>
            <a:endCxn xmlns:a="http://schemas.openxmlformats.org/drawingml/2006/main" id="4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4" name="Elbow Connector 53">
            <a:extLst xmlns:a="http://schemas.openxmlformats.org/drawingml/2006/main">
              <a:ext uri="{FF2B5EF4-FFF2-40B4-BE49-F238E27FC236}">
                <a16:creationId xmlns:a16="http://schemas.microsoft.com/office/drawing/2014/main" id="{E518E92B-5AD8-425B-BF49-0C1065C7D59F}"/>
              </a:ext>
            </a:extLst>
          </p:cNvPr>
          <p:cNvCxnSpPr>
            <a:stCxn xmlns:a="http://schemas.openxmlformats.org/drawingml/2006/main" id="25" idx="3"/>
            <a:endCxn xmlns:a="http://schemas.openxmlformats.org/drawingml/2006/main" id="3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3" name="Straight Arrow Connector 52">
            <a:extLst xmlns:a="http://schemas.openxmlformats.org/drawingml/2006/main">
              <a:ext uri="{FF2B5EF4-FFF2-40B4-BE49-F238E27FC236}">
                <a16:creationId xmlns:a16="http://schemas.microsoft.com/office/drawing/2014/main" id="{807C4B1A-9334-449D-BE11-E078ACE81EE7}"/>
              </a:ext>
            </a:extLst>
          </p:cNvPr>
          <p:cNvCxnSpPr>
            <a:stCxn xmlns:a="http://schemas.openxmlformats.org/drawingml/2006/main" id="30" idx="3"/>
            <a:endCxn xmlns:a="http://schemas.openxmlformats.org/drawingml/2006/main" id="4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2" name="Elbow Connector 51">
            <a:extLst xmlns:a="http://schemas.openxmlformats.org/drawingml/2006/main">
              <a:ext uri="{FF2B5EF4-FFF2-40B4-BE49-F238E27FC236}">
                <a16:creationId xmlns:a16="http://schemas.microsoft.com/office/drawing/2014/main" id="{4DC9E147-670F-44EE-93C8-B4934112EAD7}"/>
              </a:ext>
            </a:extLst>
          </p:cNvPr>
          <p:cNvCxnSpPr>
            <a:stCxn xmlns:a="http://schemas.openxmlformats.org/drawingml/2006/main" id="25" idx="3"/>
            <a:endCxn xmlns:a="http://schemas.openxmlformats.org/drawingml/2006/main" id="3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1" name="Elbow Connector 50">
            <a:extLst xmlns:a="http://schemas.openxmlformats.org/drawingml/2006/main">
              <a:ext uri="{FF2B5EF4-FFF2-40B4-BE49-F238E27FC236}">
                <a16:creationId xmlns:a16="http://schemas.microsoft.com/office/drawing/2014/main" id="{AB2753D8-995D-434C-A6B7-EE7D5D89F965}"/>
              </a:ext>
            </a:extLst>
          </p:cNvPr>
          <p:cNvCxnSpPr>
            <a:stCxn xmlns:a="http://schemas.openxmlformats.org/drawingml/2006/main" id="16" idx="3"/>
            <a:endCxn xmlns:a="http://schemas.openxmlformats.org/drawingml/2006/main" id="25" idx="1"/>
          </p:cNvCxnSpPr>
          <p:nvPr/>
        </p:nvCxnSpPr>
        <p:spPr>
          <a:xfrm xmlns:a="http://schemas.openxmlformats.org/drawingml/2006/main" flipV="1">
            <a:off x="2362200" y="4133850"/>
            <a:ext cx="838200" cy="1076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0" name="Elbow Connector 49">
            <a:extLst xmlns:a="http://schemas.openxmlformats.org/drawingml/2006/main">
              <a:ext uri="{FF2B5EF4-FFF2-40B4-BE49-F238E27FC236}">
                <a16:creationId xmlns:a16="http://schemas.microsoft.com/office/drawing/2014/main" id="{68920BC2-23EF-4274-BFFE-8FFA70D595C9}"/>
              </a:ext>
            </a:extLst>
          </p:cNvPr>
          <p:cNvCxnSpPr>
            <a:stCxn xmlns:a="http://schemas.openxmlformats.org/drawingml/2006/main" id="15" idx="3"/>
            <a:endCxn xmlns:a="http://schemas.openxmlformats.org/drawingml/2006/main" id="25" idx="1"/>
          </p:cNvCxnSpPr>
          <p:nvPr/>
        </p:nvCxnSpPr>
        <p:spPr>
          <a:xfrm xmlns:a="http://schemas.openxmlformats.org/drawingml/2006/main" flipV="1">
            <a:off x="2362200" y="4133850"/>
            <a:ext cx="838200" cy="695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9" name="Elbow Connector 48">
            <a:extLst xmlns:a="http://schemas.openxmlformats.org/drawingml/2006/main">
              <a:ext uri="{FF2B5EF4-FFF2-40B4-BE49-F238E27FC236}">
                <a16:creationId xmlns:a16="http://schemas.microsoft.com/office/drawing/2014/main" id="{3C299EB6-D903-473E-A63D-22E14B5E1118}"/>
              </a:ext>
            </a:extLst>
          </p:cNvPr>
          <p:cNvCxnSpPr>
            <a:stCxn xmlns:a="http://schemas.openxmlformats.org/drawingml/2006/main" id="14" idx="3"/>
            <a:endCxn xmlns:a="http://schemas.openxmlformats.org/drawingml/2006/main" id="25" idx="1"/>
          </p:cNvCxnSpPr>
          <p:nvPr/>
        </p:nvCxnSpPr>
        <p:spPr>
          <a:xfrm xmlns:a="http://schemas.openxmlformats.org/drawingml/2006/main" flipV="1">
            <a:off x="2362200" y="4133850"/>
            <a:ext cx="838200" cy="314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8" name="Elbow Connector 47">
            <a:extLst xmlns:a="http://schemas.openxmlformats.org/drawingml/2006/main">
              <a:ext uri="{FF2B5EF4-FFF2-40B4-BE49-F238E27FC236}">
                <a16:creationId xmlns:a16="http://schemas.microsoft.com/office/drawing/2014/main" id="{E2785D3A-5E79-4D01-ADB1-09DF85DA5D48}"/>
              </a:ext>
            </a:extLst>
          </p:cNvPr>
          <p:cNvCxnSpPr>
            <a:stCxn xmlns:a="http://schemas.openxmlformats.org/drawingml/2006/main" id="13" idx="3"/>
            <a:endCxn xmlns:a="http://schemas.openxmlformats.org/drawingml/2006/main" id="25" idx="1"/>
          </p:cNvCxnSpPr>
          <p:nvPr/>
        </p:nvCxnSpPr>
        <p:spPr>
          <a:xfrm xmlns:a="http://schemas.openxmlformats.org/drawingml/2006/main">
            <a:off x="2362200" y="4067175"/>
            <a:ext cx="838200" cy="66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7" name="Elbow Connector 46">
            <a:extLst xmlns:a="http://schemas.openxmlformats.org/drawingml/2006/main">
              <a:ext uri="{FF2B5EF4-FFF2-40B4-BE49-F238E27FC236}">
                <a16:creationId xmlns:a16="http://schemas.microsoft.com/office/drawing/2014/main" id="{6F9C3A8C-8B7C-41B8-A9AD-022DEED661D1}"/>
              </a:ext>
            </a:extLst>
          </p:cNvPr>
          <p:cNvCxnSpPr>
            <a:stCxn xmlns:a="http://schemas.openxmlformats.org/drawingml/2006/main" id="12" idx="3"/>
            <a:endCxn xmlns:a="http://schemas.openxmlformats.org/drawingml/2006/main" id="25" idx="1"/>
          </p:cNvCxnSpPr>
          <p:nvPr/>
        </p:nvCxnSpPr>
        <p:spPr>
          <a:xfrm xmlns:a="http://schemas.openxmlformats.org/drawingml/2006/main">
            <a:off x="2362200" y="3686175"/>
            <a:ext cx="838200" cy="447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6" name="Elbow Connector 45">
            <a:extLst xmlns:a="http://schemas.openxmlformats.org/drawingml/2006/main">
              <a:ext uri="{FF2B5EF4-FFF2-40B4-BE49-F238E27FC236}">
                <a16:creationId xmlns:a16="http://schemas.microsoft.com/office/drawing/2014/main" id="{50B4A0EA-D27D-41F8-A320-5FC3E504B7DA}"/>
              </a:ext>
            </a:extLst>
          </p:cNvPr>
          <p:cNvCxnSpPr>
            <a:stCxn xmlns:a="http://schemas.openxmlformats.org/drawingml/2006/main" id="11" idx="3"/>
            <a:endCxn xmlns:a="http://schemas.openxmlformats.org/drawingml/2006/main" id="25" idx="1"/>
          </p:cNvCxnSpPr>
          <p:nvPr/>
        </p:nvCxnSpPr>
        <p:spPr>
          <a:xfrm xmlns:a="http://schemas.openxmlformats.org/drawingml/2006/main">
            <a:off x="2362200" y="3305175"/>
            <a:ext cx="838200" cy="828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5" name="Elbow Connector 44">
            <a:extLst xmlns:a="http://schemas.openxmlformats.org/drawingml/2006/main">
              <a:ext uri="{FF2B5EF4-FFF2-40B4-BE49-F238E27FC236}">
                <a16:creationId xmlns:a16="http://schemas.microsoft.com/office/drawing/2014/main" id="{25FB17CE-A5D4-4307-878A-6EDEFA2D8E29}"/>
              </a:ext>
            </a:extLst>
          </p:cNvPr>
          <p:cNvCxnSpPr>
            <a:stCxn xmlns:a="http://schemas.openxmlformats.org/drawingml/2006/main" id="10" idx="3"/>
            <a:endCxn xmlns:a="http://schemas.openxmlformats.org/drawingml/2006/main" id="25" idx="1"/>
          </p:cNvCxnSpPr>
          <p:nvPr/>
        </p:nvCxnSpPr>
        <p:spPr>
          <a:xfrm xmlns:a="http://schemas.openxmlformats.org/drawingml/2006/main">
            <a:off x="2362200" y="2924175"/>
            <a:ext cx="838200" cy="1209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63" name="booking-layer-text-0">
            <a:extLst xmlns:a="http://schemas.openxmlformats.org/drawingml/2006/main">
              <a:ext uri="{FF2B5EF4-FFF2-40B4-BE49-F238E27FC236}">
                <a16:creationId xmlns:a16="http://schemas.microsoft.com/office/drawing/2014/main" id="{780846B9-89B6-42C8-88A6-077B482B99A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558838F4-FB49-405E-B523-5CF53F03D7AD}"/>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One booking layer for agents and local businesses</a:t>
            </a:r>
          </a:p>
        </p:txBody>
      </p:sp>
      <p:sp>
        <p:nvSpPr>
          <p:cNvPr id="3" name="booking-layer-text-2">
            <a:extLst xmlns:a="http://schemas.openxmlformats.org/drawingml/2006/main">
              <a:ext uri="{FF2B5EF4-FFF2-40B4-BE49-F238E27FC236}">
                <a16:creationId xmlns:a16="http://schemas.microsoft.com/office/drawing/2014/main" id="{D5C55A98-D2FC-4D22-BDAF-425BD652E5A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We connect participating businesses through the software they already use.</a:t>
            </a:r>
          </a:p>
        </p:txBody>
      </p:sp>
      <p:sp>
        <p:nvSpPr>
          <p:cNvPr id="4" name="booking-layer-text-3">
            <a:extLst xmlns:a="http://schemas.openxmlformats.org/drawingml/2006/main">
              <a:ext uri="{FF2B5EF4-FFF2-40B4-BE49-F238E27FC236}">
                <a16:creationId xmlns:a16="http://schemas.microsoft.com/office/drawing/2014/main" id="{25D62D51-3ACC-42B9-AF5C-085EBB1C6C26}"/>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D27E49B2-4AE1-4370-860E-31238EBC6788}"/>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1C0B045E-DE72-45BB-9114-EFBA9CC9C15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2FC5CA1D-5A2A-4CEA-AF88-28C06E1AA264}"/>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60CE6CDB-A101-4987-B56C-52BC2B44F701}"/>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D5ED5DD5-348A-40D0-B661-0AB61FC9256A}"/>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C5BE2521-AF10-4909-92F1-A7D9E53DFEBA}"/>
              </a:ext>
            </a:extLst>
          </p:cNvPr>
          <p:cNvSpPr>
            <a:spLocks xmlns:a="http://schemas.openxmlformats.org/drawingml/2006/main" noGrp="1"/>
          </p:cNvSpPr>
          <p:nvPr/>
        </p:nvSpPr>
        <p:spPr>
          <a:xfrm xmlns:a="http://schemas.openxmlformats.org/drawingml/2006/main">
            <a:off x="495300" y="2762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5BE92FEF-B9A3-49B6-AE30-B5D9AE989CA7}"/>
              </a:ext>
            </a:extLst>
          </p:cNvPr>
          <p:cNvSpPr>
            <a:spLocks xmlns:a="http://schemas.openxmlformats.org/drawingml/2006/main" noGrp="1"/>
          </p:cNvSpPr>
          <p:nvPr/>
        </p:nvSpPr>
        <p:spPr>
          <a:xfrm xmlns:a="http://schemas.openxmlformats.org/drawingml/2006/main">
            <a:off x="495300" y="3143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2" name="booking-layer-node-11">
            <a:extLst xmlns:a="http://schemas.openxmlformats.org/drawingml/2006/main">
              <a:ext uri="{FF2B5EF4-FFF2-40B4-BE49-F238E27FC236}">
                <a16:creationId xmlns:a16="http://schemas.microsoft.com/office/drawing/2014/main" id="{9AC664CA-0C30-422C-802F-2582A5C5E69A}"/>
              </a:ext>
            </a:extLst>
          </p:cNvPr>
          <p:cNvSpPr>
            <a:spLocks xmlns:a="http://schemas.openxmlformats.org/drawingml/2006/main" noGrp="1"/>
          </p:cNvSpPr>
          <p:nvPr/>
        </p:nvSpPr>
        <p:spPr>
          <a:xfrm xmlns:a="http://schemas.openxmlformats.org/drawingml/2006/main">
            <a:off x="495300" y="3524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184F9E6D-A0F9-433B-BC7B-8B634B43FA0D}"/>
              </a:ext>
            </a:extLst>
          </p:cNvPr>
          <p:cNvSpPr>
            <a:spLocks xmlns:a="http://schemas.openxmlformats.org/drawingml/2006/main" noGrp="1"/>
          </p:cNvSpPr>
          <p:nvPr/>
        </p:nvSpPr>
        <p:spPr>
          <a:xfrm xmlns:a="http://schemas.openxmlformats.org/drawingml/2006/main">
            <a:off x="495300" y="3905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4" name="booking-layer-node-13">
            <a:extLst xmlns:a="http://schemas.openxmlformats.org/drawingml/2006/main">
              <a:ext uri="{FF2B5EF4-FFF2-40B4-BE49-F238E27FC236}">
                <a16:creationId xmlns:a16="http://schemas.microsoft.com/office/drawing/2014/main" id="{657ECBFD-9328-43BE-9C40-9DD102C43416}"/>
              </a:ext>
            </a:extLst>
          </p:cNvPr>
          <p:cNvSpPr>
            <a:spLocks xmlns:a="http://schemas.openxmlformats.org/drawingml/2006/main" noGrp="1"/>
          </p:cNvSpPr>
          <p:nvPr/>
        </p:nvSpPr>
        <p:spPr>
          <a:xfrm xmlns:a="http://schemas.openxmlformats.org/drawingml/2006/main">
            <a:off x="495300" y="4286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5" name="booking-layer-node-14">
            <a:extLst xmlns:a="http://schemas.openxmlformats.org/drawingml/2006/main">
              <a:ext uri="{FF2B5EF4-FFF2-40B4-BE49-F238E27FC236}">
                <a16:creationId xmlns:a16="http://schemas.microsoft.com/office/drawing/2014/main" id="{877FB408-43FD-4283-86ED-F2F9299DC889}"/>
              </a:ext>
            </a:extLst>
          </p:cNvPr>
          <p:cNvSpPr>
            <a:spLocks xmlns:a="http://schemas.openxmlformats.org/drawingml/2006/main" noGrp="1"/>
          </p:cNvSpPr>
          <p:nvPr/>
        </p:nvSpPr>
        <p:spPr>
          <a:xfrm xmlns:a="http://schemas.openxmlformats.org/drawingml/2006/main">
            <a:off x="495300" y="4667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6" name="booking-layer-node-15">
            <a:extLst xmlns:a="http://schemas.openxmlformats.org/drawingml/2006/main">
              <a:ext uri="{FF2B5EF4-FFF2-40B4-BE49-F238E27FC236}">
                <a16:creationId xmlns:a16="http://schemas.microsoft.com/office/drawing/2014/main" id="{4ADA72F3-71A5-474A-82D5-32213561CCCF}"/>
              </a:ext>
            </a:extLst>
          </p:cNvPr>
          <p:cNvSpPr>
            <a:spLocks xmlns:a="http://schemas.openxmlformats.org/drawingml/2006/main" noGrp="1"/>
          </p:cNvSpPr>
          <p:nvPr/>
        </p:nvSpPr>
        <p:spPr>
          <a:xfrm xmlns:a="http://schemas.openxmlformats.org/drawingml/2006/main">
            <a:off x="495300" y="5048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pic>
        <p:nvPicPr>
          <p:cNvPr id="17" name="Picture 16">
            <a:extLst xmlns:a="http://schemas.openxmlformats.org/drawingml/2006/main">
              <a:ext uri="{FF2B5EF4-FFF2-40B4-BE49-F238E27FC236}">
                <a16:creationId xmlns:a16="http://schemas.microsoft.com/office/drawing/2014/main" id="{F988D0AF-1561-4EB3-93DE-11D2ED88AF85}"/>
              </a:ext>
            </a:extLst>
          </p:cNvPr>
          <p:cNvPicPr>
            <a:picLocks xmlns:a="http://schemas.openxmlformats.org/drawingml/2006/main" noChangeAspect="1"/>
          </p:cNvPicPr>
          <p:nvPr/>
        </p:nvPicPr>
        <p:blipFill>
          <a:blip xmlns:r="http://schemas.openxmlformats.org/officeDocument/2006/relationships" xmlns:a="http://schemas.openxmlformats.org/drawingml/2006/main" r:embed="Rf1340c8052e6485c"/>
          <a:srcRect xmlns:a="http://schemas.openxmlformats.org/drawingml/2006/main" l="8000" t="33000" r="6500" b="35000"/>
          <a:stretch xmlns:a="http://schemas.openxmlformats.org/drawingml/2006/main"/>
        </p:blipFill>
        <p:spPr>
          <a:xfrm xmlns:a="http://schemas.openxmlformats.org/drawingml/2006/main">
            <a:off x="904875" y="3181350"/>
            <a:ext cx="1047750" cy="257175"/>
          </a:xfrm>
          <a:prstGeom xmlns:a="http://schemas.openxmlformats.org/drawingml/2006/main" prst="rect">
            <a:avLst/>
          </a:prstGeom>
        </p:spPr>
      </p:pic>
      <p:pic>
        <p:nvPicPr>
          <p:cNvPr id="18" name="Picture 17">
            <a:extLst xmlns:a="http://schemas.openxmlformats.org/drawingml/2006/main">
              <a:ext uri="{FF2B5EF4-FFF2-40B4-BE49-F238E27FC236}">
                <a16:creationId xmlns:a16="http://schemas.microsoft.com/office/drawing/2014/main" id="{441112F1-8DB9-45C8-A6AB-6E2D8656BB83}"/>
              </a:ext>
            </a:extLst>
          </p:cNvPr>
          <p:cNvPicPr>
            <a:picLocks xmlns:a="http://schemas.openxmlformats.org/drawingml/2006/main" noChangeAspect="1"/>
          </p:cNvPicPr>
          <p:nvPr/>
        </p:nvPicPr>
        <p:blipFill>
          <a:blip xmlns:r="http://schemas.openxmlformats.org/officeDocument/2006/relationships" xmlns:a="http://schemas.openxmlformats.org/drawingml/2006/main" r:embed="R93a54f9195044df9"/>
          <a:srcRect xmlns:a="http://schemas.openxmlformats.org/drawingml/2006/main" l="6000" t="39500" r="9500" b="37000"/>
          <a:stretch xmlns:a="http://schemas.openxmlformats.org/drawingml/2006/main"/>
        </p:blipFill>
        <p:spPr>
          <a:xfrm xmlns:a="http://schemas.openxmlformats.org/drawingml/2006/main">
            <a:off x="828675" y="3943350"/>
            <a:ext cx="1200150" cy="257175"/>
          </a:xfrm>
          <a:prstGeom xmlns:a="http://schemas.openxmlformats.org/drawingml/2006/main" prst="rect">
            <a:avLst/>
          </a:prstGeom>
        </p:spPr>
      </p:pic>
      <p:pic>
        <p:nvPicPr>
          <p:cNvPr id="19" name="Picture 18">
            <a:extLst xmlns:a="http://schemas.openxmlformats.org/drawingml/2006/main">
              <a:ext uri="{FF2B5EF4-FFF2-40B4-BE49-F238E27FC236}">
                <a16:creationId xmlns:a16="http://schemas.microsoft.com/office/drawing/2014/main" id="{D3B2E4BD-7596-4A30-9698-094FC588CD3F}"/>
              </a:ext>
            </a:extLst>
          </p:cNvPr>
          <p:cNvPicPr>
            <a:picLocks xmlns:a="http://schemas.openxmlformats.org/drawingml/2006/main" noChangeAspect="1"/>
          </p:cNvPicPr>
          <p:nvPr/>
        </p:nvPicPr>
        <p:blipFill>
          <a:blip xmlns:r="http://schemas.openxmlformats.org/officeDocument/2006/relationships" xmlns:a="http://schemas.openxmlformats.org/drawingml/2006/main" r:embed="R108532c4d6f04434"/>
          <a:srcRect xmlns:a="http://schemas.openxmlformats.org/drawingml/2006/main" l="21000" t="26000" r="21000" b="32000"/>
          <a:stretch xmlns:a="http://schemas.openxmlformats.org/drawingml/2006/main"/>
        </p:blipFill>
        <p:spPr>
          <a:xfrm xmlns:a="http://schemas.openxmlformats.org/drawingml/2006/main">
            <a:off x="962025" y="4314825"/>
            <a:ext cx="933450" cy="266700"/>
          </a:xfrm>
          <a:prstGeom xmlns:a="http://schemas.openxmlformats.org/drawingml/2006/main" prst="rect">
            <a:avLst/>
          </a:prstGeom>
        </p:spPr>
      </p:pic>
      <p:pic>
        <p:nvPicPr>
          <p:cNvPr id="20" name="Picture 19">
            <a:extLst xmlns:a="http://schemas.openxmlformats.org/drawingml/2006/main">
              <a:ext uri="{FF2B5EF4-FFF2-40B4-BE49-F238E27FC236}">
                <a16:creationId xmlns:a16="http://schemas.microsoft.com/office/drawing/2014/main" id="{F3886CA1-9037-45BE-BCC0-EFD0CF7E8349}"/>
              </a:ext>
            </a:extLst>
          </p:cNvPr>
          <p:cNvPicPr>
            <a:picLocks xmlns:a="http://schemas.openxmlformats.org/drawingml/2006/main" noChangeAspect="1"/>
          </p:cNvPicPr>
          <p:nvPr/>
        </p:nvPicPr>
        <p:blipFill>
          <a:blip xmlns:r="http://schemas.openxmlformats.org/officeDocument/2006/relationships" xmlns:a="http://schemas.openxmlformats.org/drawingml/2006/main" r:embed="R78673d3573064fd3"/>
          <a:srcRect xmlns:a="http://schemas.openxmlformats.org/drawingml/2006/main" l="3500" t="7000" r="69500" b="11000"/>
          <a:stretch xmlns:a="http://schemas.openxmlformats.org/drawingml/2006/main"/>
        </p:blipFill>
        <p:spPr>
          <a:xfrm xmlns:a="http://schemas.openxmlformats.org/drawingml/2006/main">
            <a:off x="838200" y="4695825"/>
            <a:ext cx="257175" cy="266700"/>
          </a:xfrm>
          <a:prstGeom xmlns:a="http://schemas.openxmlformats.org/drawingml/2006/main" prst="rect">
            <a:avLst/>
          </a:prstGeom>
        </p:spPr>
      </p:pic>
      <p:sp>
        <p:nvSpPr>
          <p:cNvPr id="21" name="booking-layer-text-16">
            <a:extLst xmlns:a="http://schemas.openxmlformats.org/drawingml/2006/main">
              <a:ext uri="{FF2B5EF4-FFF2-40B4-BE49-F238E27FC236}">
                <a16:creationId xmlns:a16="http://schemas.microsoft.com/office/drawing/2014/main" id="{B44C165E-AEAF-47F5-8904-554268F63319}"/>
              </a:ext>
            </a:extLst>
          </p:cNvPr>
          <p:cNvSpPr>
            <a:spLocks xmlns:a="http://schemas.openxmlformats.org/drawingml/2006/main" noGrp="1"/>
          </p:cNvSpPr>
          <p:nvPr/>
        </p:nvSpPr>
        <p:spPr>
          <a:xfrm xmlns:a="http://schemas.openxmlformats.org/drawingml/2006/main">
            <a:off x="1209675" y="471487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Picture 21">
            <a:extLst xmlns:a="http://schemas.openxmlformats.org/drawingml/2006/main">
              <a:ext uri="{FF2B5EF4-FFF2-40B4-BE49-F238E27FC236}">
                <a16:creationId xmlns:a16="http://schemas.microsoft.com/office/drawing/2014/main" id="{5D998292-4A62-4A61-A5F2-D5272650639E}"/>
              </a:ext>
            </a:extLst>
          </p:cNvPr>
          <p:cNvPicPr>
            <a:picLocks xmlns:a="http://schemas.openxmlformats.org/drawingml/2006/main" noChangeAspect="1"/>
          </p:cNvPicPr>
          <p:nvPr/>
        </p:nvPicPr>
        <p:blipFill>
          <a:blip xmlns:r="http://schemas.openxmlformats.org/officeDocument/2006/relationships" xmlns:a="http://schemas.openxmlformats.org/drawingml/2006/main" r:embed="R45ac2a6c54de48a1"/>
          <a:srcRect xmlns:a="http://schemas.openxmlformats.org/drawingml/2006/main" l="0" t="0" r="0" b="0"/>
          <a:stretch xmlns:a="http://schemas.openxmlformats.org/drawingml/2006/main"/>
        </p:blipFill>
        <p:spPr>
          <a:xfrm xmlns:a="http://schemas.openxmlformats.org/drawingml/2006/main">
            <a:off x="981075" y="5086350"/>
            <a:ext cx="247650" cy="247650"/>
          </a:xfrm>
          <a:prstGeom xmlns:a="http://schemas.openxmlformats.org/drawingml/2006/main" prst="rect">
            <a:avLst/>
          </a:prstGeom>
        </p:spPr>
      </p:pic>
      <p:sp>
        <p:nvSpPr>
          <p:cNvPr id="23" name="booking-layer-text-17">
            <a:extLst xmlns:a="http://schemas.openxmlformats.org/drawingml/2006/main">
              <a:ext uri="{FF2B5EF4-FFF2-40B4-BE49-F238E27FC236}">
                <a16:creationId xmlns:a16="http://schemas.microsoft.com/office/drawing/2014/main" id="{7807ACC5-6E11-4442-8DAE-E40658E334E7}"/>
              </a:ext>
            </a:extLst>
          </p:cNvPr>
          <p:cNvSpPr>
            <a:spLocks xmlns:a="http://schemas.openxmlformats.org/drawingml/2006/main" noGrp="1"/>
          </p:cNvSpPr>
          <p:nvPr/>
        </p:nvSpPr>
        <p:spPr>
          <a:xfrm xmlns:a="http://schemas.openxmlformats.org/drawingml/2006/main">
            <a:off x="1323975" y="50958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xmlns:a="http://schemas.openxmlformats.org/drawingml/2006/main">
              <a:ext uri="{FF2B5EF4-FFF2-40B4-BE49-F238E27FC236}">
                <a16:creationId xmlns:a16="http://schemas.microsoft.com/office/drawing/2014/main" id="{32C0CC3B-119F-4144-9827-BE99EADABABB}"/>
              </a:ext>
            </a:extLst>
          </p:cNvPr>
          <p:cNvSpPr>
            <a:spLocks xmlns:a="http://schemas.openxmlformats.org/drawingml/2006/main" noGrp="1"/>
          </p:cNvSpPr>
          <p:nvPr/>
        </p:nvSpPr>
        <p:spPr>
          <a:xfrm xmlns:a="http://schemas.openxmlformats.org/drawingml/2006/main">
            <a:off x="495300" y="54673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5746C"/>
                </a:solidFill>
                <a:latin typeface="Helvetica Neue"/>
                <a:ea typeface="Helvetica Neue"/>
                <a:cs typeface="Helvetica Neue"/>
              </a:defRPr>
            </a:defPPr>
          </a:lstStyle>
          <a:p xmlns:a="http://schemas.openxmlformats.org/drawingml/2006/main">
            <a:pPr>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rPr>
              <a:t>Claude · Gemini · more</a:t>
            </a:r>
          </a:p>
        </p:txBody>
      </p:sp>
      <p:sp>
        <p:nvSpPr>
          <p:cNvPr id="25" name="booking-layer-node-19">
            <a:extLst xmlns:a="http://schemas.openxmlformats.org/drawingml/2006/main">
              <a:ext uri="{FF2B5EF4-FFF2-40B4-BE49-F238E27FC236}">
                <a16:creationId xmlns:a16="http://schemas.microsoft.com/office/drawing/2014/main" id="{74AA40FC-02C1-4BE0-8313-7735099DCF1D}"/>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endParaRPr/>
          </a:p>
        </p:txBody>
      </p:sp>
      <p:sp>
        <p:nvSpPr>
          <p:cNvPr id="26" name="booking-layer-text-20">
            <a:extLst xmlns:a="http://schemas.openxmlformats.org/drawingml/2006/main">
              <a:ext uri="{FF2B5EF4-FFF2-40B4-BE49-F238E27FC236}">
                <a16:creationId xmlns:a16="http://schemas.microsoft.com/office/drawing/2014/main" id="{C6D36CF4-F934-46A7-A7ED-AE0B6B0A28B7}"/>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xmlns:a="http://schemas.openxmlformats.org/drawingml/2006/main">
              <a:ext uri="{FF2B5EF4-FFF2-40B4-BE49-F238E27FC236}">
                <a16:creationId xmlns:a16="http://schemas.microsoft.com/office/drawing/2014/main" id="{D2E9DA3D-BADC-411C-9816-D7B830B85686}"/>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Data and booking API</a:t>
            </a:r>
          </a:p>
        </p:txBody>
      </p:sp>
      <p:sp>
        <p:nvSpPr>
          <p:cNvPr id="28" name="booking-layer-text-22">
            <a:extLst xmlns:a="http://schemas.openxmlformats.org/drawingml/2006/main">
              <a:ext uri="{FF2B5EF4-FFF2-40B4-BE49-F238E27FC236}">
                <a16:creationId xmlns:a16="http://schemas.microsoft.com/office/drawing/2014/main" id="{C930747B-9306-4183-8241-FF8F43990C91}"/>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xmlns:a="http://schemas.openxmlformats.org/drawingml/2006/main">
              <a:ext uri="{FF2B5EF4-FFF2-40B4-BE49-F238E27FC236}">
                <a16:creationId xmlns:a16="http://schemas.microsoft.com/office/drawing/2014/main" id="{85C28355-C62A-4204-9E75-6908910F82D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xmlns:a="http://schemas.openxmlformats.org/drawingml/2006/main">
              <a:ext uri="{FF2B5EF4-FFF2-40B4-BE49-F238E27FC236}">
                <a16:creationId xmlns:a16="http://schemas.microsoft.com/office/drawing/2014/main" id="{A4A8E40D-D041-4171-A580-3214F68214AE}"/>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1" name="booking-layer-node-25">
            <a:extLst xmlns:a="http://schemas.openxmlformats.org/drawingml/2006/main">
              <a:ext uri="{FF2B5EF4-FFF2-40B4-BE49-F238E27FC236}">
                <a16:creationId xmlns:a16="http://schemas.microsoft.com/office/drawing/2014/main" id="{381E847E-A9FA-4F37-B3E5-C61763DD5015}"/>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2" name="booking-layer-node-26">
            <a:extLst xmlns:a="http://schemas.openxmlformats.org/drawingml/2006/main">
              <a:ext uri="{FF2B5EF4-FFF2-40B4-BE49-F238E27FC236}">
                <a16:creationId xmlns:a16="http://schemas.microsoft.com/office/drawing/2014/main" id="{6C43306A-9317-4532-A9D7-E457E756AD02}"/>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3" name="booking-layer-text-27">
            <a:extLst xmlns:a="http://schemas.openxmlformats.org/drawingml/2006/main">
              <a:ext uri="{FF2B5EF4-FFF2-40B4-BE49-F238E27FC236}">
                <a16:creationId xmlns:a16="http://schemas.microsoft.com/office/drawing/2014/main" id="{F7AA3C7C-9687-4831-B1E3-609571EA6283}"/>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xmlns:a="http://schemas.openxmlformats.org/drawingml/2006/main">
              <a:ext uri="{FF2B5EF4-FFF2-40B4-BE49-F238E27FC236}">
                <a16:creationId xmlns:a16="http://schemas.microsoft.com/office/drawing/2014/main" id="{DAF92F19-6F68-463C-A5D7-17C7BF943389}"/>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a:t>
            </a:r>
          </a:p>
        </p:txBody>
      </p:sp>
      <p:sp>
        <p:nvSpPr>
          <p:cNvPr id="35" name="booking-layer-text-29">
            <a:extLst xmlns:a="http://schemas.openxmlformats.org/drawingml/2006/main">
              <a:ext uri="{FF2B5EF4-FFF2-40B4-BE49-F238E27FC236}">
                <a16:creationId xmlns:a16="http://schemas.microsoft.com/office/drawing/2014/main" id="{EFFD3163-3DDB-4787-B7DC-5B310C25C6B8}"/>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xmlns:a="http://schemas.openxmlformats.org/drawingml/2006/main">
              <a:ext uri="{FF2B5EF4-FFF2-40B4-BE49-F238E27FC236}">
                <a16:creationId xmlns:a16="http://schemas.microsoft.com/office/drawing/2014/main" id="{640864B5-5C1A-4DE5-9D3F-17B4BF336541}"/>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xmlns:a="http://schemas.openxmlformats.org/drawingml/2006/main">
              <a:ext uri="{FF2B5EF4-FFF2-40B4-BE49-F238E27FC236}">
                <a16:creationId xmlns:a16="http://schemas.microsoft.com/office/drawing/2014/main" id="{623A8565-8E22-49E9-BA3D-0EFB49F4B012}"/>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Cactus AI</a:t>
            </a:r>
          </a:p>
        </p:txBody>
      </p:sp>
      <p:sp>
        <p:nvSpPr>
          <p:cNvPr id="38" name="booking-layer-text-32">
            <a:extLst xmlns:a="http://schemas.openxmlformats.org/drawingml/2006/main">
              <a:ext uri="{FF2B5EF4-FFF2-40B4-BE49-F238E27FC236}">
                <a16:creationId xmlns:a16="http://schemas.microsoft.com/office/drawing/2014/main" id="{E69B47E3-FC57-4C21-B033-DB430D828C62}"/>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 other platforms</a:t>
            </a:r>
          </a:p>
        </p:txBody>
      </p:sp>
      <p:sp>
        <p:nvSpPr>
          <p:cNvPr id="39" name="booking-layer-text-33">
            <a:extLst xmlns:a="http://schemas.openxmlformats.org/drawingml/2006/main">
              <a:ext uri="{FF2B5EF4-FFF2-40B4-BE49-F238E27FC236}">
                <a16:creationId xmlns:a16="http://schemas.microsoft.com/office/drawing/2014/main" id="{34FFBC60-20E6-445B-9EB8-05E52E28C49C}"/>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xmlns:a="http://schemas.openxmlformats.org/drawingml/2006/main">
              <a:ext uri="{FF2B5EF4-FFF2-40B4-BE49-F238E27FC236}">
                <a16:creationId xmlns:a16="http://schemas.microsoft.com/office/drawing/2014/main" id="{75764D65-252C-45A0-9B39-5D9214475394}"/>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 other platforms</a:t>
            </a:r>
          </a:p>
        </p:txBody>
      </p:sp>
      <p:sp>
        <p:nvSpPr>
          <p:cNvPr id="41" name="booking-layer-text-35">
            <a:extLst xmlns:a="http://schemas.openxmlformats.org/drawingml/2006/main">
              <a:ext uri="{FF2B5EF4-FFF2-40B4-BE49-F238E27FC236}">
                <a16:creationId xmlns:a16="http://schemas.microsoft.com/office/drawing/2014/main" id="{1F54E58A-93CF-4529-BE74-48271C8062FA}"/>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a:r>
          </a:p>
        </p:txBody>
      </p:sp>
      <p:sp>
        <p:nvSpPr>
          <p:cNvPr id="42" name="booking-layer-node-36">
            <a:extLst xmlns:a="http://schemas.openxmlformats.org/drawingml/2006/main">
              <a:ext uri="{FF2B5EF4-FFF2-40B4-BE49-F238E27FC236}">
                <a16:creationId xmlns:a16="http://schemas.microsoft.com/office/drawing/2014/main" id="{F23562F6-92C0-4E2A-9C4E-14CAF1AB025D}"/>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xmlns:a="http://schemas.openxmlformats.org/drawingml/2006/main">
              <a:ext uri="{FF2B5EF4-FFF2-40B4-BE49-F238E27FC236}">
                <a16:creationId xmlns:a16="http://schemas.microsoft.com/office/drawing/2014/main" id="{E0913280-755C-4FC9-B294-B8877BA719C3}"/>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xmlns:a="http://schemas.openxmlformats.org/drawingml/2006/main">
              <a:ext uri="{FF2B5EF4-FFF2-40B4-BE49-F238E27FC236}">
                <a16:creationId xmlns:a16="http://schemas.microsoft.com/office/drawing/2014/main" id="{CD61F4F2-BFCA-4380-B3D6-9E65D8B5C450}"/>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xmlns:a="http://schemas.openxmlformats.org/drawingml/2006/main">
              <a:ext uri="{FF2B5EF4-FFF2-40B4-BE49-F238E27FC236}">
                <a16:creationId xmlns:a16="http://schemas.microsoft.com/office/drawing/2014/main" id="{FA822E6B-449C-4790-9B5C-EF573D939BBE}"/>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Plumbing is one category.</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Each category has its own software mix.</a:t>
            </a:r>
          </a:p>
        </p:txBody>
      </p:sp>
      <p:sp>
        <p:nvSpPr>
          <p:cNvPr id="59" name="booking-layer-text-40">
            <a:extLst xmlns:a="http://schemas.openxmlformats.org/drawingml/2006/main">
              <a:ext uri="{FF2B5EF4-FFF2-40B4-BE49-F238E27FC236}">
                <a16:creationId xmlns:a16="http://schemas.microsoft.com/office/drawing/2014/main" id="{F64613CD-0DA4-4247-B4D8-7BA61504B61F}"/>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reach local supply through one connection.</a:t>
            </a:r>
          </a:p>
        </p:txBody>
      </p:sp>
      <p:sp>
        <p:nvSpPr>
          <p:cNvPr id="60" name="booking-layer-text-41">
            <a:extLst xmlns:a="http://schemas.openxmlformats.org/drawingml/2006/main">
              <a:ext uri="{FF2B5EF4-FFF2-40B4-BE49-F238E27FC236}">
                <a16:creationId xmlns:a16="http://schemas.microsoft.com/office/drawing/2014/main" id="{03CB5374-FA64-4A7A-AD8D-323F3E11523C}"/>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Businesses reach connected agents through one integration.</a:t>
            </a:r>
          </a:p>
        </p:txBody>
      </p:sp>
      <p:sp>
        <p:nvSpPr>
          <p:cNvPr id="61" name="booking-layer-text-42">
            <a:extLst xmlns:a="http://schemas.openxmlformats.org/drawingml/2006/main">
              <a:ext uri="{FF2B5EF4-FFF2-40B4-BE49-F238E27FC236}">
                <a16:creationId xmlns:a16="http://schemas.microsoft.com/office/drawing/2014/main" id="{AE01A67E-E79E-40E0-916B-B9A50D4AE318}"/>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*Selected-startup funding. 100+ plumbing products listed by Software Advice. Examples, not live integrations.</a:t>
            </a:r>
          </a:p>
        </p:txBody>
      </p:sp>
      <p:sp>
        <p:nvSpPr>
          <p:cNvPr id="62" name="booking-layer-text-43">
            <a:extLst xmlns:a="http://schemas.openxmlformats.org/drawingml/2006/main">
              <a:ext uri="{FF2B5EF4-FFF2-40B4-BE49-F238E27FC236}">
                <a16:creationId xmlns:a16="http://schemas.microsoft.com/office/drawing/2014/main" id="{5CD82E1E-F31D-41BF-B159-FA5EFFFF6B38}"/>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1" name="Straight Arrow Connector 10">
            <a:extLst xmlns:a="http://schemas.openxmlformats.org/drawingml/2006/main">
              <a:ext uri="{FF2B5EF4-FFF2-40B4-BE49-F238E27FC236}">
                <a16:creationId xmlns:a16="http://schemas.microsoft.com/office/drawing/2014/main" id="{4DB94852-5DE8-42A1-B132-5DC1ADFEE2EB}"/>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Straight Arrow Connector 9">
            <a:extLst xmlns:a="http://schemas.openxmlformats.org/drawingml/2006/main">
              <a:ext uri="{FF2B5EF4-FFF2-40B4-BE49-F238E27FC236}">
                <a16:creationId xmlns:a16="http://schemas.microsoft.com/office/drawing/2014/main" id="{66AB7888-ECBF-4AC7-A513-082B3F162FCC}"/>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Straight Arrow Connector 8">
            <a:extLst xmlns:a="http://schemas.openxmlformats.org/drawingml/2006/main">
              <a:ext uri="{FF2B5EF4-FFF2-40B4-BE49-F238E27FC236}">
                <a16:creationId xmlns:a16="http://schemas.microsoft.com/office/drawing/2014/main" id="{C41E6E6D-0FDA-41D1-91C0-4C4C21D21130}"/>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Salt Lake City tomorrow</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morning 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Scopes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AFCEABC7-91EE-4B7B-9AB8-397A32A5E3A1}"/>
              </a:ext>
            </a:extLst>
          </p:cNvPr>
          <p:cNvCxnSpPr>
            <a:stCxn xmlns:a="http://schemas.openxmlformats.org/drawingml/2006/main" id="13" idx="0"/>
            <a:endCxn xmlns:a="http://schemas.openxmlformats.org/drawingml/2006/main" id="10" idx="2"/>
          </p:cNvCxnSpPr>
          <p:nvPr/>
        </p:nvCxnSpPr>
        <p:spPr>
          <a:xfrm xmlns:a="http://schemas.openxmlformats.org/drawingml/2006/main" flipV="1">
            <a:off x="5881688" y="3514725"/>
            <a:ext cx="0" cy="60960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75C67265-37FB-4059-93F2-4A2D2B9A574A}"/>
              </a:ext>
            </a:extLst>
          </p:cNvPr>
          <p:cNvCxnSpPr>
            <a:stCxn xmlns:a="http://schemas.openxmlformats.org/drawingml/2006/main" id="12" idx="1"/>
            <a:endCxn xmlns:a="http://schemas.openxmlformats.org/drawingml/2006/main" id="13" idx="3"/>
          </p:cNvCxnSpPr>
          <p:nvPr/>
        </p:nvCxnSpPr>
        <p:spPr>
          <a:xfrm xmlns:a="http://schemas.openxmlformats.org/drawingml/2006/main" flipH="1" flipV="1">
            <a:off x="7467600" y="4486275"/>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5" name="">
            <a:extLst xmlns:a="http://schemas.openxmlformats.org/drawingml/2006/main">
              <a:ext uri="{FF2B5EF4-FFF2-40B4-BE49-F238E27FC236}">
                <a16:creationId xmlns:a16="http://schemas.microsoft.com/office/drawing/2014/main" id="{F46890A0-A96B-4242-A431-8E44F9EAD27E}"/>
              </a:ext>
            </a:extLst>
          </p:cNvPr>
          <p:cNvCxnSpPr>
            <a:stCxn xmlns:a="http://schemas.openxmlformats.org/drawingml/2006/main" id="11" idx="2"/>
            <a:endCxn xmlns:a="http://schemas.openxmlformats.org/drawingml/2006/main" id="12" idx="0"/>
          </p:cNvCxnSpPr>
          <p:nvPr/>
        </p:nvCxnSpPr>
        <p:spPr>
          <a:xfrm xmlns:a="http://schemas.openxmlformats.org/drawingml/2006/main">
            <a:off x="10063163" y="3695700"/>
            <a:ext cx="0" cy="4762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135CDEEF-142B-4F0B-8FAF-FDC4C436F7AE}"/>
              </a:ext>
            </a:extLst>
          </p:cNvPr>
          <p:cNvCxnSpPr>
            <a:stCxn xmlns:a="http://schemas.openxmlformats.org/drawingml/2006/main" id="10" idx="3"/>
            <a:endCxn xmlns:a="http://schemas.openxmlformats.org/drawingml/2006/main" id="11" idx="1"/>
          </p:cNvCxnSpPr>
          <p:nvPr/>
        </p:nvCxnSpPr>
        <p:spPr>
          <a:xfrm xmlns:a="http://schemas.openxmlformats.org/drawingml/2006/main">
            <a:off x="7467600" y="3195638"/>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3" name="v27-text-7">
            <a:extLst xmlns:a="http://schemas.openxmlformats.org/drawingml/2006/main">
              <a:ext uri="{FF2B5EF4-FFF2-40B4-BE49-F238E27FC236}">
                <a16:creationId xmlns:a16="http://schemas.microsoft.com/office/drawing/2014/main" id="{552406B7-7212-4A4E-9D8F-4BF49224FCF5}"/>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v27-text-8">
            <a:extLst xmlns:a="http://schemas.openxmlformats.org/drawingml/2006/main">
              <a:ext uri="{FF2B5EF4-FFF2-40B4-BE49-F238E27FC236}">
                <a16:creationId xmlns:a16="http://schemas.microsoft.com/office/drawing/2014/main" id="{09EF2AB4-50EE-4D03-BB1C-EA0D87949576}"/>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bookings can build a stronger local network</a:t>
            </a:r>
          </a:p>
        </p:txBody>
      </p:sp>
      <p:sp>
        <p:nvSpPr>
          <p:cNvPr id="3" name="v27-text-9">
            <a:extLst xmlns:a="http://schemas.openxmlformats.org/drawingml/2006/main">
              <a:ext uri="{FF2B5EF4-FFF2-40B4-BE49-F238E27FC236}">
                <a16:creationId xmlns:a16="http://schemas.microsoft.com/office/drawing/2014/main" id="{6751AF65-204F-462C-93D4-1DBF2FD9D9F9}"/>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One city and one service category first.</a:t>
            </a:r>
          </a:p>
        </p:txBody>
      </p:sp>
      <p:sp>
        <p:nvSpPr>
          <p:cNvPr id="4" name="v27-text-10">
            <a:extLst xmlns:a="http://schemas.openxmlformats.org/drawingml/2006/main">
              <a:ext uri="{FF2B5EF4-FFF2-40B4-BE49-F238E27FC236}">
                <a16:creationId xmlns:a16="http://schemas.microsoft.com/office/drawing/2014/main" id="{6C7C6279-3DD2-4E61-BB69-C15A5C0182D3}"/>
              </a:ext>
            </a:extLst>
          </p:cNvPr>
          <p:cNvSpPr>
            <a:spLocks xmlns:a="http://schemas.openxmlformats.org/drawingml/2006/main" noGrp="1"/>
          </p:cNvSpPr>
          <p:nvPr/>
        </p:nvSpPr>
        <p:spPr>
          <a:xfrm xmlns:a="http://schemas.openxmlformats.org/drawingml/2006/main">
            <a:off x="495300" y="210502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1  Build a local market</a:t>
            </a:r>
          </a:p>
        </p:txBody>
      </p:sp>
      <p:sp>
        <p:nvSpPr>
          <p:cNvPr id="5" name="v27-text-11">
            <a:extLst xmlns:a="http://schemas.openxmlformats.org/drawingml/2006/main">
              <a:ext uri="{FF2B5EF4-FFF2-40B4-BE49-F238E27FC236}">
                <a16:creationId xmlns:a16="http://schemas.microsoft.com/office/drawing/2014/main" id="{A4B74ED6-7AE9-47F3-9C6C-57CA1ABDE3C1}"/>
              </a:ext>
            </a:extLst>
          </p:cNvPr>
          <p:cNvSpPr>
            <a:spLocks xmlns:a="http://schemas.openxmlformats.org/drawingml/2006/main" noGrp="1"/>
          </p:cNvSpPr>
          <p:nvPr/>
        </p:nvSpPr>
        <p:spPr>
          <a:xfrm xmlns:a="http://schemas.openxmlformats.org/drawingml/2006/main">
            <a:off x="495300" y="2600325"/>
            <a:ext cx="32861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93C32"/>
                </a:solidFill>
                <a:latin typeface="Helvetica Neue"/>
                <a:ea typeface="Helvetica Neue"/>
                <a:cs typeface="Helvetica Neue"/>
              </a:defRPr>
            </a:defPPr>
          </a:lstStyle>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Recruit providers and users</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with a specific booking need</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in one city and category.</a:t>
            </a:r>
          </a:p>
        </p:txBody>
      </p:sp>
      <p:sp>
        <p:nvSpPr>
          <p:cNvPr id="6" name="v27-text-12">
            <a:extLst xmlns:a="http://schemas.openxmlformats.org/drawingml/2006/main">
              <a:ext uri="{FF2B5EF4-FFF2-40B4-BE49-F238E27FC236}">
                <a16:creationId xmlns:a16="http://schemas.microsoft.com/office/drawing/2014/main" id="{D038FF64-F9D1-4FBB-8426-6E1D62BB74DC}"/>
              </a:ext>
            </a:extLst>
          </p:cNvPr>
          <p:cNvSpPr>
            <a:spLocks xmlns:a="http://schemas.openxmlformats.org/drawingml/2006/main" noGrp="1"/>
          </p:cNvSpPr>
          <p:nvPr/>
        </p:nvSpPr>
        <p:spPr>
          <a:xfrm xmlns:a="http://schemas.openxmlformats.org/drawingml/2006/main">
            <a:off x="495300" y="391477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2  Connect their agents</a:t>
            </a:r>
          </a:p>
        </p:txBody>
      </p:sp>
      <p:sp>
        <p:nvSpPr>
          <p:cNvPr id="7" name="v27-text-13">
            <a:extLst xmlns:a="http://schemas.openxmlformats.org/drawingml/2006/main">
              <a:ext uri="{FF2B5EF4-FFF2-40B4-BE49-F238E27FC236}">
                <a16:creationId xmlns:a16="http://schemas.microsoft.com/office/drawing/2014/main" id="{191837B7-7E9C-449A-BADA-EA779B7CD341}"/>
              </a:ext>
            </a:extLst>
          </p:cNvPr>
          <p:cNvSpPr>
            <a:spLocks xmlns:a="http://schemas.openxmlformats.org/drawingml/2006/main" noGrp="1"/>
          </p:cNvSpPr>
          <p:nvPr/>
        </p:nvSpPr>
        <p:spPr>
          <a:xfrm xmlns:a="http://schemas.openxmlformats.org/drawingml/2006/main">
            <a:off x="495300" y="4410075"/>
            <a:ext cx="328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“Add GoLocal to find</a:t>
            </a:r>
          </a:p>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me local services.”</a:t>
            </a:r>
          </a:p>
        </p:txBody>
      </p:sp>
      <p:sp>
        <p:nvSpPr>
          <p:cNvPr id="8" name="v27-text-14">
            <a:extLst xmlns:a="http://schemas.openxmlformats.org/drawingml/2006/main">
              <a:ext uri="{FF2B5EF4-FFF2-40B4-BE49-F238E27FC236}">
                <a16:creationId xmlns:a16="http://schemas.microsoft.com/office/drawing/2014/main" id="{F35D870C-26D8-4432-8D17-27531F6A6155}"/>
              </a:ext>
            </a:extLst>
          </p:cNvPr>
          <p:cNvSpPr>
            <a:spLocks xmlns:a="http://schemas.openxmlformats.org/drawingml/2006/main" noGrp="1"/>
          </p:cNvSpPr>
          <p:nvPr/>
        </p:nvSpPr>
        <p:spPr>
          <a:xfrm xmlns:a="http://schemas.openxmlformats.org/drawingml/2006/main">
            <a:off x="495300" y="51911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One-time setup on a compatible</a:t>
            </a:r>
          </a:p>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agent, with sign-in and approval.</a:t>
            </a:r>
          </a:p>
        </p:txBody>
      </p:sp>
      <p:sp>
        <p:nvSpPr>
          <p:cNvPr id="9" name="v27-text-15">
            <a:extLst xmlns:a="http://schemas.openxmlformats.org/drawingml/2006/main">
              <a:ext uri="{FF2B5EF4-FFF2-40B4-BE49-F238E27FC236}">
                <a16:creationId xmlns:a16="http://schemas.microsoft.com/office/drawing/2014/main" id="{6529E900-B225-4C1D-AAC0-C63E23B875B5}"/>
              </a:ext>
            </a:extLst>
          </p:cNvPr>
          <p:cNvSpPr>
            <a:spLocks xmlns:a="http://schemas.openxmlformats.org/drawingml/2006/main" noGrp="1"/>
          </p:cNvSpPr>
          <p:nvPr/>
        </p:nvSpPr>
        <p:spPr>
          <a:xfrm xmlns:a="http://schemas.openxmlformats.org/drawingml/2006/main">
            <a:off x="4295775" y="2105025"/>
            <a:ext cx="7400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3  The proposed network effect</a:t>
            </a:r>
          </a:p>
        </p:txBody>
      </p:sp>
      <p:sp>
        <p:nvSpPr>
          <p:cNvPr id="10" name="v27-text-16">
            <a:extLst xmlns:a="http://schemas.openxmlformats.org/drawingml/2006/main">
              <a:ext uri="{FF2B5EF4-FFF2-40B4-BE49-F238E27FC236}">
                <a16:creationId xmlns:a16="http://schemas.microsoft.com/office/drawing/2014/main" id="{41F248C4-2E34-45F4-B7A0-3D0F4A273D15}"/>
              </a:ext>
            </a:extLst>
          </p:cNvPr>
          <p:cNvSpPr>
            <a:spLocks xmlns:a="http://schemas.openxmlformats.org/drawingml/2006/main" noGrp="1"/>
          </p:cNvSpPr>
          <p:nvPr/>
        </p:nvSpPr>
        <p:spPr>
          <a:xfrm xmlns:a="http://schemas.openxmlformats.org/drawingml/2006/main">
            <a:off x="4295775" y="2876550"/>
            <a:ext cx="31718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Successful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1" name="v27-text-17">
            <a:extLst xmlns:a="http://schemas.openxmlformats.org/drawingml/2006/main">
              <a:ext uri="{FF2B5EF4-FFF2-40B4-BE49-F238E27FC236}">
                <a16:creationId xmlns:a16="http://schemas.microsoft.com/office/drawing/2014/main" id="{97FBEBDF-09DA-4E8D-83F4-1657A435BB03}"/>
              </a:ext>
            </a:extLst>
          </p:cNvPr>
          <p:cNvSpPr>
            <a:spLocks xmlns:a="http://schemas.openxmlformats.org/drawingml/2006/main" noGrp="1"/>
          </p:cNvSpPr>
          <p:nvPr/>
        </p:nvSpPr>
        <p:spPr>
          <a:xfrm xmlns:a="http://schemas.openxmlformats.org/drawingml/2006/main">
            <a:off x="8429625" y="2714625"/>
            <a:ext cx="32670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193C32"/>
                </a:solidFill>
                <a:latin typeface="Helvetica Neue"/>
                <a:ea typeface="Helvetica Neue"/>
                <a:cs typeface="Helvetica Neue"/>
              </a:defRPr>
            </a:defPPr>
          </a:lstStyle>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Agents suggest GoLocal</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to more users with</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similar requests*</a:t>
            </a:r>
          </a:p>
        </p:txBody>
      </p:sp>
      <p:sp>
        <p:nvSpPr>
          <p:cNvPr id="12" name="v27-text-18">
            <a:extLst xmlns:a="http://schemas.openxmlformats.org/drawingml/2006/main">
              <a:ext uri="{FF2B5EF4-FFF2-40B4-BE49-F238E27FC236}">
                <a16:creationId xmlns:a16="http://schemas.microsoft.com/office/drawing/2014/main" id="{D8C682C3-FB27-45C7-9DD3-12C2E8E52A0D}"/>
              </a:ext>
            </a:extLst>
          </p:cNvPr>
          <p:cNvSpPr>
            <a:spLocks xmlns:a="http://schemas.openxmlformats.org/drawingml/2006/main" noGrp="1"/>
          </p:cNvSpPr>
          <p:nvPr/>
        </p:nvSpPr>
        <p:spPr>
          <a:xfrm xmlns:a="http://schemas.openxmlformats.org/drawingml/2006/main">
            <a:off x="8429625" y="4171950"/>
            <a:ext cx="3267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More local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3" name="v27-text-19">
            <a:extLst xmlns:a="http://schemas.openxmlformats.org/drawingml/2006/main">
              <a:ext uri="{FF2B5EF4-FFF2-40B4-BE49-F238E27FC236}">
                <a16:creationId xmlns:a16="http://schemas.microsoft.com/office/drawing/2014/main" id="{9DA05B9F-2AE2-4577-8F47-50D875FC15C5}"/>
              </a:ext>
            </a:extLst>
          </p:cNvPr>
          <p:cNvSpPr>
            <a:spLocks xmlns:a="http://schemas.openxmlformats.org/drawingml/2006/main" noGrp="1"/>
          </p:cNvSpPr>
          <p:nvPr/>
        </p:nvSpPr>
        <p:spPr>
          <a:xfrm xmlns:a="http://schemas.openxmlformats.org/drawingml/2006/main">
            <a:off x="4295775" y="4124325"/>
            <a:ext cx="31718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 local businesses join,</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expanding useful coverage</a:t>
            </a:r>
          </a:p>
        </p:txBody>
      </p:sp>
      <p:sp>
        <p:nvSpPr>
          <p:cNvPr id="18" name="v27-text-20">
            <a:extLst xmlns:a="http://schemas.openxmlformats.org/drawingml/2006/main">
              <a:ext uri="{FF2B5EF4-FFF2-40B4-BE49-F238E27FC236}">
                <a16:creationId xmlns:a16="http://schemas.microsoft.com/office/drawing/2014/main" id="{E3B4DB50-D0D0-4E6D-874A-FBCC20F6A1F3}"/>
              </a:ext>
            </a:extLst>
          </p:cNvPr>
          <p:cNvSpPr>
            <a:spLocks xmlns:a="http://schemas.openxmlformats.org/drawingml/2006/main" noGrp="1"/>
          </p:cNvSpPr>
          <p:nvPr/>
        </p:nvSpPr>
        <p:spPr>
          <a:xfrm xmlns:a="http://schemas.openxmlformats.org/drawingml/2006/main">
            <a:off x="4295775" y="5219700"/>
            <a:ext cx="74009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36C4E"/>
                </a:solidFill>
                <a:latin typeface="Helvetica Neue"/>
                <a:ea typeface="Helvetica Neue"/>
                <a:cs typeface="Helvetica Neue"/>
              </a:defRPr>
            </a:defPPr>
          </a:lstStyle>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Proof in one city supports more categories there,</a:t>
            </a:r>
          </a:p>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then expansion into more cities.</a:t>
            </a:r>
          </a:p>
        </p:txBody>
      </p:sp>
      <p:sp>
        <p:nvSpPr>
          <p:cNvPr id="19" name="v27-text-21">
            <a:extLst xmlns:a="http://schemas.openxmlformats.org/drawingml/2006/main">
              <a:ext uri="{FF2B5EF4-FFF2-40B4-BE49-F238E27FC236}">
                <a16:creationId xmlns:a16="http://schemas.microsoft.com/office/drawing/2014/main" id="{DDCB9C01-99BC-4627-A8E9-CB047DB5BA0F}"/>
              </a:ext>
            </a:extLst>
          </p:cNvPr>
          <p:cNvSpPr>
            <a:spLocks xmlns:a="http://schemas.openxmlformats.org/drawingml/2006/main" noGrp="1"/>
          </p:cNvSpPr>
          <p:nvPr/>
        </p:nvSpPr>
        <p:spPr>
          <a:xfrm xmlns:a="http://schemas.openxmlformats.org/drawingml/2006/main">
            <a:off x="495300" y="60198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236C4E"/>
                </a:solidFill>
                <a:latin typeface="Helvetica Neue"/>
                <a:ea typeface="Helvetica Neue"/>
                <a:cs typeface="Helvetica Neue"/>
              </a:defRPr>
            </a:defPPr>
          </a:lstStyle>
          <a:p xmlns:a="http://schemas.openxmlformats.org/drawingml/2006/main">
            <a:pPr algn="l">
              <a:buNone/>
              <a:defRPr sz="1200" b="1">
                <a:solidFill>
                  <a:srgbClr val="236C4E"/>
                </a:solidFill>
                <a:latin typeface="Helvetica Neue"/>
                <a:ea typeface="Helvetica Neue"/>
                <a:cs typeface="Helvetica Neue"/>
              </a:defRPr>
            </a:pPr>
            <a:r>
              <a:rPr sz="1200" b="1">
                <a:solidFill>
                  <a:srgbClr val="236C4E"/>
                </a:solidFill>
                <a:latin typeface="Helvetica Neue"/>
                <a:ea typeface="Helvetica Neue"/>
                <a:cs typeface="Helvetica Neue"/>
              </a:rPr>
              <a:t>PROPOSED REVENUE MODEL</a:t>
            </a:r>
          </a:p>
        </p:txBody>
      </p:sp>
      <p:sp>
        <p:nvSpPr>
          <p:cNvPr id="20" name="v27-text-22">
            <a:extLst xmlns:a="http://schemas.openxmlformats.org/drawingml/2006/main">
              <a:ext uri="{FF2B5EF4-FFF2-40B4-BE49-F238E27FC236}">
                <a16:creationId xmlns:a16="http://schemas.microsoft.com/office/drawing/2014/main" id="{0522C01E-D05D-4CA4-9C25-943BC026B5AF}"/>
              </a:ext>
            </a:extLst>
          </p:cNvPr>
          <p:cNvSpPr>
            <a:spLocks xmlns:a="http://schemas.openxmlformats.org/drawingml/2006/main" noGrp="1"/>
          </p:cNvSpPr>
          <p:nvPr/>
        </p:nvSpPr>
        <p:spPr>
          <a:xfrm xmlns:a="http://schemas.openxmlformats.org/drawingml/2006/main">
            <a:off x="495300" y="6267450"/>
            <a:ext cx="11201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93C32"/>
                </a:solidFill>
                <a:latin typeface="Helvetica Neue"/>
                <a:ea typeface="Helvetica Neue"/>
                <a:cs typeface="Helvetica Neue"/>
              </a:defRPr>
            </a:defPPr>
          </a:lstStyle>
          <a:p xmlns:a="http://schemas.openxmlformats.org/drawingml/2006/main">
            <a:pPr algn="l">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Businesses pay a success fee on fulfilled new-customer jobs, shared with contributing partners.</a:t>
            </a:r>
          </a:p>
        </p:txBody>
      </p:sp>
      <p:sp>
        <p:nvSpPr>
          <p:cNvPr id="21" name="v27-text-23">
            <a:extLst xmlns:a="http://schemas.openxmlformats.org/drawingml/2006/main">
              <a:ext uri="{FF2B5EF4-FFF2-40B4-BE49-F238E27FC236}">
                <a16:creationId xmlns:a16="http://schemas.microsoft.com/office/drawing/2014/main" id="{9610E78A-BDB5-4ED0-87FB-381319EF7A6C}"/>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5746C"/>
                </a:solidFill>
                <a:latin typeface="Helvetica Neue"/>
                <a:ea typeface="Helvetica Neue"/>
                <a:cs typeface="Helvetica Neue"/>
              </a:defRPr>
            </a:defPPr>
          </a:lstStyle>
          <a:p xmlns:a="http://schemas.openxmlformats.org/drawingml/2006/main">
            <a:pPr algn="l">
              <a:buNone/>
              <a:defRPr sz="1050" b="0">
                <a:solidFill>
                  <a:srgbClr val="65746C"/>
                </a:solidFill>
                <a:latin typeface="Helvetica Neue"/>
                <a:ea typeface="Helvetica Neue"/>
                <a:cs typeface="Helvetica Neue"/>
              </a:defRPr>
            </a:pPr>
            <a:r>
              <a:rPr sz="1050" b="0">
                <a:solidFill>
                  <a:srgbClr val="65746C"/>
                </a:solidFill>
                <a:latin typeface="Helvetica Neue"/>
                <a:ea typeface="Helvetica Neue"/>
                <a:cs typeface="Helvetica Neue"/>
              </a:rPr>
              <a:t>*Growth hypothesis. Recommendations depend on booking reliability, platform discovery and selection rules.</a:t>
            </a:r>
          </a:p>
        </p:txBody>
      </p:sp>
      <p:sp>
        <p:nvSpPr>
          <p:cNvPr id="22" name="v27-text-24">
            <a:extLst xmlns:a="http://schemas.openxmlformats.org/drawingml/2006/main">
              <a:ext uri="{FF2B5EF4-FFF2-40B4-BE49-F238E27FC236}">
                <a16:creationId xmlns:a16="http://schemas.microsoft.com/office/drawing/2014/main" id="{5FEF83CC-D718-44D3-B7C7-D7399EFDA53A}"/>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6</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70CF6A77-28BD-45A3-AC88-692D19CDB54C}"/>
              </a:ext>
            </a:extLst>
          </p:cNvPr>
          <p:cNvCxnSpPr>
            <a:stCxn xmlns:a="http://schemas.openxmlformats.org/drawingml/2006/main" id="12" idx="3"/>
            <a:endCxn xmlns:a="http://schemas.openxmlformats.org/drawingml/2006/main" id="13" idx="1"/>
          </p:cNvCxnSpPr>
          <p:nvPr/>
        </p:nvCxnSpPr>
        <p:spPr>
          <a:xfrm xmlns:a="http://schemas.openxmlformats.org/drawingml/2006/main">
            <a:off x="7572375" y="5943600"/>
            <a:ext cx="885825"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8817D573-EAE5-4DC8-999F-A7BDB8E33FA7}"/>
              </a:ext>
            </a:extLst>
          </p:cNvPr>
          <p:cNvCxnSpPr>
            <a:stCxn xmlns:a="http://schemas.openxmlformats.org/drawingml/2006/main" id="11" idx="3"/>
            <a:endCxn xmlns:a="http://schemas.openxmlformats.org/drawingml/2006/main" id="12" idx="1"/>
          </p:cNvCxnSpPr>
          <p:nvPr/>
        </p:nvCxnSpPr>
        <p:spPr>
          <a:xfrm xmlns:a="http://schemas.openxmlformats.org/drawingml/2006/main">
            <a:off x="3448050" y="5943600"/>
            <a:ext cx="914400"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sp>
        <p:nvSpPr>
          <p:cNvPr id="18" name="v27-text-25">
            <a:extLst xmlns:a="http://schemas.openxmlformats.org/drawingml/2006/main">
              <a:ext uri="{FF2B5EF4-FFF2-40B4-BE49-F238E27FC236}">
                <a16:creationId xmlns:a16="http://schemas.microsoft.com/office/drawing/2014/main" id="{8CDEA6FE-6022-4A89-85B7-85384BBD90F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DCCAD"/>
                </a:solidFill>
                <a:latin typeface="Helvetica Neue"/>
                <a:ea typeface="Helvetica Neue"/>
                <a:cs typeface="Helvetica Neue"/>
              </a:defRPr>
            </a:defPPr>
          </a:lstStyle>
          <a:p xmlns:a="http://schemas.openxmlformats.org/drawingml/2006/main">
            <a:pPr algn="l">
              <a:buNone/>
              <a:defRPr sz="1275" b="1">
                <a:solidFill>
                  <a:srgbClr val="BDCCAD"/>
                </a:solidFill>
                <a:latin typeface="Helvetica Neue"/>
                <a:ea typeface="Helvetica Neue"/>
                <a:cs typeface="Helvetica Neue"/>
              </a:defRPr>
            </a:pPr>
            <a:r>
              <a:rPr sz="1275" b="1">
                <a:solidFill>
                  <a:srgbClr val="BDCCAD"/>
                </a:solidFill>
                <a:latin typeface="Helvetica Neue"/>
                <a:ea typeface="Helvetica Neue"/>
                <a:cs typeface="Helvetica Neue"/>
              </a:rPr>
              <a:t>PARTNERSHIPS AND PILOT</a:t>
            </a:r>
          </a:p>
        </p:txBody>
      </p:sp>
      <p:sp>
        <p:nvSpPr>
          <p:cNvPr id="2" name="v27-text-26">
            <a:extLst xmlns:a="http://schemas.openxmlformats.org/drawingml/2006/main">
              <a:ext uri="{FF2B5EF4-FFF2-40B4-BE49-F238E27FC236}">
                <a16:creationId xmlns:a16="http://schemas.microsoft.com/office/drawing/2014/main" id="{B30EE2F4-AA61-4FD3-B96E-3D2DCEE5947A}"/>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5F2E9"/>
                </a:solidFill>
                <a:latin typeface="Helvetica Neue"/>
                <a:ea typeface="Helvetica Neue"/>
                <a:cs typeface="Helvetica Neue"/>
              </a:defRPr>
            </a:defPPr>
          </a:lstStyle>
          <a:p xmlns:a="http://schemas.openxmlformats.org/drawingml/2006/main">
            <a:pPr algn="l">
              <a:buNone/>
              <a:defRPr sz="3300" b="1">
                <a:solidFill>
                  <a:srgbClr val="F5F2E9"/>
                </a:solidFill>
                <a:latin typeface="Helvetica Neue"/>
                <a:ea typeface="Helvetica Neue"/>
                <a:cs typeface="Helvetica Neue"/>
              </a:defRPr>
            </a:pPr>
            <a:r>
              <a:rPr sz="3300" b="1">
                <a:solidFill>
                  <a:srgbClr val="F5F2E9"/>
                </a:solidFill>
                <a:latin typeface="Helvetica Neue"/>
                <a:ea typeface="Helvetica Neue"/>
                <a:cs typeface="Helvetica Neue"/>
              </a:rPr>
              <a:t>First pilot: plumbing in Salt Lake City</a:t>
            </a:r>
          </a:p>
        </p:txBody>
      </p:sp>
      <p:sp>
        <p:nvSpPr>
          <p:cNvPr id="3" name="v27-text-27">
            <a:extLst xmlns:a="http://schemas.openxmlformats.org/drawingml/2006/main">
              <a:ext uri="{FF2B5EF4-FFF2-40B4-BE49-F238E27FC236}">
                <a16:creationId xmlns:a16="http://schemas.microsoft.com/office/drawing/2014/main" id="{68333EAB-847D-41F6-B55B-E9CE4227D4E8}"/>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Two channel partners provide a starting point for supply.</a:t>
            </a:r>
          </a:p>
        </p:txBody>
      </p:sp>
      <p:sp>
        <p:nvSpPr>
          <p:cNvPr id="4" name="v27-text-28">
            <a:extLst xmlns:a="http://schemas.openxmlformats.org/drawingml/2006/main">
              <a:ext uri="{FF2B5EF4-FFF2-40B4-BE49-F238E27FC236}">
                <a16:creationId xmlns:a16="http://schemas.microsoft.com/office/drawing/2014/main" id="{F2B4C196-67E2-4BFC-9EE2-4381623CBCEF}"/>
              </a:ext>
            </a:extLst>
          </p:cNvPr>
          <p:cNvSpPr>
            <a:spLocks xmlns:a="http://schemas.openxmlformats.org/drawingml/2006/main" noGrp="1"/>
          </p:cNvSpPr>
          <p:nvPr/>
        </p:nvSpPr>
        <p:spPr>
          <a:xfrm xmlns:a="http://schemas.openxmlformats.org/drawingml/2006/main">
            <a:off x="495300" y="2076450"/>
            <a:ext cx="4857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50+</a:t>
            </a:r>
          </a:p>
        </p:txBody>
      </p:sp>
      <p:sp>
        <p:nvSpPr>
          <p:cNvPr id="5" name="v27-text-29">
            <a:extLst xmlns:a="http://schemas.openxmlformats.org/drawingml/2006/main">
              <a:ext uri="{FF2B5EF4-FFF2-40B4-BE49-F238E27FC236}">
                <a16:creationId xmlns:a16="http://schemas.microsoft.com/office/drawing/2014/main" id="{9CC75DF1-7295-4137-AEC4-7E0CC4FEB9DE}"/>
              </a:ext>
            </a:extLst>
          </p:cNvPr>
          <p:cNvSpPr>
            <a:spLocks xmlns:a="http://schemas.openxmlformats.org/drawingml/2006/main" noGrp="1"/>
          </p:cNvSpPr>
          <p:nvPr/>
        </p:nvSpPr>
        <p:spPr>
          <a:xfrm xmlns:a="http://schemas.openxmlformats.org/drawingml/2006/main">
            <a:off x="495300" y="325755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Cactus AI</a:t>
            </a:r>
          </a:p>
        </p:txBody>
      </p:sp>
      <p:sp>
        <p:nvSpPr>
          <p:cNvPr id="6" name="v27-text-30">
            <a:extLst xmlns:a="http://schemas.openxmlformats.org/drawingml/2006/main">
              <a:ext uri="{FF2B5EF4-FFF2-40B4-BE49-F238E27FC236}">
                <a16:creationId xmlns:a16="http://schemas.microsoft.com/office/drawing/2014/main" id="{8170CF0F-AA38-4196-999E-4DAFE6288CA0}"/>
              </a:ext>
            </a:extLst>
          </p:cNvPr>
          <p:cNvSpPr>
            <a:spLocks xmlns:a="http://schemas.openxmlformats.org/drawingml/2006/main" noGrp="1"/>
          </p:cNvSpPr>
          <p:nvPr/>
        </p:nvSpPr>
        <p:spPr>
          <a:xfrm xmlns:a="http://schemas.openxmlformats.org/drawingml/2006/main">
            <a:off x="495300" y="3800475"/>
            <a:ext cx="4857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5F2E9"/>
                </a:solidFill>
                <a:latin typeface="Helvetica Neue"/>
                <a:ea typeface="Helvetica Neue"/>
                <a:cs typeface="Helvetica Neue"/>
              </a:defRPr>
            </a:defPPr>
          </a:lstStyle>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Agreed to introduce GoLocal</a:t>
            </a:r>
          </a:p>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to 50+ service partners.</a:t>
            </a:r>
          </a:p>
        </p:txBody>
      </p:sp>
      <p:sp>
        <p:nvSpPr>
          <p:cNvPr id="7" name="v27-text-31">
            <a:extLst xmlns:a="http://schemas.openxmlformats.org/drawingml/2006/main">
              <a:ext uri="{FF2B5EF4-FFF2-40B4-BE49-F238E27FC236}">
                <a16:creationId xmlns:a16="http://schemas.microsoft.com/office/drawing/2014/main" id="{E9E0E8FA-C44E-42A0-B4E6-C2D30B1C2FDC}"/>
              </a:ext>
            </a:extLst>
          </p:cNvPr>
          <p:cNvSpPr>
            <a:spLocks xmlns:a="http://schemas.openxmlformats.org/drawingml/2006/main" noGrp="1"/>
          </p:cNvSpPr>
          <p:nvPr/>
        </p:nvSpPr>
        <p:spPr>
          <a:xfrm xmlns:a="http://schemas.openxmlformats.org/drawingml/2006/main">
            <a:off x="6553200" y="2076450"/>
            <a:ext cx="5143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10+</a:t>
            </a:r>
          </a:p>
        </p:txBody>
      </p:sp>
      <p:sp>
        <p:nvSpPr>
          <p:cNvPr id="8" name="v27-text-32">
            <a:extLst xmlns:a="http://schemas.openxmlformats.org/drawingml/2006/main">
              <a:ext uri="{FF2B5EF4-FFF2-40B4-BE49-F238E27FC236}">
                <a16:creationId xmlns:a16="http://schemas.microsoft.com/office/drawing/2014/main" id="{4B2BABC2-6450-40EC-B70F-D11DC084AD5E}"/>
              </a:ext>
            </a:extLst>
          </p:cNvPr>
          <p:cNvSpPr>
            <a:spLocks xmlns:a="http://schemas.openxmlformats.org/drawingml/2006/main" noGrp="1"/>
          </p:cNvSpPr>
          <p:nvPr/>
        </p:nvSpPr>
        <p:spPr>
          <a:xfrm xmlns:a="http://schemas.openxmlformats.org/drawingml/2006/main">
            <a:off x="6553200" y="32575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YourCardare</a:t>
            </a:r>
          </a:p>
        </p:txBody>
      </p:sp>
      <p:sp>
        <p:nvSpPr>
          <p:cNvPr id="9" name="v27-text-33">
            <a:extLst xmlns:a="http://schemas.openxmlformats.org/drawingml/2006/main">
              <a:ext uri="{FF2B5EF4-FFF2-40B4-BE49-F238E27FC236}">
                <a16:creationId xmlns:a16="http://schemas.microsoft.com/office/drawing/2014/main" id="{4711A170-9F96-486F-B1B1-ADEC38729566}"/>
              </a:ext>
            </a:extLst>
          </p:cNvPr>
          <p:cNvSpPr>
            <a:spLocks xmlns:a="http://schemas.openxmlformats.org/drawingml/2006/main" noGrp="1"/>
          </p:cNvSpPr>
          <p:nvPr/>
        </p:nvSpPr>
        <p:spPr>
          <a:xfrm xmlns:a="http://schemas.openxmlformats.org/drawingml/2006/main">
            <a:off x="6553200" y="3800475"/>
            <a:ext cx="5143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Regional back-office partner.</a:t>
            </a:r>
          </a:p>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Another 10+ providers in the pipeline.</a:t>
            </a:r>
          </a:p>
        </p:txBody>
      </p:sp>
      <p:sp>
        <p:nvSpPr>
          <p:cNvPr id="10" name="v27-text-34">
            <a:extLst xmlns:a="http://schemas.openxmlformats.org/drawingml/2006/main">
              <a:ext uri="{FF2B5EF4-FFF2-40B4-BE49-F238E27FC236}">
                <a16:creationId xmlns:a16="http://schemas.microsoft.com/office/drawing/2014/main" id="{F1697D3A-CDEE-4E34-B96E-50E20D79BF32}"/>
              </a:ext>
            </a:extLst>
          </p:cNvPr>
          <p:cNvSpPr>
            <a:spLocks xmlns:a="http://schemas.openxmlformats.org/drawingml/2006/main" noGrp="1"/>
          </p:cNvSpPr>
          <p:nvPr/>
        </p:nvSpPr>
        <p:spPr>
          <a:xfrm xmlns:a="http://schemas.openxmlformats.org/drawingml/2006/main">
            <a:off x="495300" y="4914900"/>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F5F2E9"/>
                </a:solidFill>
                <a:latin typeface="Helvetica Neue"/>
                <a:ea typeface="Helvetica Neue"/>
                <a:cs typeface="Helvetica Neue"/>
              </a:defRPr>
            </a:defPPr>
          </a:lstStyle>
          <a:p xmlns:a="http://schemas.openxmlformats.org/drawingml/2006/main">
            <a:pPr algn="l">
              <a:buNone/>
              <a:defRPr sz="2325" b="1">
                <a:solidFill>
                  <a:srgbClr val="F5F2E9"/>
                </a:solidFill>
                <a:latin typeface="Helvetica Neue"/>
                <a:ea typeface="Helvetica Neue"/>
                <a:cs typeface="Helvetica Neue"/>
              </a:defRPr>
            </a:pPr>
            <a:r>
              <a:rPr sz="2325" b="1">
                <a:solidFill>
                  <a:srgbClr val="F5F2E9"/>
                </a:solidFill>
                <a:latin typeface="Helvetica Neue"/>
                <a:ea typeface="Helvetica Neue"/>
                <a:cs typeface="Helvetica Neue"/>
              </a:rPr>
              <a:t>Next milestone: turn eligible agent requests into confirmed bookings</a:t>
            </a:r>
          </a:p>
        </p:txBody>
      </p:sp>
      <p:sp>
        <p:nvSpPr>
          <p:cNvPr id="11" name="v27-text-35">
            <a:extLst xmlns:a="http://schemas.openxmlformats.org/drawingml/2006/main">
              <a:ext uri="{FF2B5EF4-FFF2-40B4-BE49-F238E27FC236}">
                <a16:creationId xmlns:a16="http://schemas.microsoft.com/office/drawing/2014/main" id="{383220E3-CB4C-40A8-BC8E-40D2C06DF114}"/>
              </a:ext>
            </a:extLst>
          </p:cNvPr>
          <p:cNvSpPr>
            <a:spLocks xmlns:a="http://schemas.openxmlformats.org/drawingml/2006/main" noGrp="1"/>
          </p:cNvSpPr>
          <p:nvPr/>
        </p:nvSpPr>
        <p:spPr>
          <a:xfrm xmlns:a="http://schemas.openxmlformats.org/drawingml/2006/main">
            <a:off x="495300" y="564832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Provider</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introductions</a:t>
            </a:r>
          </a:p>
        </p:txBody>
      </p:sp>
      <p:sp>
        <p:nvSpPr>
          <p:cNvPr id="12" name="v27-text-36">
            <a:extLst xmlns:a="http://schemas.openxmlformats.org/drawingml/2006/main">
              <a:ext uri="{FF2B5EF4-FFF2-40B4-BE49-F238E27FC236}">
                <a16:creationId xmlns:a16="http://schemas.microsoft.com/office/drawing/2014/main" id="{6341BF38-1761-4079-BC8F-8130D8D93DBC}"/>
              </a:ext>
            </a:extLst>
          </p:cNvPr>
          <p:cNvSpPr>
            <a:spLocks xmlns:a="http://schemas.openxmlformats.org/drawingml/2006/main" noGrp="1"/>
          </p:cNvSpPr>
          <p:nvPr/>
        </p:nvSpPr>
        <p:spPr>
          <a:xfrm xmlns:a="http://schemas.openxmlformats.org/drawingml/2006/main">
            <a:off x="4362450" y="5648325"/>
            <a:ext cx="3209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Onboard providers</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and connect software</a:t>
            </a:r>
          </a:p>
        </p:txBody>
      </p:sp>
      <p:sp>
        <p:nvSpPr>
          <p:cNvPr id="13" name="v27-text-37">
            <a:extLst xmlns:a="http://schemas.openxmlformats.org/drawingml/2006/main">
              <a:ext uri="{FF2B5EF4-FFF2-40B4-BE49-F238E27FC236}">
                <a16:creationId xmlns:a16="http://schemas.microsoft.com/office/drawing/2014/main" id="{D4322935-603A-4E67-84FC-D6251CC32E27}"/>
              </a:ext>
            </a:extLst>
          </p:cNvPr>
          <p:cNvSpPr>
            <a:spLocks xmlns:a="http://schemas.openxmlformats.org/drawingml/2006/main" noGrp="1"/>
          </p:cNvSpPr>
          <p:nvPr/>
        </p:nvSpPr>
        <p:spPr>
          <a:xfrm xmlns:a="http://schemas.openxmlformats.org/drawingml/2006/main">
            <a:off x="8458200" y="5648325"/>
            <a:ext cx="323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Test customer-authorized</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agent bookings</a:t>
            </a:r>
          </a:p>
        </p:txBody>
      </p:sp>
      <p:sp>
        <p:nvSpPr>
          <p:cNvPr id="16" name="v27-text-38">
            <a:extLst xmlns:a="http://schemas.openxmlformats.org/drawingml/2006/main">
              <a:ext uri="{FF2B5EF4-FFF2-40B4-BE49-F238E27FC236}">
                <a16:creationId xmlns:a16="http://schemas.microsoft.com/office/drawing/2014/main" id="{7B712574-D8EA-4A5A-92BC-0E40D7F3A96E}"/>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BDCCAD"/>
                </a:solidFill>
                <a:latin typeface="Helvetica Neue"/>
                <a:ea typeface="Helvetica Neue"/>
                <a:cs typeface="Helvetica Neue"/>
              </a:defRPr>
            </a:defPPr>
          </a:lstStyle>
          <a:p xmlns:a="http://schemas.openxmlformats.org/drawingml/2006/main">
            <a:pPr algn="l">
              <a:buNone/>
              <a:defRPr sz="1050" b="0">
                <a:solidFill>
                  <a:srgbClr val="BDCCAD"/>
                </a:solidFill>
                <a:latin typeface="Helvetica Neue"/>
                <a:ea typeface="Helvetica Neue"/>
                <a:cs typeface="Helvetica Neue"/>
              </a:defRPr>
            </a:pPr>
            <a:r>
              <a:rPr sz="1050" b="0">
                <a:solidFill>
                  <a:srgbClr val="BDCCAD"/>
                </a:solidFill>
                <a:latin typeface="Helvetica Neue"/>
                <a:ea typeface="Helvetica Neue"/>
                <a:cs typeface="Helvetica Neue"/>
              </a:rPr>
              <a:t>Founder-reported pipeline. Introductions are not live supply. GoLocal bookings and paid demand remain unproven.</a:t>
            </a:r>
          </a:p>
        </p:txBody>
      </p:sp>
      <p:sp>
        <p:nvSpPr>
          <p:cNvPr id="17" name="v27-text-39">
            <a:extLst xmlns:a="http://schemas.openxmlformats.org/drawingml/2006/main">
              <a:ext uri="{FF2B5EF4-FFF2-40B4-BE49-F238E27FC236}">
                <a16:creationId xmlns:a16="http://schemas.microsoft.com/office/drawing/2014/main" id="{55AFBA45-A988-4AA9-9E76-851EFE96F69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F5F2E9"/>
                </a:solidFill>
                <a:latin typeface="Helvetica Neue"/>
                <a:ea typeface="Helvetica Neue"/>
                <a:cs typeface="Helvetica Neue"/>
              </a:defRPr>
            </a:defPPr>
          </a:lstStyle>
          <a:p xmlns:a="http://schemas.openxmlformats.org/drawingml/2006/main">
            <a:pPr algn="l">
              <a:buNone/>
              <a:defRPr sz="1275" b="0">
                <a:solidFill>
                  <a:srgbClr val="F5F2E9"/>
                </a:solidFill>
                <a:latin typeface="Helvetica Neue"/>
                <a:ea typeface="Helvetica Neue"/>
                <a:cs typeface="Helvetica Neue"/>
              </a:defRPr>
            </a:pPr>
            <a:r>
              <a:rPr sz="1275" b="0">
                <a:solidFill>
                  <a:srgbClr val="F5F2E9"/>
                </a:solidFill>
                <a:latin typeface="Helvetica Neue"/>
                <a:ea typeface="Helvetica Neue"/>
                <a:cs typeface="Helvetica Neue"/>
              </a:rPr>
              <a:t>5 / 6</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Picture 2">
            <a:extLst xmlns:a="http://schemas.openxmlformats.org/drawingml/2006/main">
              <a:ext uri="{FF2B5EF4-FFF2-40B4-BE49-F238E27FC236}">
                <a16:creationId xmlns:a16="http://schemas.microsoft.com/office/drawing/2014/main" id="{9D59F257-CF18-4EED-8F35-7DCB977CC77C}"/>
              </a:ext>
            </a:extLst>
          </p:cNvPr>
          <p:cNvPicPr>
            <a:picLocks xmlns:a="http://schemas.openxmlformats.org/drawingml/2006/main" noChangeAspect="1"/>
          </p:cNvPicPr>
          <p:nvPr/>
        </p:nvPicPr>
        <p:blipFill>
          <a:blip xmlns:r="http://schemas.openxmlformats.org/officeDocument/2006/relationships" xmlns:a="http://schemas.openxmlformats.org/drawingml/2006/main" r:embed="R08770de2fc674ec4"/>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Picture 3">
            <a:extLst xmlns:a="http://schemas.openxmlformats.org/drawingml/2006/main">
              <a:ext uri="{FF2B5EF4-FFF2-40B4-BE49-F238E27FC236}">
                <a16:creationId xmlns:a16="http://schemas.microsoft.com/office/drawing/2014/main" id="{07282846-F8F4-4864-8357-51493DAA9C0A}"/>
              </a:ext>
            </a:extLst>
          </p:cNvPr>
          <p:cNvPicPr>
            <a:picLocks xmlns:a="http://schemas.openxmlformats.org/drawingml/2006/main" noChangeAspect="1"/>
          </p:cNvPicPr>
          <p:nvPr/>
        </p:nvPicPr>
        <p:blipFill>
          <a:blip xmlns:r="http://schemas.openxmlformats.org/officeDocument/2006/relationships" xmlns:a="http://schemas.openxmlformats.org/drawingml/2006/main" r:embed="Rb2b89f4ac0714d96"/>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236C4E"/>
                </a:solidFill>
                <a:latin typeface="Helvetica Neue"/>
                <a:ea typeface="Helvetica Neue"/>
                <a:cs typeface="Helvetica Neue"/>
              </a:defRPr>
            </a:defPPr>
          </a:lstStyle>
          <a:p xmlns:a="http://schemas.openxmlformats.org/drawingml/2006/main">
            <a:pPr algn="l">
              <a:buNone/>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15353e9952dd4b06"/>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125075" y="17811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2fbb8912ae584f85"/>
              </a:rPr>
              <a:t>LinkedIn</a:t>
            </a:r>
          </a:p>
        </p:txBody>
      </p:sp>
      <p:pic>
        <p:nvPicPr>
          <p:cNvPr id="11" name="Picture 10">
            <a:extLst xmlns:a="http://schemas.openxmlformats.org/drawingml/2006/main">
              <a:ext uri="{FF2B5EF4-FFF2-40B4-BE49-F238E27FC236}">
                <a16:creationId xmlns:a16="http://schemas.microsoft.com/office/drawing/2014/main" id="{FA479F31-3D51-4E87-BF1A-095DF48DA349}"/>
              </a:ext>
            </a:extLst>
          </p:cNvPr>
          <p:cNvPicPr>
            <a:picLocks xmlns:a="http://schemas.openxmlformats.org/drawingml/2006/main" noChangeAspect="1"/>
          </p:cNvPicPr>
          <p:nvPr/>
        </p:nvPicPr>
        <p:blipFill>
          <a:blip xmlns:r="http://schemas.openxmlformats.org/officeDocument/2006/relationships" xmlns:a="http://schemas.openxmlformats.org/drawingml/2006/main" r:embed="R197dc41b654647cd"/>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Picture 12">
            <a:extLst xmlns:a="http://schemas.openxmlformats.org/drawingml/2006/main">
              <a:ext uri="{FF2B5EF4-FFF2-40B4-BE49-F238E27FC236}">
                <a16:creationId xmlns:a16="http://schemas.microsoft.com/office/drawing/2014/main" id="{708C27D8-59EF-4732-8211-416AD74CFE28}"/>
              </a:ext>
            </a:extLst>
          </p:cNvPr>
          <p:cNvPicPr>
            <a:picLocks xmlns:a="http://schemas.openxmlformats.org/drawingml/2006/main" noChangeAspect="1"/>
          </p:cNvPicPr>
          <p:nvPr/>
        </p:nvPicPr>
        <p:blipFill>
          <a:blip xmlns:r="http://schemas.openxmlformats.org/officeDocument/2006/relationships" xmlns:a="http://schemas.openxmlformats.org/drawingml/2006/main" r:embed="Raee53fd1efa74f05"/>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Picture 14">
            <a:extLst xmlns:a="http://schemas.openxmlformats.org/drawingml/2006/main">
              <a:ext uri="{FF2B5EF4-FFF2-40B4-BE49-F238E27FC236}">
                <a16:creationId xmlns:a16="http://schemas.microsoft.com/office/drawing/2014/main" id="{FE8CC88C-4694-42E3-8D17-0C072AD3D88A}"/>
              </a:ext>
            </a:extLst>
          </p:cNvPr>
          <p:cNvPicPr>
            <a:picLocks xmlns:a="http://schemas.openxmlformats.org/drawingml/2006/main" noChangeAspect="1"/>
          </p:cNvPicPr>
          <p:nvPr/>
        </p:nvPicPr>
        <p:blipFill>
          <a:blip xmlns:r="http://schemas.openxmlformats.org/officeDocument/2006/relationships" xmlns:a="http://schemas.openxmlformats.org/drawingml/2006/main" r:embed="R71aade2d8cef4165"/>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Urban Company founding team member. Helped build the marketplace from launch to a $3B IPO.</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and grew revenue to $700K.</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Bessemer Venture Partners investor. Deployed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software engineer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Taught system design to 2,500 engineers on Udemy.</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MCP integrations for production use.</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6 / 6</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2026-10-11T02:18:12.6660000Z</dcterms:created>
  <dcterms:modified xsi:type="dcterms:W3CDTF">2026-10-11T02:18:12.6660000Z</dcterms:modified>
</coreProperties>
</file>