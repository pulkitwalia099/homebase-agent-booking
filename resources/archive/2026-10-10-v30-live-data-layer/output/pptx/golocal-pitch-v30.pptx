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36be56dfe8484a" /><Relationship Type="http://schemas.openxmlformats.org/officeDocument/2006/relationships/extended-properties" Target="/docProps/app.xml" Id="R3264de6f85574361" /><Relationship Type="http://schemas.openxmlformats.org/officeDocument/2006/relationships/officeDocument" Target="/ppt/presentation.xml" Id="R6d1938c0e77842ba" /></Relationships>
</file>

<file path=ppt/presentation.xml><?xml version="1.0" encoding="utf-8"?>
<p:presentation xmlns:p="http://schemas.openxmlformats.org/presentationml/2006/main">
  <p:sldMasterIdLst>
    <p:sldMasterId xmlns:r="http://schemas.openxmlformats.org/officeDocument/2006/relationships" id="2147483648" r:id="R2eabceeb9bd94256"/>
  </p:sldMasterIdLst>
  <p:notesMasterIdLst>
    <p:notesMasterId xmlns:r="http://schemas.openxmlformats.org/officeDocument/2006/relationships" r:id="R0bf1a060d15e48c0"/>
  </p:notesMasterIdLst>
  <p:sldIdLst>
    <p:sldId xmlns:r="http://schemas.openxmlformats.org/officeDocument/2006/relationships" id="256" r:id="R1c8ecd0951f44382"/>
    <p:sldId xmlns:r="http://schemas.openxmlformats.org/officeDocument/2006/relationships" id="257" r:id="Rc5057e7797044654"/>
    <p:sldId xmlns:r="http://schemas.openxmlformats.org/officeDocument/2006/relationships" id="258" r:id="Ra206012e3be2474c"/>
    <p:sldId xmlns:r="http://schemas.openxmlformats.org/officeDocument/2006/relationships" id="259" r:id="R5d46c27203cc4310"/>
    <p:sldId xmlns:r="http://schemas.openxmlformats.org/officeDocument/2006/relationships" id="260" r:id="R0bddfe8367b446f4"/>
    <p:sldId xmlns:r="http://schemas.openxmlformats.org/officeDocument/2006/relationships" id="261" r:id="R133cadf1b73c4815"/>
    <p:sldId xmlns:r="http://schemas.openxmlformats.org/officeDocument/2006/relationships" id="262" r:id="R66ca949503e048e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b57ffa759db4dba" /><Relationship Type="http://schemas.openxmlformats.org/officeDocument/2006/relationships/slideMaster" Target="/ppt/slideMasters/slideMaster1.xml" Id="R2eabceeb9bd94256" /><Relationship Type="http://schemas.openxmlformats.org/officeDocument/2006/relationships/notesMaster" Target="/ppt/notesMasters/notesMaster1.xml" Id="R0bf1a060d15e48c0" /><Relationship Type="http://schemas.openxmlformats.org/officeDocument/2006/relationships/presProps" Target="/ppt/presProps.xml" Id="R8122c653405c44c6" /><Relationship Type="http://schemas.openxmlformats.org/officeDocument/2006/relationships/viewProps" Target="/ppt/viewProps.xml" Id="R37496929fc874464" /><Relationship Type="http://schemas.openxmlformats.org/officeDocument/2006/relationships/tableStyles" Target="/ppt/tableStyles.xml" Id="Re8db89adb3c042f8" /><Relationship Type="http://schemas.openxmlformats.org/officeDocument/2006/relationships/slide" Target="/ppt/slides/slide1.xml" Id="R1c8ecd0951f44382" /><Relationship Type="http://schemas.openxmlformats.org/officeDocument/2006/relationships/slide" Target="/ppt/slides/slide2.xml" Id="Rc5057e7797044654" /><Relationship Type="http://schemas.openxmlformats.org/officeDocument/2006/relationships/slide" Target="/ppt/slides/slide3.xml" Id="Ra206012e3be2474c" /><Relationship Type="http://schemas.openxmlformats.org/officeDocument/2006/relationships/slide" Target="/ppt/slides/slide4.xml" Id="R5d46c27203cc4310" /><Relationship Type="http://schemas.openxmlformats.org/officeDocument/2006/relationships/slide" Target="/ppt/slides/slide5.xml" Id="R0bddfe8367b446f4" /><Relationship Type="http://schemas.openxmlformats.org/officeDocument/2006/relationships/slide" Target="/ppt/slides/slide6.xml" Id="R133cadf1b73c4815" /><Relationship Type="http://schemas.openxmlformats.org/officeDocument/2006/relationships/slide" Target="/ppt/slides/slide7.xml" Id="R66ca949503e048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b6e8590b9544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ea8c5e527c4f6f" /><Relationship Type="http://schemas.openxmlformats.org/officeDocument/2006/relationships/notesMaster" Target="/ppt/notesMasters/notesMaster1.xml" Id="R28e97164aad546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e70e96522243c9" /><Relationship Type="http://schemas.openxmlformats.org/officeDocument/2006/relationships/notesMaster" Target="/ppt/notesMasters/notesMaster1.xml" Id="R2554336867b044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fbdce1d5b940cb" /><Relationship Type="http://schemas.openxmlformats.org/officeDocument/2006/relationships/notesMaster" Target="/ppt/notesMasters/notesMaster1.xml" Id="R248fbffd91774d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edc95c56164226" /><Relationship Type="http://schemas.openxmlformats.org/officeDocument/2006/relationships/notesMaster" Target="/ppt/notesMasters/notesMaster1.xml" Id="R689deff98bd144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ecd5b228cd4a37" /><Relationship Type="http://schemas.openxmlformats.org/officeDocument/2006/relationships/notesMaster" Target="/ppt/notesMasters/notesMaster1.xml" Id="R6e51013d671c45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ddef68892d42df" /><Relationship Type="http://schemas.openxmlformats.org/officeDocument/2006/relationships/notesMaster" Target="/ppt/notesMasters/notesMaster1.xml" Id="R667d892aa94341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89cf8ac83a45b3" /><Relationship Type="http://schemas.openxmlformats.org/officeDocument/2006/relationships/notesMaster" Target="/ppt/notesMasters/notesMaster1.xml" Id="Rb42bb84005e648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local services, booked by your personal agent. Proposed shared booking layer connecting personal agents and participating local businesses. Original neighborhood illustration from the user-supplied golocal-sharks-pitch.pptx, used as visual reference. Current product proposition retained. Image is conceptual artwork, not evidence of live providers or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xmlns:a="http://schemas.openxmlformats.org/drawingml/2006/main">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xmlns:a="http://schemas.openxmlformats.org/drawingml/2006/main">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intended customer journey, not a live GoLocal transaction. Salt Lake City aligns the example with the planned plumbing pilot. Oak Plumbing, the $79 diagnostic visit, 9–11 am slot and booking GL-1042 are fictional. The customer approves the provider, visit fee and payment authorization before execution. Authorization is not payment capture. Repair work requires a separate quote after inspection. GoLocal would return provider-confirmed booking state through authorized software connections; this capability remains to be validated. A completed and paid job, rather than connector installation or a mere request, is the proposed commercial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providers pay a success fee on fulfilled new-customer jobs, with a share for contributing partners. Prices, shares and paid continuation have not been agreed. Repeat visits, cancellations and existing-customer changes do not automatically generate acquisition fees. Contribution must cover acquisition, partner share, integration, support, payment and exception-handling costs. A venture-scale opportunity requires repeatable distribution, reusable integrations and profitable delivery, beyond a thin connector or manual booking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3ed0541f524e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bbcfad62d548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3d7e66623545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56b4a3cb5c47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51298abd704b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2c6fc0292a40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c532f99e664dbf" /><Relationship Type="http://schemas.openxmlformats.org/officeDocument/2006/relationships/slideLayout" Target="/ppt/slideLayouts/slideLayout1.xml" Id="R36e58babc56746b3" /><Relationship Type="http://schemas.openxmlformats.org/officeDocument/2006/relationships/slideLayout" Target="/ppt/slideLayouts/slideLayout2.xml" Id="R87fc527351784726" /><Relationship Type="http://schemas.openxmlformats.org/officeDocument/2006/relationships/slideLayout" Target="/ppt/slideLayouts/slideLayout3.xml" Id="Rac4035414eb64585" /><Relationship Type="http://schemas.openxmlformats.org/officeDocument/2006/relationships/slideLayout" Target="/ppt/slideLayouts/slideLayout4.xml" Id="Rc78c0ed00cd44722" /><Relationship Type="http://schemas.openxmlformats.org/officeDocument/2006/relationships/slideLayout" Target="/ppt/slideLayouts/slideLayout5.xml" Id="Re9d19838c43a419d" /><Relationship Type="http://schemas.openxmlformats.org/officeDocument/2006/relationships/slideLayout" Target="/ppt/slideLayouts/slideLayout6.xml" Id="Rbec747c3ac8045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e58babc56746b3"/>
    <p:sldLayoutId xmlns:r="http://schemas.openxmlformats.org/officeDocument/2006/relationships" id="2147483650" r:id="R87fc527351784726"/>
    <p:sldLayoutId xmlns:r="http://schemas.openxmlformats.org/officeDocument/2006/relationships" id="2147483651" r:id="Rac4035414eb64585"/>
    <p:sldLayoutId xmlns:r="http://schemas.openxmlformats.org/officeDocument/2006/relationships" id="2147483652" r:id="Rc78c0ed00cd44722"/>
    <p:sldLayoutId xmlns:r="http://schemas.openxmlformats.org/officeDocument/2006/relationships" id="2147483653" r:id="Re9d19838c43a419d"/>
    <p:sldLayoutId xmlns:r="http://schemas.openxmlformats.org/officeDocument/2006/relationships" id="2147483654" r:id="Rbec747c3ac8045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eab2080670452f" /><Relationship Type="http://schemas.openxmlformats.org/officeDocument/2006/relationships/image" Target="/ppt/media/image.png" Id="Rb96eec74ec004d35" /><Relationship Type="http://schemas.openxmlformats.org/officeDocument/2006/relationships/notesSlide" Target="/ppt/notesSlides/notesSlide1.xml" Id="R18af7ad6c47542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c8bf1ca51c4aad" /><Relationship Type="http://schemas.openxmlformats.org/officeDocument/2006/relationships/notesSlide" Target="/ppt/notesSlides/notesSlide2.xml" Id="R626042de0de34e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529f15dc79497c" /><Relationship Type="http://schemas.openxmlformats.org/officeDocument/2006/relationships/image" Target="/ppt/media/image2.png" Id="R931e1647d8654093" /><Relationship Type="http://schemas.openxmlformats.org/officeDocument/2006/relationships/image" Target="/ppt/media/image.jpeg" Id="R3253ca4ed1384b04" /><Relationship Type="http://schemas.openxmlformats.org/officeDocument/2006/relationships/image" Target="/ppt/media/image2.jpeg" Id="R9161bc0d2651472e" /><Relationship Type="http://schemas.openxmlformats.org/officeDocument/2006/relationships/image" Target="/ppt/media/image3.jpeg" Id="Rb2c66f32ae1c4378" /><Relationship Type="http://schemas.openxmlformats.org/officeDocument/2006/relationships/image" Target="/ppt/media/image3.png" Id="Rc73fbea1a5ea4940" /><Relationship Type="http://schemas.openxmlformats.org/officeDocument/2006/relationships/notesSlide" Target="/ppt/notesSlides/notesSlide3.xml" Id="Rf586f6176e6049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a36bf6bfd74191" /><Relationship Type="http://schemas.openxmlformats.org/officeDocument/2006/relationships/notesSlide" Target="/ppt/notesSlides/notesSlide4.xml" Id="R7e9923642fe846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65810aee5e46a6" /><Relationship Type="http://schemas.openxmlformats.org/officeDocument/2006/relationships/notesSlide" Target="/ppt/notesSlides/notesSlide5.xml" Id="Reaa6adb730964f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94a95826e048db" /><Relationship Type="http://schemas.openxmlformats.org/officeDocument/2006/relationships/notesSlide" Target="/ppt/notesSlides/notesSlide6.xml" Id="Rf8d2eec29bf44a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794bdbb8d84b1c" /><Relationship Type="http://schemas.openxmlformats.org/officeDocument/2006/relationships/image" Target="/ppt/media/image4.jpeg" Id="R78fe4466f91e4656" /><Relationship Type="http://schemas.openxmlformats.org/officeDocument/2006/relationships/image" Target="/ppt/media/image5.jpeg" Id="Rdecf3ea87ea54a0d" /><Relationship Type="http://schemas.openxmlformats.org/officeDocument/2006/relationships/hyperlink" Target="https://www.linkedin.com/in/pulkitwalia/" TargetMode="External" Id="R42cda9327f544ac5" /><Relationship Type="http://schemas.openxmlformats.org/officeDocument/2006/relationships/hyperlink" Target="https://www.linkedin.com/in/rohit-jain-343437187/" TargetMode="External" Id="Rb378255546d54ee8" /><Relationship Type="http://schemas.openxmlformats.org/officeDocument/2006/relationships/image" Target="/ppt/media/image6.jpeg" Id="Rff9036b11c7e4dc1" /><Relationship Type="http://schemas.openxmlformats.org/officeDocument/2006/relationships/image" Target="/ppt/media/image4.png" Id="R7b7c6a44af574274" /><Relationship Type="http://schemas.openxmlformats.org/officeDocument/2006/relationships/image" Target="/ppt/media/image7.jpeg" Id="R74053d41f51f4e6c" /><Relationship Type="http://schemas.openxmlformats.org/officeDocument/2006/relationships/notesSlide" Target="/ppt/notesSlides/notesSlide7.xml" Id="R07f8223100fa424a" /></Relationships>
</file>

<file path=ppt/slides/slide1.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EAA74EA2-BA83-4D83-BF6C-994FC2F8897D}"/>
              </a:ext>
            </a:extLst>
          </p:cNvPr>
          <p:cNvPicPr>
            <a:picLocks xmlns:a="http://schemas.openxmlformats.org/drawingml/2006/main" noChangeAspect="1"/>
          </p:cNvPicPr>
          <p:nvPr/>
        </p:nvPicPr>
        <p:blipFill>
          <a:blip xmlns:r="http://schemas.openxmlformats.org/officeDocument/2006/relationships" xmlns:a="http://schemas.openxmlformats.org/drawingml/2006/main" r:embed="Rb96eec74ec004d3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28-text-0">
            <a:extLst xmlns:a="http://schemas.openxmlformats.org/drawingml/2006/main">
              <a:ext uri="{FF2B5EF4-FFF2-40B4-BE49-F238E27FC236}">
                <a16:creationId xmlns:a16="http://schemas.microsoft.com/office/drawing/2014/main" id="{BDDCEA24-C42F-433F-8032-ECDBF9DD5137}"/>
              </a:ext>
            </a:extLst>
          </p:cNvPr>
          <p:cNvSpPr>
            <a:spLocks xmlns:a="http://schemas.openxmlformats.org/drawingml/2006/main" noGrp="1"/>
          </p:cNvSpPr>
          <p:nvPr/>
        </p:nvSpPr>
        <p:spPr>
          <a:xfrm xmlns:a="http://schemas.openxmlformats.org/drawingml/2006/main">
            <a:off x="609600" y="95250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5F2E9"/>
                </a:solidFill>
                <a:latin typeface="Helvetica Neue"/>
                <a:ea typeface="Helvetica Neue"/>
                <a:cs typeface="Helvetica Neue"/>
              </a:defRPr>
            </a:defPPr>
          </a:lstStyle>
          <a:p xmlns:a="http://schemas.openxmlformats.org/drawingml/2006/main">
            <a:pPr algn="l">
              <a:buNone/>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v28-text-1">
            <a:extLst xmlns:a="http://schemas.openxmlformats.org/drawingml/2006/main">
              <a:ext uri="{FF2B5EF4-FFF2-40B4-BE49-F238E27FC236}">
                <a16:creationId xmlns:a16="http://schemas.microsoft.com/office/drawing/2014/main" id="{7A9DF34D-74A2-406C-9DE6-3F86B5CBDDD0}"/>
              </a:ext>
            </a:extLst>
          </p:cNvPr>
          <p:cNvSpPr>
            <a:spLocks xmlns:a="http://schemas.openxmlformats.org/drawingml/2006/main" noGrp="1"/>
          </p:cNvSpPr>
          <p:nvPr/>
        </p:nvSpPr>
        <p:spPr>
          <a:xfrm xmlns:a="http://schemas.openxmlformats.org/drawingml/2006/main">
            <a:off x="609600" y="2143125"/>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5F2E9"/>
                </a:solidFill>
                <a:latin typeface="Helvetica Neue"/>
                <a:ea typeface="Helvetica Neue"/>
                <a:cs typeface="Helvetica Neue"/>
              </a:defRPr>
            </a:defPPr>
          </a:lstStyle>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v28-text-2">
            <a:extLst xmlns:a="http://schemas.openxmlformats.org/drawingml/2006/main">
              <a:ext uri="{FF2B5EF4-FFF2-40B4-BE49-F238E27FC236}">
                <a16:creationId xmlns:a16="http://schemas.microsoft.com/office/drawing/2014/main" id="{A8597BA7-8903-4DF7-A402-3367D52645B7}"/>
              </a:ext>
            </a:extLst>
          </p:cNvPr>
          <p:cNvSpPr>
            <a:spLocks xmlns:a="http://schemas.openxmlformats.org/drawingml/2006/main" noGrp="1"/>
          </p:cNvSpPr>
          <p:nvPr/>
        </p:nvSpPr>
        <p:spPr>
          <a:xfrm xmlns:a="http://schemas.openxmlformats.org/drawingml/2006/main">
            <a:off x="609600" y="4257675"/>
            <a:ext cx="4333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4D6"/>
                </a:solidFill>
                <a:latin typeface="Helvetica Neue"/>
                <a:ea typeface="Helvetica Neue"/>
                <a:cs typeface="Helvetica Neue"/>
              </a:defRPr>
            </a:defPPr>
          </a:lstStyle>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One booking layer for agents</a:t>
            </a:r>
          </a:p>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and local businesses.</a:t>
            </a:r>
          </a:p>
        </p:txBody>
      </p:sp>
    </p:spTree>
    <p:extLst>
      <p:ext uri="{BB962C8B-B14F-4D97-AF65-F5344CB8AC3E}">
        <p14:creationId xmlns:p14="http://schemas.microsoft.com/office/powerpoint/2010/main" val="381375820"/>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v30-text-0">
            <a:extLst xmlns:a="http://schemas.openxmlformats.org/drawingml/2006/main">
              <a:ext uri="{FF2B5EF4-FFF2-40B4-BE49-F238E27FC236}">
                <a16:creationId xmlns:a16="http://schemas.microsoft.com/office/drawing/2014/main" id="{ADA5C052-3DC5-4F4A-9C13-460C18C6AC4D}"/>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v30-text-1">
            <a:extLst xmlns:a="http://schemas.openxmlformats.org/drawingml/2006/main">
              <a:ext uri="{FF2B5EF4-FFF2-40B4-BE49-F238E27FC236}">
                <a16:creationId xmlns:a16="http://schemas.microsoft.com/office/drawing/2014/main" id="{243905A4-A235-46A8-88B2-9CCE52ED8F00}"/>
              </a:ext>
            </a:extLst>
          </p:cNvPr>
          <p:cNvSpPr>
            <a:spLocks xmlns:a="http://schemas.openxmlformats.org/drawingml/2006/main" noGrp="1"/>
          </p:cNvSpPr>
          <p:nvPr/>
        </p:nvSpPr>
        <p:spPr>
          <a:xfrm xmlns:a="http://schemas.openxmlformats.org/drawingml/2006/main">
            <a:off x="609600" y="7524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3" name="v30-text-2">
            <a:extLst xmlns:a="http://schemas.openxmlformats.org/drawingml/2006/main">
              <a:ext uri="{FF2B5EF4-FFF2-40B4-BE49-F238E27FC236}">
                <a16:creationId xmlns:a16="http://schemas.microsoft.com/office/drawing/2014/main" id="{8F4C96EF-044C-4CF6-BCFE-D8BF33020705}"/>
              </a:ext>
            </a:extLst>
          </p:cNvPr>
          <p:cNvSpPr>
            <a:spLocks xmlns:a="http://schemas.openxmlformats.org/drawingml/2006/main" noGrp="1"/>
          </p:cNvSpPr>
          <p:nvPr/>
        </p:nvSpPr>
        <p:spPr>
          <a:xfrm xmlns:a="http://schemas.openxmlformats.org/drawingml/2006/main">
            <a:off x="609600" y="136207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Users once called businesses to scope the job.</a:t>
            </a:r>
          </a:p>
          <a:p xmlns:a="http://schemas.openxmlformats.org/drawingml/2006/main">
            <a:pPr algn="l">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Personal agents can now scope it with the customer, then act on live business data.</a:t>
            </a:r>
          </a:p>
        </p:txBody>
      </p:sp>
      <p:graphicFrame>
        <p:nvGraphicFramePr>
          <p:cNvPr id="4" name="">
            <a:extLst xmlns:a="http://schemas.openxmlformats.org/drawingml/2006/main">
              <a:ext uri="{FF2B5EF4-FFF2-40B4-BE49-F238E27FC236}">
                <a16:creationId xmlns:a16="http://schemas.microsoft.com/office/drawing/2014/main" id="{02046033-7B61-4EF3-A073-0A0737122169}"/>
              </a:ext>
            </a:extLst>
          </p:cNvPr>
          <p:cNvGraphicFramePr/>
          <p:nvPr/>
        </p:nvGraphicFramePr>
        <p:xfrm>
          <a:off xmlns:a="http://schemas.openxmlformats.org/drawingml/2006/main" x="609600" y="2076450"/>
          <a:ext xmlns:a="http://schemas.openxmlformats.org/drawingml/2006/main" cx="10972800" cy="3467100"/>
        </p:xfrm>
        <a:graphic xmlns:a="http://schemas.openxmlformats.org/drawingml/2006/main">
          <a:graphicData uri="http://schemas.openxmlformats.org/drawingml/2006/table">
            <a:tbl>
              <a:tblPr firstRow="0" firstCol="0" bandRow="0"/>
              <a:tblGrid>
                <a:gridCol w="2667000"/>
                <a:gridCol w="1661160"/>
                <a:gridCol w="1661160"/>
                <a:gridCol w="1661160"/>
                <a:gridCol w="1661160"/>
                <a:gridCol w="1661160"/>
              </a:tblGrid>
              <a:tr h="285750">
                <a:tc>
                  <a:txBody>
                    <a:bodyPr wrap="square">
                      <a:noAutofit/>
                    </a:bodyPr>
                    <a:lstStyle/>
                    <a:p>
                      <a:pPr algn="l"/>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wrap="square">
                      <a:noAutofit/>
                    </a:bodyPr>
                    <a:lstStyle/>
                    <a:p>
                      <a:pPr algn="l"/>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wrap="square">
                      <a:noAutofit/>
                    </a:bodyPr>
                    <a:lstStyle/>
                    <a:p>
                      <a:pPr algn="l"/>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 /</a:t>
                      </a:r>
                    </a:p>
                    <a:p>
                      <a:pPr algn="ct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FFFFFF"/>
                          </a:solidFill>
                          <a:latin typeface="Helvetica Neue"/>
                          <a:ea typeface="Helvetica Neue"/>
                          <a:cs typeface="Helvetica Neue"/>
                        </a:rPr>
                        <a:t>Personal</a:t>
                      </a:r>
                    </a:p>
                    <a:p>
                      <a:pPr algn="ct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wrap="square">
                      <a:noAutofit/>
                    </a:bodyPr>
                    <a:lstStyle/>
                    <a:p>
                      <a:pPr algn="l"/>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wrap="square">
                      <a:noAutofit/>
                    </a:bodyPr>
                    <a:lstStyle/>
                    <a:p>
                      <a:pPr algn="l"/>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gridSpan="5">
                  <a:txBody>
                    <a:bodyPr wrap="square">
                      <a:noAutofit/>
                    </a:bodyPr>
                    <a:lstStyle/>
                    <a:p>
                      <a:pPr algn="ctr"/>
                      <a:r>
                        <a:rPr sz="1650" b="1">
                          <a:solidFill>
                            <a:srgbClr val="A34E3F"/>
                          </a:solidFill>
                          <a:latin typeface="Helvetica Neue"/>
                          <a:ea typeface="Helvetica Neue"/>
                          <a:cs typeface="Helvetica Neue"/>
                        </a:rPr>
                        <a:t>MISSING: a shared live data layer for local businesses</a:t>
                      </a:r>
                    </a:p>
                    <a:p>
                      <a:pPr algn="ctr"/>
                      <a:r>
                        <a:rPr sz="1650" b="1">
                          <a:solidFill>
                            <a:srgbClr val="A34E3F"/>
                          </a:solidFill>
                          <a:latin typeface="Helvetica Neue"/>
                          <a:ea typeface="Helvetica Neue"/>
                          <a:cs typeface="Helvetica Neue"/>
                        </a:rPr>
                        <a:t>Services, pricing and availability, connected to booking &amp; payment</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wrap="square">
                      <a:noAutofit/>
                    </a:bodyPr>
                    <a:lstStyle/>
                    <a:p>
                      <a:pPr algn="l"/>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0"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5" name="v30-text-3">
            <a:extLst xmlns:a="http://schemas.openxmlformats.org/drawingml/2006/main">
              <a:ext uri="{FF2B5EF4-FFF2-40B4-BE49-F238E27FC236}">
                <a16:creationId xmlns:a16="http://schemas.microsoft.com/office/drawing/2014/main" id="{18B77D59-D1BB-43F2-8A95-F43D36E4DEA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The live data layer that enables agent bookings can capture value</a:t>
            </a:r>
          </a:p>
          <a:p xmlns:a="http://schemas.openxmlformats.org/drawingml/2006/main">
            <a:pPr algn="l">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from the ≈$1.2T local-services spending pool.</a:t>
            </a:r>
          </a:p>
        </p:txBody>
      </p:sp>
      <p:sp>
        <p:nvSpPr>
          <p:cNvPr id="6" name="v30-text-4">
            <a:extLst xmlns:a="http://schemas.openxmlformats.org/drawingml/2006/main">
              <a:ext uri="{FF2B5EF4-FFF2-40B4-BE49-F238E27FC236}">
                <a16:creationId xmlns:a16="http://schemas.microsoft.com/office/drawing/2014/main" id="{1F1DFEBF-554A-41C0-853E-1BA9FE87610F}"/>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Eras and capabilities illustrative.</a:t>
            </a:r>
          </a:p>
        </p:txBody>
      </p:sp>
      <p:sp>
        <p:nvSpPr>
          <p:cNvPr id="7" name="v30-text-5">
            <a:extLst xmlns:a="http://schemas.openxmlformats.org/drawingml/2006/main">
              <a:ext uri="{FF2B5EF4-FFF2-40B4-BE49-F238E27FC236}">
                <a16:creationId xmlns:a16="http://schemas.microsoft.com/office/drawing/2014/main" id="{1B0D603A-7571-4A29-9CD2-469B869CB11D}"/>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D259F112-3546-4414-82E9-20B5D275545A}"/>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852E8668-183B-41A1-B456-130DE9799246}"/>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0314CA73-E69E-4645-819B-85C09E8D555E}"/>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A18D5E23-AAE2-4AA6-A555-25749F1B444D}"/>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83CCE770-3065-4546-A32A-F4C81B8B87D8}"/>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004FEE31-4084-4E9D-B772-5C8A3EB3F774}"/>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EE49EBAA-81EF-4424-A3FF-054CF980BDBE}"/>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FCB8C545-9642-4B43-929A-8272744C0B1F}"/>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A9868275-D24E-41D3-A1A6-DAFDF019133A}"/>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A68C992B-04E4-4724-8EA2-E2B35A7CF52E}"/>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5C806A8B-DE57-4758-975D-4587C0624E9D}"/>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DB67D96D-2F22-407A-8109-DB9610FB2023}"/>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27C577A4-BE4A-4171-A5DC-9C2760AD42ED}"/>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5C770FD7-7D91-4FDD-98BE-C07EF5CE1308}"/>
              </a:ext>
            </a:extLst>
          </p:cNvPr>
          <p:cNvPicPr>
            <a:picLocks xmlns:a="http://schemas.openxmlformats.org/drawingml/2006/main" noChangeAspect="1"/>
          </p:cNvPicPr>
          <p:nvPr/>
        </p:nvPicPr>
        <p:blipFill>
          <a:blip xmlns:r="http://schemas.openxmlformats.org/officeDocument/2006/relationships" xmlns:a="http://schemas.openxmlformats.org/drawingml/2006/main" r:embed="R931e1647d8654093"/>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6616F518-5872-4475-AC34-ED43969F6C80}"/>
              </a:ext>
            </a:extLst>
          </p:cNvPr>
          <p:cNvPicPr>
            <a:picLocks xmlns:a="http://schemas.openxmlformats.org/drawingml/2006/main" noChangeAspect="1"/>
          </p:cNvPicPr>
          <p:nvPr/>
        </p:nvPicPr>
        <p:blipFill>
          <a:blip xmlns:r="http://schemas.openxmlformats.org/officeDocument/2006/relationships" xmlns:a="http://schemas.openxmlformats.org/drawingml/2006/main" r:embed="R3253ca4ed1384b04"/>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DAF22CA9-826C-451E-82F5-B190E91A1892}"/>
              </a:ext>
            </a:extLst>
          </p:cNvPr>
          <p:cNvPicPr>
            <a:picLocks xmlns:a="http://schemas.openxmlformats.org/drawingml/2006/main" noChangeAspect="1"/>
          </p:cNvPicPr>
          <p:nvPr/>
        </p:nvPicPr>
        <p:blipFill>
          <a:blip xmlns:r="http://schemas.openxmlformats.org/officeDocument/2006/relationships" xmlns:a="http://schemas.openxmlformats.org/drawingml/2006/main" r:embed="R9161bc0d2651472e"/>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F8E7EAAF-3F0F-4D6C-A96E-7ADD1C63490F}"/>
              </a:ext>
            </a:extLst>
          </p:cNvPr>
          <p:cNvPicPr>
            <a:picLocks xmlns:a="http://schemas.openxmlformats.org/drawingml/2006/main" noChangeAspect="1"/>
          </p:cNvPicPr>
          <p:nvPr/>
        </p:nvPicPr>
        <p:blipFill>
          <a:blip xmlns:r="http://schemas.openxmlformats.org/officeDocument/2006/relationships" xmlns:a="http://schemas.openxmlformats.org/drawingml/2006/main" r:embed="Rb2c66f32ae1c4378"/>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48C3B7A7-48B6-4E40-B511-61DD4C8B8FEE}"/>
              </a:ext>
            </a:extLst>
          </p:cNvPr>
          <p:cNvPicPr>
            <a:picLocks xmlns:a="http://schemas.openxmlformats.org/drawingml/2006/main" noChangeAspect="1"/>
          </p:cNvPicPr>
          <p:nvPr/>
        </p:nvPicPr>
        <p:blipFill>
          <a:blip xmlns:r="http://schemas.openxmlformats.org/officeDocument/2006/relationships" xmlns:a="http://schemas.openxmlformats.org/drawingml/2006/main" r:embed="Rc73fbea1a5ea4940"/>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1" name="Straight Arrow Connector 10">
            <a:extLst xmlns:a="http://schemas.openxmlformats.org/drawingml/2006/main">
              <a:ext uri="{FF2B5EF4-FFF2-40B4-BE49-F238E27FC236}">
                <a16:creationId xmlns:a16="http://schemas.microsoft.com/office/drawing/2014/main" id="{62393497-FF1F-43B4-BADE-31EF7ECCE770}"/>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Straight Arrow Connector 9">
            <a:extLst xmlns:a="http://schemas.openxmlformats.org/drawingml/2006/main">
              <a:ext uri="{FF2B5EF4-FFF2-40B4-BE49-F238E27FC236}">
                <a16:creationId xmlns:a16="http://schemas.microsoft.com/office/drawing/2014/main" id="{4700690C-6767-42F0-8CDF-A2FEEF258948}"/>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Straight Arrow Connector 8">
            <a:extLst xmlns:a="http://schemas.openxmlformats.org/drawingml/2006/main">
              <a:ext uri="{FF2B5EF4-FFF2-40B4-BE49-F238E27FC236}">
                <a16:creationId xmlns:a16="http://schemas.microsoft.com/office/drawing/2014/main" id="{4592B811-8CBF-4018-B332-093AC8574FA6}"/>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Salt Lake City tomorrow</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morning 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Scopes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73AE0F8C-DDB7-4D75-9EA1-F13E3EBD3E0F}"/>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C8599BD8-BB89-4EFD-88DD-2F299F994DCF}"/>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F46B1AC6-4473-494B-A9CF-0604B63231C8}"/>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0439C1DD-8F73-4126-A57C-171EC86524C5}"/>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6019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67450"/>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93C32"/>
                </a:solidFill>
                <a:latin typeface="Helvetica Neue"/>
                <a:ea typeface="Helvetica Neue"/>
                <a:cs typeface="Helvetica Neue"/>
              </a:defRPr>
            </a:defPPr>
          </a:lstStyle>
          <a:p xmlns:a="http://schemas.openxmlformats.org/drawingml/2006/main">
            <a:pPr algn="l">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Businesses pay a success fee on fulfilled new-customer jobs, shared with contributing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buNone/>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DA5EC6A3-1F25-43EE-9E20-5A7E67A5B8C4}"/>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63FF3CFF-EE09-4217-9ABD-9EA9EE749EC7}"/>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01616C18-646C-45E9-AC8A-091FE83F4F2B}"/>
              </a:ext>
            </a:extLst>
          </p:cNvPr>
          <p:cNvPicPr>
            <a:picLocks xmlns:a="http://schemas.openxmlformats.org/drawingml/2006/main" noChangeAspect="1"/>
          </p:cNvPicPr>
          <p:nvPr/>
        </p:nvPicPr>
        <p:blipFill>
          <a:blip xmlns:r="http://schemas.openxmlformats.org/officeDocument/2006/relationships" xmlns:a="http://schemas.openxmlformats.org/drawingml/2006/main" r:embed="R78fe4466f91e4656"/>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27991FBE-31A0-44D0-9ECB-2B20FE6BD257}"/>
              </a:ext>
            </a:extLst>
          </p:cNvPr>
          <p:cNvPicPr>
            <a:picLocks xmlns:a="http://schemas.openxmlformats.org/drawingml/2006/main" noChangeAspect="1"/>
          </p:cNvPicPr>
          <p:nvPr/>
        </p:nvPicPr>
        <p:blipFill>
          <a:blip xmlns:r="http://schemas.openxmlformats.org/officeDocument/2006/relationships" xmlns:a="http://schemas.openxmlformats.org/drawingml/2006/main" r:embed="Rdecf3ea87ea54a0d"/>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42cda9327f544ac5"/>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b378255546d54ee8"/>
              </a:rPr>
              <a:t>LinkedIn</a:t>
            </a:r>
          </a:p>
        </p:txBody>
      </p:sp>
      <p:pic>
        <p:nvPicPr>
          <p:cNvPr id="11" name="Picture 10">
            <a:extLst xmlns:a="http://schemas.openxmlformats.org/drawingml/2006/main">
              <a:ext uri="{FF2B5EF4-FFF2-40B4-BE49-F238E27FC236}">
                <a16:creationId xmlns:a16="http://schemas.microsoft.com/office/drawing/2014/main" id="{71FDD1A9-A3D4-4CC5-A31F-4E24E0E01AC3}"/>
              </a:ext>
            </a:extLst>
          </p:cNvPr>
          <p:cNvPicPr>
            <a:picLocks xmlns:a="http://schemas.openxmlformats.org/drawingml/2006/main" noChangeAspect="1"/>
          </p:cNvPicPr>
          <p:nvPr/>
        </p:nvPicPr>
        <p:blipFill>
          <a:blip xmlns:r="http://schemas.openxmlformats.org/officeDocument/2006/relationships" xmlns:a="http://schemas.openxmlformats.org/drawingml/2006/main" r:embed="Rff9036b11c7e4dc1"/>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ED110C3F-B7AD-4CCB-9E9C-D5E3D9E6D02A}"/>
              </a:ext>
            </a:extLst>
          </p:cNvPr>
          <p:cNvPicPr>
            <a:picLocks xmlns:a="http://schemas.openxmlformats.org/drawingml/2006/main" noChangeAspect="1"/>
          </p:cNvPicPr>
          <p:nvPr/>
        </p:nvPicPr>
        <p:blipFill>
          <a:blip xmlns:r="http://schemas.openxmlformats.org/officeDocument/2006/relationships" xmlns:a="http://schemas.openxmlformats.org/drawingml/2006/main" r:embed="R7b7c6a44af574274"/>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EF6FEEF8-E9AB-4834-9818-D85C7D2F5D78}"/>
              </a:ext>
            </a:extLst>
          </p:cNvPr>
          <p:cNvPicPr>
            <a:picLocks xmlns:a="http://schemas.openxmlformats.org/drawingml/2006/main" noChangeAspect="1"/>
          </p:cNvPicPr>
          <p:nvPr/>
        </p:nvPicPr>
        <p:blipFill>
          <a:blip xmlns:r="http://schemas.openxmlformats.org/officeDocument/2006/relationships" xmlns:a="http://schemas.openxmlformats.org/drawingml/2006/main" r:embed="R74053d41f51f4e6c"/>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2026-10-11T02:22:50.8800000Z</dcterms:created>
  <dcterms:modified xsi:type="dcterms:W3CDTF">2026-10-11T02:22:50.8800000Z</dcterms:modified>
</coreProperties>
</file>