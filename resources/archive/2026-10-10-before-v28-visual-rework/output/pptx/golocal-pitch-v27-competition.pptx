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7d9d6fa0914312" /><Relationship Type="http://schemas.openxmlformats.org/officeDocument/2006/relationships/extended-properties" Target="/docProps/app.xml" Id="Rb2e8a0effe4f4c5e" /><Relationship Type="http://schemas.openxmlformats.org/officeDocument/2006/relationships/officeDocument" Target="/ppt/presentation.xml" Id="Rb2dc3f6f7379427a" /></Relationships>
</file>

<file path=ppt/presentation.xml><?xml version="1.0" encoding="utf-8"?>
<p:presentation xmlns:p="http://schemas.openxmlformats.org/presentationml/2006/main">
  <p:sldMasterIdLst>
    <p:sldMasterId xmlns:r="http://schemas.openxmlformats.org/officeDocument/2006/relationships" id="2147483648" r:id="R36101fea8e8a461b"/>
  </p:sldMasterIdLst>
  <p:notesMasterIdLst>
    <p:notesMasterId xmlns:r="http://schemas.openxmlformats.org/officeDocument/2006/relationships" r:id="Rbdeabbd0b11544c4"/>
  </p:notesMasterIdLst>
  <p:sldIdLst>
    <p:sldId xmlns:r="http://schemas.openxmlformats.org/officeDocument/2006/relationships" id="256" r:id="R1bbe2819cb49435c"/>
    <p:sldId xmlns:r="http://schemas.openxmlformats.org/officeDocument/2006/relationships" id="257" r:id="R7a28b150f6a94bd2"/>
    <p:sldId xmlns:r="http://schemas.openxmlformats.org/officeDocument/2006/relationships" id="258" r:id="Rcae6a66d305a47ce"/>
    <p:sldId xmlns:r="http://schemas.openxmlformats.org/officeDocument/2006/relationships" id="259" r:id="R2c6aa87c6ce14c44"/>
    <p:sldId xmlns:r="http://schemas.openxmlformats.org/officeDocument/2006/relationships" id="260" r:id="R0f0c772edc844849"/>
    <p:sldId xmlns:r="http://schemas.openxmlformats.org/officeDocument/2006/relationships" id="261" r:id="R4602bf14e16e45a7"/>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838af7fb559447ec" /><Relationship Type="http://schemas.openxmlformats.org/officeDocument/2006/relationships/slideMaster" Target="/ppt/slideMasters/slideMaster1.xml" Id="R36101fea8e8a461b" /><Relationship Type="http://schemas.openxmlformats.org/officeDocument/2006/relationships/notesMaster" Target="/ppt/notesMasters/notesMaster1.xml" Id="Rbdeabbd0b11544c4" /><Relationship Type="http://schemas.openxmlformats.org/officeDocument/2006/relationships/presProps" Target="/ppt/presProps.xml" Id="R6044530d8f2a480e" /><Relationship Type="http://schemas.openxmlformats.org/officeDocument/2006/relationships/viewProps" Target="/ppt/viewProps.xml" Id="R3356f330189a46a0" /><Relationship Type="http://schemas.openxmlformats.org/officeDocument/2006/relationships/tableStyles" Target="/ppt/tableStyles.xml" Id="R302c80f7e7134cef" /><Relationship Type="http://schemas.openxmlformats.org/officeDocument/2006/relationships/slide" Target="/ppt/slides/slide1.xml" Id="R1bbe2819cb49435c" /><Relationship Type="http://schemas.openxmlformats.org/officeDocument/2006/relationships/slide" Target="/ppt/slides/slide2.xml" Id="R7a28b150f6a94bd2" /><Relationship Type="http://schemas.openxmlformats.org/officeDocument/2006/relationships/slide" Target="/ppt/slides/slide3.xml" Id="Rcae6a66d305a47ce" /><Relationship Type="http://schemas.openxmlformats.org/officeDocument/2006/relationships/slide" Target="/ppt/slides/slide4.xml" Id="R2c6aa87c6ce14c44" /><Relationship Type="http://schemas.openxmlformats.org/officeDocument/2006/relationships/slide" Target="/ppt/slides/slide5.xml" Id="R0f0c772edc844849" /><Relationship Type="http://schemas.openxmlformats.org/officeDocument/2006/relationships/slide" Target="/ppt/slides/slide6.xml" Id="R4602bf14e16e45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f5d72423cd45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4837fcaad24c64" /><Relationship Type="http://schemas.openxmlformats.org/officeDocument/2006/relationships/notesMaster" Target="/ppt/notesMasters/notesMaster1.xml" Id="R57d77ac716024d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e573145a124e7d" /><Relationship Type="http://schemas.openxmlformats.org/officeDocument/2006/relationships/notesMaster" Target="/ppt/notesMasters/notesMaster1.xml" Id="Rd9452b4fcf0143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8458065de64061" /><Relationship Type="http://schemas.openxmlformats.org/officeDocument/2006/relationships/notesMaster" Target="/ppt/notesMasters/notesMaster1.xml" Id="R55fe4b658b4a41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2af216def64255" /><Relationship Type="http://schemas.openxmlformats.org/officeDocument/2006/relationships/notesMaster" Target="/ppt/notesMasters/notesMaster1.xml" Id="R855e10a86244470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8119f071fc4eeb" /><Relationship Type="http://schemas.openxmlformats.org/officeDocument/2006/relationships/notesMaster" Target="/ppt/notesMasters/notesMaster1.xml" Id="Rf1e1f845749948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e92bdbf93b483f" /><Relationship Type="http://schemas.openxmlformats.org/officeDocument/2006/relationships/notesMaster" Target="/ppt/notesMasters/notesMaster1.xml" Id="Re1dfb6a682bc42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Personal agents create additional starting points for local-service requests. Websites, forms and calls still fragment many service-booking workflows. The matrix illustrates cumulative consumer capabilities, not invention dates or a claim that earlier platforms had no booking capability. Specialized platforms and existing booking products already support transactions in selected categories. Uber, DoorDash and Booking.com illustrate organized supply and a transaction layer, not confirmed GoLocal integrations.</a:t>
            </a:r>
          </a:p>
          <a:p xmlns:a="http://schemas.openxmlformats.org/drawingml/2006/main">
            <a:r>
              <a:t>Market context: approximately $1.19T, rounded to $1.2T, across home improvement/repair (~$600B, including materials and DIY), motor vehicle maintenance and repair ($283.802B), personal care and clothing services ($239.558B) and child day care ($65.547B). Mixed years and measures; this is not GoLocal's serviceable booking volume or fee revenue. Sources: https://www.jchs.harvard.edu/sites/default/files/reports/files/Harvard_JCHS_Improving_Americas_Housing_2025.pdf ; https://fred.stlouisfed.org/release/tables?eid=44183&amp;rid=53 ; https://fred.stlouisfed.org/series/AIES6244RCT00US . Supporting calculation supplied in resources/local-services-tam-2026-10-10.md. Structured transaction examples: https://developer.doordash.com/en-US/mcp/ ; https://developers.booking.com/demand/docs/getting-started/overview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GoLocal's intended product combines participating provider supply with structured booking execution. The diagram describes the proposed architecture, not currently deployed integrations. Software segments overlap and each category has a different mix. Merchant authorization, vendor permissions and supported operations are required. Agents and frameworks shown are ecosystem examples, not signed distribution partners.</a:t>
            </a:r>
          </a:p>
          <a:p xmlns:a="http://schemas.openxmlformats.org/drawingml/2006/main">
            <a:r>
              <a:t>100+ plumbing software products: conservative directory count supplied in resources/plumbing-vendor-depth-evidence-2026-10-10.json. https://www.softwareadvice.com/field-service/plumbing-software-comparison/ . This is not a count of production booking APIs. Official examples: https://buildops.com/industries/plumbing ; https://www.simprogroup.com/industries/plumbing-software ; https://www.servicefusion.com/plumbing-software ; https://www.joblogic.com/industries/plumbing-software/ ; https://www.kickserv.com/industries/plumbing .</a:t>
            </a:r>
          </a:p>
          <a:p xmlns:a="http://schemas.openxmlformats.org/drawingml/2006/main">
            <a:r>
              <a:t>$2B+ is the supplied selected-company funding total, not funding for every pictured product or evidence of local-service demand: Hark over $700M, Instinct $1B Series C plus $350M previously reported total, Town $55M Series A. Source record: resources/agent-funding-evidence-2026-10-10.json. https://hark.com/articles/hark-announces-usd700-million-fundraising-round ; https://www.businesswire.com/news/home/20260928153437/en/ ; https://techcrunch.com/2026/08/26/viral-ai-startup-instinct-has-raised-350-million-at-a-2-5-billion-valuation/ ; https://www.town.com/press/series-a . Original supplied agent logos retained.</a:t>
            </a:r>
          </a:p>
          <a:p xmlns:a="http://schemas.openxmlformats.org/drawingml/2006/main">
            <a:r>
              <a:t>Why a shared layer: recruiting supply, normalizing different workflows and handling booking state can save each agent company from repeating that work. Supplier coverage and reliable execution are the proposed differentiation. Distribution and economics remain to be 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intended customer journey, not a live GoLocal transaction. Salt Lake City aligns the example with the planned plumbing pilot. Oak Plumbing, the $79 diagnostic visit, 9–11 am slot and booking GL-1042 are fictional. The customer approves the provider, visit fee and payment authorization before execution. Authorization is not payment capture. Repair work requires a separate quote after inspection. GoLocal would return provider-confirmed booking state through authorized software connections; this capability remains to be validated. A completed and paid job, rather than connector installation or a mere request, is the proposed commercial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cold start requires both useful participating supply and users with real booking needs. One-time setup is an intended experience on compatible platforms and may require sign-in and approval. Each transaction still requires the relevant user authorization.</a:t>
            </a:r>
          </a:p>
          <a:p xmlns:a="http://schemas.openxmlformats.org/drawingml/2006/main">
            <a:r>
              <a:t>Proposed network effect: successful bookings create evidence of usefulness and reliability. Where agent discovery and selection mechanisms can use that evidence, agents may suggest GoLocal to more users with similar requests. Those suggestions can bring more local bookings. Demonstrated demand can attract more businesses, improving coverage and availability and making subsequent bookings more useful. This is a commercial hypothesis, not an observed growth loop or a claim that models automatically learn across users. No demand-routing agreement or automatic recommendation mechanism is established.</a:t>
            </a:r>
          </a:p>
          <a:p xmlns:a="http://schemas.openxmlformats.org/drawingml/2006/main">
            <a:r>
              <a:t>Expansion is a subsequent decision: demonstrate the local loop and viable economics in one city/category, use that proof to add related categories within the city, then repeat in more cities. Supply and demand still need to be established in each new market.</a:t>
            </a:r>
          </a:p>
          <a:p xmlns:a="http://schemas.openxmlformats.org/drawingml/2006/main">
            <a:r>
              <a:t>Proposed commercial model: providers pay a success fee on fulfilled new-customer jobs, with a share for contributing partners. Prices, shares and paid continuation have not been agreed. Repeat visits, cancellations and existing-customer changes do not automatically generate acquisition fees. Contribution must cover acquisition, partner share, integration, support, payment and exception-handling costs. A venture-scale opportunity requires repeatable distribution, reusable integrations and profitable delivery, beyond a thin connector or manual booking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pilot: Salt Lake City plumbing. Founder-reported Cactus AI agreement to introduce GoLocal to 50+ service partners. Founder-reported YourCardare regional back-office relationship with another 10+ providers in the pipeline. Counts remain separate because overlap, city/category eligibility, consent and integration readiness are not established. These are introduction channels, not 60+ unique active providers or committed onboardings. The initial milestone is a customer-authorized, provider-confirmed booking through a permitted software connection. No live GoLocal booking, representative agent demand, paid revenue or production reliability has been established in the supplied materials. Pilot evidence should include where eligible requests originate, confirmation and fulfillment, failure/exception rates and contribution after costs. Supplier introductions are early access evidence; they do not establish demand distribution.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Founder-supplied biographies and credentials, not independently verified for this deck. Pulkit Walia: Urban Company founding team member, helped build from launch to a $3B IPO; launched a home security brand at 19 and grew it to $700K revenue; Bessemer Venture Partners investor with $50M deployed in consumer AI startups; Harvard Business School MBA. The IPO figure refers to Urban Company, not GoLocal. https://www.linkedin.com/in/pulkitwalia/ . Rohit Jain: five years as a senior software engineer at Amazon, Square and Citrix; taught 2,500 engineers system design on Udemy; production MCP integration experience; Texas A&amp;M Computer Science and IIT Kharagpur. https://www.linkedin.com/in/rohit-jain-343437187/ . Founder/cofounder titles, ownership and employment commitment are not implied. Original supplied photos and education logos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1203130f9a432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52ccc342f074b9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1fb5068f2a845f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20423b06d194e8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8068e69fbd84c2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be5336d0f244f6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56d940660c4ef0" /><Relationship Type="http://schemas.openxmlformats.org/officeDocument/2006/relationships/slideLayout" Target="/ppt/slideLayouts/slideLayout1.xml" Id="R14e767f67fc4418e" /><Relationship Type="http://schemas.openxmlformats.org/officeDocument/2006/relationships/slideLayout" Target="/ppt/slideLayouts/slideLayout2.xml" Id="R296e01ce48c74a1c" /><Relationship Type="http://schemas.openxmlformats.org/officeDocument/2006/relationships/slideLayout" Target="/ppt/slideLayouts/slideLayout3.xml" Id="R1eb814d3b4e5441d" /><Relationship Type="http://schemas.openxmlformats.org/officeDocument/2006/relationships/slideLayout" Target="/ppt/slideLayouts/slideLayout4.xml" Id="Ree44e932ece14200" /><Relationship Type="http://schemas.openxmlformats.org/officeDocument/2006/relationships/slideLayout" Target="/ppt/slideLayouts/slideLayout5.xml" Id="R54a335349fe24489" /><Relationship Type="http://schemas.openxmlformats.org/officeDocument/2006/relationships/slideLayout" Target="/ppt/slideLayouts/slideLayout6.xml" Id="R4359b460d1aa44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4e767f67fc4418e"/>
    <p:sldLayoutId xmlns:r="http://schemas.openxmlformats.org/officeDocument/2006/relationships" id="2147483650" r:id="R296e01ce48c74a1c"/>
    <p:sldLayoutId xmlns:r="http://schemas.openxmlformats.org/officeDocument/2006/relationships" id="2147483651" r:id="R1eb814d3b4e5441d"/>
    <p:sldLayoutId xmlns:r="http://schemas.openxmlformats.org/officeDocument/2006/relationships" id="2147483652" r:id="Ree44e932ece14200"/>
    <p:sldLayoutId xmlns:r="http://schemas.openxmlformats.org/officeDocument/2006/relationships" id="2147483653" r:id="R54a335349fe24489"/>
    <p:sldLayoutId xmlns:r="http://schemas.openxmlformats.org/officeDocument/2006/relationships" id="2147483654" r:id="R4359b460d1aa44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aee4df35ca047e8" /><Relationship Type="http://schemas.openxmlformats.org/officeDocument/2006/relationships/notesSlide" Target="/ppt/notesSlides/notesSlide1.xml" Id="Redf4b98a279f49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745a247731b4ae5" /><Relationship Type="http://schemas.openxmlformats.org/officeDocument/2006/relationships/image" Target="/ppt/media/image.png" Id="Rb12f3055342a4bc7" /><Relationship Type="http://schemas.openxmlformats.org/officeDocument/2006/relationships/image" Target="/ppt/media/image.jpeg" Id="R1d10faa441214b6e" /><Relationship Type="http://schemas.openxmlformats.org/officeDocument/2006/relationships/image" Target="/ppt/media/image2.jpeg" Id="R72d735ecc7a04122" /><Relationship Type="http://schemas.openxmlformats.org/officeDocument/2006/relationships/image" Target="/ppt/media/image3.jpeg" Id="R379e686677904128" /><Relationship Type="http://schemas.openxmlformats.org/officeDocument/2006/relationships/image" Target="/ppt/media/image2.png" Id="Re3e57da1d11c44ce" /><Relationship Type="http://schemas.openxmlformats.org/officeDocument/2006/relationships/notesSlide" Target="/ppt/notesSlides/notesSlide2.xml" Id="Rcb4671fc02304c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ac90a91e0c4452e" /><Relationship Type="http://schemas.openxmlformats.org/officeDocument/2006/relationships/notesSlide" Target="/ppt/notesSlides/notesSlide3.xml" Id="Rc8ec4d3706604b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d6619b9ba8b4e3f" /><Relationship Type="http://schemas.openxmlformats.org/officeDocument/2006/relationships/notesSlide" Target="/ppt/notesSlides/notesSlide4.xml" Id="R23a1e6235e9d4a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902a4ef112c4964" /><Relationship Type="http://schemas.openxmlformats.org/officeDocument/2006/relationships/notesSlide" Target="/ppt/notesSlides/notesSlide5.xml" Id="R32b912ca6c3040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b8ad0fc72054afb" /><Relationship Type="http://schemas.openxmlformats.org/officeDocument/2006/relationships/image" Target="/ppt/media/image4.jpeg" Id="R9c354eeea72340be" /><Relationship Type="http://schemas.openxmlformats.org/officeDocument/2006/relationships/image" Target="/ppt/media/image5.jpeg" Id="Rf093c88bb03b444a" /><Relationship Type="http://schemas.openxmlformats.org/officeDocument/2006/relationships/hyperlink" Target="https://www.linkedin.com/in/pulkitwalia/" TargetMode="External" Id="Reb77a0d0dc0c4879" /><Relationship Type="http://schemas.openxmlformats.org/officeDocument/2006/relationships/hyperlink" Target="https://www.linkedin.com/in/rohit-jain-343437187/" TargetMode="External" Id="R84daa97c484a442b" /><Relationship Type="http://schemas.openxmlformats.org/officeDocument/2006/relationships/image" Target="/ppt/media/image6.jpeg" Id="Rfc548af86e964f34" /><Relationship Type="http://schemas.openxmlformats.org/officeDocument/2006/relationships/image" Target="/ppt/media/image3.png" Id="R8ac8d5d23dbf4a56" /><Relationship Type="http://schemas.openxmlformats.org/officeDocument/2006/relationships/image" Target="/ppt/media/image7.jpeg" Id="R526999aa3ea14170" /><Relationship Type="http://schemas.openxmlformats.org/officeDocument/2006/relationships/notesSlide" Target="/ppt/notesSlides/notesSlide6.xml" Id="R5904d06fb35042bc" /></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0" name="v27-text-0">
            <a:extLst xmlns:a="http://schemas.openxmlformats.org/drawingml/2006/main">
              <a:ext uri="{FF2B5EF4-FFF2-40B4-BE49-F238E27FC236}">
                <a16:creationId xmlns:a16="http://schemas.microsoft.com/office/drawing/2014/main" id="{CAF3293B-AD50-41D2-8E9D-6E55CCC0D211}"/>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236C4E"/>
                </a:solidFill>
                <a:latin typeface="Helvetica Neue"/>
                <a:ea typeface="Helvetica Neue"/>
                <a:cs typeface="Helvetica Neue"/>
              </a:defRPr>
            </a:defPPr>
          </a:lstStyle>
          <a:p xmlns:a="http://schemas.openxmlformats.org/drawingml/2006/main">
            <a:pPr algn="l">
              <a:defRPr sz="1725" b="1">
                <a:solidFill>
                  <a:srgbClr val="236C4E"/>
                </a:solidFill>
                <a:latin typeface="Helvetica Neue"/>
                <a:ea typeface="Helvetica Neue"/>
                <a:cs typeface="Helvetica Neue"/>
              </a:defRPr>
            </a:pPr>
            <a:r>
              <a:rPr sz="1725" b="1">
                <a:solidFill>
                  <a:srgbClr val="236C4E"/>
                </a:solidFill>
                <a:latin typeface="Helvetica Neue"/>
                <a:ea typeface="Helvetica Neue"/>
                <a:cs typeface="Helvetica Neue"/>
              </a:rPr>
              <a:t>GOLOCAL</a:t>
            </a:r>
          </a:p>
        </p:txBody>
      </p:sp>
      <p:sp>
        <p:nvSpPr>
          <p:cNvPr id="2" name="v27-text-1">
            <a:extLst xmlns:a="http://schemas.openxmlformats.org/drawingml/2006/main">
              <a:ext uri="{FF2B5EF4-FFF2-40B4-BE49-F238E27FC236}">
                <a16:creationId xmlns:a16="http://schemas.microsoft.com/office/drawing/2014/main" id="{05E13926-64B9-407C-B264-EEC4D063190E}"/>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≈$1.2T in U.S. local-services spending</a:t>
            </a:r>
          </a:p>
        </p:txBody>
      </p:sp>
      <p:sp>
        <p:nvSpPr>
          <p:cNvPr id="3" name="v27-text-2">
            <a:extLst xmlns:a="http://schemas.openxmlformats.org/drawingml/2006/main">
              <a:ext uri="{FF2B5EF4-FFF2-40B4-BE49-F238E27FC236}">
                <a16:creationId xmlns:a16="http://schemas.microsoft.com/office/drawing/2014/main" id="{1068E66A-3FBB-42FF-865B-3ED432896980}"/>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Discovery keeps improving. Booking still spans websites, forms and calls.</a:t>
            </a:r>
          </a:p>
        </p:txBody>
      </p:sp>
      <p:graphicFrame>
        <p:nvGraphicFramePr>
          <p:cNvPr id="4" name="">
            <a:extLst xmlns:a="http://schemas.openxmlformats.org/drawingml/2006/main">
              <a:ext uri="{FF2B5EF4-FFF2-40B4-BE49-F238E27FC236}">
                <a16:creationId xmlns:a16="http://schemas.microsoft.com/office/drawing/2014/main" id="{A9F1E665-090B-4672-932F-A176D2CABA50}"/>
              </a:ext>
            </a:extLst>
          </p:cNvPr>
          <p:cNvGraphicFramePr/>
          <p:nvPr/>
        </p:nvGraphicFramePr>
        <p:xfrm>
          <a:off xmlns:a="http://schemas.openxmlformats.org/drawingml/2006/main" x="495300" y="1847850"/>
          <a:ext xmlns:a="http://schemas.openxmlformats.org/drawingml/2006/main" cx="11201400" cy="3781425"/>
        </p:xfrm>
        <a:graphic xmlns:a="http://schemas.openxmlformats.org/drawingml/2006/main">
          <a:graphicData uri="http://schemas.openxmlformats.org/drawingml/2006/table">
            <a:tbl>
              <a:tblPr firstRow="0" firstCol="0" bandRow="0"/>
              <a:tblGrid>
                <a:gridCol w="2381250"/>
                <a:gridCol w="1764030"/>
                <a:gridCol w="1764030"/>
                <a:gridCol w="1764030"/>
                <a:gridCol w="1764030"/>
                <a:gridCol w="1764030"/>
              </a:tblGrid>
              <a:tr h="266700">
                <a:tc>
                  <a:txBody>
                    <a:bodyPr wrap="square">
                      <a:noAutofit/>
                    </a:bodyPr>
                    <a:lstStyle/>
                    <a:p>
                      <a:r>
                        <a:rPr sz="1350" b="1">
                          <a:solidFill>
                            <a:srgbClr val="65746C"/>
                          </a:solidFill>
                          <a:latin typeface="Helvetica Neue"/>
                          <a:ea typeface="Helvetica Neue"/>
                          <a:cs typeface="Helvetica Neue"/>
                        </a:rPr>
                        <a:t/>
                      </a:r>
                    </a:p>
                  </a:txBody>
                  <a:tcPr marL="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350" b="0">
                          <a:solidFill>
                            <a:srgbClr val="65746C"/>
                          </a:solidFill>
                          <a:latin typeface="Helvetica Neue"/>
                          <a:ea typeface="Helvetica Neue"/>
                          <a:cs typeface="Helvetica Neue"/>
                        </a:rPr>
                        <a:t>Pre-2000</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350" b="0">
                          <a:solidFill>
                            <a:srgbClr val="65746C"/>
                          </a:solidFill>
                          <a:latin typeface="Helvetica Neue"/>
                          <a:ea typeface="Helvetica Neue"/>
                          <a:cs typeface="Helvetica Neue"/>
                        </a:rPr>
                        <a:t>2000–2010</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350" b="0">
                          <a:solidFill>
                            <a:srgbClr val="65746C"/>
                          </a:solidFill>
                          <a:latin typeface="Helvetica Neue"/>
                          <a:ea typeface="Helvetica Neue"/>
                          <a:cs typeface="Helvetica Neue"/>
                        </a:rPr>
                        <a:t>2010–2020</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350" b="0">
                          <a:solidFill>
                            <a:srgbClr val="65746C"/>
                          </a:solidFill>
                          <a:latin typeface="Helvetica Neue"/>
                          <a:ea typeface="Helvetica Neue"/>
                          <a:cs typeface="Helvetica Neue"/>
                        </a:rPr>
                        <a:t>2020–2025</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350" b="0">
                          <a:solidFill>
                            <a:srgbClr val="65746C"/>
                          </a:solidFill>
                          <a:latin typeface="Helvetica Neue"/>
                          <a:ea typeface="Helvetica Neue"/>
                          <a:cs typeface="Helvetica Neue"/>
                        </a:rPr>
                        <a:t>2026+</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r>
              <a:tr h="304800">
                <a:tc>
                  <a:txBody>
                    <a:bodyPr wrap="square">
                      <a:noAutofit/>
                    </a:bodyPr>
                    <a:lstStyle/>
                    <a:p>
                      <a:pPr algn="l"/>
                      <a:r>
                        <a:rPr sz="1425" b="1">
                          <a:solidFill>
                            <a:srgbClr val="193C32"/>
                          </a:solidFill>
                          <a:latin typeface="Helvetica Neue"/>
                          <a:ea typeface="Helvetica Neue"/>
                          <a:cs typeface="Helvetica Neue"/>
                        </a:rPr>
                        <a:t>Technology</a:t>
                      </a:r>
                    </a:p>
                  </a:txBody>
                  <a:tcPr marL="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425" b="0">
                          <a:solidFill>
                            <a:srgbClr val="193C32"/>
                          </a:solidFill>
                          <a:latin typeface="Helvetica Neue"/>
                          <a:ea typeface="Helvetica Neue"/>
                          <a:cs typeface="Helvetica Neue"/>
                        </a:rPr>
                        <a:t>Telephones</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425" b="0">
                          <a:solidFill>
                            <a:srgbClr val="193C32"/>
                          </a:solidFill>
                          <a:latin typeface="Helvetica Neue"/>
                          <a:ea typeface="Helvetica Neue"/>
                          <a:cs typeface="Helvetica Neue"/>
                        </a:rPr>
                        <a:t>Internet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425" b="0">
                          <a:solidFill>
                            <a:srgbClr val="193C32"/>
                          </a:solidFill>
                          <a:latin typeface="Helvetica Neue"/>
                          <a:ea typeface="Helvetica Neue"/>
                          <a:cs typeface="Helvetica Neue"/>
                        </a:rPr>
                        <a:t>Mobile + GPS</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425" b="0">
                          <a:solidFill>
                            <a:srgbClr val="193C32"/>
                          </a:solidFill>
                          <a:latin typeface="Helvetica Neue"/>
                          <a:ea typeface="Helvetica Neue"/>
                          <a:cs typeface="Helvetica Neue"/>
                        </a:rPr>
                        <a:t>LLMs</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425" b="0">
                          <a:solidFill>
                            <a:srgbClr val="193C32"/>
                          </a:solidFill>
                          <a:latin typeface="Helvetica Neue"/>
                          <a:ea typeface="Helvetica Neue"/>
                          <a:cs typeface="Helvetica Neue"/>
                        </a:rPr>
                        <a:t>AI + tools</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r>
              <a:tr h="523875">
                <a:tc>
                  <a:txBody>
                    <a:bodyPr wrap="square">
                      <a:noAutofit/>
                    </a:bodyPr>
                    <a:lstStyle/>
                    <a:p>
                      <a:pPr algn="l"/>
                      <a:r>
                        <a:rPr sz="1575" b="1">
                          <a:solidFill>
                            <a:srgbClr val="193C32"/>
                          </a:solidFill>
                          <a:latin typeface="Helvetica Neue"/>
                          <a:ea typeface="Helvetica Neue"/>
                          <a:cs typeface="Helvetica Neue"/>
                        </a:rPr>
                        <a:t>Platform</a:t>
                      </a:r>
                    </a:p>
                  </a:txBody>
                  <a:tcPr marL="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575" b="1">
                          <a:solidFill>
                            <a:srgbClr val="193C32"/>
                          </a:solidFill>
                          <a:latin typeface="Helvetica Neue"/>
                          <a:ea typeface="Helvetica Neue"/>
                          <a:cs typeface="Helvetica Neue"/>
                        </a:rPr>
                        <a:t>Yellow Pages</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575" b="1">
                          <a:solidFill>
                            <a:srgbClr val="193C32"/>
                          </a:solidFill>
                          <a:latin typeface="Helvetica Neue"/>
                          <a:ea typeface="Helvetica Neue"/>
                          <a:cs typeface="Helvetica Neue"/>
                        </a:rPr>
                        <a:t>Google /</a:t>
                      </a:r>
                    </a:p>
                    <a:p>
                      <a:pPr algn="ctr"/>
                      <a:r>
                        <a:rPr sz="1575" b="1">
                          <a:solidFill>
                            <a:srgbClr val="193C32"/>
                          </a:solidFill>
                          <a:latin typeface="Helvetica Neue"/>
                          <a:ea typeface="Helvetica Neue"/>
                          <a:cs typeface="Helvetica Neue"/>
                        </a:rPr>
                        <a:t>Craigslist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575" b="1">
                          <a:solidFill>
                            <a:srgbClr val="193C32"/>
                          </a:solidFill>
                          <a:latin typeface="Helvetica Neue"/>
                          <a:ea typeface="Helvetica Neue"/>
                          <a:cs typeface="Helvetica Neue"/>
                        </a:rPr>
                        <a:t>Google Maps</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575" b="1">
                          <a:solidFill>
                            <a:srgbClr val="193C32"/>
                          </a:solidFill>
                          <a:latin typeface="Helvetica Neue"/>
                          <a:ea typeface="Helvetica Neue"/>
                          <a:cs typeface="Helvetica Neue"/>
                        </a:rPr>
                        <a:t>AI chatbots</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575" b="1">
                          <a:solidFill>
                            <a:srgbClr val="FFFFFF"/>
                          </a:solidFill>
                          <a:latin typeface="Helvetica Neue"/>
                          <a:ea typeface="Helvetica Neue"/>
                          <a:cs typeface="Helvetica Neue"/>
                        </a:rPr>
                        <a:t>Personal AI</a:t>
                      </a:r>
                    </a:p>
                    <a:p>
                      <a:pPr algn="ctr"/>
                      <a:r>
                        <a:rPr sz="1575" b="1">
                          <a:solidFill>
                            <a:srgbClr val="FFFFFF"/>
                          </a:solidFill>
                          <a:latin typeface="Helvetica Neue"/>
                          <a:ea typeface="Helvetica Neue"/>
                          <a:cs typeface="Helvetica Neue"/>
                        </a:rPr>
                        <a:t>agents</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236C4E"/>
                    </a:solidFill>
                  </a:tcPr>
                </a:tc>
              </a:tr>
              <a:tr h="323850">
                <a:tc>
                  <a:txBody>
                    <a:bodyPr wrap="square">
                      <a:noAutofit/>
                    </a:bodyPr>
                    <a:lstStyle/>
                    <a:p>
                      <a:pPr algn="l"/>
                      <a:r>
                        <a:rPr sz="1425" b="1">
                          <a:solidFill>
                            <a:srgbClr val="193C32"/>
                          </a:solidFill>
                          <a:latin typeface="Helvetica Neue"/>
                          <a:ea typeface="Helvetica Neue"/>
                          <a:cs typeface="Helvetica Neue"/>
                        </a:rPr>
                        <a:t>Find a business</a:t>
                      </a:r>
                    </a:p>
                  </a:txBody>
                  <a:tcPr marL="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800" b="1">
                          <a:solidFill>
                            <a:srgbClr val="FFFFFF"/>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236C4E"/>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E4EFE6"/>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E4EFE6"/>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E4EFE6"/>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E4EFE6"/>
                    </a:solidFill>
                  </a:tcPr>
                </a:tc>
              </a:tr>
              <a:tr h="323850">
                <a:tc>
                  <a:txBody>
                    <a:bodyPr wrap="square">
                      <a:noAutofit/>
                    </a:bodyPr>
                    <a:lstStyle/>
                    <a:p>
                      <a:pPr algn="l"/>
                      <a:r>
                        <a:rPr sz="1425" b="1">
                          <a:solidFill>
                            <a:srgbClr val="193C32"/>
                          </a:solidFill>
                          <a:latin typeface="Helvetica Neue"/>
                          <a:ea typeface="Helvetica Neue"/>
                          <a:cs typeface="Helvetica Neue"/>
                        </a:rPr>
                        <a:t>Compare options</a:t>
                      </a:r>
                    </a:p>
                  </a:txBody>
                  <a:tcPr marL="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0F0EB"/>
                    </a:solidFill>
                  </a:tcPr>
                </a:tc>
                <a:tc>
                  <a:txBody>
                    <a:bodyPr wrap="square">
                      <a:noAutofit/>
                    </a:bodyPr>
                    <a:lstStyle/>
                    <a:p>
                      <a:pPr algn="ctr"/>
                      <a:r>
                        <a:rPr sz="1800" b="1">
                          <a:solidFill>
                            <a:srgbClr val="FFFFFF"/>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236C4E"/>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E4EFE6"/>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E4EFE6"/>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E4EFE6"/>
                    </a:solidFill>
                  </a:tcPr>
                </a:tc>
              </a:tr>
              <a:tr h="323850">
                <a:tc>
                  <a:txBody>
                    <a:bodyPr wrap="square">
                      <a:noAutofit/>
                    </a:bodyPr>
                    <a:lstStyle/>
                    <a:p>
                      <a:pPr algn="l"/>
                      <a:r>
                        <a:rPr sz="1425" b="1">
                          <a:solidFill>
                            <a:srgbClr val="193C32"/>
                          </a:solidFill>
                          <a:latin typeface="Helvetica Neue"/>
                          <a:ea typeface="Helvetica Neue"/>
                          <a:cs typeface="Helvetica Neue"/>
                        </a:rPr>
                        <a:t>Location &amp; reviews</a:t>
                      </a:r>
                    </a:p>
                  </a:txBody>
                  <a:tcPr marL="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0F0EB"/>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0F0EB"/>
                    </a:solidFill>
                  </a:tcPr>
                </a:tc>
                <a:tc>
                  <a:txBody>
                    <a:bodyPr wrap="square">
                      <a:noAutofit/>
                    </a:bodyPr>
                    <a:lstStyle/>
                    <a:p>
                      <a:pPr algn="ctr"/>
                      <a:r>
                        <a:rPr sz="1800" b="1">
                          <a:solidFill>
                            <a:srgbClr val="FFFFFF"/>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236C4E"/>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E4EFE6"/>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E4EFE6"/>
                    </a:solidFill>
                  </a:tcPr>
                </a:tc>
              </a:tr>
              <a:tr h="323850">
                <a:tc>
                  <a:txBody>
                    <a:bodyPr wrap="square">
                      <a:noAutofit/>
                    </a:bodyPr>
                    <a:lstStyle/>
                    <a:p>
                      <a:pPr algn="l"/>
                      <a:r>
                        <a:rPr sz="1425" b="1">
                          <a:solidFill>
                            <a:srgbClr val="193C32"/>
                          </a:solidFill>
                          <a:latin typeface="Helvetica Neue"/>
                          <a:ea typeface="Helvetica Neue"/>
                          <a:cs typeface="Helvetica Neue"/>
                        </a:rPr>
                        <a:t>Conversational request</a:t>
                      </a:r>
                    </a:p>
                  </a:txBody>
                  <a:tcPr marL="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0F0EB"/>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0F0EB"/>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0F0EB"/>
                    </a:solidFill>
                  </a:tcPr>
                </a:tc>
                <a:tc>
                  <a:txBody>
                    <a:bodyPr wrap="square">
                      <a:noAutofit/>
                    </a:bodyPr>
                    <a:lstStyle/>
                    <a:p>
                      <a:pPr algn="ctr"/>
                      <a:r>
                        <a:rPr sz="1800" b="1">
                          <a:solidFill>
                            <a:srgbClr val="FFFFFF"/>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236C4E"/>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E4EFE6"/>
                    </a:solidFill>
                  </a:tcPr>
                </a:tc>
              </a:tr>
              <a:tr h="323850">
                <a:tc>
                  <a:txBody>
                    <a:bodyPr wrap="square">
                      <a:noAutofit/>
                    </a:bodyPr>
                    <a:lstStyle/>
                    <a:p>
                      <a:pPr algn="l"/>
                      <a:r>
                        <a:rPr sz="1425" b="1">
                          <a:solidFill>
                            <a:srgbClr val="193C32"/>
                          </a:solidFill>
                          <a:latin typeface="Helvetica Neue"/>
                          <a:ea typeface="Helvetica Neue"/>
                          <a:cs typeface="Helvetica Neue"/>
                        </a:rPr>
                        <a:t>Delegate the task</a:t>
                      </a:r>
                    </a:p>
                  </a:txBody>
                  <a:tcPr marL="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0F0EB"/>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0F0EB"/>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0F0EB"/>
                    </a:solidFill>
                  </a:tcPr>
                </a:tc>
                <a:tc>
                  <a:txBody>
                    <a:bodyPr wrap="square">
                      <a:noAutofit/>
                    </a:bodyPr>
                    <a:lstStyle/>
                    <a:p>
                      <a:pPr algn="ctr"/>
                      <a:r>
                        <a:rPr sz="1800" b="0">
                          <a:solidFill>
                            <a:srgbClr val="193C32"/>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0F0EB"/>
                    </a:solidFill>
                  </a:tcPr>
                </a:tc>
                <a:tc>
                  <a:txBody>
                    <a:bodyPr wrap="square">
                      <a:noAutofit/>
                    </a:bodyPr>
                    <a:lstStyle/>
                    <a:p>
                      <a:pPr algn="ctr"/>
                      <a:r>
                        <a:rPr sz="1800" b="1">
                          <a:solidFill>
                            <a:srgbClr val="FFFFFF"/>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236C4E"/>
                    </a:solidFill>
                  </a:tcPr>
                </a:tc>
              </a:tr>
              <a:tr h="342900">
                <a:tc>
                  <a:txBody>
                    <a:bodyPr wrap="square">
                      <a:noAutofit/>
                    </a:bodyPr>
                    <a:lstStyle/>
                    <a:p>
                      <a:pPr algn="l"/>
                      <a:r>
                        <a:rPr sz="1425" b="1">
                          <a:solidFill>
                            <a:srgbClr val="A95145"/>
                          </a:solidFill>
                          <a:latin typeface="Helvetica Neue"/>
                          <a:ea typeface="Helvetica Neue"/>
                          <a:cs typeface="Helvetica Neue"/>
                        </a:rPr>
                        <a:t>Scope &amp; quote</a:t>
                      </a:r>
                    </a:p>
                  </a:txBody>
                  <a:tcPr marL="0" marR="57150" marT="9525" marB="9525" anchor="ctr">
                    <a:lnL w="19050">
                      <a:solidFill>
                        <a:srgbClr val="FBF9F4"/>
                      </a:solidFill>
                    </a:lnL>
                    <a:lnR w="19050">
                      <a:solidFill>
                        <a:srgbClr val="FBF9F4"/>
                      </a:solidFill>
                    </a:lnR>
                    <a:lnT w="57150">
                      <a:solidFill>
                        <a:srgbClr val="FBF9F4"/>
                      </a:solidFill>
                    </a:lnT>
                    <a:lnB w="19050">
                      <a:solidFill>
                        <a:srgbClr val="FBF9F4"/>
                      </a:solidFill>
                    </a:lnB>
                    <a:solidFill>
                      <a:srgbClr val="FBF9F4"/>
                    </a:solidFill>
                  </a:tcPr>
                </a:tc>
                <a:tc>
                  <a:txBody>
                    <a:bodyPr wrap="square">
                      <a:noAutofit/>
                    </a:bodyPr>
                    <a:lstStyle/>
                    <a:p>
                      <a:pPr algn="ctr"/>
                      <a:r>
                        <a:rPr sz="1800" b="0">
                          <a:solidFill>
                            <a:srgbClr val="A95145"/>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57150">
                      <a:solidFill>
                        <a:srgbClr val="FBF9F4"/>
                      </a:solidFill>
                    </a:lnT>
                    <a:lnB w="19050">
                      <a:solidFill>
                        <a:srgbClr val="FBF9F4"/>
                      </a:solidFill>
                    </a:lnB>
                    <a:solidFill>
                      <a:srgbClr val="F4E8E2"/>
                    </a:solidFill>
                  </a:tcPr>
                </a:tc>
                <a:tc>
                  <a:txBody>
                    <a:bodyPr wrap="square">
                      <a:noAutofit/>
                    </a:bodyPr>
                    <a:lstStyle/>
                    <a:p>
                      <a:pPr algn="ctr"/>
                      <a:r>
                        <a:rPr sz="1800" b="0">
                          <a:solidFill>
                            <a:srgbClr val="A95145"/>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57150">
                      <a:solidFill>
                        <a:srgbClr val="FBF9F4"/>
                      </a:solidFill>
                    </a:lnT>
                    <a:lnB w="19050">
                      <a:solidFill>
                        <a:srgbClr val="FBF9F4"/>
                      </a:solidFill>
                    </a:lnB>
                    <a:solidFill>
                      <a:srgbClr val="F4E8E2"/>
                    </a:solidFill>
                  </a:tcPr>
                </a:tc>
                <a:tc>
                  <a:txBody>
                    <a:bodyPr wrap="square">
                      <a:noAutofit/>
                    </a:bodyPr>
                    <a:lstStyle/>
                    <a:p>
                      <a:pPr algn="ctr"/>
                      <a:r>
                        <a:rPr sz="1800" b="0">
                          <a:solidFill>
                            <a:srgbClr val="A95145"/>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57150">
                      <a:solidFill>
                        <a:srgbClr val="FBF9F4"/>
                      </a:solidFill>
                    </a:lnT>
                    <a:lnB w="19050">
                      <a:solidFill>
                        <a:srgbClr val="FBF9F4"/>
                      </a:solidFill>
                    </a:lnB>
                    <a:solidFill>
                      <a:srgbClr val="F4E8E2"/>
                    </a:solidFill>
                  </a:tcPr>
                </a:tc>
                <a:tc>
                  <a:txBody>
                    <a:bodyPr wrap="square">
                      <a:noAutofit/>
                    </a:bodyPr>
                    <a:lstStyle/>
                    <a:p>
                      <a:pPr algn="ctr"/>
                      <a:r>
                        <a:rPr sz="1800" b="0">
                          <a:solidFill>
                            <a:srgbClr val="A95145"/>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57150">
                      <a:solidFill>
                        <a:srgbClr val="FBF9F4"/>
                      </a:solidFill>
                    </a:lnT>
                    <a:lnB w="19050">
                      <a:solidFill>
                        <a:srgbClr val="FBF9F4"/>
                      </a:solidFill>
                    </a:lnB>
                    <a:solidFill>
                      <a:srgbClr val="F4E8E2"/>
                    </a:solidFill>
                  </a:tcPr>
                </a:tc>
                <a:tc>
                  <a:txBody>
                    <a:bodyPr wrap="square">
                      <a:noAutofit/>
                    </a:bodyPr>
                    <a:lstStyle/>
                    <a:p>
                      <a:pPr algn="ctr"/>
                      <a:r>
                        <a:rPr sz="1313" b="0">
                          <a:solidFill>
                            <a:srgbClr val="A95145"/>
                          </a:solidFill>
                          <a:latin typeface="Helvetica Neue"/>
                          <a:ea typeface="Helvetica Neue"/>
                          <a:cs typeface="Helvetica Neue"/>
                        </a:rPr>
                        <a:t>Calls / forms</a:t>
                      </a:r>
                    </a:p>
                  </a:txBody>
                  <a:tcPr marL="57150" marR="57150" marT="9525" marB="9525" anchor="ctr">
                    <a:lnL w="19050">
                      <a:solidFill>
                        <a:srgbClr val="FBF9F4"/>
                      </a:solidFill>
                    </a:lnL>
                    <a:lnR w="19050">
                      <a:solidFill>
                        <a:srgbClr val="FBF9F4"/>
                      </a:solidFill>
                    </a:lnR>
                    <a:lnT w="57150">
                      <a:solidFill>
                        <a:srgbClr val="FBF9F4"/>
                      </a:solidFill>
                    </a:lnT>
                    <a:lnB w="19050">
                      <a:solidFill>
                        <a:srgbClr val="FBF9F4"/>
                      </a:solidFill>
                    </a:lnB>
                    <a:solidFill>
                      <a:srgbClr val="F4E8E2"/>
                    </a:solidFill>
                  </a:tcPr>
                </a:tc>
              </a:tr>
              <a:tr h="342900">
                <a:tc>
                  <a:txBody>
                    <a:bodyPr wrap="square">
                      <a:noAutofit/>
                    </a:bodyPr>
                    <a:lstStyle/>
                    <a:p>
                      <a:pPr algn="l"/>
                      <a:r>
                        <a:rPr sz="1425" b="1">
                          <a:solidFill>
                            <a:srgbClr val="A95145"/>
                          </a:solidFill>
                          <a:latin typeface="Helvetica Neue"/>
                          <a:ea typeface="Helvetica Neue"/>
                          <a:cs typeface="Helvetica Neue"/>
                        </a:rPr>
                        <a:t>Live availability</a:t>
                      </a:r>
                    </a:p>
                  </a:txBody>
                  <a:tcPr marL="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800" b="0">
                          <a:solidFill>
                            <a:srgbClr val="A95145"/>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4E8E2"/>
                    </a:solidFill>
                  </a:tcPr>
                </a:tc>
                <a:tc>
                  <a:txBody>
                    <a:bodyPr wrap="square">
                      <a:noAutofit/>
                    </a:bodyPr>
                    <a:lstStyle/>
                    <a:p>
                      <a:pPr algn="ctr"/>
                      <a:r>
                        <a:rPr sz="1800" b="0">
                          <a:solidFill>
                            <a:srgbClr val="A95145"/>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4E8E2"/>
                    </a:solidFill>
                  </a:tcPr>
                </a:tc>
                <a:tc>
                  <a:txBody>
                    <a:bodyPr wrap="square">
                      <a:noAutofit/>
                    </a:bodyPr>
                    <a:lstStyle/>
                    <a:p>
                      <a:pPr algn="ctr"/>
                      <a:r>
                        <a:rPr sz="1800" b="0">
                          <a:solidFill>
                            <a:srgbClr val="A95145"/>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4E8E2"/>
                    </a:solidFill>
                  </a:tcPr>
                </a:tc>
                <a:tc>
                  <a:txBody>
                    <a:bodyPr wrap="square">
                      <a:noAutofit/>
                    </a:bodyPr>
                    <a:lstStyle/>
                    <a:p>
                      <a:pPr algn="ctr"/>
                      <a:r>
                        <a:rPr sz="1800" b="0">
                          <a:solidFill>
                            <a:srgbClr val="A95145"/>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4E8E2"/>
                    </a:solidFill>
                  </a:tcPr>
                </a:tc>
                <a:tc>
                  <a:txBody>
                    <a:bodyPr wrap="square">
                      <a:noAutofit/>
                    </a:bodyPr>
                    <a:lstStyle/>
                    <a:p>
                      <a:pPr algn="ctr"/>
                      <a:r>
                        <a:rPr sz="1313" b="0">
                          <a:solidFill>
                            <a:srgbClr val="A95145"/>
                          </a:solidFill>
                          <a:latin typeface="Helvetica Neue"/>
                          <a:ea typeface="Helvetica Neue"/>
                          <a:cs typeface="Helvetica Neue"/>
                        </a:rPr>
                        <a:t>Calls / portals</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4E8E2"/>
                    </a:solidFill>
                  </a:tcPr>
                </a:tc>
              </a:tr>
              <a:tr h="342900">
                <a:tc>
                  <a:txBody>
                    <a:bodyPr wrap="square">
                      <a:noAutofit/>
                    </a:bodyPr>
                    <a:lstStyle/>
                    <a:p>
                      <a:pPr algn="l"/>
                      <a:r>
                        <a:rPr sz="1425" b="1">
                          <a:solidFill>
                            <a:srgbClr val="A95145"/>
                          </a:solidFill>
                          <a:latin typeface="Helvetica Neue"/>
                          <a:ea typeface="Helvetica Neue"/>
                          <a:cs typeface="Helvetica Neue"/>
                        </a:rPr>
                        <a:t>Book &amp; pay</a:t>
                      </a:r>
                    </a:p>
                  </a:txBody>
                  <a:tcPr marL="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BF9F4"/>
                    </a:solidFill>
                  </a:tcPr>
                </a:tc>
                <a:tc>
                  <a:txBody>
                    <a:bodyPr wrap="square">
                      <a:noAutofit/>
                    </a:bodyPr>
                    <a:lstStyle/>
                    <a:p>
                      <a:pPr algn="ctr"/>
                      <a:r>
                        <a:rPr sz="1800" b="0">
                          <a:solidFill>
                            <a:srgbClr val="A95145"/>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4E8E2"/>
                    </a:solidFill>
                  </a:tcPr>
                </a:tc>
                <a:tc>
                  <a:txBody>
                    <a:bodyPr wrap="square">
                      <a:noAutofit/>
                    </a:bodyPr>
                    <a:lstStyle/>
                    <a:p>
                      <a:pPr algn="ctr"/>
                      <a:r>
                        <a:rPr sz="1800" b="0">
                          <a:solidFill>
                            <a:srgbClr val="A95145"/>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4E8E2"/>
                    </a:solidFill>
                  </a:tcPr>
                </a:tc>
                <a:tc>
                  <a:txBody>
                    <a:bodyPr wrap="square">
                      <a:noAutofit/>
                    </a:bodyPr>
                    <a:lstStyle/>
                    <a:p>
                      <a:pPr algn="ctr"/>
                      <a:r>
                        <a:rPr sz="1800" b="0">
                          <a:solidFill>
                            <a:srgbClr val="A95145"/>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4E8E2"/>
                    </a:solidFill>
                  </a:tcPr>
                </a:tc>
                <a:tc>
                  <a:txBody>
                    <a:bodyPr wrap="square">
                      <a:noAutofit/>
                    </a:bodyPr>
                    <a:lstStyle/>
                    <a:p>
                      <a:pPr algn="ctr"/>
                      <a:r>
                        <a:rPr sz="1800" b="0">
                          <a:solidFill>
                            <a:srgbClr val="A95145"/>
                          </a:solidFill>
                          <a:latin typeface="Helvetica Neue"/>
                          <a:ea typeface="Helvetica Neue"/>
                          <a:cs typeface="Helvetica Neue"/>
                        </a:rPr>
                        <a: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4E8E2"/>
                    </a:solidFill>
                  </a:tcPr>
                </a:tc>
                <a:tc>
                  <a:txBody>
                    <a:bodyPr wrap="square">
                      <a:noAutofit/>
                    </a:bodyPr>
                    <a:lstStyle/>
                    <a:p>
                      <a:pPr algn="ctr"/>
                      <a:r>
                        <a:rPr sz="1313" b="0">
                          <a:solidFill>
                            <a:srgbClr val="A95145"/>
                          </a:solidFill>
                          <a:latin typeface="Helvetica Neue"/>
                          <a:ea typeface="Helvetica Neue"/>
                          <a:cs typeface="Helvetica Neue"/>
                        </a:rPr>
                        <a:t>Separate checkout</a:t>
                      </a:r>
                    </a:p>
                  </a:txBody>
                  <a:tcPr marL="57150" marR="57150" marT="9525" marB="9525" anchor="ctr">
                    <a:lnL w="19050">
                      <a:solidFill>
                        <a:srgbClr val="FBF9F4"/>
                      </a:solidFill>
                    </a:lnL>
                    <a:lnR w="19050">
                      <a:solidFill>
                        <a:srgbClr val="FBF9F4"/>
                      </a:solidFill>
                    </a:lnR>
                    <a:lnT w="19050">
                      <a:solidFill>
                        <a:srgbClr val="FBF9F4"/>
                      </a:solidFill>
                    </a:lnT>
                    <a:lnB w="19050">
                      <a:solidFill>
                        <a:srgbClr val="FBF9F4"/>
                      </a:solidFill>
                    </a:lnB>
                    <a:solidFill>
                      <a:srgbClr val="F4E8E2"/>
                    </a:solidFill>
                  </a:tcPr>
                </a:tc>
              </a:tr>
            </a:tbl>
          </a:graphicData>
        </a:graphic>
      </p:graphicFrame>
      <p:sp>
        <p:nvSpPr>
          <p:cNvPr id="5" name="v27-text-3">
            <a:extLst xmlns:a="http://schemas.openxmlformats.org/drawingml/2006/main">
              <a:ext uri="{FF2B5EF4-FFF2-40B4-BE49-F238E27FC236}">
                <a16:creationId xmlns:a16="http://schemas.microsoft.com/office/drawing/2014/main" id="{89437329-59A7-4A86-AB74-5311450078C4}"/>
              </a:ext>
            </a:extLst>
          </p:cNvPr>
          <p:cNvSpPr>
            <a:spLocks xmlns:a="http://schemas.openxmlformats.org/drawingml/2006/main" noGrp="1"/>
          </p:cNvSpPr>
          <p:nvPr/>
        </p:nvSpPr>
        <p:spPr>
          <a:xfrm xmlns:a="http://schemas.openxmlformats.org/drawingml/2006/main">
            <a:off x="495300" y="5905500"/>
            <a:ext cx="1120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93C32"/>
                </a:solidFill>
                <a:latin typeface="Helvetica Neue"/>
                <a:ea typeface="Helvetica Neue"/>
                <a:cs typeface="Helvetica Neue"/>
              </a:defRPr>
            </a:defPPr>
          </a:lstStyle>
          <a:p xmlns:a="http://schemas.openxmlformats.org/drawingml/2006/main">
            <a:pPr algn="l">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Uber, DoorDash and Booking.com show the value of organized supply.</a:t>
            </a:r>
          </a:p>
        </p:txBody>
      </p:sp>
      <p:sp>
        <p:nvSpPr>
          <p:cNvPr id="6" name="v27-text-4">
            <a:extLst xmlns:a="http://schemas.openxmlformats.org/drawingml/2006/main">
              <a:ext uri="{FF2B5EF4-FFF2-40B4-BE49-F238E27FC236}">
                <a16:creationId xmlns:a16="http://schemas.microsoft.com/office/drawing/2014/main" id="{04F38062-1F73-44CB-ABB6-8F6531BE1471}"/>
              </a:ext>
            </a:extLst>
          </p:cNvPr>
          <p:cNvSpPr>
            <a:spLocks xmlns:a="http://schemas.openxmlformats.org/drawingml/2006/main" noGrp="1"/>
          </p:cNvSpPr>
          <p:nvPr/>
        </p:nvSpPr>
        <p:spPr>
          <a:xfrm xmlns:a="http://schemas.openxmlformats.org/drawingml/2006/main">
            <a:off x="495300" y="6219825"/>
            <a:ext cx="1120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236C4E"/>
                </a:solidFill>
                <a:latin typeface="Helvetica Neue"/>
                <a:ea typeface="Helvetica Neue"/>
                <a:cs typeface="Helvetica Neue"/>
              </a:defRPr>
            </a:defPPr>
          </a:lstStyle>
          <a:p xmlns:a="http://schemas.openxmlformats.org/drawingml/2006/main">
            <a:pPr algn="l">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GoLocal brings a shared booking layer to fragmented local services.</a:t>
            </a:r>
          </a:p>
        </p:txBody>
      </p:sp>
      <p:sp>
        <p:nvSpPr>
          <p:cNvPr id="7" name="v27-text-5">
            <a:extLst xmlns:a="http://schemas.openxmlformats.org/drawingml/2006/main">
              <a:ext uri="{FF2B5EF4-FFF2-40B4-BE49-F238E27FC236}">
                <a16:creationId xmlns:a16="http://schemas.microsoft.com/office/drawing/2014/main" id="{14CA6F7E-D615-41C9-B470-6F8823585EAC}"/>
              </a:ext>
            </a:extLst>
          </p:cNvPr>
          <p:cNvSpPr>
            <a:spLocks xmlns:a="http://schemas.openxmlformats.org/drawingml/2006/main" noGrp="1"/>
          </p:cNvSpPr>
          <p:nvPr/>
        </p:nvSpPr>
        <p:spPr>
          <a:xfrm xmlns:a="http://schemas.openxmlformats.org/drawingml/2006/main">
            <a:off x="495300" y="6543675"/>
            <a:ext cx="10429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5746C"/>
                </a:solidFill>
                <a:latin typeface="Helvetica Neue"/>
                <a:ea typeface="Helvetica Neue"/>
                <a:cs typeface="Helvetica Neue"/>
              </a:defRPr>
            </a:defPPr>
          </a:lstStyle>
          <a:p xmlns:a="http://schemas.openxmlformats.org/drawingml/2006/main">
            <a:pPr algn="l">
              <a:defRPr sz="1050" b="0">
                <a:solidFill>
                  <a:srgbClr val="65746C"/>
                </a:solidFill>
                <a:latin typeface="Helvetica Neue"/>
                <a:ea typeface="Helvetica Neue"/>
                <a:cs typeface="Helvetica Neue"/>
              </a:defRPr>
            </a:pPr>
            <a:r>
              <a:rPr sz="1050" b="0">
                <a:solidFill>
                  <a:srgbClr val="65746C"/>
                </a:solidFill>
                <a:latin typeface="Helvetica Neue"/>
                <a:ea typeface="Helvetica Neue"/>
                <a:cs typeface="Helvetica Neue"/>
              </a:rPr>
              <a:t>~$1.2T: selected U.S. categories, mixed 2023–25 sources, including materials/DIY. Not fee revenue. Illustrative eras.</a:t>
            </a:r>
          </a:p>
        </p:txBody>
      </p:sp>
      <p:sp>
        <p:nvSpPr>
          <p:cNvPr id="8" name="v27-text-6">
            <a:extLst xmlns:a="http://schemas.openxmlformats.org/drawingml/2006/main">
              <a:ext uri="{FF2B5EF4-FFF2-40B4-BE49-F238E27FC236}">
                <a16:creationId xmlns:a16="http://schemas.microsoft.com/office/drawing/2014/main" id="{3FC0B62A-0554-401A-B5AE-E7E336B1F6BA}"/>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6</a:t>
            </a:r>
          </a:p>
        </p:txBody>
      </p:sp>
      <p:sp>
        <p:nvSpPr>
          <p:cNvPr id="9" name="v27-text-40">
            <a:extLst xmlns:a="http://schemas.openxmlformats.org/drawingml/2006/main">
              <a:ext uri="{FF2B5EF4-FFF2-40B4-BE49-F238E27FC236}">
                <a16:creationId xmlns:a16="http://schemas.microsoft.com/office/drawing/2014/main" id="{5A053DBE-B139-4954-A197-1427565437B9}"/>
              </a:ext>
            </a:extLst>
          </p:cNvPr>
          <p:cNvSpPr>
            <a:spLocks xmlns:a="http://schemas.openxmlformats.org/drawingml/2006/main" noGrp="1"/>
          </p:cNvSpPr>
          <p:nvPr/>
        </p:nvSpPr>
        <p:spPr>
          <a:xfrm xmlns:a="http://schemas.openxmlformats.org/drawingml/2006/main">
            <a:off x="5143500" y="247650"/>
            <a:ext cx="6553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650" b="0">
                <a:solidFill>
                  <a:srgbClr val="65746C"/>
                </a:solidFill>
                <a:latin typeface="Helvetica Neue"/>
                <a:ea typeface="Helvetica Neue"/>
                <a:cs typeface="Helvetica Neue"/>
              </a:defRPr>
            </a:defPPr>
          </a:lstStyle>
          <a:p xmlns:a="http://schemas.openxmlformats.org/drawingml/2006/main">
            <a:pPr algn="r">
              <a:defRPr sz="1650" b="0">
                <a:solidFill>
                  <a:srgbClr val="65746C"/>
                </a:solidFill>
                <a:latin typeface="Helvetica Neue"/>
                <a:ea typeface="Helvetica Neue"/>
                <a:cs typeface="Helvetica Neue"/>
              </a:defRPr>
            </a:pPr>
            <a:r>
              <a:rPr sz="1650" b="0">
                <a:solidFill>
                  <a:srgbClr val="65746C"/>
                </a:solidFill>
                <a:latin typeface="Helvetica Neue"/>
                <a:ea typeface="Helvetica Neue"/>
                <a:cs typeface="Helvetica Neue"/>
              </a:rPr>
              <a:t>Local services, booked by your personal agent.</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57" name="Straight Arrow Connector 56">
            <a:extLst xmlns:a="http://schemas.openxmlformats.org/drawingml/2006/main">
              <a:ext uri="{FF2B5EF4-FFF2-40B4-BE49-F238E27FC236}">
                <a16:creationId xmlns:a16="http://schemas.microsoft.com/office/drawing/2014/main" id="{662CC661-0910-4AD0-BA18-09FE7A86CB7A}"/>
              </a:ext>
            </a:extLst>
          </p:cNvPr>
          <p:cNvCxnSpPr>
            <a:stCxn xmlns:a="http://schemas.openxmlformats.org/drawingml/2006/main" id="32" idx="3"/>
            <a:endCxn xmlns:a="http://schemas.openxmlformats.org/drawingml/2006/main" id="4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6" name="Elbow Connector 55">
            <a:extLst xmlns:a="http://schemas.openxmlformats.org/drawingml/2006/main">
              <a:ext uri="{FF2B5EF4-FFF2-40B4-BE49-F238E27FC236}">
                <a16:creationId xmlns:a16="http://schemas.microsoft.com/office/drawing/2014/main" id="{985E860A-2AC0-48A5-A018-2598ACB9F3C8}"/>
              </a:ext>
            </a:extLst>
          </p:cNvPr>
          <p:cNvCxnSpPr>
            <a:stCxn xmlns:a="http://schemas.openxmlformats.org/drawingml/2006/main" id="25" idx="3"/>
            <a:endCxn xmlns:a="http://schemas.openxmlformats.org/drawingml/2006/main" id="3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5" name="Straight Arrow Connector 54">
            <a:extLst xmlns:a="http://schemas.openxmlformats.org/drawingml/2006/main">
              <a:ext uri="{FF2B5EF4-FFF2-40B4-BE49-F238E27FC236}">
                <a16:creationId xmlns:a16="http://schemas.microsoft.com/office/drawing/2014/main" id="{6711BADF-B908-4622-A8A9-184194EACAAA}"/>
              </a:ext>
            </a:extLst>
          </p:cNvPr>
          <p:cNvCxnSpPr>
            <a:stCxn xmlns:a="http://schemas.openxmlformats.org/drawingml/2006/main" id="31" idx="3"/>
            <a:endCxn xmlns:a="http://schemas.openxmlformats.org/drawingml/2006/main" id="4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4" name="Elbow Connector 53">
            <a:extLst xmlns:a="http://schemas.openxmlformats.org/drawingml/2006/main">
              <a:ext uri="{FF2B5EF4-FFF2-40B4-BE49-F238E27FC236}">
                <a16:creationId xmlns:a16="http://schemas.microsoft.com/office/drawing/2014/main" id="{51679125-6448-479E-871C-7603D1801145}"/>
              </a:ext>
            </a:extLst>
          </p:cNvPr>
          <p:cNvCxnSpPr>
            <a:stCxn xmlns:a="http://schemas.openxmlformats.org/drawingml/2006/main" id="25" idx="3"/>
            <a:endCxn xmlns:a="http://schemas.openxmlformats.org/drawingml/2006/main" id="3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3" name="Straight Arrow Connector 52">
            <a:extLst xmlns:a="http://schemas.openxmlformats.org/drawingml/2006/main">
              <a:ext uri="{FF2B5EF4-FFF2-40B4-BE49-F238E27FC236}">
                <a16:creationId xmlns:a16="http://schemas.microsoft.com/office/drawing/2014/main" id="{E863665A-B50E-45A5-912D-25A9B577AA9D}"/>
              </a:ext>
            </a:extLst>
          </p:cNvPr>
          <p:cNvCxnSpPr>
            <a:stCxn xmlns:a="http://schemas.openxmlformats.org/drawingml/2006/main" id="30" idx="3"/>
            <a:endCxn xmlns:a="http://schemas.openxmlformats.org/drawingml/2006/main" id="4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2" name="Elbow Connector 51">
            <a:extLst xmlns:a="http://schemas.openxmlformats.org/drawingml/2006/main">
              <a:ext uri="{FF2B5EF4-FFF2-40B4-BE49-F238E27FC236}">
                <a16:creationId xmlns:a16="http://schemas.microsoft.com/office/drawing/2014/main" id="{4C861D6C-7100-458A-9311-FA2EF911642F}"/>
              </a:ext>
            </a:extLst>
          </p:cNvPr>
          <p:cNvCxnSpPr>
            <a:stCxn xmlns:a="http://schemas.openxmlformats.org/drawingml/2006/main" id="25" idx="3"/>
            <a:endCxn xmlns:a="http://schemas.openxmlformats.org/drawingml/2006/main" id="3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1" name="Elbow Connector 50">
            <a:extLst xmlns:a="http://schemas.openxmlformats.org/drawingml/2006/main">
              <a:ext uri="{FF2B5EF4-FFF2-40B4-BE49-F238E27FC236}">
                <a16:creationId xmlns:a16="http://schemas.microsoft.com/office/drawing/2014/main" id="{D2EE2D08-BC66-4434-ADB2-D041290922D4}"/>
              </a:ext>
            </a:extLst>
          </p:cNvPr>
          <p:cNvCxnSpPr>
            <a:stCxn xmlns:a="http://schemas.openxmlformats.org/drawingml/2006/main" id="16" idx="3"/>
            <a:endCxn xmlns:a="http://schemas.openxmlformats.org/drawingml/2006/main" id="25" idx="1"/>
          </p:cNvCxnSpPr>
          <p:nvPr/>
        </p:nvCxnSpPr>
        <p:spPr>
          <a:xfrm xmlns:a="http://schemas.openxmlformats.org/drawingml/2006/main" flipV="1">
            <a:off x="2362200" y="4133850"/>
            <a:ext cx="838200" cy="1076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0" name="Elbow Connector 49">
            <a:extLst xmlns:a="http://schemas.openxmlformats.org/drawingml/2006/main">
              <a:ext uri="{FF2B5EF4-FFF2-40B4-BE49-F238E27FC236}">
                <a16:creationId xmlns:a16="http://schemas.microsoft.com/office/drawing/2014/main" id="{0CC1742F-A82E-442E-BA53-34139A6BAE21}"/>
              </a:ext>
            </a:extLst>
          </p:cNvPr>
          <p:cNvCxnSpPr>
            <a:stCxn xmlns:a="http://schemas.openxmlformats.org/drawingml/2006/main" id="15" idx="3"/>
            <a:endCxn xmlns:a="http://schemas.openxmlformats.org/drawingml/2006/main" id="25" idx="1"/>
          </p:cNvCxnSpPr>
          <p:nvPr/>
        </p:nvCxnSpPr>
        <p:spPr>
          <a:xfrm xmlns:a="http://schemas.openxmlformats.org/drawingml/2006/main" flipV="1">
            <a:off x="2362200" y="4133850"/>
            <a:ext cx="838200" cy="695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9" name="Elbow Connector 48">
            <a:extLst xmlns:a="http://schemas.openxmlformats.org/drawingml/2006/main">
              <a:ext uri="{FF2B5EF4-FFF2-40B4-BE49-F238E27FC236}">
                <a16:creationId xmlns:a16="http://schemas.microsoft.com/office/drawing/2014/main" id="{90501262-6BF3-4785-A01D-9B08DB66B27C}"/>
              </a:ext>
            </a:extLst>
          </p:cNvPr>
          <p:cNvCxnSpPr>
            <a:stCxn xmlns:a="http://schemas.openxmlformats.org/drawingml/2006/main" id="14" idx="3"/>
            <a:endCxn xmlns:a="http://schemas.openxmlformats.org/drawingml/2006/main" id="25" idx="1"/>
          </p:cNvCxnSpPr>
          <p:nvPr/>
        </p:nvCxnSpPr>
        <p:spPr>
          <a:xfrm xmlns:a="http://schemas.openxmlformats.org/drawingml/2006/main" flipV="1">
            <a:off x="2362200" y="4133850"/>
            <a:ext cx="838200" cy="314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8" name="Elbow Connector 47">
            <a:extLst xmlns:a="http://schemas.openxmlformats.org/drawingml/2006/main">
              <a:ext uri="{FF2B5EF4-FFF2-40B4-BE49-F238E27FC236}">
                <a16:creationId xmlns:a16="http://schemas.microsoft.com/office/drawing/2014/main" id="{7EBC76DD-F0FF-497A-92D4-1EDAEC61657F}"/>
              </a:ext>
            </a:extLst>
          </p:cNvPr>
          <p:cNvCxnSpPr>
            <a:stCxn xmlns:a="http://schemas.openxmlformats.org/drawingml/2006/main" id="13" idx="3"/>
            <a:endCxn xmlns:a="http://schemas.openxmlformats.org/drawingml/2006/main" id="25" idx="1"/>
          </p:cNvCxnSpPr>
          <p:nvPr/>
        </p:nvCxnSpPr>
        <p:spPr>
          <a:xfrm xmlns:a="http://schemas.openxmlformats.org/drawingml/2006/main">
            <a:off x="2362200" y="4067175"/>
            <a:ext cx="838200" cy="66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7" name="Elbow Connector 46">
            <a:extLst xmlns:a="http://schemas.openxmlformats.org/drawingml/2006/main">
              <a:ext uri="{FF2B5EF4-FFF2-40B4-BE49-F238E27FC236}">
                <a16:creationId xmlns:a16="http://schemas.microsoft.com/office/drawing/2014/main" id="{1B8D0199-B3C8-4C15-9E3D-1D80A80A72D1}"/>
              </a:ext>
            </a:extLst>
          </p:cNvPr>
          <p:cNvCxnSpPr>
            <a:stCxn xmlns:a="http://schemas.openxmlformats.org/drawingml/2006/main" id="12" idx="3"/>
            <a:endCxn xmlns:a="http://schemas.openxmlformats.org/drawingml/2006/main" id="25" idx="1"/>
          </p:cNvCxnSpPr>
          <p:nvPr/>
        </p:nvCxnSpPr>
        <p:spPr>
          <a:xfrm xmlns:a="http://schemas.openxmlformats.org/drawingml/2006/main">
            <a:off x="2362200" y="3686175"/>
            <a:ext cx="838200" cy="447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6" name="Elbow Connector 45">
            <a:extLst xmlns:a="http://schemas.openxmlformats.org/drawingml/2006/main">
              <a:ext uri="{FF2B5EF4-FFF2-40B4-BE49-F238E27FC236}">
                <a16:creationId xmlns:a16="http://schemas.microsoft.com/office/drawing/2014/main" id="{06BF56D3-EC7F-47D5-9D2C-F232CC636CBC}"/>
              </a:ext>
            </a:extLst>
          </p:cNvPr>
          <p:cNvCxnSpPr>
            <a:stCxn xmlns:a="http://schemas.openxmlformats.org/drawingml/2006/main" id="11" idx="3"/>
            <a:endCxn xmlns:a="http://schemas.openxmlformats.org/drawingml/2006/main" id="25" idx="1"/>
          </p:cNvCxnSpPr>
          <p:nvPr/>
        </p:nvCxnSpPr>
        <p:spPr>
          <a:xfrm xmlns:a="http://schemas.openxmlformats.org/drawingml/2006/main">
            <a:off x="2362200" y="3305175"/>
            <a:ext cx="838200" cy="828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5" name="Elbow Connector 44">
            <a:extLst xmlns:a="http://schemas.openxmlformats.org/drawingml/2006/main">
              <a:ext uri="{FF2B5EF4-FFF2-40B4-BE49-F238E27FC236}">
                <a16:creationId xmlns:a16="http://schemas.microsoft.com/office/drawing/2014/main" id="{F5CAC7FD-49FF-4024-B44F-8F870D25D9F5}"/>
              </a:ext>
            </a:extLst>
          </p:cNvPr>
          <p:cNvCxnSpPr>
            <a:stCxn xmlns:a="http://schemas.openxmlformats.org/drawingml/2006/main" id="10" idx="3"/>
            <a:endCxn xmlns:a="http://schemas.openxmlformats.org/drawingml/2006/main" id="25" idx="1"/>
          </p:cNvCxnSpPr>
          <p:nvPr/>
        </p:nvCxnSpPr>
        <p:spPr>
          <a:xfrm xmlns:a="http://schemas.openxmlformats.org/drawingml/2006/main">
            <a:off x="2362200" y="2924175"/>
            <a:ext cx="838200" cy="1209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63" name="booking-layer-text-0">
            <a:extLst xmlns:a="http://schemas.openxmlformats.org/drawingml/2006/main">
              <a:ext uri="{FF2B5EF4-FFF2-40B4-BE49-F238E27FC236}">
                <a16:creationId xmlns:a16="http://schemas.microsoft.com/office/drawing/2014/main" id="{780846B9-89B6-42C8-88A6-077B482B99A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558838F4-FB49-405E-B523-5CF53F03D7AD}"/>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One booking layer for agents and local businesses</a:t>
            </a:r>
          </a:p>
        </p:txBody>
      </p:sp>
      <p:sp>
        <p:nvSpPr>
          <p:cNvPr id="3" name="booking-layer-text-2">
            <a:extLst xmlns:a="http://schemas.openxmlformats.org/drawingml/2006/main">
              <a:ext uri="{FF2B5EF4-FFF2-40B4-BE49-F238E27FC236}">
                <a16:creationId xmlns:a16="http://schemas.microsoft.com/office/drawing/2014/main" id="{D5C55A98-D2FC-4D22-BDAF-425BD652E5A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We connect participating businesses through the software they already use.</a:t>
            </a:r>
          </a:p>
        </p:txBody>
      </p:sp>
      <p:sp>
        <p:nvSpPr>
          <p:cNvPr id="4" name="booking-layer-text-3">
            <a:extLst xmlns:a="http://schemas.openxmlformats.org/drawingml/2006/main">
              <a:ext uri="{FF2B5EF4-FFF2-40B4-BE49-F238E27FC236}">
                <a16:creationId xmlns:a16="http://schemas.microsoft.com/office/drawing/2014/main" id="{25D62D51-3ACC-42B9-AF5C-085EBB1C6C26}"/>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D27E49B2-4AE1-4370-860E-31238EBC6788}"/>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1C0B045E-DE72-45BB-9114-EFBA9CC9C157}"/>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2FC5CA1D-5A2A-4CEA-AF88-28C06E1AA264}"/>
              </a:ext>
            </a:extLst>
          </p:cNvPr>
          <p:cNvSpPr>
            <a:spLocks xmlns:a="http://schemas.openxmlformats.org/drawingml/2006/main" noGrp="1"/>
          </p:cNvSpPr>
          <p:nvPr/>
        </p:nvSpPr>
        <p:spPr>
          <a:xfrm xmlns:a="http://schemas.openxmlformats.org/drawingml/2006/main">
            <a:off x="7143750" y="21240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 software stacks</a:t>
            </a:r>
          </a:p>
        </p:txBody>
      </p:sp>
      <p:sp>
        <p:nvSpPr>
          <p:cNvPr id="8" name="booking-layer-text-7">
            <a:extLst xmlns:a="http://schemas.openxmlformats.org/drawingml/2006/main">
              <a:ext uri="{FF2B5EF4-FFF2-40B4-BE49-F238E27FC236}">
                <a16:creationId xmlns:a16="http://schemas.microsoft.com/office/drawing/2014/main" id="{60CE6CDB-A101-4987-B56C-52BC2B44F701}"/>
              </a:ext>
            </a:extLst>
          </p:cNvPr>
          <p:cNvSpPr>
            <a:spLocks xmlns:a="http://schemas.openxmlformats.org/drawingml/2006/main" noGrp="1"/>
          </p:cNvSpPr>
          <p:nvPr/>
        </p:nvSpPr>
        <p:spPr>
          <a:xfrm xmlns:a="http://schemas.openxmlformats.org/drawingml/2006/main">
            <a:off x="7143750" y="2419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236C4E"/>
                </a:solidFill>
                <a:latin typeface="Helvetica Neue"/>
                <a:ea typeface="Helvetica Neue"/>
                <a:cs typeface="Helvetica Neue"/>
              </a:defRPr>
            </a:defPPr>
          </a:lstStyle>
          <a:p xmlns:a="http://schemas.openxmlformats.org/drawingml/2006/main">
            <a:pPr>
              <a:buNone/>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100+ listed options*</a:t>
            </a:r>
          </a:p>
        </p:txBody>
      </p:sp>
      <p:sp>
        <p:nvSpPr>
          <p:cNvPr id="9" name="booking-layer-text-8">
            <a:extLst xmlns:a="http://schemas.openxmlformats.org/drawingml/2006/main">
              <a:ext uri="{FF2B5EF4-FFF2-40B4-BE49-F238E27FC236}">
                <a16:creationId xmlns:a16="http://schemas.microsoft.com/office/drawing/2014/main" id="{D5ED5DD5-348A-40D0-B661-0AB61FC9256A}"/>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C5BE2521-AF10-4909-92F1-A7D9E53DFEBA}"/>
              </a:ext>
            </a:extLst>
          </p:cNvPr>
          <p:cNvSpPr>
            <a:spLocks xmlns:a="http://schemas.openxmlformats.org/drawingml/2006/main" noGrp="1"/>
          </p:cNvSpPr>
          <p:nvPr/>
        </p:nvSpPr>
        <p:spPr>
          <a:xfrm xmlns:a="http://schemas.openxmlformats.org/drawingml/2006/main">
            <a:off x="495300" y="2762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5BE92FEF-B9A3-49B6-AE30-B5D9AE989CA7}"/>
              </a:ext>
            </a:extLst>
          </p:cNvPr>
          <p:cNvSpPr>
            <a:spLocks xmlns:a="http://schemas.openxmlformats.org/drawingml/2006/main" noGrp="1"/>
          </p:cNvSpPr>
          <p:nvPr/>
        </p:nvSpPr>
        <p:spPr>
          <a:xfrm xmlns:a="http://schemas.openxmlformats.org/drawingml/2006/main">
            <a:off x="495300" y="3143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2" name="booking-layer-node-11">
            <a:extLst xmlns:a="http://schemas.openxmlformats.org/drawingml/2006/main">
              <a:ext uri="{FF2B5EF4-FFF2-40B4-BE49-F238E27FC236}">
                <a16:creationId xmlns:a16="http://schemas.microsoft.com/office/drawing/2014/main" id="{9AC664CA-0C30-422C-802F-2582A5C5E69A}"/>
              </a:ext>
            </a:extLst>
          </p:cNvPr>
          <p:cNvSpPr>
            <a:spLocks xmlns:a="http://schemas.openxmlformats.org/drawingml/2006/main" noGrp="1"/>
          </p:cNvSpPr>
          <p:nvPr/>
        </p:nvSpPr>
        <p:spPr>
          <a:xfrm xmlns:a="http://schemas.openxmlformats.org/drawingml/2006/main">
            <a:off x="495300" y="3524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184F9E6D-A0F9-433B-BC7B-8B634B43FA0D}"/>
              </a:ext>
            </a:extLst>
          </p:cNvPr>
          <p:cNvSpPr>
            <a:spLocks xmlns:a="http://schemas.openxmlformats.org/drawingml/2006/main" noGrp="1"/>
          </p:cNvSpPr>
          <p:nvPr/>
        </p:nvSpPr>
        <p:spPr>
          <a:xfrm xmlns:a="http://schemas.openxmlformats.org/drawingml/2006/main">
            <a:off x="495300" y="3905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4" name="booking-layer-node-13">
            <a:extLst xmlns:a="http://schemas.openxmlformats.org/drawingml/2006/main">
              <a:ext uri="{FF2B5EF4-FFF2-40B4-BE49-F238E27FC236}">
                <a16:creationId xmlns:a16="http://schemas.microsoft.com/office/drawing/2014/main" id="{657ECBFD-9328-43BE-9C40-9DD102C43416}"/>
              </a:ext>
            </a:extLst>
          </p:cNvPr>
          <p:cNvSpPr>
            <a:spLocks xmlns:a="http://schemas.openxmlformats.org/drawingml/2006/main" noGrp="1"/>
          </p:cNvSpPr>
          <p:nvPr/>
        </p:nvSpPr>
        <p:spPr>
          <a:xfrm xmlns:a="http://schemas.openxmlformats.org/drawingml/2006/main">
            <a:off x="495300" y="4286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5" name="booking-layer-node-14">
            <a:extLst xmlns:a="http://schemas.openxmlformats.org/drawingml/2006/main">
              <a:ext uri="{FF2B5EF4-FFF2-40B4-BE49-F238E27FC236}">
                <a16:creationId xmlns:a16="http://schemas.microsoft.com/office/drawing/2014/main" id="{877FB408-43FD-4283-86ED-F2F9299DC889}"/>
              </a:ext>
            </a:extLst>
          </p:cNvPr>
          <p:cNvSpPr>
            <a:spLocks xmlns:a="http://schemas.openxmlformats.org/drawingml/2006/main" noGrp="1"/>
          </p:cNvSpPr>
          <p:nvPr/>
        </p:nvSpPr>
        <p:spPr>
          <a:xfrm xmlns:a="http://schemas.openxmlformats.org/drawingml/2006/main">
            <a:off x="495300" y="4667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6" name="booking-layer-node-15">
            <a:extLst xmlns:a="http://schemas.openxmlformats.org/drawingml/2006/main">
              <a:ext uri="{FF2B5EF4-FFF2-40B4-BE49-F238E27FC236}">
                <a16:creationId xmlns:a16="http://schemas.microsoft.com/office/drawing/2014/main" id="{4ADA72F3-71A5-474A-82D5-32213561CCCF}"/>
              </a:ext>
            </a:extLst>
          </p:cNvPr>
          <p:cNvSpPr>
            <a:spLocks xmlns:a="http://schemas.openxmlformats.org/drawingml/2006/main" noGrp="1"/>
          </p:cNvSpPr>
          <p:nvPr/>
        </p:nvSpPr>
        <p:spPr>
          <a:xfrm xmlns:a="http://schemas.openxmlformats.org/drawingml/2006/main">
            <a:off x="495300" y="5048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pic>
        <p:nvPicPr>
          <p:cNvPr id="17" name="Picture 16">
            <a:extLst xmlns:a="http://schemas.openxmlformats.org/drawingml/2006/main">
              <a:ext uri="{FF2B5EF4-FFF2-40B4-BE49-F238E27FC236}">
                <a16:creationId xmlns:a16="http://schemas.microsoft.com/office/drawing/2014/main" id="{A3C8DB4F-C532-466F-A101-2F66BC37A22D}"/>
              </a:ext>
            </a:extLst>
          </p:cNvPr>
          <p:cNvPicPr>
            <a:picLocks xmlns:a="http://schemas.openxmlformats.org/drawingml/2006/main" noChangeAspect="1"/>
          </p:cNvPicPr>
          <p:nvPr/>
        </p:nvPicPr>
        <p:blipFill>
          <a:blip xmlns:r="http://schemas.openxmlformats.org/officeDocument/2006/relationships" xmlns:a="http://schemas.openxmlformats.org/drawingml/2006/main" r:embed="Rb12f3055342a4bc7"/>
          <a:srcRect xmlns:a="http://schemas.openxmlformats.org/drawingml/2006/main" l="8000" t="33000" r="6500" b="35000"/>
          <a:stretch xmlns:a="http://schemas.openxmlformats.org/drawingml/2006/main"/>
        </p:blipFill>
        <p:spPr>
          <a:xfrm xmlns:a="http://schemas.openxmlformats.org/drawingml/2006/main">
            <a:off x="904875" y="3181350"/>
            <a:ext cx="1047750" cy="257175"/>
          </a:xfrm>
          <a:prstGeom xmlns:a="http://schemas.openxmlformats.org/drawingml/2006/main" prst="rect">
            <a:avLst/>
          </a:prstGeom>
        </p:spPr>
      </p:pic>
      <p:pic>
        <p:nvPicPr>
          <p:cNvPr id="18" name="Picture 17">
            <a:extLst xmlns:a="http://schemas.openxmlformats.org/drawingml/2006/main">
              <a:ext uri="{FF2B5EF4-FFF2-40B4-BE49-F238E27FC236}">
                <a16:creationId xmlns:a16="http://schemas.microsoft.com/office/drawing/2014/main" id="{F4C938E8-7778-485E-85B2-194C8C8153D0}"/>
              </a:ext>
            </a:extLst>
          </p:cNvPr>
          <p:cNvPicPr>
            <a:picLocks xmlns:a="http://schemas.openxmlformats.org/drawingml/2006/main" noChangeAspect="1"/>
          </p:cNvPicPr>
          <p:nvPr/>
        </p:nvPicPr>
        <p:blipFill>
          <a:blip xmlns:r="http://schemas.openxmlformats.org/officeDocument/2006/relationships" xmlns:a="http://schemas.openxmlformats.org/drawingml/2006/main" r:embed="R1d10faa441214b6e"/>
          <a:srcRect xmlns:a="http://schemas.openxmlformats.org/drawingml/2006/main" l="6000" t="39500" r="9500" b="37000"/>
          <a:stretch xmlns:a="http://schemas.openxmlformats.org/drawingml/2006/main"/>
        </p:blipFill>
        <p:spPr>
          <a:xfrm xmlns:a="http://schemas.openxmlformats.org/drawingml/2006/main">
            <a:off x="828675" y="3943350"/>
            <a:ext cx="1200150" cy="257175"/>
          </a:xfrm>
          <a:prstGeom xmlns:a="http://schemas.openxmlformats.org/drawingml/2006/main" prst="rect">
            <a:avLst/>
          </a:prstGeom>
        </p:spPr>
      </p:pic>
      <p:pic>
        <p:nvPicPr>
          <p:cNvPr id="19" name="Picture 18">
            <a:extLst xmlns:a="http://schemas.openxmlformats.org/drawingml/2006/main">
              <a:ext uri="{FF2B5EF4-FFF2-40B4-BE49-F238E27FC236}">
                <a16:creationId xmlns:a16="http://schemas.microsoft.com/office/drawing/2014/main" id="{F5762A1A-3A57-4E22-BE34-F6C7B965BDCE}"/>
              </a:ext>
            </a:extLst>
          </p:cNvPr>
          <p:cNvPicPr>
            <a:picLocks xmlns:a="http://schemas.openxmlformats.org/drawingml/2006/main" noChangeAspect="1"/>
          </p:cNvPicPr>
          <p:nvPr/>
        </p:nvPicPr>
        <p:blipFill>
          <a:blip xmlns:r="http://schemas.openxmlformats.org/officeDocument/2006/relationships" xmlns:a="http://schemas.openxmlformats.org/drawingml/2006/main" r:embed="R72d735ecc7a04122"/>
          <a:srcRect xmlns:a="http://schemas.openxmlformats.org/drawingml/2006/main" l="21000" t="26000" r="21000" b="32000"/>
          <a:stretch xmlns:a="http://schemas.openxmlformats.org/drawingml/2006/main"/>
        </p:blipFill>
        <p:spPr>
          <a:xfrm xmlns:a="http://schemas.openxmlformats.org/drawingml/2006/main">
            <a:off x="962025" y="4314825"/>
            <a:ext cx="933450" cy="266700"/>
          </a:xfrm>
          <a:prstGeom xmlns:a="http://schemas.openxmlformats.org/drawingml/2006/main" prst="rect">
            <a:avLst/>
          </a:prstGeom>
        </p:spPr>
      </p:pic>
      <p:pic>
        <p:nvPicPr>
          <p:cNvPr id="20" name="Picture 19">
            <a:extLst xmlns:a="http://schemas.openxmlformats.org/drawingml/2006/main">
              <a:ext uri="{FF2B5EF4-FFF2-40B4-BE49-F238E27FC236}">
                <a16:creationId xmlns:a16="http://schemas.microsoft.com/office/drawing/2014/main" id="{B575D780-7D17-46E3-A605-1952A652926C}"/>
              </a:ext>
            </a:extLst>
          </p:cNvPr>
          <p:cNvPicPr>
            <a:picLocks xmlns:a="http://schemas.openxmlformats.org/drawingml/2006/main" noChangeAspect="1"/>
          </p:cNvPicPr>
          <p:nvPr/>
        </p:nvPicPr>
        <p:blipFill>
          <a:blip xmlns:r="http://schemas.openxmlformats.org/officeDocument/2006/relationships" xmlns:a="http://schemas.openxmlformats.org/drawingml/2006/main" r:embed="R379e686677904128"/>
          <a:srcRect xmlns:a="http://schemas.openxmlformats.org/drawingml/2006/main" l="3500" t="7000" r="69500" b="11000"/>
          <a:stretch xmlns:a="http://schemas.openxmlformats.org/drawingml/2006/main"/>
        </p:blipFill>
        <p:spPr>
          <a:xfrm xmlns:a="http://schemas.openxmlformats.org/drawingml/2006/main">
            <a:off x="838200" y="4695825"/>
            <a:ext cx="257175" cy="266700"/>
          </a:xfrm>
          <a:prstGeom xmlns:a="http://schemas.openxmlformats.org/drawingml/2006/main" prst="rect">
            <a:avLst/>
          </a:prstGeom>
        </p:spPr>
      </p:pic>
      <p:sp>
        <p:nvSpPr>
          <p:cNvPr id="21" name="booking-layer-text-16">
            <a:extLst xmlns:a="http://schemas.openxmlformats.org/drawingml/2006/main">
              <a:ext uri="{FF2B5EF4-FFF2-40B4-BE49-F238E27FC236}">
                <a16:creationId xmlns:a16="http://schemas.microsoft.com/office/drawing/2014/main" id="{B44C165E-AEAF-47F5-8904-554268F63319}"/>
              </a:ext>
            </a:extLst>
          </p:cNvPr>
          <p:cNvSpPr>
            <a:spLocks xmlns:a="http://schemas.openxmlformats.org/drawingml/2006/main" noGrp="1"/>
          </p:cNvSpPr>
          <p:nvPr/>
        </p:nvSpPr>
        <p:spPr>
          <a:xfrm xmlns:a="http://schemas.openxmlformats.org/drawingml/2006/main">
            <a:off x="1209675" y="4714875"/>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OpenClaw</a:t>
            </a:r>
          </a:p>
        </p:txBody>
      </p:sp>
      <p:pic>
        <p:nvPicPr>
          <p:cNvPr id="22" name="Picture 21">
            <a:extLst xmlns:a="http://schemas.openxmlformats.org/drawingml/2006/main">
              <a:ext uri="{FF2B5EF4-FFF2-40B4-BE49-F238E27FC236}">
                <a16:creationId xmlns:a16="http://schemas.microsoft.com/office/drawing/2014/main" id="{AD05D89A-38FE-4149-A11E-C743398B8F0C}"/>
              </a:ext>
            </a:extLst>
          </p:cNvPr>
          <p:cNvPicPr>
            <a:picLocks xmlns:a="http://schemas.openxmlformats.org/drawingml/2006/main" noChangeAspect="1"/>
          </p:cNvPicPr>
          <p:nvPr/>
        </p:nvPicPr>
        <p:blipFill>
          <a:blip xmlns:r="http://schemas.openxmlformats.org/officeDocument/2006/relationships" xmlns:a="http://schemas.openxmlformats.org/drawingml/2006/main" r:embed="Re3e57da1d11c44ce"/>
          <a:srcRect xmlns:a="http://schemas.openxmlformats.org/drawingml/2006/main" l="0" t="0" r="0" b="0"/>
          <a:stretch xmlns:a="http://schemas.openxmlformats.org/drawingml/2006/main"/>
        </p:blipFill>
        <p:spPr>
          <a:xfrm xmlns:a="http://schemas.openxmlformats.org/drawingml/2006/main">
            <a:off x="981075" y="5086350"/>
            <a:ext cx="247650" cy="247650"/>
          </a:xfrm>
          <a:prstGeom xmlns:a="http://schemas.openxmlformats.org/drawingml/2006/main" prst="rect">
            <a:avLst/>
          </a:prstGeom>
        </p:spPr>
      </p:pic>
      <p:sp>
        <p:nvSpPr>
          <p:cNvPr id="23" name="booking-layer-text-17">
            <a:extLst xmlns:a="http://schemas.openxmlformats.org/drawingml/2006/main">
              <a:ext uri="{FF2B5EF4-FFF2-40B4-BE49-F238E27FC236}">
                <a16:creationId xmlns:a16="http://schemas.microsoft.com/office/drawing/2014/main" id="{7807ACC5-6E11-4442-8DAE-E40658E334E7}"/>
              </a:ext>
            </a:extLst>
          </p:cNvPr>
          <p:cNvSpPr>
            <a:spLocks xmlns:a="http://schemas.openxmlformats.org/drawingml/2006/main" noGrp="1"/>
          </p:cNvSpPr>
          <p:nvPr/>
        </p:nvSpPr>
        <p:spPr>
          <a:xfrm xmlns:a="http://schemas.openxmlformats.org/drawingml/2006/main">
            <a:off x="1323975" y="5095875"/>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Hermes</a:t>
            </a:r>
          </a:p>
        </p:txBody>
      </p:sp>
      <p:sp>
        <p:nvSpPr>
          <p:cNvPr id="24" name="booking-layer-text-18">
            <a:extLst xmlns:a="http://schemas.openxmlformats.org/drawingml/2006/main">
              <a:ext uri="{FF2B5EF4-FFF2-40B4-BE49-F238E27FC236}">
                <a16:creationId xmlns:a16="http://schemas.microsoft.com/office/drawing/2014/main" id="{32C0CC3B-119F-4144-9827-BE99EADABABB}"/>
              </a:ext>
            </a:extLst>
          </p:cNvPr>
          <p:cNvSpPr>
            <a:spLocks xmlns:a="http://schemas.openxmlformats.org/drawingml/2006/main" noGrp="1"/>
          </p:cNvSpPr>
          <p:nvPr/>
        </p:nvSpPr>
        <p:spPr>
          <a:xfrm xmlns:a="http://schemas.openxmlformats.org/drawingml/2006/main">
            <a:off x="495300" y="54673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5746C"/>
                </a:solidFill>
                <a:latin typeface="Helvetica Neue"/>
                <a:ea typeface="Helvetica Neue"/>
                <a:cs typeface="Helvetica Neue"/>
              </a:defRPr>
            </a:defPPr>
          </a:lstStyle>
          <a:p xmlns:a="http://schemas.openxmlformats.org/drawingml/2006/main">
            <a:pPr>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rPr>
              <a:t>Claude · Gemini · more</a:t>
            </a:r>
          </a:p>
        </p:txBody>
      </p:sp>
      <p:sp>
        <p:nvSpPr>
          <p:cNvPr id="25" name="booking-layer-node-19">
            <a:extLst xmlns:a="http://schemas.openxmlformats.org/drawingml/2006/main">
              <a:ext uri="{FF2B5EF4-FFF2-40B4-BE49-F238E27FC236}">
                <a16:creationId xmlns:a16="http://schemas.microsoft.com/office/drawing/2014/main" id="{74AA40FC-02C1-4BE0-8313-7735099DCF1D}"/>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endParaRPr/>
          </a:p>
        </p:txBody>
      </p:sp>
      <p:sp>
        <p:nvSpPr>
          <p:cNvPr id="26" name="booking-layer-text-20">
            <a:extLst xmlns:a="http://schemas.openxmlformats.org/drawingml/2006/main">
              <a:ext uri="{FF2B5EF4-FFF2-40B4-BE49-F238E27FC236}">
                <a16:creationId xmlns:a16="http://schemas.microsoft.com/office/drawing/2014/main" id="{C6D36CF4-F934-46A7-A7ED-AE0B6B0A28B7}"/>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27" name="booking-layer-text-21">
            <a:extLst xmlns:a="http://schemas.openxmlformats.org/drawingml/2006/main">
              <a:ext uri="{FF2B5EF4-FFF2-40B4-BE49-F238E27FC236}">
                <a16:creationId xmlns:a16="http://schemas.microsoft.com/office/drawing/2014/main" id="{D2E9DA3D-BADC-411C-9816-D7B830B85686}"/>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Data and booking API</a:t>
            </a:r>
          </a:p>
        </p:txBody>
      </p:sp>
      <p:sp>
        <p:nvSpPr>
          <p:cNvPr id="28" name="booking-layer-text-22">
            <a:extLst xmlns:a="http://schemas.openxmlformats.org/drawingml/2006/main">
              <a:ext uri="{FF2B5EF4-FFF2-40B4-BE49-F238E27FC236}">
                <a16:creationId xmlns:a16="http://schemas.microsoft.com/office/drawing/2014/main" id="{C930747B-9306-4183-8241-FF8F43990C91}"/>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29" name="booking-layer-text-23">
            <a:extLst xmlns:a="http://schemas.openxmlformats.org/drawingml/2006/main">
              <a:ext uri="{FF2B5EF4-FFF2-40B4-BE49-F238E27FC236}">
                <a16:creationId xmlns:a16="http://schemas.microsoft.com/office/drawing/2014/main" id="{85C28355-C62A-4204-9E75-6908910F82D4}"/>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30" name="booking-layer-node-24">
            <a:extLst xmlns:a="http://schemas.openxmlformats.org/drawingml/2006/main">
              <a:ext uri="{FF2B5EF4-FFF2-40B4-BE49-F238E27FC236}">
                <a16:creationId xmlns:a16="http://schemas.microsoft.com/office/drawing/2014/main" id="{A4A8E40D-D041-4171-A580-3214F68214AE}"/>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1" name="booking-layer-node-25">
            <a:extLst xmlns:a="http://schemas.openxmlformats.org/drawingml/2006/main">
              <a:ext uri="{FF2B5EF4-FFF2-40B4-BE49-F238E27FC236}">
                <a16:creationId xmlns:a16="http://schemas.microsoft.com/office/drawing/2014/main" id="{381E847E-A9FA-4F37-B3E5-C61763DD5015}"/>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2" name="booking-layer-node-26">
            <a:extLst xmlns:a="http://schemas.openxmlformats.org/drawingml/2006/main">
              <a:ext uri="{FF2B5EF4-FFF2-40B4-BE49-F238E27FC236}">
                <a16:creationId xmlns:a16="http://schemas.microsoft.com/office/drawing/2014/main" id="{6C43306A-9317-4532-A9D7-E457E756AD02}"/>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3" name="booking-layer-text-27">
            <a:extLst xmlns:a="http://schemas.openxmlformats.org/drawingml/2006/main">
              <a:ext uri="{FF2B5EF4-FFF2-40B4-BE49-F238E27FC236}">
                <a16:creationId xmlns:a16="http://schemas.microsoft.com/office/drawing/2014/main" id="{F7AA3C7C-9687-4831-B1E3-609571EA6283}"/>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34" name="booking-layer-text-28">
            <a:extLst xmlns:a="http://schemas.openxmlformats.org/drawingml/2006/main">
              <a:ext uri="{FF2B5EF4-FFF2-40B4-BE49-F238E27FC236}">
                <a16:creationId xmlns:a16="http://schemas.microsoft.com/office/drawing/2014/main" id="{DAF92F19-6F68-463C-A5D7-17C7BF943389}"/>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 Probook AI</a:t>
            </a:r>
          </a:p>
        </p:txBody>
      </p:sp>
      <p:sp>
        <p:nvSpPr>
          <p:cNvPr id="35" name="booking-layer-text-29">
            <a:extLst xmlns:a="http://schemas.openxmlformats.org/drawingml/2006/main">
              <a:ext uri="{FF2B5EF4-FFF2-40B4-BE49-F238E27FC236}">
                <a16:creationId xmlns:a16="http://schemas.microsoft.com/office/drawing/2014/main" id="{EFFD3163-3DDB-4787-B7DC-5B310C25C6B8}"/>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36" name="booking-layer-text-30">
            <a:extLst xmlns:a="http://schemas.openxmlformats.org/drawingml/2006/main">
              <a:ext uri="{FF2B5EF4-FFF2-40B4-BE49-F238E27FC236}">
                <a16:creationId xmlns:a16="http://schemas.microsoft.com/office/drawing/2014/main" id="{640864B5-5C1A-4DE5-9D3F-17B4BF336541}"/>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37" name="booking-layer-text-31">
            <a:extLst xmlns:a="http://schemas.openxmlformats.org/drawingml/2006/main">
              <a:ext uri="{FF2B5EF4-FFF2-40B4-BE49-F238E27FC236}">
                <a16:creationId xmlns:a16="http://schemas.microsoft.com/office/drawing/2014/main" id="{623A8565-8E22-49E9-BA3D-0EFB49F4B012}"/>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Service Fusion, Commusoft</a:t>
            </a:r>
          </a:p>
        </p:txBody>
      </p:sp>
      <p:sp>
        <p:nvSpPr>
          <p:cNvPr id="38" name="booking-layer-text-32">
            <a:extLst xmlns:a="http://schemas.openxmlformats.org/drawingml/2006/main">
              <a:ext uri="{FF2B5EF4-FFF2-40B4-BE49-F238E27FC236}">
                <a16:creationId xmlns:a16="http://schemas.microsoft.com/office/drawing/2014/main" id="{E69B47E3-FC57-4C21-B033-DB430D828C62}"/>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Joblogic, Cactus AI + others</a:t>
            </a:r>
          </a:p>
        </p:txBody>
      </p:sp>
      <p:sp>
        <p:nvSpPr>
          <p:cNvPr id="39" name="booking-layer-text-33">
            <a:extLst xmlns:a="http://schemas.openxmlformats.org/drawingml/2006/main">
              <a:ext uri="{FF2B5EF4-FFF2-40B4-BE49-F238E27FC236}">
                <a16:creationId xmlns:a16="http://schemas.microsoft.com/office/drawing/2014/main" id="{34FFBC60-20E6-445B-9EB8-05E52E28C49C}"/>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40" name="booking-layer-text-34">
            <a:extLst xmlns:a="http://schemas.openxmlformats.org/drawingml/2006/main">
              <a:ext uri="{FF2B5EF4-FFF2-40B4-BE49-F238E27FC236}">
                <a16:creationId xmlns:a16="http://schemas.microsoft.com/office/drawing/2014/main" id="{75764D65-252C-45A0-9B39-5D9214475394}"/>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Kickserv, Topline Pro</a:t>
            </a:r>
          </a:p>
        </p:txBody>
      </p:sp>
      <p:sp>
        <p:nvSpPr>
          <p:cNvPr id="41" name="booking-layer-text-35">
            <a:extLst xmlns:a="http://schemas.openxmlformats.org/drawingml/2006/main">
              <a:ext uri="{FF2B5EF4-FFF2-40B4-BE49-F238E27FC236}">
                <a16:creationId xmlns:a16="http://schemas.microsoft.com/office/drawing/2014/main" id="{1F54E58A-93CF-4529-BE74-48271C8062FA}"/>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many other platforms</a:t>
            </a:r>
          </a:p>
        </p:txBody>
      </p:sp>
      <p:sp>
        <p:nvSpPr>
          <p:cNvPr id="42" name="booking-layer-node-36">
            <a:extLst xmlns:a="http://schemas.openxmlformats.org/drawingml/2006/main">
              <a:ext uri="{FF2B5EF4-FFF2-40B4-BE49-F238E27FC236}">
                <a16:creationId xmlns:a16="http://schemas.microsoft.com/office/drawing/2014/main" id="{F23562F6-92C0-4E2A-9C4E-14CAF1AB025D}"/>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43" name="booking-layer-node-37">
            <a:extLst xmlns:a="http://schemas.openxmlformats.org/drawingml/2006/main">
              <a:ext uri="{FF2B5EF4-FFF2-40B4-BE49-F238E27FC236}">
                <a16:creationId xmlns:a16="http://schemas.microsoft.com/office/drawing/2014/main" id="{E0913280-755C-4FC9-B294-B8877BA719C3}"/>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44" name="booking-layer-node-38">
            <a:extLst xmlns:a="http://schemas.openxmlformats.org/drawingml/2006/main">
              <a:ext uri="{FF2B5EF4-FFF2-40B4-BE49-F238E27FC236}">
                <a16:creationId xmlns:a16="http://schemas.microsoft.com/office/drawing/2014/main" id="{CD61F4F2-BFCA-4380-B3D6-9E65D8B5C450}"/>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58" name="booking-layer-text-39">
            <a:extLst xmlns:a="http://schemas.openxmlformats.org/drawingml/2006/main">
              <a:ext uri="{FF2B5EF4-FFF2-40B4-BE49-F238E27FC236}">
                <a16:creationId xmlns:a16="http://schemas.microsoft.com/office/drawing/2014/main" id="{FA822E6B-449C-4790-9B5C-EF573D939BBE}"/>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Just one service category: plumbing.</a:t>
            </a:r>
          </a:p>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The software mix changes across categories.</a:t>
            </a:r>
          </a:p>
        </p:txBody>
      </p:sp>
      <p:sp>
        <p:nvSpPr>
          <p:cNvPr id="59" name="booking-layer-text-40">
            <a:extLst xmlns:a="http://schemas.openxmlformats.org/drawingml/2006/main">
              <a:ext uri="{FF2B5EF4-FFF2-40B4-BE49-F238E27FC236}">
                <a16:creationId xmlns:a16="http://schemas.microsoft.com/office/drawing/2014/main" id="{F64613CD-0DA4-4247-B4D8-7BA61504B61F}"/>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Agents reach local supply through one connection.</a:t>
            </a:r>
          </a:p>
        </p:txBody>
      </p:sp>
      <p:sp>
        <p:nvSpPr>
          <p:cNvPr id="60" name="booking-layer-text-41">
            <a:extLst xmlns:a="http://schemas.openxmlformats.org/drawingml/2006/main">
              <a:ext uri="{FF2B5EF4-FFF2-40B4-BE49-F238E27FC236}">
                <a16:creationId xmlns:a16="http://schemas.microsoft.com/office/drawing/2014/main" id="{03CB5374-FA64-4A7A-AD8D-323F3E11523C}"/>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Businesses reach connected agents through one integration.</a:t>
            </a:r>
          </a:p>
        </p:txBody>
      </p:sp>
      <p:sp>
        <p:nvSpPr>
          <p:cNvPr id="61" name="booking-layer-text-42">
            <a:extLst xmlns:a="http://schemas.openxmlformats.org/drawingml/2006/main">
              <a:ext uri="{FF2B5EF4-FFF2-40B4-BE49-F238E27FC236}">
                <a16:creationId xmlns:a16="http://schemas.microsoft.com/office/drawing/2014/main" id="{AE01A67E-E79E-40E0-916B-B9A50D4AE318}"/>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*Selected-startup funding. 100+ plumbing products listed by Software Advice. Examples, not live integrations.</a:t>
            </a:r>
          </a:p>
        </p:txBody>
      </p:sp>
      <p:sp>
        <p:nvSpPr>
          <p:cNvPr id="62" name="booking-layer-text-43">
            <a:extLst xmlns:a="http://schemas.openxmlformats.org/drawingml/2006/main">
              <a:ext uri="{FF2B5EF4-FFF2-40B4-BE49-F238E27FC236}">
                <a16:creationId xmlns:a16="http://schemas.microsoft.com/office/drawing/2014/main" id="{5CD82E1E-F31D-41BF-B159-FA5EFFFF6B38}"/>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2 / 6</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1" name="Straight Arrow Connector 10">
            <a:extLst xmlns:a="http://schemas.openxmlformats.org/drawingml/2006/main">
              <a:ext uri="{FF2B5EF4-FFF2-40B4-BE49-F238E27FC236}">
                <a16:creationId xmlns:a16="http://schemas.microsoft.com/office/drawing/2014/main" id="{8FEBC229-8573-45D6-B5D5-1A6F13FC4510}"/>
              </a:ext>
            </a:extLst>
          </p:cNvPr>
          <p:cNvCxnSpPr>
            <a:stCxn xmlns:a="http://schemas.openxmlformats.org/drawingml/2006/main" id="7" idx="3"/>
            <a:endCxn xmlns:a="http://schemas.openxmlformats.org/drawingml/2006/main" id="8" idx="1"/>
          </p:cNvCxnSpPr>
          <p:nvPr/>
        </p:nvCxnSpPr>
        <p:spPr>
          <a:xfrm xmlns:a="http://schemas.openxmlformats.org/drawingml/2006/main">
            <a:off x="88201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0" name="Straight Arrow Connector 9">
            <a:extLst xmlns:a="http://schemas.openxmlformats.org/drawingml/2006/main">
              <a:ext uri="{FF2B5EF4-FFF2-40B4-BE49-F238E27FC236}">
                <a16:creationId xmlns:a16="http://schemas.microsoft.com/office/drawing/2014/main" id="{7999B34F-75D6-4518-A480-881D75EDFDE5}"/>
              </a:ext>
            </a:extLst>
          </p:cNvPr>
          <p:cNvCxnSpPr>
            <a:stCxn xmlns:a="http://schemas.openxmlformats.org/drawingml/2006/main" id="6" idx="3"/>
            <a:endCxn xmlns:a="http://schemas.openxmlformats.org/drawingml/2006/main" id="7" idx="1"/>
          </p:cNvCxnSpPr>
          <p:nvPr/>
        </p:nvCxnSpPr>
        <p:spPr>
          <a:xfrm xmlns:a="http://schemas.openxmlformats.org/drawingml/2006/main">
            <a:off x="594360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9" name="Straight Arrow Connector 8">
            <a:extLst xmlns:a="http://schemas.openxmlformats.org/drawingml/2006/main">
              <a:ext uri="{FF2B5EF4-FFF2-40B4-BE49-F238E27FC236}">
                <a16:creationId xmlns:a16="http://schemas.microsoft.com/office/drawing/2014/main" id="{94383983-1914-4F8F-B207-D18BE218DD73}"/>
              </a:ext>
            </a:extLst>
          </p:cNvPr>
          <p:cNvCxnSpPr>
            <a:stCxn xmlns:a="http://schemas.openxmlformats.org/drawingml/2006/main" id="5" idx="3"/>
            <a:endCxn xmlns:a="http://schemas.openxmlformats.org/drawingml/2006/main" id="6" idx="1"/>
          </p:cNvCxnSpPr>
          <p:nvPr/>
        </p:nvCxnSpPr>
        <p:spPr>
          <a:xfrm xmlns:a="http://schemas.openxmlformats.org/drawingml/2006/main">
            <a:off x="30670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9" name="booking-story-text-0">
            <a:extLst xmlns:a="http://schemas.openxmlformats.org/drawingml/2006/main">
              <a:ext uri="{FF2B5EF4-FFF2-40B4-BE49-F238E27FC236}">
                <a16:creationId xmlns:a16="http://schemas.microsoft.com/office/drawing/2014/main" id="{B57A0389-4F00-4E99-A55C-BF00F56D2DB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CUSTOMER EXPERIENCE</a:t>
            </a:r>
          </a:p>
        </p:txBody>
      </p:sp>
      <p:sp>
        <p:nvSpPr>
          <p:cNvPr id="2" name="booking-story-text-1">
            <a:extLst xmlns:a="http://schemas.openxmlformats.org/drawingml/2006/main">
              <a:ext uri="{FF2B5EF4-FFF2-40B4-BE49-F238E27FC236}">
                <a16:creationId xmlns:a16="http://schemas.microsoft.com/office/drawing/2014/main" id="{A24AB0A3-2E57-4890-BBD5-9C331DFB8046}"/>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A customer request becomes a confirmed booking</a:t>
            </a:r>
          </a:p>
        </p:txBody>
      </p:sp>
      <p:sp>
        <p:nvSpPr>
          <p:cNvPr id="3" name="booking-story-text-2">
            <a:extLst xmlns:a="http://schemas.openxmlformats.org/drawingml/2006/main">
              <a:ext uri="{FF2B5EF4-FFF2-40B4-BE49-F238E27FC236}">
                <a16:creationId xmlns:a16="http://schemas.microsoft.com/office/drawing/2014/main" id="{5BD70F1D-6B85-4E19-9340-39F0DB916705}"/>
              </a:ext>
            </a:extLst>
          </p:cNvPr>
          <p:cNvSpPr>
            <a:spLocks xmlns:a="http://schemas.openxmlformats.org/drawingml/2006/main" noGrp="1"/>
          </p:cNvSpPr>
          <p:nvPr/>
        </p:nvSpPr>
        <p:spPr>
          <a:xfrm xmlns:a="http://schemas.openxmlformats.org/drawingml/2006/main">
            <a:off x="495300" y="1571625"/>
            <a:ext cx="1120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TO PERSONAL AGENT</a:t>
            </a:r>
          </a:p>
        </p:txBody>
      </p:sp>
      <p:sp>
        <p:nvSpPr>
          <p:cNvPr id="4" name="booking-story-text-3">
            <a:extLst xmlns:a="http://schemas.openxmlformats.org/drawingml/2006/main">
              <a:ext uri="{FF2B5EF4-FFF2-40B4-BE49-F238E27FC236}">
                <a16:creationId xmlns:a16="http://schemas.microsoft.com/office/drawing/2014/main" id="{824F4526-8F26-404F-8B27-EF3BACEF071F}"/>
              </a:ext>
            </a:extLst>
          </p:cNvPr>
          <p:cNvSpPr>
            <a:spLocks xmlns:a="http://schemas.openxmlformats.org/drawingml/2006/main" noGrp="1"/>
          </p:cNvSpPr>
          <p:nvPr/>
        </p:nvSpPr>
        <p:spPr>
          <a:xfrm xmlns:a="http://schemas.openxmlformats.org/drawingml/2006/main">
            <a:off x="495300" y="19335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93C32"/>
                </a:solidFill>
                <a:latin typeface="Helvetica Neue"/>
                <a:ea typeface="Helvetica Neue"/>
                <a:cs typeface="Helvetica Neue"/>
              </a:defRPr>
            </a:defPPr>
          </a:lstStyle>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“Book a plumber in Salt Lake City tomorrow</a:t>
            </a:r>
          </a:p>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morning for my leaking kitchen tap.”</a:t>
            </a:r>
          </a:p>
        </p:txBody>
      </p:sp>
      <p:sp>
        <p:nvSpPr>
          <p:cNvPr id="5" name="booking-story-flow-4">
            <a:extLst xmlns:a="http://schemas.openxmlformats.org/drawingml/2006/main">
              <a:ext uri="{FF2B5EF4-FFF2-40B4-BE49-F238E27FC236}">
                <a16:creationId xmlns:a16="http://schemas.microsoft.com/office/drawing/2014/main" id="{5CCFB1FE-1A94-4920-85EE-4D3D5C5976A3}"/>
              </a:ext>
            </a:extLst>
          </p:cNvPr>
          <p:cNvSpPr>
            <a:spLocks xmlns:a="http://schemas.openxmlformats.org/drawingml/2006/main" noGrp="1"/>
          </p:cNvSpPr>
          <p:nvPr/>
        </p:nvSpPr>
        <p:spPr>
          <a:xfrm xmlns:a="http://schemas.openxmlformats.org/drawingml/2006/main">
            <a:off x="4953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booking-story-flow-5">
            <a:extLst xmlns:a="http://schemas.openxmlformats.org/drawingml/2006/main">
              <a:ext uri="{FF2B5EF4-FFF2-40B4-BE49-F238E27FC236}">
                <a16:creationId xmlns:a16="http://schemas.microsoft.com/office/drawing/2014/main" id="{8D13F472-9F83-419A-8518-4AB71C9DA5BA}"/>
              </a:ext>
            </a:extLst>
          </p:cNvPr>
          <p:cNvSpPr>
            <a:spLocks xmlns:a="http://schemas.openxmlformats.org/drawingml/2006/main" noGrp="1"/>
          </p:cNvSpPr>
          <p:nvPr/>
        </p:nvSpPr>
        <p:spPr>
          <a:xfrm xmlns:a="http://schemas.openxmlformats.org/drawingml/2006/main">
            <a:off x="33718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booking-story-flow-6">
            <a:extLst xmlns:a="http://schemas.openxmlformats.org/drawingml/2006/main">
              <a:ext uri="{FF2B5EF4-FFF2-40B4-BE49-F238E27FC236}">
                <a16:creationId xmlns:a16="http://schemas.microsoft.com/office/drawing/2014/main" id="{7532C0F7-5C11-418A-93E0-289414CA5DFC}"/>
              </a:ext>
            </a:extLst>
          </p:cNvPr>
          <p:cNvSpPr>
            <a:spLocks xmlns:a="http://schemas.openxmlformats.org/drawingml/2006/main" noGrp="1"/>
          </p:cNvSpPr>
          <p:nvPr/>
        </p:nvSpPr>
        <p:spPr>
          <a:xfrm xmlns:a="http://schemas.openxmlformats.org/drawingml/2006/main">
            <a:off x="62484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booking-story-flow-7">
            <a:extLst xmlns:a="http://schemas.openxmlformats.org/drawingml/2006/main">
              <a:ext uri="{FF2B5EF4-FFF2-40B4-BE49-F238E27FC236}">
                <a16:creationId xmlns:a16="http://schemas.microsoft.com/office/drawing/2014/main" id="{D063A1A6-F925-44E9-8700-9FA17055F078}"/>
              </a:ext>
            </a:extLst>
          </p:cNvPr>
          <p:cNvSpPr>
            <a:spLocks xmlns:a="http://schemas.openxmlformats.org/drawingml/2006/main" noGrp="1"/>
          </p:cNvSpPr>
          <p:nvPr/>
        </p:nvSpPr>
        <p:spPr>
          <a:xfrm xmlns:a="http://schemas.openxmlformats.org/drawingml/2006/main">
            <a:off x="91249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booking-story-text-8">
            <a:extLst xmlns:a="http://schemas.openxmlformats.org/drawingml/2006/main">
              <a:ext uri="{FF2B5EF4-FFF2-40B4-BE49-F238E27FC236}">
                <a16:creationId xmlns:a16="http://schemas.microsoft.com/office/drawing/2014/main" id="{9CC6342D-0163-402A-9864-1DAD90E6BA94}"/>
              </a:ext>
            </a:extLst>
          </p:cNvPr>
          <p:cNvSpPr>
            <a:spLocks xmlns:a="http://schemas.openxmlformats.org/drawingml/2006/main" noGrp="1"/>
          </p:cNvSpPr>
          <p:nvPr/>
        </p:nvSpPr>
        <p:spPr>
          <a:xfrm xmlns:a="http://schemas.openxmlformats.org/drawingml/2006/main">
            <a:off x="4953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PERSONAL AGENT</a:t>
            </a:r>
          </a:p>
        </p:txBody>
      </p:sp>
      <p:sp>
        <p:nvSpPr>
          <p:cNvPr id="13" name="booking-story-text-9">
            <a:extLst xmlns:a="http://schemas.openxmlformats.org/drawingml/2006/main">
              <a:ext uri="{FF2B5EF4-FFF2-40B4-BE49-F238E27FC236}">
                <a16:creationId xmlns:a16="http://schemas.microsoft.com/office/drawing/2014/main" id="{DFC364BF-4D4D-4DA7-ABA4-629DC2AFF6A5}"/>
              </a:ext>
            </a:extLst>
          </p:cNvPr>
          <p:cNvSpPr>
            <a:spLocks xmlns:a="http://schemas.openxmlformats.org/drawingml/2006/main" noGrp="1"/>
          </p:cNvSpPr>
          <p:nvPr/>
        </p:nvSpPr>
        <p:spPr>
          <a:xfrm xmlns:a="http://schemas.openxmlformats.org/drawingml/2006/main">
            <a:off x="4953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1  Scope the job</a:t>
            </a:r>
          </a:p>
        </p:txBody>
      </p:sp>
      <p:sp>
        <p:nvSpPr>
          <p:cNvPr id="14" name="booking-story-text-10">
            <a:extLst xmlns:a="http://schemas.openxmlformats.org/drawingml/2006/main">
              <a:ext uri="{FF2B5EF4-FFF2-40B4-BE49-F238E27FC236}">
                <a16:creationId xmlns:a16="http://schemas.microsoft.com/office/drawing/2014/main" id="{12B0AFC8-2612-4277-9CEB-963EA88ED1D5}"/>
              </a:ext>
            </a:extLst>
          </p:cNvPr>
          <p:cNvSpPr>
            <a:spLocks xmlns:a="http://schemas.openxmlformats.org/drawingml/2006/main" noGrp="1"/>
          </p:cNvSpPr>
          <p:nvPr/>
        </p:nvSpPr>
        <p:spPr>
          <a:xfrm xmlns:a="http://schemas.openxmlformats.org/drawingml/2006/main">
            <a:off x="4953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Collects the address and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 photo of the leak.</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Scopes a diagnostic visit.</a:t>
            </a:r>
          </a:p>
        </p:txBody>
      </p:sp>
      <p:sp>
        <p:nvSpPr>
          <p:cNvPr id="15" name="booking-story-text-11">
            <a:extLst xmlns:a="http://schemas.openxmlformats.org/drawingml/2006/main">
              <a:ext uri="{FF2B5EF4-FFF2-40B4-BE49-F238E27FC236}">
                <a16:creationId xmlns:a16="http://schemas.microsoft.com/office/drawing/2014/main" id="{7B966131-CD90-4A6B-8855-B1F258876E82}"/>
              </a:ext>
            </a:extLst>
          </p:cNvPr>
          <p:cNvSpPr>
            <a:spLocks xmlns:a="http://schemas.openxmlformats.org/drawingml/2006/main" noGrp="1"/>
          </p:cNvSpPr>
          <p:nvPr/>
        </p:nvSpPr>
        <p:spPr>
          <a:xfrm xmlns:a="http://schemas.openxmlformats.org/drawingml/2006/main">
            <a:off x="33718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16" name="booking-story-text-12">
            <a:extLst xmlns:a="http://schemas.openxmlformats.org/drawingml/2006/main">
              <a:ext uri="{FF2B5EF4-FFF2-40B4-BE49-F238E27FC236}">
                <a16:creationId xmlns:a16="http://schemas.microsoft.com/office/drawing/2014/main" id="{4C4A54FC-BED6-41DD-8EDE-83091AC76FEB}"/>
              </a:ext>
            </a:extLst>
          </p:cNvPr>
          <p:cNvSpPr>
            <a:spLocks xmlns:a="http://schemas.openxmlformats.org/drawingml/2006/main" noGrp="1"/>
          </p:cNvSpPr>
          <p:nvPr/>
        </p:nvSpPr>
        <p:spPr>
          <a:xfrm xmlns:a="http://schemas.openxmlformats.org/drawingml/2006/main">
            <a:off x="33718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2  Check live options</a:t>
            </a:r>
          </a:p>
        </p:txBody>
      </p:sp>
      <p:sp>
        <p:nvSpPr>
          <p:cNvPr id="17" name="booking-story-text-13">
            <a:extLst xmlns:a="http://schemas.openxmlformats.org/drawingml/2006/main">
              <a:ext uri="{FF2B5EF4-FFF2-40B4-BE49-F238E27FC236}">
                <a16:creationId xmlns:a16="http://schemas.microsoft.com/office/drawing/2014/main" id="{112DF1EA-4441-4A80-97EC-22A6380BB59C}"/>
              </a:ext>
            </a:extLst>
          </p:cNvPr>
          <p:cNvSpPr>
            <a:spLocks xmlns:a="http://schemas.openxmlformats.org/drawingml/2006/main" noGrp="1"/>
          </p:cNvSpPr>
          <p:nvPr/>
        </p:nvSpPr>
        <p:spPr>
          <a:xfrm xmlns:a="http://schemas.openxmlformats.org/drawingml/2006/main">
            <a:off x="33718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Matches connected providers.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available slots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visit fees.</a:t>
            </a:r>
          </a:p>
        </p:txBody>
      </p:sp>
      <p:sp>
        <p:nvSpPr>
          <p:cNvPr id="18" name="booking-story-text-14">
            <a:extLst xmlns:a="http://schemas.openxmlformats.org/drawingml/2006/main">
              <a:ext uri="{FF2B5EF4-FFF2-40B4-BE49-F238E27FC236}">
                <a16:creationId xmlns:a16="http://schemas.microsoft.com/office/drawing/2014/main" id="{2D80A181-62A2-4F46-B414-0D7B03DB015B}"/>
              </a:ext>
            </a:extLst>
          </p:cNvPr>
          <p:cNvSpPr>
            <a:spLocks xmlns:a="http://schemas.openxmlformats.org/drawingml/2006/main" noGrp="1"/>
          </p:cNvSpPr>
          <p:nvPr/>
        </p:nvSpPr>
        <p:spPr>
          <a:xfrm xmlns:a="http://schemas.openxmlformats.org/drawingml/2006/main">
            <a:off x="62484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 AGENT</a:t>
            </a:r>
          </a:p>
        </p:txBody>
      </p:sp>
      <p:sp>
        <p:nvSpPr>
          <p:cNvPr id="19" name="booking-story-text-15">
            <a:extLst xmlns:a="http://schemas.openxmlformats.org/drawingml/2006/main">
              <a:ext uri="{FF2B5EF4-FFF2-40B4-BE49-F238E27FC236}">
                <a16:creationId xmlns:a16="http://schemas.microsoft.com/office/drawing/2014/main" id="{683138A3-844B-4246-8BEE-A0B98C3A11F5}"/>
              </a:ext>
            </a:extLst>
          </p:cNvPr>
          <p:cNvSpPr>
            <a:spLocks xmlns:a="http://schemas.openxmlformats.org/drawingml/2006/main" noGrp="1"/>
          </p:cNvSpPr>
          <p:nvPr/>
        </p:nvSpPr>
        <p:spPr>
          <a:xfrm xmlns:a="http://schemas.openxmlformats.org/drawingml/2006/main">
            <a:off x="62484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3  Approve the visit</a:t>
            </a:r>
          </a:p>
        </p:txBody>
      </p:sp>
      <p:sp>
        <p:nvSpPr>
          <p:cNvPr id="20" name="booking-story-text-16">
            <a:extLst xmlns:a="http://schemas.openxmlformats.org/drawingml/2006/main">
              <a:ext uri="{FF2B5EF4-FFF2-40B4-BE49-F238E27FC236}">
                <a16:creationId xmlns:a16="http://schemas.microsoft.com/office/drawing/2014/main" id="{52AF28D2-35F6-4CF2-9BFA-F576323C8A72}"/>
              </a:ext>
            </a:extLst>
          </p:cNvPr>
          <p:cNvSpPr>
            <a:spLocks xmlns:a="http://schemas.openxmlformats.org/drawingml/2006/main" noGrp="1"/>
          </p:cNvSpPr>
          <p:nvPr/>
        </p:nvSpPr>
        <p:spPr>
          <a:xfrm xmlns:a="http://schemas.openxmlformats.org/drawingml/2006/main">
            <a:off x="62484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Chooses Oak Plumbing.</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Approves the $79 visit</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authorization.</a:t>
            </a:r>
          </a:p>
        </p:txBody>
      </p:sp>
      <p:sp>
        <p:nvSpPr>
          <p:cNvPr id="21" name="booking-story-text-17">
            <a:extLst xmlns:a="http://schemas.openxmlformats.org/drawingml/2006/main">
              <a:ext uri="{FF2B5EF4-FFF2-40B4-BE49-F238E27FC236}">
                <a16:creationId xmlns:a16="http://schemas.microsoft.com/office/drawing/2014/main" id="{AA315DCC-6AA8-416D-829C-DF422D9091A9}"/>
              </a:ext>
            </a:extLst>
          </p:cNvPr>
          <p:cNvSpPr>
            <a:spLocks xmlns:a="http://schemas.openxmlformats.org/drawingml/2006/main" noGrp="1"/>
          </p:cNvSpPr>
          <p:nvPr/>
        </p:nvSpPr>
        <p:spPr>
          <a:xfrm xmlns:a="http://schemas.openxmlformats.org/drawingml/2006/main">
            <a:off x="91249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22" name="booking-story-text-18">
            <a:extLst xmlns:a="http://schemas.openxmlformats.org/drawingml/2006/main">
              <a:ext uri="{FF2B5EF4-FFF2-40B4-BE49-F238E27FC236}">
                <a16:creationId xmlns:a16="http://schemas.microsoft.com/office/drawing/2014/main" id="{533B2514-09D5-40D2-AF38-6DED6511B5B5}"/>
              </a:ext>
            </a:extLst>
          </p:cNvPr>
          <p:cNvSpPr>
            <a:spLocks xmlns:a="http://schemas.openxmlformats.org/drawingml/2006/main" noGrp="1"/>
          </p:cNvSpPr>
          <p:nvPr/>
        </p:nvSpPr>
        <p:spPr>
          <a:xfrm xmlns:a="http://schemas.openxmlformats.org/drawingml/2006/main">
            <a:off x="91249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4  Confirm the booking</a:t>
            </a:r>
          </a:p>
        </p:txBody>
      </p:sp>
      <p:sp>
        <p:nvSpPr>
          <p:cNvPr id="23" name="booking-story-text-19">
            <a:extLst xmlns:a="http://schemas.openxmlformats.org/drawingml/2006/main">
              <a:ext uri="{FF2B5EF4-FFF2-40B4-BE49-F238E27FC236}">
                <a16:creationId xmlns:a16="http://schemas.microsoft.com/office/drawing/2014/main" id="{A3415803-B23A-4A43-9DA8-C4BD79AAEE7B}"/>
              </a:ext>
            </a:extLst>
          </p:cNvPr>
          <p:cNvSpPr>
            <a:spLocks xmlns:a="http://schemas.openxmlformats.org/drawingml/2006/main" noGrp="1"/>
          </p:cNvSpPr>
          <p:nvPr/>
        </p:nvSpPr>
        <p:spPr>
          <a:xfrm xmlns:a="http://schemas.openxmlformats.org/drawingml/2006/main">
            <a:off x="91249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Books in the provider’s system.</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the booking ID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status.</a:t>
            </a:r>
          </a:p>
        </p:txBody>
      </p:sp>
      <p:sp>
        <p:nvSpPr>
          <p:cNvPr id="24" name="booking-story-flow-20">
            <a:extLst xmlns:a="http://schemas.openxmlformats.org/drawingml/2006/main">
              <a:ext uri="{FF2B5EF4-FFF2-40B4-BE49-F238E27FC236}">
                <a16:creationId xmlns:a16="http://schemas.microsoft.com/office/drawing/2014/main" id="{DD7CE275-95F2-4D3E-9964-402638082BAE}"/>
              </a:ext>
            </a:extLst>
          </p:cNvPr>
          <p:cNvSpPr>
            <a:spLocks xmlns:a="http://schemas.openxmlformats.org/drawingml/2006/main" noGrp="1"/>
          </p:cNvSpPr>
          <p:nvPr/>
        </p:nvSpPr>
        <p:spPr>
          <a:xfrm xmlns:a="http://schemas.openxmlformats.org/drawingml/2006/main">
            <a:off x="495300" y="5391150"/>
            <a:ext cx="11201400" cy="102870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5" name="booking-story-text-21">
            <a:extLst xmlns:a="http://schemas.openxmlformats.org/drawingml/2006/main">
              <a:ext uri="{FF2B5EF4-FFF2-40B4-BE49-F238E27FC236}">
                <a16:creationId xmlns:a16="http://schemas.microsoft.com/office/drawing/2014/main" id="{8754C950-F5DC-4EC1-868F-8A9DCB4E47AD}"/>
              </a:ext>
            </a:extLst>
          </p:cNvPr>
          <p:cNvSpPr>
            <a:spLocks xmlns:a="http://schemas.openxmlformats.org/drawingml/2006/main" noGrp="1"/>
          </p:cNvSpPr>
          <p:nvPr/>
        </p:nvSpPr>
        <p:spPr>
          <a:xfrm xmlns:a="http://schemas.openxmlformats.org/drawingml/2006/main">
            <a:off x="695325" y="5543550"/>
            <a:ext cx="1080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stStyle>
          <a:p xmlns:a="http://schemas.openxmlformats.org/drawingml/2006/main">
            <a:pPr>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Oak Plumbing confirmed for tomorrow, 9–11 am</a:t>
            </a:r>
          </a:p>
        </p:txBody>
      </p:sp>
      <p:sp>
        <p:nvSpPr>
          <p:cNvPr id="26" name="booking-story-text-22">
            <a:extLst xmlns:a="http://schemas.openxmlformats.org/drawingml/2006/main">
              <a:ext uri="{FF2B5EF4-FFF2-40B4-BE49-F238E27FC236}">
                <a16:creationId xmlns:a16="http://schemas.microsoft.com/office/drawing/2014/main" id="{7762AFC1-78FC-4994-81E7-CD6BA5D7B9FF}"/>
              </a:ext>
            </a:extLst>
          </p:cNvPr>
          <p:cNvSpPr>
            <a:spLocks xmlns:a="http://schemas.openxmlformats.org/drawingml/2006/main" noGrp="1"/>
          </p:cNvSpPr>
          <p:nvPr/>
        </p:nvSpPr>
        <p:spPr>
          <a:xfrm xmlns:a="http://schemas.openxmlformats.org/drawingml/2006/main">
            <a:off x="695325" y="6019800"/>
            <a:ext cx="10801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Helvetica Neue"/>
                <a:ea typeface="Helvetica Neue"/>
                <a:cs typeface="Helvetica Neue"/>
              </a:defRPr>
            </a:defPPr>
          </a:lstStyle>
          <a:p xmlns:a="http://schemas.openxmlformats.org/drawingml/2006/main">
            <a:pPr>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Booking GL-1042. $79 visit fee authorized. Repairs quoted after inspection.</a:t>
            </a:r>
          </a:p>
        </p:txBody>
      </p:sp>
      <p:sp>
        <p:nvSpPr>
          <p:cNvPr id="27" name="booking-story-text-23">
            <a:extLst xmlns:a="http://schemas.openxmlformats.org/drawingml/2006/main">
              <a:ext uri="{FF2B5EF4-FFF2-40B4-BE49-F238E27FC236}">
                <a16:creationId xmlns:a16="http://schemas.microsoft.com/office/drawing/2014/main" id="{DCF5C9E5-F549-4DDE-AB7F-BAE131D05FD4}"/>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Illustrative customer journey. Provider, price, slot and booking ID are examples, not live transactions.</a:t>
            </a:r>
          </a:p>
        </p:txBody>
      </p:sp>
      <p:sp>
        <p:nvSpPr>
          <p:cNvPr id="28" name="booking-story-text-24">
            <a:extLst xmlns:a="http://schemas.openxmlformats.org/drawingml/2006/main">
              <a:ext uri="{FF2B5EF4-FFF2-40B4-BE49-F238E27FC236}">
                <a16:creationId xmlns:a16="http://schemas.microsoft.com/office/drawing/2014/main" id="{9C54B56B-EE83-4B3A-A78C-89B9203337DD}"/>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6</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B90267F3-E178-4AA9-A101-A49FF5817A6B}"/>
              </a:ext>
            </a:extLst>
          </p:cNvPr>
          <p:cNvCxnSpPr>
            <a:stCxn xmlns:a="http://schemas.openxmlformats.org/drawingml/2006/main" id="13" idx="0"/>
            <a:endCxn xmlns:a="http://schemas.openxmlformats.org/drawingml/2006/main" id="10" idx="2"/>
          </p:cNvCxnSpPr>
          <p:nvPr/>
        </p:nvCxnSpPr>
        <p:spPr>
          <a:xfrm xmlns:a="http://schemas.openxmlformats.org/drawingml/2006/main" flipV="1">
            <a:off x="5881688" y="3514725"/>
            <a:ext cx="0" cy="60960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6" name="">
            <a:extLst xmlns:a="http://schemas.openxmlformats.org/drawingml/2006/main">
              <a:ext uri="{FF2B5EF4-FFF2-40B4-BE49-F238E27FC236}">
                <a16:creationId xmlns:a16="http://schemas.microsoft.com/office/drawing/2014/main" id="{1D5A7A96-8045-470B-8FD1-29C04B1285DF}"/>
              </a:ext>
            </a:extLst>
          </p:cNvPr>
          <p:cNvCxnSpPr>
            <a:stCxn xmlns:a="http://schemas.openxmlformats.org/drawingml/2006/main" id="12" idx="1"/>
            <a:endCxn xmlns:a="http://schemas.openxmlformats.org/drawingml/2006/main" id="13" idx="3"/>
          </p:cNvCxnSpPr>
          <p:nvPr/>
        </p:nvCxnSpPr>
        <p:spPr>
          <a:xfrm xmlns:a="http://schemas.openxmlformats.org/drawingml/2006/main" flipH="1" flipV="1">
            <a:off x="7467600" y="4486275"/>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5" name="">
            <a:extLst xmlns:a="http://schemas.openxmlformats.org/drawingml/2006/main">
              <a:ext uri="{FF2B5EF4-FFF2-40B4-BE49-F238E27FC236}">
                <a16:creationId xmlns:a16="http://schemas.microsoft.com/office/drawing/2014/main" id="{A6F39471-F4E5-48EE-AF63-172D032E4556}"/>
              </a:ext>
            </a:extLst>
          </p:cNvPr>
          <p:cNvCxnSpPr>
            <a:stCxn xmlns:a="http://schemas.openxmlformats.org/drawingml/2006/main" id="11" idx="2"/>
            <a:endCxn xmlns:a="http://schemas.openxmlformats.org/drawingml/2006/main" id="12" idx="0"/>
          </p:cNvCxnSpPr>
          <p:nvPr/>
        </p:nvCxnSpPr>
        <p:spPr>
          <a:xfrm xmlns:a="http://schemas.openxmlformats.org/drawingml/2006/main">
            <a:off x="10063163" y="3695700"/>
            <a:ext cx="0" cy="4762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9D08DAC3-50FD-4BC7-908F-2026BA26103F}"/>
              </a:ext>
            </a:extLst>
          </p:cNvPr>
          <p:cNvCxnSpPr>
            <a:stCxn xmlns:a="http://schemas.openxmlformats.org/drawingml/2006/main" id="10" idx="3"/>
            <a:endCxn xmlns:a="http://schemas.openxmlformats.org/drawingml/2006/main" id="11" idx="1"/>
          </p:cNvCxnSpPr>
          <p:nvPr/>
        </p:nvCxnSpPr>
        <p:spPr>
          <a:xfrm xmlns:a="http://schemas.openxmlformats.org/drawingml/2006/main">
            <a:off x="7467600" y="3195638"/>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3" name="v27-text-7">
            <a:extLst xmlns:a="http://schemas.openxmlformats.org/drawingml/2006/main">
              <a:ext uri="{FF2B5EF4-FFF2-40B4-BE49-F238E27FC236}">
                <a16:creationId xmlns:a16="http://schemas.microsoft.com/office/drawing/2014/main" id="{552406B7-7212-4A4E-9D8F-4BF49224FCF5}"/>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v27-text-8">
            <a:extLst xmlns:a="http://schemas.openxmlformats.org/drawingml/2006/main">
              <a:ext uri="{FF2B5EF4-FFF2-40B4-BE49-F238E27FC236}">
                <a16:creationId xmlns:a16="http://schemas.microsoft.com/office/drawing/2014/main" id="{09EF2AB4-50EE-4D03-BB1C-EA0D87949576}"/>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Local bookings can build a stronger local network</a:t>
            </a:r>
          </a:p>
        </p:txBody>
      </p:sp>
      <p:sp>
        <p:nvSpPr>
          <p:cNvPr id="3" name="v27-text-9">
            <a:extLst xmlns:a="http://schemas.openxmlformats.org/drawingml/2006/main">
              <a:ext uri="{FF2B5EF4-FFF2-40B4-BE49-F238E27FC236}">
                <a16:creationId xmlns:a16="http://schemas.microsoft.com/office/drawing/2014/main" id="{6751AF65-204F-462C-93D4-1DBF2FD9D9F9}"/>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One city and one service category first.</a:t>
            </a:r>
          </a:p>
        </p:txBody>
      </p:sp>
      <p:sp>
        <p:nvSpPr>
          <p:cNvPr id="4" name="v27-text-10">
            <a:extLst xmlns:a="http://schemas.openxmlformats.org/drawingml/2006/main">
              <a:ext uri="{FF2B5EF4-FFF2-40B4-BE49-F238E27FC236}">
                <a16:creationId xmlns:a16="http://schemas.microsoft.com/office/drawing/2014/main" id="{6C7C6279-3DD2-4E61-BB69-C15A5C0182D3}"/>
              </a:ext>
            </a:extLst>
          </p:cNvPr>
          <p:cNvSpPr>
            <a:spLocks xmlns:a="http://schemas.openxmlformats.org/drawingml/2006/main" noGrp="1"/>
          </p:cNvSpPr>
          <p:nvPr/>
        </p:nvSpPr>
        <p:spPr>
          <a:xfrm xmlns:a="http://schemas.openxmlformats.org/drawingml/2006/main">
            <a:off x="495300" y="210502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1  Build a local market</a:t>
            </a:r>
          </a:p>
        </p:txBody>
      </p:sp>
      <p:sp>
        <p:nvSpPr>
          <p:cNvPr id="5" name="v27-text-11">
            <a:extLst xmlns:a="http://schemas.openxmlformats.org/drawingml/2006/main">
              <a:ext uri="{FF2B5EF4-FFF2-40B4-BE49-F238E27FC236}">
                <a16:creationId xmlns:a16="http://schemas.microsoft.com/office/drawing/2014/main" id="{A4B74ED6-7AE9-47F3-9C6C-57CA1ABDE3C1}"/>
              </a:ext>
            </a:extLst>
          </p:cNvPr>
          <p:cNvSpPr>
            <a:spLocks xmlns:a="http://schemas.openxmlformats.org/drawingml/2006/main" noGrp="1"/>
          </p:cNvSpPr>
          <p:nvPr/>
        </p:nvSpPr>
        <p:spPr>
          <a:xfrm xmlns:a="http://schemas.openxmlformats.org/drawingml/2006/main">
            <a:off x="495300" y="2600325"/>
            <a:ext cx="32861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93C32"/>
                </a:solidFill>
                <a:latin typeface="Helvetica Neue"/>
                <a:ea typeface="Helvetica Neue"/>
                <a:cs typeface="Helvetica Neue"/>
              </a:defRPr>
            </a:defPPr>
          </a:lstStyle>
          <a:p xmlns:a="http://schemas.openxmlformats.org/drawingml/2006/main">
            <a:pPr algn="l">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Recruit providers and users</a:t>
            </a:r>
          </a:p>
          <a:p xmlns:a="http://schemas.openxmlformats.org/drawingml/2006/main">
            <a:pPr algn="l">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with a specific booking need</a:t>
            </a:r>
          </a:p>
          <a:p xmlns:a="http://schemas.openxmlformats.org/drawingml/2006/main">
            <a:pPr algn="l">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in one city and category.</a:t>
            </a:r>
          </a:p>
        </p:txBody>
      </p:sp>
      <p:sp>
        <p:nvSpPr>
          <p:cNvPr id="6" name="v27-text-12">
            <a:extLst xmlns:a="http://schemas.openxmlformats.org/drawingml/2006/main">
              <a:ext uri="{FF2B5EF4-FFF2-40B4-BE49-F238E27FC236}">
                <a16:creationId xmlns:a16="http://schemas.microsoft.com/office/drawing/2014/main" id="{D038FF64-F9D1-4FBB-8426-6E1D62BB74DC}"/>
              </a:ext>
            </a:extLst>
          </p:cNvPr>
          <p:cNvSpPr>
            <a:spLocks xmlns:a="http://schemas.openxmlformats.org/drawingml/2006/main" noGrp="1"/>
          </p:cNvSpPr>
          <p:nvPr/>
        </p:nvSpPr>
        <p:spPr>
          <a:xfrm xmlns:a="http://schemas.openxmlformats.org/drawingml/2006/main">
            <a:off x="495300" y="391477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2  Connect their agents</a:t>
            </a:r>
          </a:p>
        </p:txBody>
      </p:sp>
      <p:sp>
        <p:nvSpPr>
          <p:cNvPr id="7" name="v27-text-13">
            <a:extLst xmlns:a="http://schemas.openxmlformats.org/drawingml/2006/main">
              <a:ext uri="{FF2B5EF4-FFF2-40B4-BE49-F238E27FC236}">
                <a16:creationId xmlns:a16="http://schemas.microsoft.com/office/drawing/2014/main" id="{191837B7-7E9C-449A-BADA-EA779B7CD341}"/>
              </a:ext>
            </a:extLst>
          </p:cNvPr>
          <p:cNvSpPr>
            <a:spLocks xmlns:a="http://schemas.openxmlformats.org/drawingml/2006/main" noGrp="1"/>
          </p:cNvSpPr>
          <p:nvPr/>
        </p:nvSpPr>
        <p:spPr>
          <a:xfrm xmlns:a="http://schemas.openxmlformats.org/drawingml/2006/main">
            <a:off x="495300" y="4410075"/>
            <a:ext cx="3286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C4E"/>
                </a:solidFill>
                <a:latin typeface="Helvetica Neue"/>
                <a:ea typeface="Helvetica Neue"/>
                <a:cs typeface="Helvetica Neue"/>
              </a:defRPr>
            </a:defPPr>
          </a:lstStyle>
          <a:p xmlns:a="http://schemas.openxmlformats.org/drawingml/2006/main">
            <a:pPr algn="l">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“Add GoLocal to find</a:t>
            </a:r>
          </a:p>
          <a:p xmlns:a="http://schemas.openxmlformats.org/drawingml/2006/main">
            <a:pPr algn="l">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me local services.”</a:t>
            </a:r>
          </a:p>
        </p:txBody>
      </p:sp>
      <p:sp>
        <p:nvSpPr>
          <p:cNvPr id="8" name="v27-text-14">
            <a:extLst xmlns:a="http://schemas.openxmlformats.org/drawingml/2006/main">
              <a:ext uri="{FF2B5EF4-FFF2-40B4-BE49-F238E27FC236}">
                <a16:creationId xmlns:a16="http://schemas.microsoft.com/office/drawing/2014/main" id="{F35D870C-26D8-4432-8D17-27531F6A6155}"/>
              </a:ext>
            </a:extLst>
          </p:cNvPr>
          <p:cNvSpPr>
            <a:spLocks xmlns:a="http://schemas.openxmlformats.org/drawingml/2006/main" noGrp="1"/>
          </p:cNvSpPr>
          <p:nvPr/>
        </p:nvSpPr>
        <p:spPr>
          <a:xfrm xmlns:a="http://schemas.openxmlformats.org/drawingml/2006/main">
            <a:off x="495300" y="51911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One-time setup on a compatible</a:t>
            </a:r>
          </a:p>
          <a:p xmlns:a="http://schemas.openxmlformats.org/drawingml/2006/main">
            <a:pPr algn="l">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agent, with sign-in and approval.</a:t>
            </a:r>
          </a:p>
        </p:txBody>
      </p:sp>
      <p:sp>
        <p:nvSpPr>
          <p:cNvPr id="9" name="v27-text-15">
            <a:extLst xmlns:a="http://schemas.openxmlformats.org/drawingml/2006/main">
              <a:ext uri="{FF2B5EF4-FFF2-40B4-BE49-F238E27FC236}">
                <a16:creationId xmlns:a16="http://schemas.microsoft.com/office/drawing/2014/main" id="{6529E900-B225-4C1D-AAC0-C63E23B875B5}"/>
              </a:ext>
            </a:extLst>
          </p:cNvPr>
          <p:cNvSpPr>
            <a:spLocks xmlns:a="http://schemas.openxmlformats.org/drawingml/2006/main" noGrp="1"/>
          </p:cNvSpPr>
          <p:nvPr/>
        </p:nvSpPr>
        <p:spPr>
          <a:xfrm xmlns:a="http://schemas.openxmlformats.org/drawingml/2006/main">
            <a:off x="4295775" y="2105025"/>
            <a:ext cx="74009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3  The proposed network effect</a:t>
            </a:r>
          </a:p>
        </p:txBody>
      </p:sp>
      <p:sp>
        <p:nvSpPr>
          <p:cNvPr id="10" name="v27-text-16">
            <a:extLst xmlns:a="http://schemas.openxmlformats.org/drawingml/2006/main">
              <a:ext uri="{FF2B5EF4-FFF2-40B4-BE49-F238E27FC236}">
                <a16:creationId xmlns:a16="http://schemas.microsoft.com/office/drawing/2014/main" id="{41F248C4-2E34-45F4-B7A0-3D0F4A273D15}"/>
              </a:ext>
            </a:extLst>
          </p:cNvPr>
          <p:cNvSpPr>
            <a:spLocks xmlns:a="http://schemas.openxmlformats.org/drawingml/2006/main" noGrp="1"/>
          </p:cNvSpPr>
          <p:nvPr/>
        </p:nvSpPr>
        <p:spPr>
          <a:xfrm xmlns:a="http://schemas.openxmlformats.org/drawingml/2006/main">
            <a:off x="4295775" y="2876550"/>
            <a:ext cx="31718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Successful</a:t>
            </a:r>
          </a:p>
          <a:p xmlns:a="http://schemas.openxmlformats.org/drawingml/2006/main">
            <a:pPr algn="ctr">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1" name="v27-text-17">
            <a:extLst xmlns:a="http://schemas.openxmlformats.org/drawingml/2006/main">
              <a:ext uri="{FF2B5EF4-FFF2-40B4-BE49-F238E27FC236}">
                <a16:creationId xmlns:a16="http://schemas.microsoft.com/office/drawing/2014/main" id="{97FBEBDF-09DA-4E8D-83F4-1657A435BB03}"/>
              </a:ext>
            </a:extLst>
          </p:cNvPr>
          <p:cNvSpPr>
            <a:spLocks xmlns:a="http://schemas.openxmlformats.org/drawingml/2006/main" noGrp="1"/>
          </p:cNvSpPr>
          <p:nvPr/>
        </p:nvSpPr>
        <p:spPr>
          <a:xfrm xmlns:a="http://schemas.openxmlformats.org/drawingml/2006/main">
            <a:off x="8429625" y="2714625"/>
            <a:ext cx="326707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193C32"/>
                </a:solidFill>
                <a:latin typeface="Helvetica Neue"/>
                <a:ea typeface="Helvetica Neue"/>
                <a:cs typeface="Helvetica Neue"/>
              </a:defRPr>
            </a:defPPr>
          </a:lstStyle>
          <a:p xmlns:a="http://schemas.openxmlformats.org/drawingml/2006/main">
            <a:pPr algn="ctr">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Agents suggest GoLocal</a:t>
            </a:r>
          </a:p>
          <a:p xmlns:a="http://schemas.openxmlformats.org/drawingml/2006/main">
            <a:pPr algn="ctr">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to more users with</a:t>
            </a:r>
          </a:p>
          <a:p xmlns:a="http://schemas.openxmlformats.org/drawingml/2006/main">
            <a:pPr algn="ctr">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similar requests*</a:t>
            </a:r>
          </a:p>
        </p:txBody>
      </p:sp>
      <p:sp>
        <p:nvSpPr>
          <p:cNvPr id="12" name="v27-text-18">
            <a:extLst xmlns:a="http://schemas.openxmlformats.org/drawingml/2006/main">
              <a:ext uri="{FF2B5EF4-FFF2-40B4-BE49-F238E27FC236}">
                <a16:creationId xmlns:a16="http://schemas.microsoft.com/office/drawing/2014/main" id="{D8C682C3-FB27-45C7-9DD3-12C2E8E52A0D}"/>
              </a:ext>
            </a:extLst>
          </p:cNvPr>
          <p:cNvSpPr>
            <a:spLocks xmlns:a="http://schemas.openxmlformats.org/drawingml/2006/main" noGrp="1"/>
          </p:cNvSpPr>
          <p:nvPr/>
        </p:nvSpPr>
        <p:spPr>
          <a:xfrm xmlns:a="http://schemas.openxmlformats.org/drawingml/2006/main">
            <a:off x="8429625" y="4171950"/>
            <a:ext cx="32670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More local</a:t>
            </a:r>
          </a:p>
          <a:p xmlns:a="http://schemas.openxmlformats.org/drawingml/2006/main">
            <a:pPr algn="ctr">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3" name="v27-text-19">
            <a:extLst xmlns:a="http://schemas.openxmlformats.org/drawingml/2006/main">
              <a:ext uri="{FF2B5EF4-FFF2-40B4-BE49-F238E27FC236}">
                <a16:creationId xmlns:a16="http://schemas.microsoft.com/office/drawing/2014/main" id="{9DA05B9F-2AE2-4577-8F47-50D875FC15C5}"/>
              </a:ext>
            </a:extLst>
          </p:cNvPr>
          <p:cNvSpPr>
            <a:spLocks xmlns:a="http://schemas.openxmlformats.org/drawingml/2006/main" noGrp="1"/>
          </p:cNvSpPr>
          <p:nvPr/>
        </p:nvSpPr>
        <p:spPr>
          <a:xfrm xmlns:a="http://schemas.openxmlformats.org/drawingml/2006/main">
            <a:off x="4295775" y="4124325"/>
            <a:ext cx="31718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 local businesses join,</a:t>
            </a:r>
          </a:p>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expanding useful coverage</a:t>
            </a:r>
          </a:p>
        </p:txBody>
      </p:sp>
      <p:sp>
        <p:nvSpPr>
          <p:cNvPr id="18" name="v27-text-20">
            <a:extLst xmlns:a="http://schemas.openxmlformats.org/drawingml/2006/main">
              <a:ext uri="{FF2B5EF4-FFF2-40B4-BE49-F238E27FC236}">
                <a16:creationId xmlns:a16="http://schemas.microsoft.com/office/drawing/2014/main" id="{E3B4DB50-D0D0-4E6D-874A-FBCC20F6A1F3}"/>
              </a:ext>
            </a:extLst>
          </p:cNvPr>
          <p:cNvSpPr>
            <a:spLocks xmlns:a="http://schemas.openxmlformats.org/drawingml/2006/main" noGrp="1"/>
          </p:cNvSpPr>
          <p:nvPr/>
        </p:nvSpPr>
        <p:spPr>
          <a:xfrm xmlns:a="http://schemas.openxmlformats.org/drawingml/2006/main">
            <a:off x="4295775" y="5219700"/>
            <a:ext cx="74009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236C4E"/>
                </a:solidFill>
                <a:latin typeface="Helvetica Neue"/>
                <a:ea typeface="Helvetica Neue"/>
                <a:cs typeface="Helvetica Neue"/>
              </a:defRPr>
            </a:defPPr>
          </a:lstStyle>
          <a:p xmlns:a="http://schemas.openxmlformats.org/drawingml/2006/main">
            <a:pPr algn="l">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Proof in one city supports more categories there,</a:t>
            </a:r>
          </a:p>
          <a:p xmlns:a="http://schemas.openxmlformats.org/drawingml/2006/main">
            <a:pPr algn="l">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then expansion into more cities.</a:t>
            </a:r>
          </a:p>
        </p:txBody>
      </p:sp>
      <p:sp>
        <p:nvSpPr>
          <p:cNvPr id="19" name="v27-text-21">
            <a:extLst xmlns:a="http://schemas.openxmlformats.org/drawingml/2006/main">
              <a:ext uri="{FF2B5EF4-FFF2-40B4-BE49-F238E27FC236}">
                <a16:creationId xmlns:a16="http://schemas.microsoft.com/office/drawing/2014/main" id="{DDCB9C01-99BC-4627-A8E9-CB047DB5BA0F}"/>
              </a:ext>
            </a:extLst>
          </p:cNvPr>
          <p:cNvSpPr>
            <a:spLocks xmlns:a="http://schemas.openxmlformats.org/drawingml/2006/main" noGrp="1"/>
          </p:cNvSpPr>
          <p:nvPr/>
        </p:nvSpPr>
        <p:spPr>
          <a:xfrm xmlns:a="http://schemas.openxmlformats.org/drawingml/2006/main">
            <a:off x="495300" y="6019800"/>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236C4E"/>
                </a:solidFill>
                <a:latin typeface="Helvetica Neue"/>
                <a:ea typeface="Helvetica Neue"/>
                <a:cs typeface="Helvetica Neue"/>
              </a:defRPr>
            </a:defPPr>
          </a:lstStyle>
          <a:p xmlns:a="http://schemas.openxmlformats.org/drawingml/2006/main">
            <a:pPr algn="l">
              <a:defRPr sz="1200" b="1">
                <a:solidFill>
                  <a:srgbClr val="236C4E"/>
                </a:solidFill>
                <a:latin typeface="Helvetica Neue"/>
                <a:ea typeface="Helvetica Neue"/>
                <a:cs typeface="Helvetica Neue"/>
              </a:defRPr>
            </a:pPr>
            <a:r>
              <a:rPr sz="1200" b="1">
                <a:solidFill>
                  <a:srgbClr val="236C4E"/>
                </a:solidFill>
                <a:latin typeface="Helvetica Neue"/>
                <a:ea typeface="Helvetica Neue"/>
                <a:cs typeface="Helvetica Neue"/>
              </a:rPr>
              <a:t>PROPOSED REVENUE MODEL</a:t>
            </a:r>
          </a:p>
        </p:txBody>
      </p:sp>
      <p:sp>
        <p:nvSpPr>
          <p:cNvPr id="20" name="v27-text-22">
            <a:extLst xmlns:a="http://schemas.openxmlformats.org/drawingml/2006/main">
              <a:ext uri="{FF2B5EF4-FFF2-40B4-BE49-F238E27FC236}">
                <a16:creationId xmlns:a16="http://schemas.microsoft.com/office/drawing/2014/main" id="{0522C01E-D05D-4CA4-9C25-943BC026B5AF}"/>
              </a:ext>
            </a:extLst>
          </p:cNvPr>
          <p:cNvSpPr>
            <a:spLocks xmlns:a="http://schemas.openxmlformats.org/drawingml/2006/main" noGrp="1"/>
          </p:cNvSpPr>
          <p:nvPr/>
        </p:nvSpPr>
        <p:spPr>
          <a:xfrm xmlns:a="http://schemas.openxmlformats.org/drawingml/2006/main">
            <a:off x="495300" y="6267450"/>
            <a:ext cx="11201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93C32"/>
                </a:solidFill>
                <a:latin typeface="Helvetica Neue"/>
                <a:ea typeface="Helvetica Neue"/>
                <a:cs typeface="Helvetica Neue"/>
              </a:defRPr>
            </a:defPPr>
          </a:lstStyle>
          <a:p xmlns:a="http://schemas.openxmlformats.org/drawingml/2006/main">
            <a:pPr algn="l">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Businesses pay a success fee on fulfilled new-customer jobs, shared with contributing partners.</a:t>
            </a:r>
          </a:p>
        </p:txBody>
      </p:sp>
      <p:sp>
        <p:nvSpPr>
          <p:cNvPr id="21" name="v27-text-23">
            <a:extLst xmlns:a="http://schemas.openxmlformats.org/drawingml/2006/main">
              <a:ext uri="{FF2B5EF4-FFF2-40B4-BE49-F238E27FC236}">
                <a16:creationId xmlns:a16="http://schemas.microsoft.com/office/drawing/2014/main" id="{9610E78A-BDB5-4ED0-87FB-381319EF7A6C}"/>
              </a:ext>
            </a:extLst>
          </p:cNvPr>
          <p:cNvSpPr>
            <a:spLocks xmlns:a="http://schemas.openxmlformats.org/drawingml/2006/main" noGrp="1"/>
          </p:cNvSpPr>
          <p:nvPr/>
        </p:nvSpPr>
        <p:spPr>
          <a:xfrm xmlns:a="http://schemas.openxmlformats.org/drawingml/2006/main">
            <a:off x="495300" y="6543675"/>
            <a:ext cx="10429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5746C"/>
                </a:solidFill>
                <a:latin typeface="Helvetica Neue"/>
                <a:ea typeface="Helvetica Neue"/>
                <a:cs typeface="Helvetica Neue"/>
              </a:defRPr>
            </a:defPPr>
          </a:lstStyle>
          <a:p xmlns:a="http://schemas.openxmlformats.org/drawingml/2006/main">
            <a:pPr algn="l">
              <a:defRPr sz="1050" b="0">
                <a:solidFill>
                  <a:srgbClr val="65746C"/>
                </a:solidFill>
                <a:latin typeface="Helvetica Neue"/>
                <a:ea typeface="Helvetica Neue"/>
                <a:cs typeface="Helvetica Neue"/>
              </a:defRPr>
            </a:pPr>
            <a:r>
              <a:rPr sz="1050" b="0">
                <a:solidFill>
                  <a:srgbClr val="65746C"/>
                </a:solidFill>
                <a:latin typeface="Helvetica Neue"/>
                <a:ea typeface="Helvetica Neue"/>
                <a:cs typeface="Helvetica Neue"/>
              </a:rPr>
              <a:t>*Growth hypothesis. Recommendations depend on booking reliability, platform discovery and selection rules.</a:t>
            </a:r>
          </a:p>
        </p:txBody>
      </p:sp>
      <p:sp>
        <p:nvSpPr>
          <p:cNvPr id="22" name="v27-text-24">
            <a:extLst xmlns:a="http://schemas.openxmlformats.org/drawingml/2006/main">
              <a:ext uri="{FF2B5EF4-FFF2-40B4-BE49-F238E27FC236}">
                <a16:creationId xmlns:a16="http://schemas.microsoft.com/office/drawing/2014/main" id="{5FEF83CC-D718-44D3-B7C7-D7399EFDA53A}"/>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4 / 6</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F0DE9A35-2297-4BE2-8CFF-DA6997E389CD}"/>
              </a:ext>
            </a:extLst>
          </p:cNvPr>
          <p:cNvCxnSpPr>
            <a:stCxn xmlns:a="http://schemas.openxmlformats.org/drawingml/2006/main" id="12" idx="3"/>
            <a:endCxn xmlns:a="http://schemas.openxmlformats.org/drawingml/2006/main" id="13" idx="1"/>
          </p:cNvCxnSpPr>
          <p:nvPr/>
        </p:nvCxnSpPr>
        <p:spPr>
          <a:xfrm xmlns:a="http://schemas.openxmlformats.org/drawingml/2006/main">
            <a:off x="7572375" y="5943600"/>
            <a:ext cx="88582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5B6D14D1-6EC0-4F91-9E14-3BDB73A6A256}"/>
              </a:ext>
            </a:extLst>
          </p:cNvPr>
          <p:cNvCxnSpPr>
            <a:stCxn xmlns:a="http://schemas.openxmlformats.org/drawingml/2006/main" id="11" idx="3"/>
            <a:endCxn xmlns:a="http://schemas.openxmlformats.org/drawingml/2006/main" id="12" idx="1"/>
          </p:cNvCxnSpPr>
          <p:nvPr/>
        </p:nvCxnSpPr>
        <p:spPr>
          <a:xfrm xmlns:a="http://schemas.openxmlformats.org/drawingml/2006/main">
            <a:off x="3448050" y="5943600"/>
            <a:ext cx="9144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18" name="v27-text-25">
            <a:extLst xmlns:a="http://schemas.openxmlformats.org/drawingml/2006/main">
              <a:ext uri="{FF2B5EF4-FFF2-40B4-BE49-F238E27FC236}">
                <a16:creationId xmlns:a16="http://schemas.microsoft.com/office/drawing/2014/main" id="{8CDEA6FE-6022-4A89-85B7-85384BBD90F2}"/>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PARTNERSHIPS AND PILOT</a:t>
            </a:r>
          </a:p>
        </p:txBody>
      </p:sp>
      <p:sp>
        <p:nvSpPr>
          <p:cNvPr id="2" name="v27-text-26">
            <a:extLst xmlns:a="http://schemas.openxmlformats.org/drawingml/2006/main">
              <a:ext uri="{FF2B5EF4-FFF2-40B4-BE49-F238E27FC236}">
                <a16:creationId xmlns:a16="http://schemas.microsoft.com/office/drawing/2014/main" id="{B30EE2F4-AA61-4FD3-B96E-3D2DCEE5947A}"/>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First pilot: plumbing in Salt Lake City</a:t>
            </a:r>
          </a:p>
        </p:txBody>
      </p:sp>
      <p:sp>
        <p:nvSpPr>
          <p:cNvPr id="3" name="v27-text-27">
            <a:extLst xmlns:a="http://schemas.openxmlformats.org/drawingml/2006/main">
              <a:ext uri="{FF2B5EF4-FFF2-40B4-BE49-F238E27FC236}">
                <a16:creationId xmlns:a16="http://schemas.microsoft.com/office/drawing/2014/main" id="{68333EAB-847D-41F6-B55B-E9CE4227D4E8}"/>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Two channel partners provide a starting point for supply.</a:t>
            </a:r>
          </a:p>
        </p:txBody>
      </p:sp>
      <p:sp>
        <p:nvSpPr>
          <p:cNvPr id="4" name="v27-text-28">
            <a:extLst xmlns:a="http://schemas.openxmlformats.org/drawingml/2006/main">
              <a:ext uri="{FF2B5EF4-FFF2-40B4-BE49-F238E27FC236}">
                <a16:creationId xmlns:a16="http://schemas.microsoft.com/office/drawing/2014/main" id="{F2B4C196-67E2-4BFC-9EE2-4381623CBCEF}"/>
              </a:ext>
            </a:extLst>
          </p:cNvPr>
          <p:cNvSpPr>
            <a:spLocks xmlns:a="http://schemas.openxmlformats.org/drawingml/2006/main" noGrp="1"/>
          </p:cNvSpPr>
          <p:nvPr/>
        </p:nvSpPr>
        <p:spPr>
          <a:xfrm xmlns:a="http://schemas.openxmlformats.org/drawingml/2006/main">
            <a:off x="495300" y="2076450"/>
            <a:ext cx="4857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236C4E"/>
                </a:solidFill>
                <a:latin typeface="Helvetica Neue"/>
                <a:ea typeface="Helvetica Neue"/>
                <a:cs typeface="Helvetica Neue"/>
              </a:defRPr>
            </a:defPPr>
          </a:lstStyle>
          <a:p xmlns:a="http://schemas.openxmlformats.org/drawingml/2006/main">
            <a:pPr algn="l">
              <a:defRPr sz="7650" b="1">
                <a:solidFill>
                  <a:srgbClr val="236C4E"/>
                </a:solidFill>
                <a:latin typeface="Helvetica Neue"/>
                <a:ea typeface="Helvetica Neue"/>
                <a:cs typeface="Helvetica Neue"/>
              </a:defRPr>
            </a:pPr>
            <a:r>
              <a:rPr sz="7650" b="1">
                <a:solidFill>
                  <a:srgbClr val="236C4E"/>
                </a:solidFill>
                <a:latin typeface="Helvetica Neue"/>
                <a:ea typeface="Helvetica Neue"/>
                <a:cs typeface="Helvetica Neue"/>
              </a:rPr>
              <a:t>50+</a:t>
            </a:r>
          </a:p>
        </p:txBody>
      </p:sp>
      <p:sp>
        <p:nvSpPr>
          <p:cNvPr id="5" name="v27-text-29">
            <a:extLst xmlns:a="http://schemas.openxmlformats.org/drawingml/2006/main">
              <a:ext uri="{FF2B5EF4-FFF2-40B4-BE49-F238E27FC236}">
                <a16:creationId xmlns:a16="http://schemas.microsoft.com/office/drawing/2014/main" id="{9CC75DF1-7295-4137-AEC4-7E0CC4FEB9DE}"/>
              </a:ext>
            </a:extLst>
          </p:cNvPr>
          <p:cNvSpPr>
            <a:spLocks xmlns:a="http://schemas.openxmlformats.org/drawingml/2006/main" noGrp="1"/>
          </p:cNvSpPr>
          <p:nvPr/>
        </p:nvSpPr>
        <p:spPr>
          <a:xfrm xmlns:a="http://schemas.openxmlformats.org/drawingml/2006/main">
            <a:off x="495300" y="3257550"/>
            <a:ext cx="485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93C32"/>
                </a:solidFill>
                <a:latin typeface="Helvetica Neue"/>
                <a:ea typeface="Helvetica Neue"/>
                <a:cs typeface="Helvetica Neue"/>
              </a:defRPr>
            </a:defPPr>
          </a:lstStyle>
          <a:p xmlns:a="http://schemas.openxmlformats.org/drawingml/2006/main">
            <a:pPr algn="l">
              <a:defRPr sz="2550" b="1">
                <a:solidFill>
                  <a:srgbClr val="193C32"/>
                </a:solidFill>
                <a:latin typeface="Helvetica Neue"/>
                <a:ea typeface="Helvetica Neue"/>
                <a:cs typeface="Helvetica Neue"/>
              </a:defRPr>
            </a:pPr>
            <a:r>
              <a:rPr sz="2550" b="1">
                <a:solidFill>
                  <a:srgbClr val="193C32"/>
                </a:solidFill>
                <a:latin typeface="Helvetica Neue"/>
                <a:ea typeface="Helvetica Neue"/>
                <a:cs typeface="Helvetica Neue"/>
              </a:rPr>
              <a:t>Cactus AI</a:t>
            </a:r>
          </a:p>
        </p:txBody>
      </p:sp>
      <p:sp>
        <p:nvSpPr>
          <p:cNvPr id="6" name="v27-text-30">
            <a:extLst xmlns:a="http://schemas.openxmlformats.org/drawingml/2006/main">
              <a:ext uri="{FF2B5EF4-FFF2-40B4-BE49-F238E27FC236}">
                <a16:creationId xmlns:a16="http://schemas.microsoft.com/office/drawing/2014/main" id="{8170CF0F-AA38-4196-999E-4DAFE6288CA0}"/>
              </a:ext>
            </a:extLst>
          </p:cNvPr>
          <p:cNvSpPr>
            <a:spLocks xmlns:a="http://schemas.openxmlformats.org/drawingml/2006/main" noGrp="1"/>
          </p:cNvSpPr>
          <p:nvPr/>
        </p:nvSpPr>
        <p:spPr>
          <a:xfrm xmlns:a="http://schemas.openxmlformats.org/drawingml/2006/main">
            <a:off x="495300" y="3800475"/>
            <a:ext cx="4857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193C32"/>
                </a:solidFill>
                <a:latin typeface="Helvetica Neue"/>
                <a:ea typeface="Helvetica Neue"/>
                <a:cs typeface="Helvetica Neue"/>
              </a:defRPr>
            </a:defPPr>
          </a:lstStyle>
          <a:p xmlns:a="http://schemas.openxmlformats.org/drawingml/2006/main">
            <a:pPr algn="l">
              <a:defRPr sz="2100" b="0">
                <a:solidFill>
                  <a:srgbClr val="193C32"/>
                </a:solidFill>
                <a:latin typeface="Helvetica Neue"/>
                <a:ea typeface="Helvetica Neue"/>
                <a:cs typeface="Helvetica Neue"/>
              </a:defRPr>
            </a:pPr>
            <a:r>
              <a:rPr sz="2100" b="0">
                <a:solidFill>
                  <a:srgbClr val="193C32"/>
                </a:solidFill>
                <a:latin typeface="Helvetica Neue"/>
                <a:ea typeface="Helvetica Neue"/>
                <a:cs typeface="Helvetica Neue"/>
              </a:rPr>
              <a:t>Agreed to introduce GoLocal</a:t>
            </a:r>
          </a:p>
          <a:p xmlns:a="http://schemas.openxmlformats.org/drawingml/2006/main">
            <a:pPr algn="l">
              <a:defRPr sz="2100" b="0">
                <a:solidFill>
                  <a:srgbClr val="193C32"/>
                </a:solidFill>
                <a:latin typeface="Helvetica Neue"/>
                <a:ea typeface="Helvetica Neue"/>
                <a:cs typeface="Helvetica Neue"/>
              </a:defRPr>
            </a:pPr>
            <a:r>
              <a:rPr sz="2100" b="0">
                <a:solidFill>
                  <a:srgbClr val="193C32"/>
                </a:solidFill>
                <a:latin typeface="Helvetica Neue"/>
                <a:ea typeface="Helvetica Neue"/>
                <a:cs typeface="Helvetica Neue"/>
              </a:rPr>
              <a:t>to 50+ service partners.</a:t>
            </a:r>
          </a:p>
        </p:txBody>
      </p:sp>
      <p:sp>
        <p:nvSpPr>
          <p:cNvPr id="7" name="v27-text-31">
            <a:extLst xmlns:a="http://schemas.openxmlformats.org/drawingml/2006/main">
              <a:ext uri="{FF2B5EF4-FFF2-40B4-BE49-F238E27FC236}">
                <a16:creationId xmlns:a16="http://schemas.microsoft.com/office/drawing/2014/main" id="{E9E0E8FA-C44E-42A0-B4E6-C2D30B1C2FDC}"/>
              </a:ext>
            </a:extLst>
          </p:cNvPr>
          <p:cNvSpPr>
            <a:spLocks xmlns:a="http://schemas.openxmlformats.org/drawingml/2006/main" noGrp="1"/>
          </p:cNvSpPr>
          <p:nvPr/>
        </p:nvSpPr>
        <p:spPr>
          <a:xfrm xmlns:a="http://schemas.openxmlformats.org/drawingml/2006/main">
            <a:off x="6553200" y="2076450"/>
            <a:ext cx="5143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236C4E"/>
                </a:solidFill>
                <a:latin typeface="Helvetica Neue"/>
                <a:ea typeface="Helvetica Neue"/>
                <a:cs typeface="Helvetica Neue"/>
              </a:defRPr>
            </a:defPPr>
          </a:lstStyle>
          <a:p xmlns:a="http://schemas.openxmlformats.org/drawingml/2006/main">
            <a:pPr algn="l">
              <a:defRPr sz="7650" b="1">
                <a:solidFill>
                  <a:srgbClr val="236C4E"/>
                </a:solidFill>
                <a:latin typeface="Helvetica Neue"/>
                <a:ea typeface="Helvetica Neue"/>
                <a:cs typeface="Helvetica Neue"/>
              </a:defRPr>
            </a:pPr>
            <a:r>
              <a:rPr sz="7650" b="1">
                <a:solidFill>
                  <a:srgbClr val="236C4E"/>
                </a:solidFill>
                <a:latin typeface="Helvetica Neue"/>
                <a:ea typeface="Helvetica Neue"/>
                <a:cs typeface="Helvetica Neue"/>
              </a:rPr>
              <a:t>10+</a:t>
            </a:r>
          </a:p>
        </p:txBody>
      </p:sp>
      <p:sp>
        <p:nvSpPr>
          <p:cNvPr id="8" name="v27-text-32">
            <a:extLst xmlns:a="http://schemas.openxmlformats.org/drawingml/2006/main">
              <a:ext uri="{FF2B5EF4-FFF2-40B4-BE49-F238E27FC236}">
                <a16:creationId xmlns:a16="http://schemas.microsoft.com/office/drawing/2014/main" id="{4B2BABC2-6450-40EC-B70F-D11DC084AD5E}"/>
              </a:ext>
            </a:extLst>
          </p:cNvPr>
          <p:cNvSpPr>
            <a:spLocks xmlns:a="http://schemas.openxmlformats.org/drawingml/2006/main" noGrp="1"/>
          </p:cNvSpPr>
          <p:nvPr/>
        </p:nvSpPr>
        <p:spPr>
          <a:xfrm xmlns:a="http://schemas.openxmlformats.org/drawingml/2006/main">
            <a:off x="6553200" y="32575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93C32"/>
                </a:solidFill>
                <a:latin typeface="Helvetica Neue"/>
                <a:ea typeface="Helvetica Neue"/>
                <a:cs typeface="Helvetica Neue"/>
              </a:defRPr>
            </a:defPPr>
          </a:lstStyle>
          <a:p xmlns:a="http://schemas.openxmlformats.org/drawingml/2006/main">
            <a:pPr algn="l">
              <a:defRPr sz="2550" b="1">
                <a:solidFill>
                  <a:srgbClr val="193C32"/>
                </a:solidFill>
                <a:latin typeface="Helvetica Neue"/>
                <a:ea typeface="Helvetica Neue"/>
                <a:cs typeface="Helvetica Neue"/>
              </a:defRPr>
            </a:pPr>
            <a:r>
              <a:rPr sz="2550" b="1">
                <a:solidFill>
                  <a:srgbClr val="193C32"/>
                </a:solidFill>
                <a:latin typeface="Helvetica Neue"/>
                <a:ea typeface="Helvetica Neue"/>
                <a:cs typeface="Helvetica Neue"/>
              </a:rPr>
              <a:t>YourCardare</a:t>
            </a:r>
          </a:p>
        </p:txBody>
      </p:sp>
      <p:sp>
        <p:nvSpPr>
          <p:cNvPr id="9" name="v27-text-33">
            <a:extLst xmlns:a="http://schemas.openxmlformats.org/drawingml/2006/main">
              <a:ext uri="{FF2B5EF4-FFF2-40B4-BE49-F238E27FC236}">
                <a16:creationId xmlns:a16="http://schemas.microsoft.com/office/drawing/2014/main" id="{4711A170-9F96-486F-B1B1-ADEC38729566}"/>
              </a:ext>
            </a:extLst>
          </p:cNvPr>
          <p:cNvSpPr>
            <a:spLocks xmlns:a="http://schemas.openxmlformats.org/drawingml/2006/main" noGrp="1"/>
          </p:cNvSpPr>
          <p:nvPr/>
        </p:nvSpPr>
        <p:spPr>
          <a:xfrm xmlns:a="http://schemas.openxmlformats.org/drawingml/2006/main">
            <a:off x="6553200" y="3800475"/>
            <a:ext cx="51435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93C32"/>
                </a:solidFill>
                <a:latin typeface="Helvetica Neue"/>
                <a:ea typeface="Helvetica Neue"/>
                <a:cs typeface="Helvetica Neue"/>
              </a:defRPr>
            </a:defPPr>
          </a:lstStyle>
          <a:p xmlns:a="http://schemas.openxmlformats.org/drawingml/2006/main">
            <a:pPr algn="l">
              <a:defRPr sz="2025" b="0">
                <a:solidFill>
                  <a:srgbClr val="193C32"/>
                </a:solidFill>
                <a:latin typeface="Helvetica Neue"/>
                <a:ea typeface="Helvetica Neue"/>
                <a:cs typeface="Helvetica Neue"/>
              </a:defRPr>
            </a:pPr>
            <a:r>
              <a:rPr sz="2025" b="0">
                <a:solidFill>
                  <a:srgbClr val="193C32"/>
                </a:solidFill>
                <a:latin typeface="Helvetica Neue"/>
                <a:ea typeface="Helvetica Neue"/>
                <a:cs typeface="Helvetica Neue"/>
              </a:rPr>
              <a:t>Regional back-office partner.</a:t>
            </a:r>
          </a:p>
          <a:p xmlns:a="http://schemas.openxmlformats.org/drawingml/2006/main">
            <a:pPr algn="l">
              <a:defRPr sz="2025" b="0">
                <a:solidFill>
                  <a:srgbClr val="193C32"/>
                </a:solidFill>
                <a:latin typeface="Helvetica Neue"/>
                <a:ea typeface="Helvetica Neue"/>
                <a:cs typeface="Helvetica Neue"/>
              </a:defRPr>
            </a:pPr>
            <a:r>
              <a:rPr sz="2025" b="0">
                <a:solidFill>
                  <a:srgbClr val="193C32"/>
                </a:solidFill>
                <a:latin typeface="Helvetica Neue"/>
                <a:ea typeface="Helvetica Neue"/>
                <a:cs typeface="Helvetica Neue"/>
              </a:rPr>
              <a:t>Another 10+ providers in the pipeline.</a:t>
            </a:r>
          </a:p>
        </p:txBody>
      </p:sp>
      <p:sp>
        <p:nvSpPr>
          <p:cNvPr id="10" name="v27-text-34">
            <a:extLst xmlns:a="http://schemas.openxmlformats.org/drawingml/2006/main">
              <a:ext uri="{FF2B5EF4-FFF2-40B4-BE49-F238E27FC236}">
                <a16:creationId xmlns:a16="http://schemas.microsoft.com/office/drawing/2014/main" id="{F1697D3A-CDEE-4E34-B96E-50E20D79BF32}"/>
              </a:ext>
            </a:extLst>
          </p:cNvPr>
          <p:cNvSpPr>
            <a:spLocks xmlns:a="http://schemas.openxmlformats.org/drawingml/2006/main" noGrp="1"/>
          </p:cNvSpPr>
          <p:nvPr/>
        </p:nvSpPr>
        <p:spPr>
          <a:xfrm xmlns:a="http://schemas.openxmlformats.org/drawingml/2006/main">
            <a:off x="495300" y="4914900"/>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93C32"/>
                </a:solidFill>
                <a:latin typeface="Helvetica Neue"/>
                <a:ea typeface="Helvetica Neue"/>
                <a:cs typeface="Helvetica Neue"/>
              </a:defRPr>
            </a:defPPr>
          </a:lstStyle>
          <a:p xmlns:a="http://schemas.openxmlformats.org/drawingml/2006/main">
            <a:pPr algn="l">
              <a:defRPr sz="2325" b="1">
                <a:solidFill>
                  <a:srgbClr val="193C32"/>
                </a:solidFill>
                <a:latin typeface="Helvetica Neue"/>
                <a:ea typeface="Helvetica Neue"/>
                <a:cs typeface="Helvetica Neue"/>
              </a:defRPr>
            </a:pPr>
            <a:r>
              <a:rPr sz="2325" b="1">
                <a:solidFill>
                  <a:srgbClr val="193C32"/>
                </a:solidFill>
                <a:latin typeface="Helvetica Neue"/>
                <a:ea typeface="Helvetica Neue"/>
                <a:cs typeface="Helvetica Neue"/>
              </a:rPr>
              <a:t>Next milestone: turn eligible agent requests into confirmed bookings</a:t>
            </a:r>
          </a:p>
        </p:txBody>
      </p:sp>
      <p:sp>
        <p:nvSpPr>
          <p:cNvPr id="11" name="v27-text-35">
            <a:extLst xmlns:a="http://schemas.openxmlformats.org/drawingml/2006/main">
              <a:ext uri="{FF2B5EF4-FFF2-40B4-BE49-F238E27FC236}">
                <a16:creationId xmlns:a16="http://schemas.microsoft.com/office/drawing/2014/main" id="{383220E3-CB4C-40A8-BC8E-40D2C06DF114}"/>
              </a:ext>
            </a:extLst>
          </p:cNvPr>
          <p:cNvSpPr>
            <a:spLocks xmlns:a="http://schemas.openxmlformats.org/drawingml/2006/main" noGrp="1"/>
          </p:cNvSpPr>
          <p:nvPr/>
        </p:nvSpPr>
        <p:spPr>
          <a:xfrm xmlns:a="http://schemas.openxmlformats.org/drawingml/2006/main">
            <a:off x="495300" y="5648325"/>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93C32"/>
                </a:solidFill>
                <a:latin typeface="Helvetica Neue"/>
                <a:ea typeface="Helvetica Neue"/>
                <a:cs typeface="Helvetica Neue"/>
              </a:defRPr>
            </a:defPPr>
          </a:lstStyle>
          <a:p xmlns:a="http://schemas.openxmlformats.org/drawingml/2006/main">
            <a:pPr algn="l">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Provider</a:t>
            </a:r>
          </a:p>
          <a:p xmlns:a="http://schemas.openxmlformats.org/drawingml/2006/main">
            <a:pPr algn="l">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introductions</a:t>
            </a:r>
          </a:p>
        </p:txBody>
      </p:sp>
      <p:sp>
        <p:nvSpPr>
          <p:cNvPr id="12" name="v27-text-36">
            <a:extLst xmlns:a="http://schemas.openxmlformats.org/drawingml/2006/main">
              <a:ext uri="{FF2B5EF4-FFF2-40B4-BE49-F238E27FC236}">
                <a16:creationId xmlns:a16="http://schemas.microsoft.com/office/drawing/2014/main" id="{6341BF38-1761-4079-BC8F-8130D8D93DBC}"/>
              </a:ext>
            </a:extLst>
          </p:cNvPr>
          <p:cNvSpPr>
            <a:spLocks xmlns:a="http://schemas.openxmlformats.org/drawingml/2006/main" noGrp="1"/>
          </p:cNvSpPr>
          <p:nvPr/>
        </p:nvSpPr>
        <p:spPr>
          <a:xfrm xmlns:a="http://schemas.openxmlformats.org/drawingml/2006/main">
            <a:off x="4362450" y="5648325"/>
            <a:ext cx="32099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93C32"/>
                </a:solidFill>
                <a:latin typeface="Helvetica Neue"/>
                <a:ea typeface="Helvetica Neue"/>
                <a:cs typeface="Helvetica Neue"/>
              </a:defRPr>
            </a:defPPr>
          </a:lstStyle>
          <a:p xmlns:a="http://schemas.openxmlformats.org/drawingml/2006/main">
            <a:pPr algn="l">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Onboard providers</a:t>
            </a:r>
          </a:p>
          <a:p xmlns:a="http://schemas.openxmlformats.org/drawingml/2006/main">
            <a:pPr algn="l">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and connect software</a:t>
            </a:r>
          </a:p>
        </p:txBody>
      </p:sp>
      <p:sp>
        <p:nvSpPr>
          <p:cNvPr id="13" name="v27-text-37">
            <a:extLst xmlns:a="http://schemas.openxmlformats.org/drawingml/2006/main">
              <a:ext uri="{FF2B5EF4-FFF2-40B4-BE49-F238E27FC236}">
                <a16:creationId xmlns:a16="http://schemas.microsoft.com/office/drawing/2014/main" id="{D4322935-603A-4E67-84FC-D6251CC32E27}"/>
              </a:ext>
            </a:extLst>
          </p:cNvPr>
          <p:cNvSpPr>
            <a:spLocks xmlns:a="http://schemas.openxmlformats.org/drawingml/2006/main" noGrp="1"/>
          </p:cNvSpPr>
          <p:nvPr/>
        </p:nvSpPr>
        <p:spPr>
          <a:xfrm xmlns:a="http://schemas.openxmlformats.org/drawingml/2006/main">
            <a:off x="8458200" y="5648325"/>
            <a:ext cx="323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236C4E"/>
                </a:solidFill>
                <a:latin typeface="Helvetica Neue"/>
                <a:ea typeface="Helvetica Neue"/>
                <a:cs typeface="Helvetica Neue"/>
              </a:defRPr>
            </a:defPPr>
          </a:lstStyle>
          <a:p xmlns:a="http://schemas.openxmlformats.org/drawingml/2006/main">
            <a:pPr algn="l">
              <a:defRPr sz="1950" b="1">
                <a:solidFill>
                  <a:srgbClr val="236C4E"/>
                </a:solidFill>
                <a:latin typeface="Helvetica Neue"/>
                <a:ea typeface="Helvetica Neue"/>
                <a:cs typeface="Helvetica Neue"/>
              </a:defRPr>
            </a:pPr>
            <a:r>
              <a:rPr sz="1950" b="1">
                <a:solidFill>
                  <a:srgbClr val="236C4E"/>
                </a:solidFill>
                <a:latin typeface="Helvetica Neue"/>
                <a:ea typeface="Helvetica Neue"/>
                <a:cs typeface="Helvetica Neue"/>
              </a:rPr>
              <a:t>Test customer-authorized</a:t>
            </a:r>
          </a:p>
          <a:p xmlns:a="http://schemas.openxmlformats.org/drawingml/2006/main">
            <a:pPr algn="l">
              <a:defRPr sz="1950" b="1">
                <a:solidFill>
                  <a:srgbClr val="236C4E"/>
                </a:solidFill>
                <a:latin typeface="Helvetica Neue"/>
                <a:ea typeface="Helvetica Neue"/>
                <a:cs typeface="Helvetica Neue"/>
              </a:defRPr>
            </a:pPr>
            <a:r>
              <a:rPr sz="1950" b="1">
                <a:solidFill>
                  <a:srgbClr val="236C4E"/>
                </a:solidFill>
                <a:latin typeface="Helvetica Neue"/>
                <a:ea typeface="Helvetica Neue"/>
                <a:cs typeface="Helvetica Neue"/>
              </a:rPr>
              <a:t>agent bookings</a:t>
            </a:r>
          </a:p>
        </p:txBody>
      </p:sp>
      <p:sp>
        <p:nvSpPr>
          <p:cNvPr id="16" name="v27-text-38">
            <a:extLst xmlns:a="http://schemas.openxmlformats.org/drawingml/2006/main">
              <a:ext uri="{FF2B5EF4-FFF2-40B4-BE49-F238E27FC236}">
                <a16:creationId xmlns:a16="http://schemas.microsoft.com/office/drawing/2014/main" id="{7B712574-D8EA-4A5A-92BC-0E40D7F3A96E}"/>
              </a:ext>
            </a:extLst>
          </p:cNvPr>
          <p:cNvSpPr>
            <a:spLocks xmlns:a="http://schemas.openxmlformats.org/drawingml/2006/main" noGrp="1"/>
          </p:cNvSpPr>
          <p:nvPr/>
        </p:nvSpPr>
        <p:spPr>
          <a:xfrm xmlns:a="http://schemas.openxmlformats.org/drawingml/2006/main">
            <a:off x="495300" y="6543675"/>
            <a:ext cx="10429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5746C"/>
                </a:solidFill>
                <a:latin typeface="Helvetica Neue"/>
                <a:ea typeface="Helvetica Neue"/>
                <a:cs typeface="Helvetica Neue"/>
              </a:defRPr>
            </a:defPPr>
          </a:lstStyle>
          <a:p xmlns:a="http://schemas.openxmlformats.org/drawingml/2006/main">
            <a:pPr algn="l">
              <a:defRPr sz="1050" b="0">
                <a:solidFill>
                  <a:srgbClr val="65746C"/>
                </a:solidFill>
                <a:latin typeface="Helvetica Neue"/>
                <a:ea typeface="Helvetica Neue"/>
                <a:cs typeface="Helvetica Neue"/>
              </a:defRPr>
            </a:pPr>
            <a:r>
              <a:rPr sz="1050" b="0">
                <a:solidFill>
                  <a:srgbClr val="65746C"/>
                </a:solidFill>
                <a:latin typeface="Helvetica Neue"/>
                <a:ea typeface="Helvetica Neue"/>
                <a:cs typeface="Helvetica Neue"/>
              </a:rPr>
              <a:t>Founder-reported pipeline. Introductions are not live supply. GoLocal bookings and paid demand remain unproven.</a:t>
            </a:r>
          </a:p>
        </p:txBody>
      </p:sp>
      <p:sp>
        <p:nvSpPr>
          <p:cNvPr id="17" name="v27-text-39">
            <a:extLst xmlns:a="http://schemas.openxmlformats.org/drawingml/2006/main">
              <a:ext uri="{FF2B5EF4-FFF2-40B4-BE49-F238E27FC236}">
                <a16:creationId xmlns:a16="http://schemas.microsoft.com/office/drawing/2014/main" id="{55AFBA45-A988-4AA9-9E76-851EFE96F69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5 / 6</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20" name="team-premium-0">
            <a:extLst xmlns:a="http://schemas.openxmlformats.org/drawingml/2006/main">
              <a:ext uri="{FF2B5EF4-FFF2-40B4-BE49-F238E27FC236}">
                <a16:creationId xmlns:a16="http://schemas.microsoft.com/office/drawing/2014/main" id="{FE086505-BCA8-42A1-A449-4AA38B3E9D3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TEAM</a:t>
            </a:r>
          </a:p>
        </p:txBody>
      </p:sp>
      <p:sp>
        <p:nvSpPr>
          <p:cNvPr id="2" name="team-premium-1">
            <a:extLst xmlns:a="http://schemas.openxmlformats.org/drawingml/2006/main">
              <a:ext uri="{FF2B5EF4-FFF2-40B4-BE49-F238E27FC236}">
                <a16:creationId xmlns:a16="http://schemas.microsoft.com/office/drawing/2014/main" id="{9137416B-2BE1-4055-BEEA-E988545DADB8}"/>
              </a:ext>
            </a:extLst>
          </p:cNvPr>
          <p:cNvSpPr>
            <a:spLocks xmlns:a="http://schemas.openxmlformats.org/drawingml/2006/main" noGrp="1"/>
          </p:cNvSpPr>
          <p:nvPr/>
        </p:nvSpPr>
        <p:spPr>
          <a:xfrm xmlns:a="http://schemas.openxmlformats.org/drawingml/2006/main">
            <a:off x="495300" y="619125"/>
            <a:ext cx="11201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93C32"/>
                </a:solidFill>
                <a:latin typeface="Helvetica Neue"/>
                <a:ea typeface="Helvetica Neue"/>
                <a:cs typeface="Helvetica Neue"/>
              </a:defRPr>
            </a:defPPr>
          </a:lstStyle>
          <a:p xmlns:a="http://schemas.openxmlformats.org/drawingml/2006/main">
            <a:pPr algn="l">
              <a:buNone/>
              <a:defRPr sz="3450" b="1">
                <a:solidFill>
                  <a:srgbClr val="193C32"/>
                </a:solidFill>
                <a:latin typeface="Helvetica Neue"/>
                <a:ea typeface="Helvetica Neue"/>
                <a:cs typeface="Helvetica Neue"/>
              </a:defRPr>
            </a:pPr>
            <a:r>
              <a:rPr sz="3450" b="1">
                <a:solidFill>
                  <a:srgbClr val="193C32"/>
                </a:solidFill>
                <a:latin typeface="Helvetica Neue"/>
                <a:ea typeface="Helvetica Neue"/>
                <a:cs typeface="Helvetica Neue"/>
              </a:rPr>
              <a:t>The team behind GoLocal</a:t>
            </a:r>
          </a:p>
        </p:txBody>
      </p:sp>
      <p:pic>
        <p:nvPicPr>
          <p:cNvPr id="3" name="Picture 2">
            <a:extLst xmlns:a="http://schemas.openxmlformats.org/drawingml/2006/main">
              <a:ext uri="{FF2B5EF4-FFF2-40B4-BE49-F238E27FC236}">
                <a16:creationId xmlns:a16="http://schemas.microsoft.com/office/drawing/2014/main" id="{31C86A3F-BAE1-4D73-ABDE-678919CBA48D}"/>
              </a:ext>
            </a:extLst>
          </p:cNvPr>
          <p:cNvPicPr>
            <a:picLocks xmlns:a="http://schemas.openxmlformats.org/drawingml/2006/main" noChangeAspect="1"/>
          </p:cNvPicPr>
          <p:nvPr/>
        </p:nvPicPr>
        <p:blipFill>
          <a:blip xmlns:r="http://schemas.openxmlformats.org/officeDocument/2006/relationships" xmlns:a="http://schemas.openxmlformats.org/drawingml/2006/main" r:embed="R9c354eeea72340be"/>
          <a:stretch xmlns:a="http://schemas.openxmlformats.org/drawingml/2006/main"/>
        </p:blipFill>
        <p:spPr>
          <a:xfrm xmlns:a="http://schemas.openxmlformats.org/drawingml/2006/main">
            <a:off x="495300" y="1666875"/>
            <a:ext cx="1257300" cy="1257300"/>
          </a:xfrm>
          <a:prstGeom xmlns:a="http://schemas.openxmlformats.org/drawingml/2006/main" prst="roundRect">
            <a:avLst>
              <a:gd name="adj" fmla="val 12121"/>
            </a:avLst>
          </a:prstGeom>
        </p:spPr>
      </p:pic>
      <p:pic>
        <p:nvPicPr>
          <p:cNvPr id="4" name="Picture 3">
            <a:extLst xmlns:a="http://schemas.openxmlformats.org/drawingml/2006/main">
              <a:ext uri="{FF2B5EF4-FFF2-40B4-BE49-F238E27FC236}">
                <a16:creationId xmlns:a16="http://schemas.microsoft.com/office/drawing/2014/main" id="{B91DC0E6-8AA3-4B26-87E5-270E4E0A926F}"/>
              </a:ext>
            </a:extLst>
          </p:cNvPr>
          <p:cNvPicPr>
            <a:picLocks xmlns:a="http://schemas.openxmlformats.org/drawingml/2006/main" noChangeAspect="1"/>
          </p:cNvPicPr>
          <p:nvPr/>
        </p:nvPicPr>
        <p:blipFill>
          <a:blip xmlns:r="http://schemas.openxmlformats.org/officeDocument/2006/relationships" xmlns:a="http://schemas.openxmlformats.org/drawingml/2006/main" r:embed="Rf093c88bb03b444a"/>
          <a:stretch xmlns:a="http://schemas.openxmlformats.org/drawingml/2006/main"/>
        </p:blipFill>
        <p:spPr>
          <a:xfrm xmlns:a="http://schemas.openxmlformats.org/drawingml/2006/main">
            <a:off x="6553200" y="1666875"/>
            <a:ext cx="1257300" cy="1257300"/>
          </a:xfrm>
          <a:prstGeom xmlns:a="http://schemas.openxmlformats.org/drawingml/2006/main" prst="roundRect">
            <a:avLst>
              <a:gd name="adj" fmla="val 12121"/>
            </a:avLst>
          </a:prstGeom>
        </p:spPr>
      </p:pic>
      <p:sp>
        <p:nvSpPr>
          <p:cNvPr id="5" name="team-premium-2">
            <a:extLst xmlns:a="http://schemas.openxmlformats.org/drawingml/2006/main">
              <a:ext uri="{FF2B5EF4-FFF2-40B4-BE49-F238E27FC236}">
                <a16:creationId xmlns:a16="http://schemas.microsoft.com/office/drawing/2014/main" id="{6876597E-8A94-49AA-A5D1-9C782D39AE84}"/>
              </a:ext>
            </a:extLst>
          </p:cNvPr>
          <p:cNvSpPr>
            <a:spLocks xmlns:a="http://schemas.openxmlformats.org/drawingml/2006/main" noGrp="1"/>
          </p:cNvSpPr>
          <p:nvPr/>
        </p:nvSpPr>
        <p:spPr>
          <a:xfrm xmlns:a="http://schemas.openxmlformats.org/drawingml/2006/main">
            <a:off x="2000250" y="1666875"/>
            <a:ext cx="2667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Pulkit Walia</a:t>
            </a:r>
          </a:p>
        </p:txBody>
      </p:sp>
      <p:sp>
        <p:nvSpPr>
          <p:cNvPr id="6" name="team-premium-3">
            <a:extLst xmlns:a="http://schemas.openxmlformats.org/drawingml/2006/main">
              <a:ext uri="{FF2B5EF4-FFF2-40B4-BE49-F238E27FC236}">
                <a16:creationId xmlns:a16="http://schemas.microsoft.com/office/drawing/2014/main" id="{9C6B3158-020C-4CA1-863B-72B584401299}"/>
              </a:ext>
            </a:extLst>
          </p:cNvPr>
          <p:cNvSpPr>
            <a:spLocks xmlns:a="http://schemas.openxmlformats.org/drawingml/2006/main" noGrp="1"/>
          </p:cNvSpPr>
          <p:nvPr/>
        </p:nvSpPr>
        <p:spPr>
          <a:xfrm xmlns:a="http://schemas.openxmlformats.org/drawingml/2006/main">
            <a:off x="2000250" y="2152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236C4E"/>
                </a:solidFill>
                <a:latin typeface="Helvetica Neue"/>
                <a:ea typeface="Helvetica Neue"/>
                <a:cs typeface="Helvetica Neue"/>
              </a:defRPr>
            </a:defPPr>
          </a:lstStyle>
          <a:p xmlns:a="http://schemas.openxmlformats.org/drawingml/2006/main">
            <a:pPr algn="l">
              <a:buNone/>
              <a:defRPr sz="1725" b="1">
                <a:solidFill>
                  <a:srgbClr val="236C4E"/>
                </a:solidFill>
                <a:latin typeface="Helvetica Neue"/>
                <a:ea typeface="Helvetica Neue"/>
                <a:cs typeface="Helvetica Neue"/>
              </a:defRPr>
            </a:pPr>
            <a:r>
              <a:rPr sz="1725" b="1">
                <a:solidFill>
                  <a:srgbClr val="236C4E"/>
                </a:solidFill>
                <a:latin typeface="Helvetica Neue"/>
                <a:ea typeface="Helvetica Neue"/>
                <a:cs typeface="Helvetica Neue"/>
              </a:rPr>
              <a:t>Operations and Partnerships</a:t>
            </a:r>
          </a:p>
        </p:txBody>
      </p:sp>
      <p:sp>
        <p:nvSpPr>
          <p:cNvPr id="7" name="team-premium-4">
            <a:extLst xmlns:a="http://schemas.openxmlformats.org/drawingml/2006/main">
              <a:ext uri="{FF2B5EF4-FFF2-40B4-BE49-F238E27FC236}">
                <a16:creationId xmlns:a16="http://schemas.microsoft.com/office/drawing/2014/main" id="{2FF1F676-1DD0-4611-B3A3-B0D7011C83D2}"/>
              </a:ext>
            </a:extLst>
          </p:cNvPr>
          <p:cNvSpPr>
            <a:spLocks xmlns:a="http://schemas.openxmlformats.org/drawingml/2006/main" noGrp="1"/>
          </p:cNvSpPr>
          <p:nvPr/>
        </p:nvSpPr>
        <p:spPr>
          <a:xfrm xmlns:a="http://schemas.openxmlformats.org/drawingml/2006/main">
            <a:off x="4905375" y="1781175"/>
            <a:ext cx="904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eb77a0d0dc0c4879"/>
              </a:rPr>
              <a:t>LinkedIn</a:t>
            </a:r>
          </a:p>
        </p:txBody>
      </p:sp>
      <p:sp>
        <p:nvSpPr>
          <p:cNvPr id="8" name="team-premium-5">
            <a:extLst xmlns:a="http://schemas.openxmlformats.org/drawingml/2006/main">
              <a:ext uri="{FF2B5EF4-FFF2-40B4-BE49-F238E27FC236}">
                <a16:creationId xmlns:a16="http://schemas.microsoft.com/office/drawing/2014/main" id="{1AD92C3B-A22F-4FAD-976E-8B7E9098971D}"/>
              </a:ext>
            </a:extLst>
          </p:cNvPr>
          <p:cNvSpPr>
            <a:spLocks xmlns:a="http://schemas.openxmlformats.org/drawingml/2006/main" noGrp="1"/>
          </p:cNvSpPr>
          <p:nvPr/>
        </p:nvSpPr>
        <p:spPr>
          <a:xfrm xmlns:a="http://schemas.openxmlformats.org/drawingml/2006/main">
            <a:off x="8058150" y="1666875"/>
            <a:ext cx="1952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Rohit Jain</a:t>
            </a:r>
          </a:p>
        </p:txBody>
      </p:sp>
      <p:sp>
        <p:nvSpPr>
          <p:cNvPr id="9" name="team-premium-6">
            <a:extLst xmlns:a="http://schemas.openxmlformats.org/drawingml/2006/main">
              <a:ext uri="{FF2B5EF4-FFF2-40B4-BE49-F238E27FC236}">
                <a16:creationId xmlns:a16="http://schemas.microsoft.com/office/drawing/2014/main" id="{1CBA991C-4205-4F04-8D91-8911AF4B864B}"/>
              </a:ext>
            </a:extLst>
          </p:cNvPr>
          <p:cNvSpPr>
            <a:spLocks xmlns:a="http://schemas.openxmlformats.org/drawingml/2006/main" noGrp="1"/>
          </p:cNvSpPr>
          <p:nvPr/>
        </p:nvSpPr>
        <p:spPr>
          <a:xfrm xmlns:a="http://schemas.openxmlformats.org/drawingml/2006/main">
            <a:off x="8058150" y="2152650"/>
            <a:ext cx="176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36C4E"/>
                </a:solidFill>
                <a:latin typeface="Helvetica Neue"/>
                <a:ea typeface="Helvetica Neue"/>
                <a:cs typeface="Helvetica Neue"/>
              </a:defRPr>
            </a:defPPr>
          </a:lstStyle>
          <a:p xmlns:a="http://schemas.openxmlformats.org/drawingml/2006/main">
            <a:pPr algn="l">
              <a:buNone/>
              <a:defRPr sz="1800" b="1">
                <a:solidFill>
                  <a:srgbClr val="236C4E"/>
                </a:solidFill>
                <a:latin typeface="Helvetica Neue"/>
                <a:ea typeface="Helvetica Neue"/>
                <a:cs typeface="Helvetica Neue"/>
              </a:defRPr>
            </a:pPr>
            <a:r>
              <a:rPr sz="1800" b="1">
                <a:solidFill>
                  <a:srgbClr val="236C4E"/>
                </a:solidFill>
                <a:latin typeface="Helvetica Neue"/>
                <a:ea typeface="Helvetica Neue"/>
                <a:cs typeface="Helvetica Neue"/>
              </a:rPr>
              <a:t>Engineering</a:t>
            </a:r>
          </a:p>
        </p:txBody>
      </p:sp>
      <p:sp>
        <p:nvSpPr>
          <p:cNvPr id="10" name="team-premium-7">
            <a:extLst xmlns:a="http://schemas.openxmlformats.org/drawingml/2006/main">
              <a:ext uri="{FF2B5EF4-FFF2-40B4-BE49-F238E27FC236}">
                <a16:creationId xmlns:a16="http://schemas.microsoft.com/office/drawing/2014/main" id="{80658FC1-CD06-49AB-A436-A48065CD7CE3}"/>
              </a:ext>
            </a:extLst>
          </p:cNvPr>
          <p:cNvSpPr>
            <a:spLocks xmlns:a="http://schemas.openxmlformats.org/drawingml/2006/main" noGrp="1"/>
          </p:cNvSpPr>
          <p:nvPr/>
        </p:nvSpPr>
        <p:spPr>
          <a:xfrm xmlns:a="http://schemas.openxmlformats.org/drawingml/2006/main">
            <a:off x="10125075" y="1781175"/>
            <a:ext cx="1238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84daa97c484a442b"/>
              </a:rPr>
              <a:t>LinkedIn</a:t>
            </a:r>
          </a:p>
        </p:txBody>
      </p:sp>
      <p:pic>
        <p:nvPicPr>
          <p:cNvPr id="11" name="Picture 10">
            <a:extLst xmlns:a="http://schemas.openxmlformats.org/drawingml/2006/main">
              <a:ext uri="{FF2B5EF4-FFF2-40B4-BE49-F238E27FC236}">
                <a16:creationId xmlns:a16="http://schemas.microsoft.com/office/drawing/2014/main" id="{68F70212-4576-4560-8A75-E2A45506D174}"/>
              </a:ext>
            </a:extLst>
          </p:cNvPr>
          <p:cNvPicPr>
            <a:picLocks xmlns:a="http://schemas.openxmlformats.org/drawingml/2006/main" noChangeAspect="1"/>
          </p:cNvPicPr>
          <p:nvPr/>
        </p:nvPicPr>
        <p:blipFill>
          <a:blip xmlns:r="http://schemas.openxmlformats.org/officeDocument/2006/relationships" xmlns:a="http://schemas.openxmlformats.org/drawingml/2006/main" r:embed="Rfc548af86e964f34"/>
          <a:stretch xmlns:a="http://schemas.openxmlformats.org/drawingml/2006/main"/>
        </p:blipFill>
        <p:spPr>
          <a:xfrm xmlns:a="http://schemas.openxmlformats.org/drawingml/2006/main">
            <a:off x="2000250" y="2619375"/>
            <a:ext cx="419100" cy="419100"/>
          </a:xfrm>
          <a:prstGeom xmlns:a="http://schemas.openxmlformats.org/drawingml/2006/main" prst="rect">
            <a:avLst/>
          </a:prstGeom>
        </p:spPr>
      </p:pic>
      <p:sp>
        <p:nvSpPr>
          <p:cNvPr id="12" name="team-premium-8">
            <a:extLst xmlns:a="http://schemas.openxmlformats.org/drawingml/2006/main">
              <a:ext uri="{FF2B5EF4-FFF2-40B4-BE49-F238E27FC236}">
                <a16:creationId xmlns:a16="http://schemas.microsoft.com/office/drawing/2014/main" id="{7E3CA637-624D-4AAD-8E83-02E285C48BB3}"/>
              </a:ext>
            </a:extLst>
          </p:cNvPr>
          <p:cNvSpPr>
            <a:spLocks xmlns:a="http://schemas.openxmlformats.org/drawingml/2006/main" noGrp="1"/>
          </p:cNvSpPr>
          <p:nvPr/>
        </p:nvSpPr>
        <p:spPr>
          <a:xfrm xmlns:a="http://schemas.openxmlformats.org/drawingml/2006/main">
            <a:off x="2571750" y="2600325"/>
            <a:ext cx="3333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46C"/>
                </a:solidFill>
                <a:latin typeface="Helvetica Neue"/>
                <a:ea typeface="Helvetica Neue"/>
                <a:cs typeface="Helvetica Neue"/>
              </a:defRPr>
            </a:defPPr>
          </a:lstStyle>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Harvard Business School</a:t>
            </a:r>
          </a:p>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MBA</a:t>
            </a:r>
          </a:p>
        </p:txBody>
      </p:sp>
      <p:pic>
        <p:nvPicPr>
          <p:cNvPr id="13" name="Picture 12">
            <a:extLst xmlns:a="http://schemas.openxmlformats.org/drawingml/2006/main">
              <a:ext uri="{FF2B5EF4-FFF2-40B4-BE49-F238E27FC236}">
                <a16:creationId xmlns:a16="http://schemas.microsoft.com/office/drawing/2014/main" id="{F90C8683-6F8D-4985-AEB2-FD4CCCF34EAB}"/>
              </a:ext>
            </a:extLst>
          </p:cNvPr>
          <p:cNvPicPr>
            <a:picLocks xmlns:a="http://schemas.openxmlformats.org/drawingml/2006/main" noChangeAspect="1"/>
          </p:cNvPicPr>
          <p:nvPr/>
        </p:nvPicPr>
        <p:blipFill>
          <a:blip xmlns:r="http://schemas.openxmlformats.org/officeDocument/2006/relationships" xmlns:a="http://schemas.openxmlformats.org/drawingml/2006/main" r:embed="R8ac8d5d23dbf4a56"/>
          <a:stretch xmlns:a="http://schemas.openxmlformats.org/drawingml/2006/main"/>
        </p:blipFill>
        <p:spPr>
          <a:xfrm xmlns:a="http://schemas.openxmlformats.org/drawingml/2006/main">
            <a:off x="8058150" y="2582466"/>
            <a:ext cx="342900" cy="321469"/>
          </a:xfrm>
          <a:prstGeom xmlns:a="http://schemas.openxmlformats.org/drawingml/2006/main" prst="rect">
            <a:avLst/>
          </a:prstGeom>
        </p:spPr>
      </p:pic>
      <p:sp>
        <p:nvSpPr>
          <p:cNvPr id="14" name="team-premium-9">
            <a:extLst xmlns:a="http://schemas.openxmlformats.org/drawingml/2006/main">
              <a:ext uri="{FF2B5EF4-FFF2-40B4-BE49-F238E27FC236}">
                <a16:creationId xmlns:a16="http://schemas.microsoft.com/office/drawing/2014/main" id="{5E028DA2-DD30-40E0-BD52-F0FD217B419C}"/>
              </a:ext>
            </a:extLst>
          </p:cNvPr>
          <p:cNvSpPr>
            <a:spLocks xmlns:a="http://schemas.openxmlformats.org/drawingml/2006/main" noGrp="1"/>
          </p:cNvSpPr>
          <p:nvPr/>
        </p:nvSpPr>
        <p:spPr>
          <a:xfrm xmlns:a="http://schemas.openxmlformats.org/drawingml/2006/main">
            <a:off x="8553450" y="2609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Texas A&amp;M, Computer Science</a:t>
            </a:r>
          </a:p>
        </p:txBody>
      </p:sp>
      <p:pic>
        <p:nvPicPr>
          <p:cNvPr id="15" name="Picture 14">
            <a:extLst xmlns:a="http://schemas.openxmlformats.org/drawingml/2006/main">
              <a:ext uri="{FF2B5EF4-FFF2-40B4-BE49-F238E27FC236}">
                <a16:creationId xmlns:a16="http://schemas.microsoft.com/office/drawing/2014/main" id="{664AB3B2-C47F-4EB5-8A09-E258793F9DC4}"/>
              </a:ext>
            </a:extLst>
          </p:cNvPr>
          <p:cNvPicPr>
            <a:picLocks xmlns:a="http://schemas.openxmlformats.org/drawingml/2006/main" noChangeAspect="1"/>
          </p:cNvPicPr>
          <p:nvPr/>
        </p:nvPicPr>
        <p:blipFill>
          <a:blip xmlns:r="http://schemas.openxmlformats.org/officeDocument/2006/relationships" xmlns:a="http://schemas.openxmlformats.org/drawingml/2006/main" r:embed="R526999aa3ea14170"/>
          <a:stretch xmlns:a="http://schemas.openxmlformats.org/drawingml/2006/main"/>
        </p:blipFill>
        <p:spPr>
          <a:xfrm xmlns:a="http://schemas.openxmlformats.org/drawingml/2006/main">
            <a:off x="8058150" y="3043707"/>
            <a:ext cx="342900" cy="256237"/>
          </a:xfrm>
          <a:prstGeom xmlns:a="http://schemas.openxmlformats.org/drawingml/2006/main" prst="rect">
            <a:avLst/>
          </a:prstGeom>
        </p:spPr>
      </p:pic>
      <p:sp>
        <p:nvSpPr>
          <p:cNvPr id="16" name="team-premium-10">
            <a:extLst xmlns:a="http://schemas.openxmlformats.org/drawingml/2006/main">
              <a:ext uri="{FF2B5EF4-FFF2-40B4-BE49-F238E27FC236}">
                <a16:creationId xmlns:a16="http://schemas.microsoft.com/office/drawing/2014/main" id="{819BCC42-91C4-4913-9152-2C5ECF6DEEC2}"/>
              </a:ext>
            </a:extLst>
          </p:cNvPr>
          <p:cNvSpPr>
            <a:spLocks xmlns:a="http://schemas.openxmlformats.org/drawingml/2006/main" noGrp="1"/>
          </p:cNvSpPr>
          <p:nvPr/>
        </p:nvSpPr>
        <p:spPr>
          <a:xfrm xmlns:a="http://schemas.openxmlformats.org/drawingml/2006/main">
            <a:off x="8553450" y="30384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IIT Kharagpur</a:t>
            </a:r>
          </a:p>
        </p:txBody>
      </p:sp>
      <p:sp>
        <p:nvSpPr>
          <p:cNvPr id="17" name="team-premium-11">
            <a:extLst xmlns:a="http://schemas.openxmlformats.org/drawingml/2006/main">
              <a:ext uri="{FF2B5EF4-FFF2-40B4-BE49-F238E27FC236}">
                <a16:creationId xmlns:a16="http://schemas.microsoft.com/office/drawing/2014/main" id="{9CD3FA75-DADB-42A0-B21B-2091DEF33B7E}"/>
              </a:ext>
            </a:extLst>
          </p:cNvPr>
          <p:cNvSpPr>
            <a:spLocks xmlns:a="http://schemas.openxmlformats.org/drawingml/2006/main" noGrp="1"/>
          </p:cNvSpPr>
          <p:nvPr/>
        </p:nvSpPr>
        <p:spPr>
          <a:xfrm xmlns:a="http://schemas.openxmlformats.org/drawingml/2006/main">
            <a:off x="495300" y="3686175"/>
            <a:ext cx="531495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Urban Company founding team member. Helped build the marketplace from launch to a $3B IPO.</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Launched a home security brand at 19 and grew revenue to $700K.</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Bessemer Venture Partners investor. Deployed $50M in consumer AI startups.</a:t>
            </a:r>
          </a:p>
        </p:txBody>
      </p:sp>
      <p:sp>
        <p:nvSpPr>
          <p:cNvPr id="18" name="team-premium-12">
            <a:extLst xmlns:a="http://schemas.openxmlformats.org/drawingml/2006/main">
              <a:ext uri="{FF2B5EF4-FFF2-40B4-BE49-F238E27FC236}">
                <a16:creationId xmlns:a16="http://schemas.microsoft.com/office/drawing/2014/main" id="{B74F479A-3BCE-4289-B4A2-D3F3E0BC7DCD}"/>
              </a:ext>
            </a:extLst>
          </p:cNvPr>
          <p:cNvSpPr>
            <a:spLocks xmlns:a="http://schemas.openxmlformats.org/drawingml/2006/main" noGrp="1"/>
          </p:cNvSpPr>
          <p:nvPr/>
        </p:nvSpPr>
        <p:spPr>
          <a:xfrm xmlns:a="http://schemas.openxmlformats.org/drawingml/2006/main">
            <a:off x="6553200" y="3686175"/>
            <a:ext cx="5143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5 years as a senior software engineer at Amazon, Square and Citrix.</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Taught system design to 2,500 engineers on Udemy.</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MCP integrations for production use.</a:t>
            </a:r>
          </a:p>
        </p:txBody>
      </p:sp>
      <p:sp>
        <p:nvSpPr>
          <p:cNvPr id="19" name="team-premium-13">
            <a:extLst xmlns:a="http://schemas.openxmlformats.org/drawingml/2006/main">
              <a:ext uri="{FF2B5EF4-FFF2-40B4-BE49-F238E27FC236}">
                <a16:creationId xmlns:a16="http://schemas.microsoft.com/office/drawing/2014/main" id="{00C72333-1F4A-4A90-AEBE-E98E7D08609E}"/>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6 / 6</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2026-10-11T01:24:35.1350000Z</dcterms:created>
  <dcterms:modified xsi:type="dcterms:W3CDTF">2026-10-11T01:24:35.1350000Z</dcterms:modified>
</coreProperties>
</file>