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da935fa88f486c" /><Relationship Type="http://schemas.openxmlformats.org/officeDocument/2006/relationships/extended-properties" Target="/docProps/app.xml" Id="Rb962b19f508640ac" /><Relationship Type="http://schemas.openxmlformats.org/officeDocument/2006/relationships/officeDocument" Target="/ppt/presentation.xml" Id="R4fb0987e170d4e84" /></Relationships>
</file>

<file path=ppt/presentation.xml><?xml version="1.0" encoding="utf-8"?>
<p:presentation xmlns:p="http://schemas.openxmlformats.org/presentationml/2006/main">
  <p:sldMasterIdLst>
    <p:sldMasterId xmlns:r="http://schemas.openxmlformats.org/officeDocument/2006/relationships" id="2147483648" r:id="Rfb2607cb57624701"/>
  </p:sldMasterIdLst>
  <p:notesMasterIdLst>
    <p:notesMasterId xmlns:r="http://schemas.openxmlformats.org/officeDocument/2006/relationships" r:id="R8b3e3e2935c24444"/>
  </p:notesMasterIdLst>
  <p:sldIdLst>
    <p:sldId xmlns:r="http://schemas.openxmlformats.org/officeDocument/2006/relationships" id="256" r:id="Ra9e1be89ce3f43ab"/>
    <p:sldId xmlns:r="http://schemas.openxmlformats.org/officeDocument/2006/relationships" id="257" r:id="R894f181b5c7e4f78"/>
    <p:sldId xmlns:r="http://schemas.openxmlformats.org/officeDocument/2006/relationships" id="258" r:id="R0848ec8b444743c2"/>
    <p:sldId xmlns:r="http://schemas.openxmlformats.org/officeDocument/2006/relationships" id="259" r:id="Rf64710454f2f42c1"/>
    <p:sldId xmlns:r="http://schemas.openxmlformats.org/officeDocument/2006/relationships" id="260" r:id="R96062acaa65f4ea7"/>
    <p:sldId xmlns:r="http://schemas.openxmlformats.org/officeDocument/2006/relationships" id="261" r:id="R2548168acdca45eb"/>
    <p:sldId xmlns:r="http://schemas.openxmlformats.org/officeDocument/2006/relationships" id="262" r:id="R524a1a032fff4846"/>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de8023adc194af0" /><Relationship Type="http://schemas.openxmlformats.org/officeDocument/2006/relationships/slideMaster" Target="/ppt/slideMasters/slideMaster1.xml" Id="Rfb2607cb57624701" /><Relationship Type="http://schemas.openxmlformats.org/officeDocument/2006/relationships/notesMaster" Target="/ppt/notesMasters/notesMaster1.xml" Id="R8b3e3e2935c24444" /><Relationship Type="http://schemas.openxmlformats.org/officeDocument/2006/relationships/presProps" Target="/ppt/presProps.xml" Id="Re634e3c6c2a14130" /><Relationship Type="http://schemas.openxmlformats.org/officeDocument/2006/relationships/viewProps" Target="/ppt/viewProps.xml" Id="R52f7e7f7d402457f" /><Relationship Type="http://schemas.openxmlformats.org/officeDocument/2006/relationships/tableStyles" Target="/ppt/tableStyles.xml" Id="R26722d2b8a5744ec" /><Relationship Type="http://schemas.openxmlformats.org/officeDocument/2006/relationships/slide" Target="/ppt/slides/slide1.xml" Id="Ra9e1be89ce3f43ab" /><Relationship Type="http://schemas.openxmlformats.org/officeDocument/2006/relationships/slide" Target="/ppt/slides/slide2.xml" Id="R894f181b5c7e4f78" /><Relationship Type="http://schemas.openxmlformats.org/officeDocument/2006/relationships/slide" Target="/ppt/slides/slide3.xml" Id="R0848ec8b444743c2" /><Relationship Type="http://schemas.openxmlformats.org/officeDocument/2006/relationships/slide" Target="/ppt/slides/slide4.xml" Id="Rf64710454f2f42c1" /><Relationship Type="http://schemas.openxmlformats.org/officeDocument/2006/relationships/slide" Target="/ppt/slides/slide5.xml" Id="R96062acaa65f4ea7" /><Relationship Type="http://schemas.openxmlformats.org/officeDocument/2006/relationships/slide" Target="/ppt/slides/slide6.xml" Id="R2548168acdca45eb" /><Relationship Type="http://schemas.openxmlformats.org/officeDocument/2006/relationships/slide" Target="/ppt/slides/slide7.xml" Id="R524a1a032fff48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88349a5dbc47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2a9cafaff34aac" /><Relationship Type="http://schemas.openxmlformats.org/officeDocument/2006/relationships/notesMaster" Target="/ppt/notesMasters/notesMaster1.xml" Id="R870c81dc64a342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97ac105f554e3c" /><Relationship Type="http://schemas.openxmlformats.org/officeDocument/2006/relationships/notesMaster" Target="/ppt/notesMasters/notesMaster1.xml" Id="Rdc6254f6476242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ce72f4184c4ecb" /><Relationship Type="http://schemas.openxmlformats.org/officeDocument/2006/relationships/notesMaster" Target="/ppt/notesMasters/notesMaster1.xml" Id="R26dd01e714d144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d749347abe4082" /><Relationship Type="http://schemas.openxmlformats.org/officeDocument/2006/relationships/notesMaster" Target="/ppt/notesMasters/notesMaster1.xml" Id="R534ea16f70c044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a2fbfe2dba49d9" /><Relationship Type="http://schemas.openxmlformats.org/officeDocument/2006/relationships/notesMaster" Target="/ppt/notesMasters/notesMaster1.xml" Id="R8db066c485ab45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8441d724754115" /><Relationship Type="http://schemas.openxmlformats.org/officeDocument/2006/relationships/notesMaster" Target="/ppt/notesMasters/notesMaster1.xml" Id="Re3a31de1724243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e0ca141ef244f0" /><Relationship Type="http://schemas.openxmlformats.org/officeDocument/2006/relationships/notesMaster" Target="/ppt/notesMasters/notesMaster1.xml" Id="R000cd06f66d94c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 local services, booked by your personal agent. Proposed shared booking layer connecting personal agents and participating local businesses. Original neighborhood illustration from the user-supplied golocal-sharks-pitch.pptx, used as visual reference. Current product proposition retained. Image is conceptual artwork, not evidence of live providers or operations.</a:t>
            </a:r>
          </a:p>
          <a:p xmlns:a="http://schemas.openxmlformats.org/drawingml/2006/main">
            <a:r>
              <a:t>Cover artwork edited with the built-in image-generation tool at the founder’s request to add a lawn-mowing worker and a roofer. Conceptual illustration, not a photograph of live operations. Source artwork retained; versioned edited asset: output/imagegen/golocal-cover-v33.png.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thesis clarified in annotation on October 10, 2026: customers historically explained and scoped a local-service job through calls with providers before obtaining quotes or scheduling. Personal agents can now help scope a job in conversation with the customer and use live provider data to seek quotes and execute authorized bookings. This creates a new use for a shared live local-business data layer. The claim concerns fragmented access across agents, businesses and existing software, not an absence of provider databases or APIs. Live data was already useful to businesses; the new opportunity is making it usable by delegated agents.</a:t>
            </a:r>
          </a:p>
          <a:p xmlns:a="http://schemas.openxmlformats.org/drawingml/2006/main">
            <a:r>
              <a:t>The proposed layer exposes merchant-authorized service definitions, coverage, pricing or quoting rules and current availability, linked to supported booking and payment actions. Read-only data alone cannot confirm a booking. Complex jobs can still require provider review or a site visit; agent scoping does not guarantee a final price. User approval, merchant permissions and reliable transaction execution remain necessary.</a:t>
            </a:r>
          </a:p>
          <a:p xmlns:a="http://schemas.openxmlformats.org/drawingml/2006/main">
            <a:r>
              <a:t>The dates describe illustrative eras rather than launch dates or universal capabilities. The scope row indicates conversational assistance, not full technical diagnosis for every service. The final two task rows are Get quotes &amp; schedule and Book &amp; pay. The missing shared live layer enables those actions across participating providers. Capturing value through completed bookings is the business hypothesis, not a measured outcome.</a:t>
            </a:r>
          </a:p>
          <a:p xmlns:a="http://schemas.openxmlformats.org/drawingml/2006/main">
            <a:r>
              <a:t>Market context: about $1.19T rounded to $1.2T in underlying annual U.S. spending across home improvement/repair (~$600B, including materials and DIY), auto maintenance/repair ($283.802B), personal care/clothing services ($239.558B) and child day care ($65.547B). Mixed years and measures, not GoLocal transactionable volume or fee revenue. Supporting calculation: resources/local-services-tam-2026-10-10.md.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GoLocal's intended product combines participating provider supply with structured booking execution. The diagram describes the proposed architecture, not currently deployed integrations. Software segments overlap and each category has a different mix. Merchant authorization, vendor permissions and supported operations are required. Agents and frameworks shown are ecosystem examples, not signed distribution partners.</a:t>
            </a:r>
          </a:p>
          <a:p xmlns:a="http://schemas.openxmlformats.org/drawingml/2006/main">
            <a:r>
              <a:t>100+ plumbing software products: conservative directory count supplied in resources/plumbing-vendor-depth-evidence-2026-10-10.json. https://www.softwareadvice.com/field-service/plumbing-software-comparison/ . This is not a count of production booking APIs. Official examples: https://buildops.com/industries/plumbing ; https://www.simprogroup.com/industries/plumbing-software ; https://www.servicefusion.com/plumbing-software ; https://www.joblogic.com/industries/plumbing-software/ ; https://www.kickserv.com/industries/plumbing .</a:t>
            </a:r>
          </a:p>
          <a:p xmlns:a="http://schemas.openxmlformats.org/drawingml/2006/main">
            <a:r>
              <a:t>$2B+ is the supplied selected-company funding total, not funding for every pictured product or evidence of local-service demand: Hark over $700M, Instinct $1B Series C plus $350M previously reported total, Town $55M Series A. Source record: resources/agent-funding-evidence-2026-10-10.json. https://hark.com/articles/hark-announces-usd700-million-fundraising-round ; https://www.businesswire.com/news/home/20260928153437/en/ ; https://techcrunch.com/2026/08/26/viral-ai-startup-instinct-has-raised-350-million-at-a-2-5-billion-valuation/ ; https://www.town.com/press/series-a . Original supplied agent logos retained.</a:t>
            </a:r>
          </a:p>
          <a:p xmlns:a="http://schemas.openxmlformats.org/drawingml/2006/main">
            <a:r>
              <a:t>Why a shared layer: recruiting supply, normalizing different workflows and handling booking state can save each agent company from repeating that work. Supplier coverage and reliable execution are the proposed differentiation. Distribution and economics remain to be proven.</a:t>
            </a:r>
          </a:p>
          <a:p xmlns:a="http://schemas.openxmlformats.org/drawingml/2006/main">
            <a:r>
              <a:t>Display uses fewer representative vendor names per segment for clarity. This does not narrow the proposed integration scope or assert vendor exclusivity. Other examples retained in prior evidence include Probook AI, Service Fusion, Commusoft, Joblogic, Kickserv and Topline Pro. Vendor suitability and access remain to be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comparison thesis: current agents can help scope a customer request but often must search listings, browse provider sites and call businesses to obtain real prices and availability. Calling two or three businesses is an illustrative constrained search, not an empirical average or a universal limit. Such a search can miss providers with a better fit on price, availability or specialization. Repeated browsing and voice/tool interactions consume tokens; no token-cost baseline, benchmark or measured savings have been established.</a:t>
            </a:r>
          </a:p>
          <a:p xmlns:a="http://schemas.openxmlformats.org/drawingml/2006/main">
            <a:r>
              <a:t>GoLocal's intended delta is shared access to authorized live provider data, allowing broad comparison of service coverage, current slots, merchant pricing or visit fees, specialization, transaction history and past transaction reviews where available and permitted. Hundreds of connected businesses and matching in a fraction of a second are product scale and lookup-latency targets. They are not current provider counts or measured performance, and the speed target is not for full scoping, merchant quote response, payment or booking execution. Best fit means a match to the customer's expressed needs and preferences, not a guarantee of the globally lowest price or best provider. Proposed transaction-review data access and relevance remain to be validated.</a:t>
            </a:r>
          </a:p>
          <a:p xmlns:a="http://schemas.openxmlformats.org/drawingml/2006/main">
            <a:r>
              <a:t>The subsequent journey retains the approved Salt Lake City plumbing example. Oak Plumbing, the $79 diagnostic visit, 9–11 am slot and booking GL-1042 are fictional. The customer approves provider, visit fee and payment authorization before execution. Authorization is not payment capture. Repair work requires a separate quote after inspection. GoLocal would create and confirm bookings through merchant-authorized software connections. This is the intended product journey, not a live transaction or production reliability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cold start requires both useful participating supply and users with real booking needs. One-time setup is an intended experience on compatible platforms and may require sign-in and approval. Each transaction still requires the relevant user authorization.</a:t>
            </a:r>
          </a:p>
          <a:p xmlns:a="http://schemas.openxmlformats.org/drawingml/2006/main">
            <a:r>
              <a:t>Proposed network effect: successful bookings create evidence of usefulness and reliability. Where agent discovery and selection mechanisms can use that evidence, agents may suggest GoLocal to more users with similar requests. Those suggestions can bring more local bookings. Demonstrated demand can attract more businesses, improving coverage and availability and making subsequent bookings more useful. This is a commercial hypothesis, not an observed growth loop or a claim that models automatically learn across users. No demand-routing agreement or automatic recommendation mechanism is established.</a:t>
            </a:r>
          </a:p>
          <a:p xmlns:a="http://schemas.openxmlformats.org/drawingml/2006/main">
            <a:r>
              <a:t>Expansion is a subsequent decision: demonstrate the local loop and viable economics in one city/category, use that proof to add related categories within the city, then repeat in more cities. Supply and demand still need to be established in each new market.</a:t>
            </a:r>
          </a:p>
          <a:p xmlns:a="http://schemas.openxmlformats.org/drawingml/2006/main">
            <a:r>
              <a:t>Proposed commercial model clarified by the founder on October 10, 2026: businesses pay a fee equal to 10% of the booking amount. This same 10% fee is shared between GoLocal and contributing software partners or channel partners. It is not a 10% fee plus a separate partner fee, and GoLocal does not retain the full 10%. The allocation among GoLocal and partners has not been specified or agreed. This is the intended pricing model, not evidence of collected revenue, signed merchant terms or paid continuation. Eligibility, collection timing, repeat bookings, cancellations and refunds still require commercial terms. Contribution must cover acquisition, partner share, integration, support, payment and exception-handling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clarification on October 10, 2026 (annotation-mv39a1d3-h): 60+ plumbing companies in the Salt Lake City pipeline, with 50+ coming through Cactus AI and 10+ through YourCardare. This latest founder confirmation supersedes earlier uncertainty about whether the pipeline was plumbing-specific and based in Salt Lake City. These are prospective providers in the pipeline, not live integrated businesses, completed onboardings or confirmed bookings. Cactus AI is a YC-backed AI front office for local trades. YourCardare is a regional back-office partner, per the founder.</a:t>
            </a:r>
          </a:p>
          <a:p xmlns:a="http://schemas.openxmlformats.org/drawingml/2006/main">
            <a:r>
              <a:t>Cactus public corroboration: Y Combinator company profile https://www.ycombinator.com/companies/oncactus (checked October 10, 2026) lists Cactus in Spring 2025 and describes AI call answering, qualification, booking and follow-up for trades including plumbing. The YC profile verifies company background, not GoLocal's partnership or pipeline counts, which are founder-reported.</a:t>
            </a:r>
          </a:p>
          <a:p xmlns:a="http://schemas.openxmlformats.org/drawingml/2006/main">
            <a:r>
              <a:t>The next milestone remains onboarding participating providers, connecting authorized software and testing customer-authorized agent bookings. Supply pipeline does not establish representative customer demand, live production reliability or paid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biographies and credentials, not independently verified for this deck. Pulkit Walia: Urban Company founding team member, helped build from launch to a $3B IPO; launched a home security brand at 19 and grew it to $700K revenue; Bessemer Venture Partners investor with $50M deployed in consumer AI startups; Harvard Business School MBA. The IPO figure refers to Urban Company, not GoLocal. https://www.linkedin.com/in/pulkitwalia/ . Rohit Jain: five years as a senior software engineer at Amazon, Square and Citrix; taught 2,500 engineers system design on Udemy; production MCP integration experience; Texas A&amp;M Computer Science and IIT Kharagpur. https://www.linkedin.com/in/rohit-jain-343437187/ . Founder/cofounder titles, ownership and employment commitment are not implied. Original supplied photos and education logos retained.</a:t>
            </a:r>
          </a:p>
          <a:p xmlns:a="http://schemas.openxmlformats.org/drawingml/2006/main">
            <a:r>
              <a:t>Founder-requested positioning: the team’s consumer-app experience now informs building for the agent layer. This is a positioning statement, not a claim that the two team members jointly built every company in their separate biographies.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cd4ac9bd824e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cec1c378cee4c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38d5fa0b47242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b03c14fc0243f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646cb4b12c4484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1e5d63d5ea44e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f9ab2a6ab74763" /><Relationship Type="http://schemas.openxmlformats.org/officeDocument/2006/relationships/slideLayout" Target="/ppt/slideLayouts/slideLayout1.xml" Id="R37a6859676be46fa" /><Relationship Type="http://schemas.openxmlformats.org/officeDocument/2006/relationships/slideLayout" Target="/ppt/slideLayouts/slideLayout2.xml" Id="Re1ec66ed7e2a431a" /><Relationship Type="http://schemas.openxmlformats.org/officeDocument/2006/relationships/slideLayout" Target="/ppt/slideLayouts/slideLayout3.xml" Id="Rb8d1750354374f69" /><Relationship Type="http://schemas.openxmlformats.org/officeDocument/2006/relationships/slideLayout" Target="/ppt/slideLayouts/slideLayout4.xml" Id="R19d370a453bd43bb" /><Relationship Type="http://schemas.openxmlformats.org/officeDocument/2006/relationships/slideLayout" Target="/ppt/slideLayouts/slideLayout5.xml" Id="Rd590858ec2594d30" /><Relationship Type="http://schemas.openxmlformats.org/officeDocument/2006/relationships/slideLayout" Target="/ppt/slideLayouts/slideLayout6.xml" Id="Ra9af12ce71ec47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a6859676be46fa"/>
    <p:sldLayoutId xmlns:r="http://schemas.openxmlformats.org/officeDocument/2006/relationships" id="2147483650" r:id="Re1ec66ed7e2a431a"/>
    <p:sldLayoutId xmlns:r="http://schemas.openxmlformats.org/officeDocument/2006/relationships" id="2147483651" r:id="Rb8d1750354374f69"/>
    <p:sldLayoutId xmlns:r="http://schemas.openxmlformats.org/officeDocument/2006/relationships" id="2147483652" r:id="R19d370a453bd43bb"/>
    <p:sldLayoutId xmlns:r="http://schemas.openxmlformats.org/officeDocument/2006/relationships" id="2147483653" r:id="Rd590858ec2594d30"/>
    <p:sldLayoutId xmlns:r="http://schemas.openxmlformats.org/officeDocument/2006/relationships" id="2147483654" r:id="Ra9af12ce71ec47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60004978c1f4c6d" /><Relationship Type="http://schemas.openxmlformats.org/officeDocument/2006/relationships/image" Target="/ppt/media/image.png" Id="Rbc9a0beb003a402c" /><Relationship Type="http://schemas.openxmlformats.org/officeDocument/2006/relationships/notesSlide" Target="/ppt/notesSlides/notesSlide1.xml" Id="R4c0a5ef16bd147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ce696ef2d6b4748" /><Relationship Type="http://schemas.openxmlformats.org/officeDocument/2006/relationships/notesSlide" Target="/ppt/notesSlides/notesSlide2.xml" Id="R44521f08efa94f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d57fc3ed00c49de" /><Relationship Type="http://schemas.openxmlformats.org/officeDocument/2006/relationships/image" Target="/ppt/media/image2.png" Id="Rf66f8554affd4be6" /><Relationship Type="http://schemas.openxmlformats.org/officeDocument/2006/relationships/image" Target="/ppt/media/image.jpeg" Id="Rf9d794accf45464a" /><Relationship Type="http://schemas.openxmlformats.org/officeDocument/2006/relationships/image" Target="/ppt/media/image2.jpeg" Id="R06c3cf913b684930" /><Relationship Type="http://schemas.openxmlformats.org/officeDocument/2006/relationships/image" Target="/ppt/media/image3.jpeg" Id="R54f6edaa8fb749f7" /><Relationship Type="http://schemas.openxmlformats.org/officeDocument/2006/relationships/image" Target="/ppt/media/image3.png" Id="R4315befb6b384ecb" /><Relationship Type="http://schemas.openxmlformats.org/officeDocument/2006/relationships/notesSlide" Target="/ppt/notesSlides/notesSlide3.xml" Id="R5c3a58f09e4b44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26ccb264b4d4e59" /><Relationship Type="http://schemas.openxmlformats.org/officeDocument/2006/relationships/notesSlide" Target="/ppt/notesSlides/notesSlide4.xml" Id="R8a8211cb18334d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0784f9ec10a4599" /><Relationship Type="http://schemas.openxmlformats.org/officeDocument/2006/relationships/notesSlide" Target="/ppt/notesSlides/notesSlide5.xml" Id="R788ebae8cfab48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e340c10e21e45cd" /><Relationship Type="http://schemas.openxmlformats.org/officeDocument/2006/relationships/notesSlide" Target="/ppt/notesSlides/notesSlide6.xml" Id="R4fb220dbad2e45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638bdb1cb684b06" /><Relationship Type="http://schemas.openxmlformats.org/officeDocument/2006/relationships/image" Target="/ppt/media/image4.jpeg" Id="R125e5ae1115b417a" /><Relationship Type="http://schemas.openxmlformats.org/officeDocument/2006/relationships/image" Target="/ppt/media/image5.jpeg" Id="R2948572203c84e5e" /><Relationship Type="http://schemas.openxmlformats.org/officeDocument/2006/relationships/hyperlink" Target="https://www.linkedin.com/in/pulkitwalia/" TargetMode="External" Id="Re12ee6be3de842f7" /><Relationship Type="http://schemas.openxmlformats.org/officeDocument/2006/relationships/hyperlink" Target="https://www.linkedin.com/in/rohit-jain-343437187/" TargetMode="External" Id="Ra349e534e0ea42a2" /><Relationship Type="http://schemas.openxmlformats.org/officeDocument/2006/relationships/image" Target="/ppt/media/image6.jpeg" Id="R55f72f71e7dd4b37" /><Relationship Type="http://schemas.openxmlformats.org/officeDocument/2006/relationships/image" Target="/ppt/media/image4.png" Id="R36d6964c742341c4" /><Relationship Type="http://schemas.openxmlformats.org/officeDocument/2006/relationships/image" Target="/ppt/media/image7.jpeg" Id="Rfb712331731e4c28" /><Relationship Type="http://schemas.openxmlformats.org/officeDocument/2006/relationships/notesSlide" Target="/ppt/notesSlides/notesSlide7.xml" Id="Re5d58f6596e747d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5" name="Picture 4">
            <a:extLst xmlns:a="http://schemas.openxmlformats.org/drawingml/2006/main">
              <a:ext uri="{FF2B5EF4-FFF2-40B4-BE49-F238E27FC236}">
                <a16:creationId xmlns:a16="http://schemas.microsoft.com/office/drawing/2014/main" id="{8CB442AB-DC16-4B6A-9D19-579843C98AFA}"/>
              </a:ext>
            </a:extLst>
          </p:cNvPr>
          <p:cNvPicPr>
            <a:picLocks xmlns:a="http://schemas.openxmlformats.org/drawingml/2006/main" noChangeAspect="1"/>
          </p:cNvPicPr>
          <p:nvPr/>
        </p:nvPicPr>
        <p:blipFill>
          <a:blip xmlns:r="http://schemas.openxmlformats.org/officeDocument/2006/relationships" xmlns:a="http://schemas.openxmlformats.org/drawingml/2006/main" r:embed="Rbc9a0beb003a402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v28-text-0">
            <a:extLst xmlns:a="http://schemas.openxmlformats.org/drawingml/2006/main">
              <a:ext uri="{FF2B5EF4-FFF2-40B4-BE49-F238E27FC236}">
                <a16:creationId xmlns:a16="http://schemas.microsoft.com/office/drawing/2014/main" id="{BDDCEA24-C42F-433F-8032-ECDBF9DD5137}"/>
              </a:ext>
            </a:extLst>
          </p:cNvPr>
          <p:cNvSpPr>
            <a:spLocks xmlns:a="http://schemas.openxmlformats.org/drawingml/2006/main" noGrp="1"/>
          </p:cNvSpPr>
          <p:nvPr/>
        </p:nvSpPr>
        <p:spPr>
          <a:xfrm xmlns:a="http://schemas.openxmlformats.org/drawingml/2006/main">
            <a:off x="609600" y="952500"/>
            <a:ext cx="5191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00" b="1">
                <a:solidFill>
                  <a:srgbClr val="F5F2E9"/>
                </a:solidFill>
                <a:latin typeface="Helvetica Neue"/>
                <a:ea typeface="Helvetica Neue"/>
                <a:cs typeface="Helvetica Neue"/>
              </a:defRPr>
            </a:defPPr>
          </a:lstStyle>
          <a:p xmlns:a="http://schemas.openxmlformats.org/drawingml/2006/main">
            <a:pPr algn="l">
              <a:buNone/>
              <a:defRPr sz="6000" b="1">
                <a:solidFill>
                  <a:srgbClr val="F5F2E9"/>
                </a:solidFill>
                <a:latin typeface="Helvetica Neue"/>
                <a:ea typeface="Helvetica Neue"/>
                <a:cs typeface="Helvetica Neue"/>
              </a:defRPr>
            </a:pPr>
            <a:r>
              <a:rPr sz="6000" b="1">
                <a:solidFill>
                  <a:srgbClr val="F5F2E9"/>
                </a:solidFill>
                <a:latin typeface="Helvetica Neue"/>
                <a:ea typeface="Helvetica Neue"/>
                <a:cs typeface="Helvetica Neue"/>
              </a:rPr>
              <a:t>GoLocal</a:t>
            </a:r>
          </a:p>
        </p:txBody>
      </p:sp>
      <p:sp>
        <p:nvSpPr>
          <p:cNvPr id="3" name="v28-text-1">
            <a:extLst xmlns:a="http://schemas.openxmlformats.org/drawingml/2006/main">
              <a:ext uri="{FF2B5EF4-FFF2-40B4-BE49-F238E27FC236}">
                <a16:creationId xmlns:a16="http://schemas.microsoft.com/office/drawing/2014/main" id="{7A9DF34D-74A2-406C-9DE6-3F86B5CBDDD0}"/>
              </a:ext>
            </a:extLst>
          </p:cNvPr>
          <p:cNvSpPr>
            <a:spLocks xmlns:a="http://schemas.openxmlformats.org/drawingml/2006/main" noGrp="1"/>
          </p:cNvSpPr>
          <p:nvPr/>
        </p:nvSpPr>
        <p:spPr>
          <a:xfrm xmlns:a="http://schemas.openxmlformats.org/drawingml/2006/main">
            <a:off x="609600" y="2143125"/>
            <a:ext cx="4619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5F2E9"/>
                </a:solidFill>
                <a:latin typeface="Helvetica Neue"/>
                <a:ea typeface="Helvetica Neue"/>
                <a:cs typeface="Helvetica Neue"/>
              </a:defRPr>
            </a:defPPr>
          </a:lstStyle>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Local services,</a:t>
            </a:r>
          </a:p>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booked by your</a:t>
            </a:r>
          </a:p>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personal agent.</a:t>
            </a:r>
          </a:p>
        </p:txBody>
      </p:sp>
      <p:sp>
        <p:nvSpPr>
          <p:cNvPr id="4" name="v28-text-2">
            <a:extLst xmlns:a="http://schemas.openxmlformats.org/drawingml/2006/main">
              <a:ext uri="{FF2B5EF4-FFF2-40B4-BE49-F238E27FC236}">
                <a16:creationId xmlns:a16="http://schemas.microsoft.com/office/drawing/2014/main" id="{A8597BA7-8903-4DF7-A402-3367D52645B7}"/>
              </a:ext>
            </a:extLst>
          </p:cNvPr>
          <p:cNvSpPr>
            <a:spLocks xmlns:a="http://schemas.openxmlformats.org/drawingml/2006/main" noGrp="1"/>
          </p:cNvSpPr>
          <p:nvPr/>
        </p:nvSpPr>
        <p:spPr>
          <a:xfrm xmlns:a="http://schemas.openxmlformats.org/drawingml/2006/main">
            <a:off x="609600" y="4257675"/>
            <a:ext cx="43338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4D6"/>
                </a:solidFill>
                <a:latin typeface="Helvetica Neue"/>
                <a:ea typeface="Helvetica Neue"/>
                <a:cs typeface="Helvetica Neue"/>
              </a:defRPr>
            </a:defPPr>
          </a:lstStyle>
          <a:p xmlns:a="http://schemas.openxmlformats.org/drawingml/2006/main">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One booking layer for agents</a:t>
            </a:r>
          </a:p>
          <a:p xmlns:a="http://schemas.openxmlformats.org/drawingml/2006/main">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and local businesses.</a:t>
            </a:r>
          </a:p>
        </p:txBody>
      </p:sp>
    </p:spTree>
    <p:extLst>
      <p:ext uri="{BB962C8B-B14F-4D97-AF65-F5344CB8AC3E}">
        <p14:creationId xmlns:p14="http://schemas.microsoft.com/office/powerpoint/2010/main" val="3325990305"/>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v30-text-0">
            <a:extLst xmlns:a="http://schemas.openxmlformats.org/drawingml/2006/main">
              <a:ext uri="{FF2B5EF4-FFF2-40B4-BE49-F238E27FC236}">
                <a16:creationId xmlns:a16="http://schemas.microsoft.com/office/drawing/2014/main" id="{ADA5C052-3DC5-4F4A-9C13-460C18C6AC4D}"/>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buNone/>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OPPORTUNITY</a:t>
            </a:r>
          </a:p>
        </p:txBody>
      </p:sp>
      <p:sp>
        <p:nvSpPr>
          <p:cNvPr id="2" name="v30-text-1">
            <a:extLst xmlns:a="http://schemas.openxmlformats.org/drawingml/2006/main">
              <a:ext uri="{FF2B5EF4-FFF2-40B4-BE49-F238E27FC236}">
                <a16:creationId xmlns:a16="http://schemas.microsoft.com/office/drawing/2014/main" id="{243905A4-A235-46A8-88B2-9CCE52ED8F00}"/>
              </a:ext>
            </a:extLst>
          </p:cNvPr>
          <p:cNvSpPr>
            <a:spLocks xmlns:a="http://schemas.openxmlformats.org/drawingml/2006/main" noGrp="1"/>
          </p:cNvSpPr>
          <p:nvPr/>
        </p:nvSpPr>
        <p:spPr>
          <a:xfrm xmlns:a="http://schemas.openxmlformats.org/drawingml/2006/main">
            <a:off x="609600" y="7524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3D3B"/>
                </a:solidFill>
                <a:latin typeface="Helvetica Neue"/>
                <a:ea typeface="Helvetica Neue"/>
                <a:cs typeface="Helvetica Neue"/>
              </a:defRPr>
            </a:defPPr>
          </a:lstStyle>
          <a:p xmlns:a="http://schemas.openxmlformats.org/drawingml/2006/main">
            <a:pPr algn="l">
              <a:buNone/>
              <a:defRPr sz="3300" b="1">
                <a:solidFill>
                  <a:srgbClr val="103D3B"/>
                </a:solidFill>
                <a:latin typeface="Helvetica Neue"/>
                <a:ea typeface="Helvetica Neue"/>
                <a:cs typeface="Helvetica Neue"/>
              </a:defRPr>
            </a:pPr>
            <a:r>
              <a:rPr sz="3300" b="1">
                <a:solidFill>
                  <a:srgbClr val="103D3B"/>
                </a:solidFill>
                <a:latin typeface="Helvetica Neue"/>
                <a:ea typeface="Helvetica Neue"/>
                <a:cs typeface="Helvetica Neue"/>
              </a:rPr>
              <a:t>Personal agents need live local-business data</a:t>
            </a:r>
          </a:p>
        </p:txBody>
      </p:sp>
      <p:sp>
        <p:nvSpPr>
          <p:cNvPr id="3" name="v30-text-2">
            <a:extLst xmlns:a="http://schemas.openxmlformats.org/drawingml/2006/main">
              <a:ext uri="{FF2B5EF4-FFF2-40B4-BE49-F238E27FC236}">
                <a16:creationId xmlns:a16="http://schemas.microsoft.com/office/drawing/2014/main" id="{8F4C96EF-044C-4CF6-BCFE-D8BF33020705}"/>
              </a:ext>
            </a:extLst>
          </p:cNvPr>
          <p:cNvSpPr>
            <a:spLocks xmlns:a="http://schemas.openxmlformats.org/drawingml/2006/main" noGrp="1"/>
          </p:cNvSpPr>
          <p:nvPr/>
        </p:nvSpPr>
        <p:spPr>
          <a:xfrm xmlns:a="http://schemas.openxmlformats.org/drawingml/2006/main">
            <a:off x="609600" y="1296759"/>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Users once called businesses to scope the job.</a:t>
            </a:r>
          </a:p>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Personal agents can now scope it with the customer, then act on live business data.</a:t>
            </a:r>
          </a:p>
        </p:txBody>
      </p:sp>
      <p:graphicFrame>
        <p:nvGraphicFramePr>
          <p:cNvPr id="4" name="Table 3">
            <a:extLst xmlns:a="http://schemas.openxmlformats.org/drawingml/2006/main">
              <a:ext uri="{FF2B5EF4-FFF2-40B4-BE49-F238E27FC236}">
                <a16:creationId xmlns:a16="http://schemas.microsoft.com/office/drawing/2014/main" id="{50352862-D23B-49A6-A515-C3E5FA629A0F}"/>
              </a:ext>
            </a:extLst>
          </p:cNvPr>
          <p:cNvGraphicFramePr/>
          <p:nvPr/>
        </p:nvGraphicFramePr>
        <p:xfrm>
          <a:off xmlns:a="http://schemas.openxmlformats.org/drawingml/2006/main" x="609600" y="2076450"/>
          <a:ext xmlns:a="http://schemas.openxmlformats.org/drawingml/2006/main" cx="10972800" cy="3467100"/>
        </p:xfrm>
        <a:graphic xmlns:a="http://schemas.openxmlformats.org/drawingml/2006/main">
          <a:graphicData uri="http://schemas.openxmlformats.org/drawingml/2006/table">
            <a:tbl>
              <a:tblPr/>
              <a:tblGrid>
                <a:gridCol w="2667000"/>
                <a:gridCol w="1661160"/>
                <a:gridCol w="1661160"/>
                <a:gridCol w="1661160"/>
                <a:gridCol w="1661160"/>
                <a:gridCol w="1661160"/>
              </a:tblGrid>
              <a:tr h="285750">
                <a:tc>
                  <a:txBody>
                    <a:bodyPr/>
                    <a:lstStyle/>
                    <a:p>
                      <a:pPr algn="l">
                        <a:buNone/>
                      </a:pPr>
                      <a:r>
                        <a:rPr sz="1350" b="1">
                          <a:solidFill>
                            <a:srgbClr val="53716A"/>
                          </a:solidFill>
                          <a:latin typeface="Helvetica Neue"/>
                          <a:ea typeface="Helvetica Neue"/>
                          <a:cs typeface="Helvetica Neue"/>
                        </a:rPr>
                        <a:t>ERA</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53716A"/>
                          </a:solidFill>
                          <a:latin typeface="Helvetica Neue"/>
                          <a:ea typeface="Helvetica Neue"/>
                          <a:cs typeface="Helvetica Neue"/>
                        </a:rPr>
                        <a:t>Pre-2000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53716A"/>
                          </a:solidFill>
                          <a:latin typeface="Helvetica Neue"/>
                          <a:ea typeface="Helvetica Neue"/>
                          <a:cs typeface="Helvetica Neue"/>
                        </a:rPr>
                        <a:t>2000–2010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53716A"/>
                          </a:solidFill>
                          <a:latin typeface="Helvetica Neue"/>
                          <a:ea typeface="Helvetica Neue"/>
                          <a:cs typeface="Helvetica Neue"/>
                        </a:rPr>
                        <a:t>2010–2020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53716A"/>
                          </a:solidFill>
                          <a:latin typeface="Helvetica Neue"/>
                          <a:ea typeface="Helvetica Neue"/>
                          <a:cs typeface="Helvetica Neue"/>
                        </a:rPr>
                        <a:t>2020–2025</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FFFFFF"/>
                          </a:solidFill>
                          <a:latin typeface="Helvetica Neue"/>
                          <a:ea typeface="Helvetica Neue"/>
                          <a:cs typeface="Helvetica Neue"/>
                        </a:rPr>
                        <a:t>2026</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285750">
                <a:tc>
                  <a:txBody>
                    <a:bodyPr/>
                    <a:lstStyle/>
                    <a:p>
                      <a:pPr algn="l">
                        <a:buNone/>
                      </a:pPr>
                      <a:r>
                        <a:rPr sz="1275" b="1">
                          <a:solidFill>
                            <a:srgbClr val="53716A"/>
                          </a:solidFill>
                          <a:latin typeface="Helvetica Neue"/>
                          <a:ea typeface="Helvetica Neue"/>
                          <a:cs typeface="Helvetica Neue"/>
                        </a:rPr>
                        <a:t>Technology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53716A"/>
                          </a:solidFill>
                          <a:latin typeface="Helvetica Neue"/>
                          <a:ea typeface="Helvetica Neue"/>
                          <a:cs typeface="Helvetica Neue"/>
                        </a:rPr>
                        <a:t>Telephones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53716A"/>
                          </a:solidFill>
                          <a:latin typeface="Helvetica Neue"/>
                          <a:ea typeface="Helvetica Neue"/>
                          <a:cs typeface="Helvetica Neue"/>
                        </a:rPr>
                        <a:t>Internet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53716A"/>
                          </a:solidFill>
                          <a:latin typeface="Helvetica Neue"/>
                          <a:ea typeface="Helvetica Neue"/>
                          <a:cs typeface="Helvetica Neue"/>
                        </a:rPr>
                        <a:t>Mobile + GPS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53716A"/>
                          </a:solidFill>
                          <a:latin typeface="Helvetica Neue"/>
                          <a:ea typeface="Helvetica Neue"/>
                          <a:cs typeface="Helvetica Neue"/>
                        </a:rPr>
                        <a:t>LLMs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FFFFFF"/>
                          </a:solidFill>
                          <a:latin typeface="Helvetica Neue"/>
                          <a:ea typeface="Helvetica Neue"/>
                          <a:cs typeface="Helvetica Neue"/>
                        </a:rPr>
                        <a:t>AI + tools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552450">
                <a:tc>
                  <a:txBody>
                    <a:bodyPr/>
                    <a:lstStyle/>
                    <a:p>
                      <a:pPr algn="l">
                        <a:buNone/>
                      </a:pPr>
                      <a:r>
                        <a:rPr sz="1575" b="1">
                          <a:solidFill>
                            <a:srgbClr val="103D3B"/>
                          </a:solidFill>
                          <a:latin typeface="Helvetica Neue"/>
                          <a:ea typeface="Helvetica Neue"/>
                          <a:cs typeface="Helvetica Neue"/>
                        </a:rPr>
                        <a:t>Platform</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103D3B"/>
                          </a:solidFill>
                          <a:latin typeface="Helvetica Neue"/>
                          <a:ea typeface="Helvetica Neue"/>
                          <a:cs typeface="Helvetica Neue"/>
                        </a:rPr>
                        <a:t>Yellow Pages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103D3B"/>
                          </a:solidFill>
                          <a:latin typeface="Helvetica Neue"/>
                          <a:ea typeface="Helvetica Neue"/>
                          <a:cs typeface="Helvetica Neue"/>
                        </a:rPr>
                        <a:t>Google /</a:t>
                      </a:r>
                    </a:p>
                    <a:p>
                      <a:pPr algn="ctr">
                        <a:buNone/>
                      </a:pPr>
                      <a:r>
                        <a:rPr sz="1575" b="1">
                          <a:solidFill>
                            <a:srgbClr val="103D3B"/>
                          </a:solidFill>
                          <a:latin typeface="Helvetica Neue"/>
                          <a:ea typeface="Helvetica Neue"/>
                          <a:cs typeface="Helvetica Neue"/>
                        </a:rPr>
                        <a:t>Craigslist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103D3B"/>
                          </a:solidFill>
                          <a:latin typeface="Helvetica Neue"/>
                          <a:ea typeface="Helvetica Neue"/>
                          <a:cs typeface="Helvetica Neue"/>
                        </a:rPr>
                        <a:t>Google Maps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103D3B"/>
                          </a:solidFill>
                          <a:latin typeface="Helvetica Neue"/>
                          <a:ea typeface="Helvetica Neue"/>
                          <a:cs typeface="Helvetica Neue"/>
                        </a:rPr>
                        <a:t>AI chatbots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FFFFFF"/>
                          </a:solidFill>
                          <a:latin typeface="Helvetica Neue"/>
                          <a:ea typeface="Helvetica Neue"/>
                          <a:cs typeface="Helvetica Neue"/>
                        </a:rPr>
                        <a:t>Personal</a:t>
                      </a:r>
                    </a:p>
                    <a:p>
                      <a:pPr algn="ctr">
                        <a:buNone/>
                      </a:pPr>
                      <a:r>
                        <a:rPr sz="1575" b="1">
                          <a:solidFill>
                            <a:srgbClr val="FFFFFF"/>
                          </a:solidFill>
                          <a:latin typeface="Helvetica Neue"/>
                          <a:ea typeface="Helvetica Neue"/>
                          <a:cs typeface="Helvetica Neue"/>
                        </a:rPr>
                        <a:t>agents today</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304800">
                <a:tc>
                  <a:txBody>
                    <a:bodyPr/>
                    <a:lstStyle/>
                    <a:p>
                      <a:pPr algn="l">
                        <a:buNone/>
                      </a:pPr>
                      <a:r>
                        <a:rPr sz="1500" b="1">
                          <a:solidFill>
                            <a:srgbClr val="103D3B"/>
                          </a:solidFill>
                          <a:latin typeface="Helvetica Neue"/>
                          <a:ea typeface="Helvetica Neue"/>
                          <a:cs typeface="Helvetica Neue"/>
                        </a:rPr>
                        <a:t>Find a business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a:lstStyle/>
                    <a:p>
                      <a:pPr algn="l">
                        <a:buNone/>
                      </a:pPr>
                      <a:r>
                        <a:rPr sz="1500" b="1">
                          <a:solidFill>
                            <a:srgbClr val="103D3B"/>
                          </a:solidFill>
                          <a:latin typeface="Helvetica Neue"/>
                          <a:ea typeface="Helvetica Neue"/>
                          <a:cs typeface="Helvetica Neue"/>
                        </a:rPr>
                        <a:t>Compare options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a:lstStyle/>
                    <a:p>
                      <a:pPr algn="l">
                        <a:buNone/>
                      </a:pPr>
                      <a:r>
                        <a:rPr sz="1500" b="1">
                          <a:solidFill>
                            <a:srgbClr val="103D3B"/>
                          </a:solidFill>
                          <a:latin typeface="Helvetica Neue"/>
                          <a:ea typeface="Helvetica Neue"/>
                          <a:cs typeface="Helvetica Neue"/>
                        </a:rPr>
                        <a:t>Location &amp; reviews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a:lstStyle/>
                    <a:p>
                      <a:pPr algn="l">
                        <a:buNone/>
                      </a:pPr>
                      <a:r>
                        <a:rPr sz="1500" b="1">
                          <a:solidFill>
                            <a:srgbClr val="103D3B"/>
                          </a:solidFill>
                          <a:latin typeface="Helvetica Neue"/>
                          <a:ea typeface="Helvetica Neue"/>
                          <a:cs typeface="Helvetica Neue"/>
                        </a:rPr>
                        <a:t>Discuss &amp; scope the job</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a:lstStyle/>
                    <a:p>
                      <a:pPr algn="l">
                        <a:buNone/>
                      </a:pPr>
                      <a:r>
                        <a:rPr sz="1500" b="1">
                          <a:solidFill>
                            <a:srgbClr val="103D3B"/>
                          </a:solidFill>
                          <a:latin typeface="Helvetica Neue"/>
                          <a:ea typeface="Helvetica Neue"/>
                          <a:cs typeface="Helvetica Neue"/>
                        </a:rPr>
                        <a:t>Delegate the task</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r>
              <a:tr h="409575">
                <a:tc>
                  <a:txBody>
                    <a:bodyPr/>
                    <a:lstStyle/>
                    <a:p>
                      <a:pPr algn="l">
                        <a:buNone/>
                      </a:pPr>
                      <a:r>
                        <a:rPr sz="1500" b="1">
                          <a:solidFill>
                            <a:srgbClr val="A34E3F"/>
                          </a:solidFill>
                          <a:latin typeface="Helvetica Neue"/>
                          <a:ea typeface="Helvetica Neue"/>
                          <a:cs typeface="Helvetica Neue"/>
                        </a:rPr>
                        <a:t>Get quotes &amp; schedule</a:t>
                      </a:r>
                    </a:p>
                  </a:txBody>
                  <a:tcPr marL="57150" marR="57150" marT="19050" marB="19050" anchor="ctr">
                    <a:lnL w="19050">
                      <a:solidFill>
                        <a:srgbClr val="F5F2E9"/>
                      </a:solidFill>
                    </a:lnL>
                    <a:lnR w="19050">
                      <a:solidFill>
                        <a:srgbClr val="F5F2E9"/>
                      </a:solidFill>
                    </a:lnR>
                    <a:lnT w="19050" cmpd="sng">
                      <a:solidFill>
                        <a:srgbClr val="F5F2E9"/>
                      </a:solidFill>
                      <a:prstDash val="solid"/>
                    </a:lnT>
                    <a:lnB w="19050">
                      <a:solidFill>
                        <a:srgbClr val="F5F2E9"/>
                      </a:solidFill>
                    </a:lnB>
                    <a:solidFill>
                      <a:srgbClr val="F0E2D9"/>
                    </a:solidFill>
                  </a:tcPr>
                </a:tc>
                <a:tc rowSpan="2" gridSpan="5">
                  <a:txBody>
                    <a:bodyPr/>
                    <a:lstStyle/>
                    <a:p>
                      <a:pPr algn="ctr">
                        <a:buNone/>
                      </a:pPr>
                      <a:r>
                        <a:rPr sz="1650" b="1">
                          <a:solidFill>
                            <a:srgbClr val="A34E3F"/>
                          </a:solidFill>
                          <a:latin typeface="Helvetica Neue"/>
                          <a:ea typeface="Helvetica Neue"/>
                          <a:cs typeface="Helvetica Neue"/>
                        </a:rPr>
                        <a:t>Missing today: a live data layer with business pricing and availability.</a:t>
                      </a:r>
                    </a:p>
                    <a:p>
                      <a:pPr algn="ctr">
                        <a:buNone/>
                      </a:pPr>
                      <a:r>
                        <a:rPr sz="1650" b="1">
                          <a:solidFill>
                            <a:srgbClr val="A34E3F"/>
                          </a:solidFill>
                          <a:latin typeface="Helvetica Neue"/>
                          <a:ea typeface="Helvetica Neue"/>
                          <a:cs typeface="Helvetica Neue"/>
                        </a:rPr>
                        <a:t>Without it, agents cannot complete scheduling, booking or payment.</a:t>
                      </a:r>
                    </a:p>
                  </a:txBody>
                  <a:tcPr marL="66675" marR="57150" marT="19050" marB="19050" anchor="ctr">
                    <a:lnL w="19050">
                      <a:solidFill>
                        <a:srgbClr val="F5F2E9"/>
                      </a:solidFill>
                    </a:lnL>
                    <a:lnR w="19050">
                      <a:solidFill>
                        <a:srgbClr val="F5F2E9"/>
                      </a:solidFill>
                    </a:lnR>
                    <a:lnT w="19050" cmpd="sng">
                      <a:solidFill>
                        <a:srgbClr val="F5F2E9"/>
                      </a:solidFill>
                      <a:prstDash val="solid"/>
                    </a:lnT>
                    <a:lnB w="19050">
                      <a:solidFill>
                        <a:srgbClr val="F5F2E9"/>
                      </a:solidFill>
                    </a:lnB>
                    <a:solidFill>
                      <a:srgbClr val="F0E2D9"/>
                    </a:solidFill>
                  </a:tcPr>
                </a:tc>
                <a:tc rowSpan="2" hMerge="1">
                  <a:txBody>
                    <a:bodyPr/>
                    <a:lstStyle/>
                    <a:p>
                      <a:endParaRP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hMerge="1">
                  <a:txBody>
                    <a:bodyPr/>
                    <a:lstStyle/>
                    <a:p>
                      <a:endParaRP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hMerge="1">
                  <a:txBody>
                    <a:bodyPr/>
                    <a:lstStyle/>
                    <a:p>
                      <a:endParaRP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hMerge="1">
                  <a:txBody>
                    <a:bodyPr/>
                    <a:lstStyle/>
                    <a:p>
                      <a:endParaRP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r>
              <a:tr h="409575">
                <a:tc>
                  <a:txBody>
                    <a:bodyPr/>
                    <a:lstStyle/>
                    <a:p>
                      <a:pPr algn="l">
                        <a:buNone/>
                      </a:pPr>
                      <a:r>
                        <a:rPr sz="1500" b="1">
                          <a:solidFill>
                            <a:srgbClr val="A34E3F"/>
                          </a:solidFill>
                          <a:latin typeface="Helvetica Neue"/>
                          <a:ea typeface="Helvetica Neue"/>
                          <a:cs typeface="Helvetica Neue"/>
                        </a:rPr>
                        <a:t>Book &amp; pay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gridSpan="5"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r>
            </a:tbl>
          </a:graphicData>
        </a:graphic>
      </p:graphicFrame>
      <p:sp>
        <p:nvSpPr>
          <p:cNvPr id="5" name="v30-text-3">
            <a:extLst xmlns:a="http://schemas.openxmlformats.org/drawingml/2006/main">
              <a:ext uri="{FF2B5EF4-FFF2-40B4-BE49-F238E27FC236}">
                <a16:creationId xmlns:a16="http://schemas.microsoft.com/office/drawing/2014/main" id="{18B77D59-D1BB-43F2-8A95-F43D36E4DEA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03D3B"/>
                </a:solidFill>
                <a:latin typeface="Helvetica Neue"/>
                <a:ea typeface="Helvetica Neue"/>
                <a:cs typeface="Helvetica Neue"/>
              </a:defRPr>
            </a:defPPr>
          </a:lstStyle>
          <a:p xmlns:a="http://schemas.openxmlformats.org/drawingml/2006/main">
            <a:pPr algn="l">
              <a:buNone/>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The live data layer that enables agent bookings can capture value</a:t>
            </a:r>
          </a:p>
          <a:p xmlns:a="http://schemas.openxmlformats.org/drawingml/2006/main">
            <a:pPr algn="l">
              <a:buNone/>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from the $1.2T local-services spending pool.</a:t>
            </a:r>
          </a:p>
        </p:txBody>
      </p:sp>
      <p:sp>
        <p:nvSpPr>
          <p:cNvPr id="6" name="v30-text-4">
            <a:extLst xmlns:a="http://schemas.openxmlformats.org/drawingml/2006/main">
              <a:ext uri="{FF2B5EF4-FFF2-40B4-BE49-F238E27FC236}">
                <a16:creationId xmlns:a16="http://schemas.microsoft.com/office/drawing/2014/main" id="{1F1DFEBF-554A-41C0-853E-1BA9FE87610F}"/>
              </a:ext>
            </a:extLst>
          </p:cNvPr>
          <p:cNvSpPr>
            <a:spLocks xmlns:a="http://schemas.openxmlformats.org/drawingml/2006/main" noGrp="1"/>
          </p:cNvSpPr>
          <p:nvPr/>
        </p:nvSpPr>
        <p:spPr>
          <a:xfrm xmlns:a="http://schemas.openxmlformats.org/drawingml/2006/main">
            <a:off x="609600" y="64865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3716A"/>
                </a:solidFill>
                <a:latin typeface="Helvetica Neue"/>
                <a:ea typeface="Helvetica Neue"/>
                <a:cs typeface="Helvetica Neue"/>
              </a:defRPr>
            </a:defPPr>
          </a:lstStyle>
          <a:p xmlns:a="http://schemas.openxmlformats.org/drawingml/2006/main">
            <a:pPr algn="l">
              <a:buNone/>
              <a:defRPr sz="938" b="0">
                <a:solidFill>
                  <a:srgbClr val="53716A"/>
                </a:solidFill>
                <a:latin typeface="Helvetica Neue"/>
                <a:ea typeface="Helvetica Neue"/>
                <a:cs typeface="Helvetica Neue"/>
              </a:defRPr>
            </a:pPr>
            <a:r>
              <a:rPr sz="938" b="0">
                <a:solidFill>
                  <a:srgbClr val="53716A"/>
                </a:solidFill>
                <a:latin typeface="Helvetica Neue"/>
                <a:ea typeface="Helvetica Neue"/>
                <a:cs typeface="Helvetica Neue"/>
              </a:rPr>
              <a:t>≈$1.2T annual U.S. spending across selected categories; mixed 2023–25 sources, including materials/DIY. </a:t>
            </a:r>
          </a:p>
        </p:txBody>
      </p:sp>
      <p:sp>
        <p:nvSpPr>
          <p:cNvPr id="7" name="v30-text-5">
            <a:extLst xmlns:a="http://schemas.openxmlformats.org/drawingml/2006/main">
              <a:ext uri="{FF2B5EF4-FFF2-40B4-BE49-F238E27FC236}">
                <a16:creationId xmlns:a16="http://schemas.microsoft.com/office/drawing/2014/main" id="{1B0D603A-7571-4A29-9CD2-469B869CB11D}"/>
              </a:ext>
            </a:extLst>
          </p:cNvPr>
          <p:cNvSpPr>
            <a:spLocks xmlns:a="http://schemas.openxmlformats.org/drawingml/2006/main" noGrp="1"/>
          </p:cNvSpPr>
          <p:nvPr/>
        </p:nvSpPr>
        <p:spPr>
          <a:xfrm xmlns:a="http://schemas.openxmlformats.org/drawingml/2006/main">
            <a:off x="11049000" y="6667500"/>
            <a:ext cx="666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buNone/>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2 / 7</a:t>
            </a:r>
          </a:p>
        </p:txBody>
      </p:sp>
    </p:spTree>
    <p:extLst>
      <p:ext uri="{BB962C8B-B14F-4D97-AF65-F5344CB8AC3E}">
        <p14:creationId xmlns:p14="http://schemas.microsoft.com/office/powerpoint/2010/main" val="457645913"/>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57" name="Straight Arrow Connector 56">
            <a:extLst xmlns:a="http://schemas.openxmlformats.org/drawingml/2006/main">
              <a:ext uri="{FF2B5EF4-FFF2-40B4-BE49-F238E27FC236}">
                <a16:creationId xmlns:a16="http://schemas.microsoft.com/office/drawing/2014/main" id="{E6AB9B80-9C6B-4BC5-B699-CF9CA90B3A11}"/>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Elbow Connector 55">
            <a:extLst xmlns:a="http://schemas.openxmlformats.org/drawingml/2006/main">
              <a:ext uri="{FF2B5EF4-FFF2-40B4-BE49-F238E27FC236}">
                <a16:creationId xmlns:a16="http://schemas.microsoft.com/office/drawing/2014/main" id="{8EB48FF6-3B82-402F-BF46-242F7EBD52FE}"/>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Straight Arrow Connector 54">
            <a:extLst xmlns:a="http://schemas.openxmlformats.org/drawingml/2006/main">
              <a:ext uri="{FF2B5EF4-FFF2-40B4-BE49-F238E27FC236}">
                <a16:creationId xmlns:a16="http://schemas.microsoft.com/office/drawing/2014/main" id="{314FEE14-EADF-47AB-B6D3-523E439FD37B}"/>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Elbow Connector 53">
            <a:extLst xmlns:a="http://schemas.openxmlformats.org/drawingml/2006/main">
              <a:ext uri="{FF2B5EF4-FFF2-40B4-BE49-F238E27FC236}">
                <a16:creationId xmlns:a16="http://schemas.microsoft.com/office/drawing/2014/main" id="{062FEC49-B635-45B0-AEDF-F0E144B43EE1}"/>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Straight Arrow Connector 52">
            <a:extLst xmlns:a="http://schemas.openxmlformats.org/drawingml/2006/main">
              <a:ext uri="{FF2B5EF4-FFF2-40B4-BE49-F238E27FC236}">
                <a16:creationId xmlns:a16="http://schemas.microsoft.com/office/drawing/2014/main" id="{C3654667-21BD-46D1-97B2-F4200F510FDE}"/>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Elbow Connector 51">
            <a:extLst xmlns:a="http://schemas.openxmlformats.org/drawingml/2006/main">
              <a:ext uri="{FF2B5EF4-FFF2-40B4-BE49-F238E27FC236}">
                <a16:creationId xmlns:a16="http://schemas.microsoft.com/office/drawing/2014/main" id="{7ABF6B6E-FE07-478F-951F-9E6724911DCE}"/>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Elbow Connector 50">
            <a:extLst xmlns:a="http://schemas.openxmlformats.org/drawingml/2006/main">
              <a:ext uri="{FF2B5EF4-FFF2-40B4-BE49-F238E27FC236}">
                <a16:creationId xmlns:a16="http://schemas.microsoft.com/office/drawing/2014/main" id="{2D0F83B0-0F5D-41D2-A6F4-3AC3E1818FC7}"/>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Elbow Connector 49">
            <a:extLst xmlns:a="http://schemas.openxmlformats.org/drawingml/2006/main">
              <a:ext uri="{FF2B5EF4-FFF2-40B4-BE49-F238E27FC236}">
                <a16:creationId xmlns:a16="http://schemas.microsoft.com/office/drawing/2014/main" id="{C53003C9-A195-4C65-B2B0-DE66AEB72FC8}"/>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Elbow Connector 48">
            <a:extLst xmlns:a="http://schemas.openxmlformats.org/drawingml/2006/main">
              <a:ext uri="{FF2B5EF4-FFF2-40B4-BE49-F238E27FC236}">
                <a16:creationId xmlns:a16="http://schemas.microsoft.com/office/drawing/2014/main" id="{0A6AA9F5-9A05-4F24-BB5A-8DEC563C1F49}"/>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Elbow Connector 47">
            <a:extLst xmlns:a="http://schemas.openxmlformats.org/drawingml/2006/main">
              <a:ext uri="{FF2B5EF4-FFF2-40B4-BE49-F238E27FC236}">
                <a16:creationId xmlns:a16="http://schemas.microsoft.com/office/drawing/2014/main" id="{B6E02CB1-BF2A-434A-8233-DEF59EA1107E}"/>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Elbow Connector 46">
            <a:extLst xmlns:a="http://schemas.openxmlformats.org/drawingml/2006/main">
              <a:ext uri="{FF2B5EF4-FFF2-40B4-BE49-F238E27FC236}">
                <a16:creationId xmlns:a16="http://schemas.microsoft.com/office/drawing/2014/main" id="{1450A5C2-C129-4A31-80E9-06CC0250267C}"/>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Elbow Connector 45">
            <a:extLst xmlns:a="http://schemas.openxmlformats.org/drawingml/2006/main">
              <a:ext uri="{FF2B5EF4-FFF2-40B4-BE49-F238E27FC236}">
                <a16:creationId xmlns:a16="http://schemas.microsoft.com/office/drawing/2014/main" id="{900E86B5-D421-4CD3-A29D-4A6DA3E6703B}"/>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Elbow Connector 44">
            <a:extLst xmlns:a="http://schemas.openxmlformats.org/drawingml/2006/main">
              <a:ext uri="{FF2B5EF4-FFF2-40B4-BE49-F238E27FC236}">
                <a16:creationId xmlns:a16="http://schemas.microsoft.com/office/drawing/2014/main" id="{29715428-F19E-4B79-9DB3-7C4BFAF83D74}"/>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One booking layer for agents and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We connect participating businesses through the software they already use.</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059386" y="2233617"/>
            <a:ext cx="2751364" cy="2952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Eg.</a:t>
            </a:r>
            <a:r>
              <a:rPr sz="1575" b="1">
                <a:solidFill>
                  <a:srgbClr val="193C32"/>
                </a:solidFill>
                <a:latin typeface="Helvetica Neue"/>
                <a:ea typeface="Helvetica Neue"/>
                <a:cs typeface="Helvetica Neue"/>
              </a:rPr>
              <a:t> </a:t>
            </a:r>
            <a:r>
              <a:rPr sz="1575" b="1">
                <a:solidFill>
                  <a:srgbClr val="193C32"/>
                </a:solidFill>
                <a:latin typeface="Helvetica Neue"/>
                <a:ea typeface="Helvetica Neue"/>
                <a:cs typeface="Helvetica Neue"/>
              </a:rPr>
              <a:t>Plumbing software stack</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pic>
        <p:nvPicPr>
          <p:cNvPr id="17" name="Picture 16">
            <a:extLst xmlns:a="http://schemas.openxmlformats.org/drawingml/2006/main">
              <a:ext uri="{FF2B5EF4-FFF2-40B4-BE49-F238E27FC236}">
                <a16:creationId xmlns:a16="http://schemas.microsoft.com/office/drawing/2014/main" id="{26448D0C-2156-4830-9873-5CF8D52880EA}"/>
              </a:ext>
            </a:extLst>
          </p:cNvPr>
          <p:cNvPicPr>
            <a:picLocks xmlns:a="http://schemas.openxmlformats.org/drawingml/2006/main" noChangeAspect="1"/>
          </p:cNvPicPr>
          <p:nvPr/>
        </p:nvPicPr>
        <p:blipFill>
          <a:blip xmlns:r="http://schemas.openxmlformats.org/officeDocument/2006/relationships" xmlns:a="http://schemas.openxmlformats.org/drawingml/2006/main" r:embed="Rf66f8554affd4be6"/>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Picture 17">
            <a:extLst xmlns:a="http://schemas.openxmlformats.org/drawingml/2006/main">
              <a:ext uri="{FF2B5EF4-FFF2-40B4-BE49-F238E27FC236}">
                <a16:creationId xmlns:a16="http://schemas.microsoft.com/office/drawing/2014/main" id="{1B976B83-8553-4512-B551-4ADCFD0DB2DB}"/>
              </a:ext>
            </a:extLst>
          </p:cNvPr>
          <p:cNvPicPr>
            <a:picLocks xmlns:a="http://schemas.openxmlformats.org/drawingml/2006/main" noChangeAspect="1"/>
          </p:cNvPicPr>
          <p:nvPr/>
        </p:nvPicPr>
        <p:blipFill>
          <a:blip xmlns:r="http://schemas.openxmlformats.org/officeDocument/2006/relationships" xmlns:a="http://schemas.openxmlformats.org/drawingml/2006/main" r:embed="Rf9d794accf45464a"/>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Picture 18">
            <a:extLst xmlns:a="http://schemas.openxmlformats.org/drawingml/2006/main">
              <a:ext uri="{FF2B5EF4-FFF2-40B4-BE49-F238E27FC236}">
                <a16:creationId xmlns:a16="http://schemas.microsoft.com/office/drawing/2014/main" id="{EF4A9816-7458-4276-B704-D752A978D3A2}"/>
              </a:ext>
            </a:extLst>
          </p:cNvPr>
          <p:cNvPicPr>
            <a:picLocks xmlns:a="http://schemas.openxmlformats.org/drawingml/2006/main" noChangeAspect="1"/>
          </p:cNvPicPr>
          <p:nvPr/>
        </p:nvPicPr>
        <p:blipFill>
          <a:blip xmlns:r="http://schemas.openxmlformats.org/officeDocument/2006/relationships" xmlns:a="http://schemas.openxmlformats.org/drawingml/2006/main" r:embed="R06c3cf913b684930"/>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895490FD-3AB4-4D37-87D4-7F3490A37C79}"/>
              </a:ext>
            </a:extLst>
          </p:cNvPr>
          <p:cNvPicPr>
            <a:picLocks xmlns:a="http://schemas.openxmlformats.org/drawingml/2006/main" noChangeAspect="1"/>
          </p:cNvPicPr>
          <p:nvPr/>
        </p:nvPicPr>
        <p:blipFill>
          <a:blip xmlns:r="http://schemas.openxmlformats.org/officeDocument/2006/relationships" xmlns:a="http://schemas.openxmlformats.org/drawingml/2006/main" r:embed="R54f6edaa8fb749f7"/>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xmlns:a="http://schemas.openxmlformats.org/drawingml/2006/main">
              <a:ext uri="{FF2B5EF4-FFF2-40B4-BE49-F238E27FC236}">
                <a16:creationId xmlns:a16="http://schemas.microsoft.com/office/drawing/2014/main" id="{F6208214-DF2D-4DF2-876F-AC05757B3CE5}"/>
              </a:ext>
            </a:extLst>
          </p:cNvPr>
          <p:cNvPicPr>
            <a:picLocks xmlns:a="http://schemas.openxmlformats.org/drawingml/2006/main" noChangeAspect="1"/>
          </p:cNvPicPr>
          <p:nvPr/>
        </p:nvPicPr>
        <p:blipFill>
          <a:blip xmlns:r="http://schemas.openxmlformats.org/officeDocument/2006/relationships" xmlns:a="http://schemas.openxmlformats.org/drawingml/2006/main" r:embed="R4315befb6b384ecb"/>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45578"/>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buNone/>
              <a:defRPr sz="1350" b="0">
                <a:solidFill>
                  <a:srgbClr val="65746C"/>
                </a:solidFill>
                <a:latin typeface="Helvetica Neue"/>
                <a:ea typeface="Helvetica Neue"/>
                <a:cs typeface="Helvetica Neue"/>
              </a:defRPr>
            </a:pPr>
            <a:r>
              <a:rPr sz="1100" b="0">
                <a:solidFill>
                  <a:srgbClr val="65746C"/>
                </a:solidFill>
                <a:latin typeface="Helvetica Neue"/>
                <a:ea typeface="Helvetica Neue"/>
                <a:cs typeface="Helvetica Neue"/>
              </a:rPr>
              <a:t>*</a:t>
            </a:r>
            <a:r>
              <a:rPr sz="1100" b="0">
                <a:solidFill>
                  <a:srgbClr val="65746C"/>
                </a:solidFill>
                <a:latin typeface="Helvetica Neue"/>
                <a:ea typeface="Helvetica Neue"/>
                <a:cs typeface="Helvetica Neue"/>
              </a:rPr>
              <a:t>Claude</a:t>
            </a:r>
            <a:r>
              <a:rPr sz="1100" b="0">
                <a:solidFill>
                  <a:srgbClr val="65746C"/>
                </a:solidFill>
                <a:latin typeface="Helvetica Neue"/>
                <a:ea typeface="Helvetica Neue"/>
                <a:cs typeface="Helvetica Neue"/>
              </a:rPr>
              <a:t> &amp;</a:t>
            </a:r>
            <a:r>
              <a:rPr sz="1100">
                <a:solidFill>
                  <a:srgbClr val="65746C"/>
                </a:solidFill>
                <a:latin typeface="Helvetica Neue"/>
                <a:ea typeface="Helvetica Neue"/>
                <a:cs typeface="Helvetica Neue"/>
              </a:rPr>
              <a:t> Google launching soon</a:t>
            </a:r>
            <a:r>
              <a:rPr sz="1350" b="0">
                <a:solidFill>
                  <a:srgbClr val="65746C"/>
                </a:solidFill>
                <a:latin typeface="Helvetica Neue"/>
                <a:ea typeface="Helvetica Neue"/>
                <a:cs typeface="Helvetica Neue"/>
              </a:rPr>
              <a:t> </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endParaRP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Data and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Cactus AI</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 other platforms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 other platforms</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endParaRP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Each category has its own software mix.</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reach local supply through one connection.</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Businesses reach connected agents through one integration.</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7</a:t>
            </a:r>
          </a:p>
        </p:txBody>
      </p:sp>
    </p:spTree>
    <p:extLst>
      <p:ext uri="{BB962C8B-B14F-4D97-AF65-F5344CB8AC3E}">
        <p14:creationId xmlns:p14="http://schemas.microsoft.com/office/powerpoint/2010/main" val="596186317"/>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9" name="v31-text-0">
            <a:extLst xmlns:a="http://schemas.openxmlformats.org/drawingml/2006/main">
              <a:ext uri="{FF2B5EF4-FFF2-40B4-BE49-F238E27FC236}">
                <a16:creationId xmlns:a16="http://schemas.microsoft.com/office/drawing/2014/main" id="{F1F8C8EB-1D23-44A0-8DFF-F6E656B0CDBF}"/>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buNone/>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CUSTOMER EXPERIENCE</a:t>
            </a:r>
          </a:p>
        </p:txBody>
      </p:sp>
      <p:sp>
        <p:nvSpPr>
          <p:cNvPr id="2" name="v31-text-1">
            <a:extLst xmlns:a="http://schemas.openxmlformats.org/drawingml/2006/main">
              <a:ext uri="{FF2B5EF4-FFF2-40B4-BE49-F238E27FC236}">
                <a16:creationId xmlns:a16="http://schemas.microsoft.com/office/drawing/2014/main" id="{E9923D42-483B-46BE-AAAB-E583237E4C10}"/>
              </a:ext>
            </a:extLst>
          </p:cNvPr>
          <p:cNvSpPr>
            <a:spLocks xmlns:a="http://schemas.openxmlformats.org/drawingml/2006/main" noGrp="1"/>
          </p:cNvSpPr>
          <p:nvPr/>
        </p:nvSpPr>
        <p:spPr>
          <a:xfrm xmlns:a="http://schemas.openxmlformats.org/drawingml/2006/main">
            <a:off x="609600" y="7429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3D3B"/>
                </a:solidFill>
                <a:latin typeface="Helvetica Neue"/>
                <a:ea typeface="Helvetica Neue"/>
                <a:cs typeface="Helvetica Neue"/>
              </a:defRPr>
            </a:defPPr>
          </a:lstStyle>
          <a:p xmlns:a="http://schemas.openxmlformats.org/drawingml/2006/main">
            <a:pPr algn="l">
              <a:buNone/>
              <a:defRPr sz="3225" b="1">
                <a:solidFill>
                  <a:srgbClr val="103D3B"/>
                </a:solidFill>
                <a:latin typeface="Helvetica Neue"/>
                <a:ea typeface="Helvetica Neue"/>
                <a:cs typeface="Helvetica Neue"/>
              </a:defRPr>
            </a:pPr>
            <a:r>
              <a:rPr sz="3225" b="1">
                <a:solidFill>
                  <a:srgbClr val="103D3B"/>
                </a:solidFill>
                <a:latin typeface="Helvetica Neue"/>
                <a:ea typeface="Helvetica Neue"/>
                <a:cs typeface="Helvetica Neue"/>
              </a:rPr>
              <a:t>GoLocal turns a scoped job into a better booking</a:t>
            </a:r>
          </a:p>
        </p:txBody>
      </p:sp>
      <p:sp>
        <p:nvSpPr>
          <p:cNvPr id="3" name="v31-text-2">
            <a:extLst xmlns:a="http://schemas.openxmlformats.org/drawingml/2006/main">
              <a:ext uri="{FF2B5EF4-FFF2-40B4-BE49-F238E27FC236}">
                <a16:creationId xmlns:a16="http://schemas.microsoft.com/office/drawing/2014/main" id="{3ECA9D22-E94A-4735-8333-93BAA2F9AEB5}"/>
              </a:ext>
            </a:extLst>
          </p:cNvPr>
          <p:cNvSpPr>
            <a:spLocks xmlns:a="http://schemas.openxmlformats.org/drawingml/2006/main" noGrp="1"/>
          </p:cNvSpPr>
          <p:nvPr/>
        </p:nvSpPr>
        <p:spPr>
          <a:xfrm xmlns:a="http://schemas.openxmlformats.org/drawingml/2006/main">
            <a:off x="609600" y="14001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Agents can scope the job today. Live business data changes how they find the right provider.</a:t>
            </a:r>
          </a:p>
        </p:txBody>
      </p:sp>
      <p:graphicFrame>
        <p:nvGraphicFramePr>
          <p:cNvPr id="4" name="Table 3">
            <a:extLst xmlns:a="http://schemas.openxmlformats.org/drawingml/2006/main">
              <a:ext uri="{FF2B5EF4-FFF2-40B4-BE49-F238E27FC236}">
                <a16:creationId xmlns:a16="http://schemas.microsoft.com/office/drawing/2014/main" id="{B7CB1B3C-1F52-4FCB-AAEF-28F17899ECAB}"/>
              </a:ext>
            </a:extLst>
          </p:cNvPr>
          <p:cNvGraphicFramePr/>
          <p:nvPr/>
        </p:nvGraphicFramePr>
        <p:xfrm>
          <a:off xmlns:a="http://schemas.openxmlformats.org/drawingml/2006/main" x="609600" y="1905000"/>
          <a:ext xmlns:a="http://schemas.openxmlformats.org/drawingml/2006/main" cx="10972800" cy="1562100"/>
        </p:xfrm>
        <a:graphic xmlns:a="http://schemas.openxmlformats.org/drawingml/2006/main">
          <a:graphicData uri="http://schemas.openxmlformats.org/drawingml/2006/table">
            <a:tbl>
              <a:tblPr/>
              <a:tblGrid>
                <a:gridCol w="1581150"/>
                <a:gridCol w="4552950"/>
                <a:gridCol w="4838700"/>
              </a:tblGrid>
              <a:tr h="781050">
                <a:tc>
                  <a:txBody>
                    <a:bodyPr/>
                    <a:lstStyle/>
                    <a:p>
                      <a:pPr algn="l">
                        <a:buNone/>
                      </a:pPr>
                      <a:r>
                        <a:rPr sz="1350" b="1">
                          <a:solidFill>
                            <a:srgbClr val="A34E3F"/>
                          </a:solidFill>
                          <a:latin typeface="Helvetica Neue"/>
                          <a:ea typeface="Helvetica Neue"/>
                          <a:cs typeface="Helvetica Neue"/>
                        </a:rPr>
                        <a:t>TODAY</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a:lstStyle/>
                    <a:p>
                      <a:pPr algn="l">
                        <a:buNone/>
                      </a:pPr>
                      <a:r>
                        <a:rPr sz="1575" b="0">
                          <a:solidFill>
                            <a:srgbClr val="103D3B"/>
                          </a:solidFill>
                          <a:latin typeface="Helvetica Neue"/>
                          <a:ea typeface="Helvetica Neue"/>
                          <a:cs typeface="Helvetica Neue"/>
                        </a:rPr>
                        <a:t>Search Google listings. Call 2–3 businesses.</a:t>
                      </a:r>
                    </a:p>
                    <a:p>
                      <a:pPr algn="l">
                        <a:buNone/>
                      </a:pPr>
                      <a:r>
                        <a:rPr sz="1575" b="0">
                          <a:solidFill>
                            <a:srgbClr val="103D3B"/>
                          </a:solidFill>
                          <a:latin typeface="Helvetica Neue"/>
                          <a:ea typeface="Helvetica Neue"/>
                          <a:cs typeface="Helvetica Neue"/>
                        </a:rPr>
                        <a:t>Check price and availability one at a time.</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a:lstStyle/>
                    <a:p>
                      <a:pPr algn="l">
                        <a:buNone/>
                      </a:pPr>
                      <a:r>
                        <a:rPr sz="1575" b="0">
                          <a:solidFill>
                            <a:srgbClr val="103D3B"/>
                          </a:solidFill>
                          <a:latin typeface="Helvetica Neue"/>
                          <a:ea typeface="Helvetica Neue"/>
                          <a:cs typeface="Helvetica Neue"/>
                        </a:rPr>
                        <a:t>A narrow search can miss better matches.</a:t>
                      </a:r>
                    </a:p>
                    <a:p>
                      <a:pPr algn="l">
                        <a:buNone/>
                      </a:pPr>
                      <a:r>
                        <a:rPr sz="1575" b="0">
                          <a:solidFill>
                            <a:srgbClr val="103D3B"/>
                          </a:solidFill>
                          <a:latin typeface="Helvetica Neue"/>
                          <a:ea typeface="Helvetica Neue"/>
                          <a:cs typeface="Helvetica Neue"/>
                        </a:rPr>
                        <a:t>Repeated browsing and calls consume tokens.</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r>
              <a:tr h="781050">
                <a:tc>
                  <a:txBody>
                    <a:bodyPr/>
                    <a:lstStyle/>
                    <a:p>
                      <a:pPr algn="l">
                        <a:buNone/>
                      </a:pPr>
                      <a:r>
                        <a:rPr sz="1350" b="1">
                          <a:solidFill>
                            <a:srgbClr val="236C4E"/>
                          </a:solidFill>
                          <a:latin typeface="Helvetica Neue"/>
                          <a:ea typeface="Helvetica Neue"/>
                          <a:cs typeface="Helvetica Neue"/>
                        </a:rPr>
                        <a:t>WITH GOLOCAL</a:t>
                      </a:r>
                    </a:p>
                  </a:txBody>
                  <a:tcPr marL="114300" marR="95250" marT="85725" marB="85725" anchor="ctr">
                    <a:lnL w="0">
                      <a:solidFill>
                        <a:srgbClr val="F5F2E9"/>
                      </a:solidFill>
                    </a:lnL>
                    <a:lnR w="0">
                      <a:solidFill>
                        <a:srgbClr val="F5F2E9"/>
                      </a:solidFill>
                    </a:lnR>
                    <a:lnT w="0" cmpd="sng">
                      <a:solidFill>
                        <a:srgbClr val="F5F2E9"/>
                      </a:solidFill>
                      <a:prstDash val="solid"/>
                    </a:lnT>
                    <a:lnB w="0">
                      <a:solidFill>
                        <a:srgbClr val="F5F2E9"/>
                      </a:solidFill>
                    </a:lnB>
                    <a:solidFill>
                      <a:srgbClr val="E1EADC"/>
                    </a:solidFill>
                  </a:tcPr>
                </a:tc>
                <a:tc>
                  <a:txBody>
                    <a:bodyPr/>
                    <a:lstStyle/>
                    <a:p>
                      <a:pPr algn="l">
                        <a:buNone/>
                      </a:pPr>
                      <a:r>
                        <a:rPr sz="1575" b="0">
                          <a:solidFill>
                            <a:srgbClr val="103D3B"/>
                          </a:solidFill>
                          <a:latin typeface="Helvetica Neue"/>
                          <a:ea typeface="Helvetica Neue"/>
                          <a:cs typeface="Helvetica Neue"/>
                        </a:rPr>
                        <a:t>Search hundreds of connected businesses.</a:t>
                      </a:r>
                    </a:p>
                    <a:p>
                      <a:pPr algn="l">
                        <a:buNone/>
                      </a:pPr>
                      <a:r>
                        <a:rPr sz="1575" b="0">
                          <a:solidFill>
                            <a:srgbClr val="103D3B"/>
                          </a:solidFill>
                          <a:latin typeface="Helvetica Neue"/>
                          <a:ea typeface="Helvetica Neue"/>
                          <a:cs typeface="Helvetica Neue"/>
                        </a:rPr>
                        <a:t>Target: match in a fraction of a second.</a:t>
                      </a:r>
                    </a:p>
                  </a:txBody>
                  <a:tcPr marL="114300" marR="95250" marT="85725" marB="85725" anchor="ctr">
                    <a:lnL w="0">
                      <a:solidFill>
                        <a:srgbClr val="F5F2E9"/>
                      </a:solidFill>
                    </a:lnL>
                    <a:lnR w="0">
                      <a:solidFill>
                        <a:srgbClr val="F5F2E9"/>
                      </a:solidFill>
                    </a:lnR>
                    <a:lnT w="0" cmpd="sng">
                      <a:solidFill>
                        <a:srgbClr val="F5F2E9"/>
                      </a:solidFill>
                      <a:prstDash val="solid"/>
                    </a:lnT>
                    <a:lnB w="0">
                      <a:solidFill>
                        <a:srgbClr val="F5F2E9"/>
                      </a:solidFill>
                    </a:lnB>
                    <a:solidFill>
                      <a:srgbClr val="E1EADC"/>
                    </a:solidFill>
                  </a:tcPr>
                </a:tc>
                <a:tc>
                  <a:txBody>
                    <a:bodyPr/>
                    <a:lstStyle/>
                    <a:p>
                      <a:pPr algn="l">
                        <a:buNone/>
                      </a:pPr>
                      <a:r>
                        <a:rPr sz="1575" b="0">
                          <a:solidFill>
                            <a:srgbClr val="103D3B"/>
                          </a:solidFill>
                          <a:latin typeface="Helvetica Neue"/>
                          <a:ea typeface="Helvetica Neue"/>
                          <a:cs typeface="Helvetica Neue"/>
                        </a:rPr>
                        <a:t>Compare price, live availability, specialization</a:t>
                      </a:r>
                    </a:p>
                    <a:p>
                      <a:pPr algn="l">
                        <a:buNone/>
                      </a:pPr>
                      <a:r>
                        <a:rPr sz="1575" b="0">
                          <a:solidFill>
                            <a:srgbClr val="103D3B"/>
                          </a:solidFill>
                          <a:latin typeface="Helvetica Neue"/>
                          <a:ea typeface="Helvetica Neue"/>
                          <a:cs typeface="Helvetica Neue"/>
                        </a:rPr>
                        <a:t>and past transaction reviews to find the best fit.</a:t>
                      </a:r>
                    </a:p>
                  </a:txBody>
                  <a:tcPr marL="114300" marR="95250" marT="85725" marB="85725" anchor="ctr">
                    <a:lnL w="0">
                      <a:solidFill>
                        <a:srgbClr val="F5F2E9"/>
                      </a:solidFill>
                    </a:lnL>
                    <a:lnR w="0">
                      <a:solidFill>
                        <a:srgbClr val="F5F2E9"/>
                      </a:solidFill>
                    </a:lnR>
                    <a:lnT w="0" cmpd="sng">
                      <a:solidFill>
                        <a:srgbClr val="F5F2E9"/>
                      </a:solidFill>
                      <a:prstDash val="solid"/>
                    </a:lnT>
                    <a:lnB w="0">
                      <a:solidFill>
                        <a:srgbClr val="F5F2E9"/>
                      </a:solidFill>
                    </a:lnB>
                    <a:solidFill>
                      <a:srgbClr val="E1EADC"/>
                    </a:solidFill>
                  </a:tcPr>
                </a:tc>
              </a:tr>
            </a:tbl>
          </a:graphicData>
        </a:graphic>
      </p:graphicFrame>
      <p:sp>
        <p:nvSpPr>
          <p:cNvPr id="5" name="v31-text-3">
            <a:extLst xmlns:a="http://schemas.openxmlformats.org/drawingml/2006/main">
              <a:ext uri="{FF2B5EF4-FFF2-40B4-BE49-F238E27FC236}">
                <a16:creationId xmlns:a16="http://schemas.microsoft.com/office/drawing/2014/main" id="{B132B958-7D87-42F4-A5A2-2A0A917B7366}"/>
              </a:ext>
            </a:extLst>
          </p:cNvPr>
          <p:cNvSpPr>
            <a:spLocks xmlns:a="http://schemas.openxmlformats.org/drawingml/2006/main" noGrp="1"/>
          </p:cNvSpPr>
          <p:nvPr/>
        </p:nvSpPr>
        <p:spPr>
          <a:xfrm xmlns:a="http://schemas.openxmlformats.org/drawingml/2006/main">
            <a:off x="609600" y="37623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53716A"/>
                </a:solidFill>
                <a:latin typeface="Helvetica Neue"/>
                <a:ea typeface="Helvetica Neue"/>
                <a:cs typeface="Helvetica Neue"/>
              </a:defRPr>
            </a:defPPr>
          </a:lstStyle>
          <a:p xmlns:a="http://schemas.openxmlformats.org/drawingml/2006/main">
            <a:pPr algn="l">
              <a:buNone/>
              <a:defRPr sz="1200" b="1">
                <a:solidFill>
                  <a:srgbClr val="53716A"/>
                </a:solidFill>
                <a:latin typeface="Helvetica Neue"/>
                <a:ea typeface="Helvetica Neue"/>
                <a:cs typeface="Helvetica Neue"/>
              </a:defRPr>
            </a:pPr>
            <a:r>
              <a:rPr sz="1200" b="1">
                <a:solidFill>
                  <a:srgbClr val="53716A"/>
                </a:solidFill>
                <a:latin typeface="Helvetica Neue"/>
                <a:ea typeface="Helvetica Neue"/>
                <a:cs typeface="Helvetica Neue"/>
              </a:rPr>
              <a:t>THE GOLOCAL BOOKING JOURNEY</a:t>
            </a:r>
          </a:p>
        </p:txBody>
      </p:sp>
      <p:sp>
        <p:nvSpPr>
          <p:cNvPr id="6" name="v31-text-4">
            <a:extLst xmlns:a="http://schemas.openxmlformats.org/drawingml/2006/main">
              <a:ext uri="{FF2B5EF4-FFF2-40B4-BE49-F238E27FC236}">
                <a16:creationId xmlns:a16="http://schemas.microsoft.com/office/drawing/2014/main" id="{3A22AD76-2F77-44FC-B236-472374BFC5E3}"/>
              </a:ext>
            </a:extLst>
          </p:cNvPr>
          <p:cNvSpPr>
            <a:spLocks xmlns:a="http://schemas.openxmlformats.org/drawingml/2006/main" noGrp="1"/>
          </p:cNvSpPr>
          <p:nvPr/>
        </p:nvSpPr>
        <p:spPr>
          <a:xfrm xmlns:a="http://schemas.openxmlformats.org/drawingml/2006/main">
            <a:off x="609600" y="40862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03D3B"/>
                </a:solidFill>
                <a:latin typeface="Helvetica Neue"/>
                <a:ea typeface="Helvetica Neue"/>
                <a:cs typeface="Helvetica Neue"/>
              </a:defRPr>
            </a:defPPr>
          </a:lstStyle>
          <a:p xmlns:a="http://schemas.openxmlformats.org/drawingml/2006/main">
            <a:pPr algn="l">
              <a:buNone/>
              <a:defRPr sz="2025" b="1">
                <a:solidFill>
                  <a:srgbClr val="103D3B"/>
                </a:solidFill>
                <a:latin typeface="Helvetica Neue"/>
                <a:ea typeface="Helvetica Neue"/>
                <a:cs typeface="Helvetica Neue"/>
              </a:defRPr>
            </a:pPr>
            <a:r>
              <a:rPr sz="2025" b="1">
                <a:solidFill>
                  <a:srgbClr val="103D3B"/>
                </a:solidFill>
                <a:latin typeface="Helvetica Neue"/>
                <a:ea typeface="Helvetica Neue"/>
                <a:cs typeface="Helvetica Neue"/>
              </a:rPr>
              <a:t>“Book a plumber tomorrow morning for my leaking kitchen tap.”</a:t>
            </a:r>
          </a:p>
        </p:txBody>
      </p:sp>
      <p:sp>
        <p:nvSpPr>
          <p:cNvPr id="7" name="v31-text-5">
            <a:extLst xmlns:a="http://schemas.openxmlformats.org/drawingml/2006/main">
              <a:ext uri="{FF2B5EF4-FFF2-40B4-BE49-F238E27FC236}">
                <a16:creationId xmlns:a16="http://schemas.microsoft.com/office/drawing/2014/main" id="{966DF0A5-16BD-43A5-A573-344F93B48D31}"/>
              </a:ext>
            </a:extLst>
          </p:cNvPr>
          <p:cNvSpPr>
            <a:spLocks xmlns:a="http://schemas.openxmlformats.org/drawingml/2006/main" noGrp="1"/>
          </p:cNvSpPr>
          <p:nvPr/>
        </p:nvSpPr>
        <p:spPr>
          <a:xfrm xmlns:a="http://schemas.openxmlformats.org/drawingml/2006/main">
            <a:off x="6096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3D3B"/>
                </a:solidFill>
                <a:latin typeface="Helvetica Neue"/>
                <a:ea typeface="Helvetica Neue"/>
                <a:cs typeface="Helvetica Neue"/>
              </a:defRPr>
            </a:defPPr>
          </a:lstStyle>
          <a:p xmlns:a="http://schemas.openxmlformats.org/drawingml/2006/main">
            <a:pPr algn="l">
              <a:buNone/>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1  Agent scopes the job</a:t>
            </a:r>
          </a:p>
        </p:txBody>
      </p:sp>
      <p:sp>
        <p:nvSpPr>
          <p:cNvPr id="8" name="v31-text-6">
            <a:extLst xmlns:a="http://schemas.openxmlformats.org/drawingml/2006/main">
              <a:ext uri="{FF2B5EF4-FFF2-40B4-BE49-F238E27FC236}">
                <a16:creationId xmlns:a16="http://schemas.microsoft.com/office/drawing/2014/main" id="{E3A497E9-ABD5-4FDD-B03F-605AC0CC5904}"/>
              </a:ext>
            </a:extLst>
          </p:cNvPr>
          <p:cNvSpPr>
            <a:spLocks xmlns:a="http://schemas.openxmlformats.org/drawingml/2006/main" noGrp="1"/>
          </p:cNvSpPr>
          <p:nvPr/>
        </p:nvSpPr>
        <p:spPr>
          <a:xfrm xmlns:a="http://schemas.openxmlformats.org/drawingml/2006/main">
            <a:off x="6096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Agent works with user and </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Go-local to scope the work with photos and questions </a:t>
            </a:r>
            <a:endParaRPr sz="1500" b="0">
              <a:solidFill>
                <a:srgbClr val="103D3B"/>
              </a:solidFill>
              <a:latin typeface="Helvetica Neue"/>
              <a:ea typeface="Helvetica Neue"/>
              <a:cs typeface="Helvetica Neue"/>
            </a:endParaRPr>
          </a:p>
        </p:txBody>
      </p:sp>
      <p:sp>
        <p:nvSpPr>
          <p:cNvPr id="9" name="v31-text-7">
            <a:extLst xmlns:a="http://schemas.openxmlformats.org/drawingml/2006/main">
              <a:ext uri="{FF2B5EF4-FFF2-40B4-BE49-F238E27FC236}">
                <a16:creationId xmlns:a16="http://schemas.microsoft.com/office/drawing/2014/main" id="{618604E1-578F-40B3-90EF-1B9319CC3E0E}"/>
              </a:ext>
            </a:extLst>
          </p:cNvPr>
          <p:cNvSpPr>
            <a:spLocks xmlns:a="http://schemas.openxmlformats.org/drawingml/2006/main" noGrp="1"/>
          </p:cNvSpPr>
          <p:nvPr/>
        </p:nvSpPr>
        <p:spPr>
          <a:xfrm xmlns:a="http://schemas.openxmlformats.org/drawingml/2006/main">
            <a:off x="34671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2  GoLocal compares</a:t>
            </a:r>
          </a:p>
        </p:txBody>
      </p:sp>
      <p:sp>
        <p:nvSpPr>
          <p:cNvPr id="10" name="v31-text-8">
            <a:extLst xmlns:a="http://schemas.openxmlformats.org/drawingml/2006/main">
              <a:ext uri="{FF2B5EF4-FFF2-40B4-BE49-F238E27FC236}">
                <a16:creationId xmlns:a16="http://schemas.microsoft.com/office/drawing/2014/main" id="{E57A3C66-702B-49A7-8267-BD5381F09756}"/>
              </a:ext>
            </a:extLst>
          </p:cNvPr>
          <p:cNvSpPr>
            <a:spLocks xmlns:a="http://schemas.openxmlformats.org/drawingml/2006/main" noGrp="1"/>
          </p:cNvSpPr>
          <p:nvPr/>
        </p:nvSpPr>
        <p:spPr>
          <a:xfrm xmlns:a="http://schemas.openxmlformats.org/drawingml/2006/main">
            <a:off x="34671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Finds suitable providers</a:t>
            </a:r>
            <a:r>
              <a:rPr sz="1500">
                <a:solidFill>
                  <a:srgbClr val="103D3B"/>
                </a:solidFill>
                <a:latin typeface="Helvetica Neue"/>
                <a:ea typeface="Helvetica Neue"/>
                <a:cs typeface="Helvetica Neue"/>
              </a:rPr>
              <a:t> across </a:t>
            </a:r>
            <a:r>
              <a:rPr sz="1500" b="0">
                <a:solidFill>
                  <a:srgbClr val="103D3B"/>
                </a:solidFill>
                <a:latin typeface="Helvetica Neue"/>
                <a:ea typeface="Helvetica Neue"/>
                <a:cs typeface="Helvetica Neue"/>
              </a:rPr>
              <a:t> ratings</a:t>
            </a:r>
            <a:r>
              <a:rPr sz="1500" b="0">
                <a:solidFill>
                  <a:srgbClr val="103D3B"/>
                </a:solidFill>
                <a:latin typeface="Helvetica Neue"/>
                <a:ea typeface="Helvetica Neue"/>
                <a:cs typeface="Helvetica Neue"/>
              </a:rPr>
              <a:t>,</a:t>
            </a:r>
            <a:r>
              <a:rPr sz="1500">
                <a:solidFill>
                  <a:srgbClr val="103D3B"/>
                </a:solidFill>
                <a:latin typeface="Helvetica Neue"/>
                <a:ea typeface="Helvetica Neue"/>
                <a:cs typeface="Helvetica Neue"/>
              </a:rPr>
              <a:t> </a:t>
            </a:r>
            <a:r>
              <a:rPr sz="1500" b="0">
                <a:solidFill>
                  <a:srgbClr val="103D3B"/>
                </a:solidFill>
                <a:latin typeface="Helvetica Neue"/>
                <a:ea typeface="Helvetica Neue"/>
                <a:cs typeface="Helvetica Neue"/>
              </a:rPr>
              <a:t>availability</a:t>
            </a:r>
            <a:r>
              <a:rPr sz="1500" b="0">
                <a:solidFill>
                  <a:srgbClr val="103D3B"/>
                </a:solidFill>
                <a:latin typeface="Helvetica Neue"/>
                <a:ea typeface="Helvetica Neue"/>
                <a:cs typeface="Helvetica Neue"/>
              </a:rPr>
              <a:t> and pricing</a:t>
            </a:r>
            <a:endParaRPr sz="1500" b="0">
              <a:solidFill>
                <a:srgbClr val="103D3B"/>
              </a:solidFill>
              <a:latin typeface="Helvetica Neue"/>
              <a:ea typeface="Helvetica Neue"/>
              <a:cs typeface="Helvetica Neue"/>
            </a:endParaRPr>
          </a:p>
        </p:txBody>
      </p:sp>
      <p:sp>
        <p:nvSpPr>
          <p:cNvPr id="11" name="v31-text-9">
            <a:extLst xmlns:a="http://schemas.openxmlformats.org/drawingml/2006/main">
              <a:ext uri="{FF2B5EF4-FFF2-40B4-BE49-F238E27FC236}">
                <a16:creationId xmlns:a16="http://schemas.microsoft.com/office/drawing/2014/main" id="{A6535DB2-F6C2-4C61-AA3A-F2783DF038A5}"/>
              </a:ext>
            </a:extLst>
          </p:cNvPr>
          <p:cNvSpPr>
            <a:spLocks xmlns:a="http://schemas.openxmlformats.org/drawingml/2006/main" noGrp="1"/>
          </p:cNvSpPr>
          <p:nvPr/>
        </p:nvSpPr>
        <p:spPr>
          <a:xfrm xmlns:a="http://schemas.openxmlformats.org/drawingml/2006/main">
            <a:off x="63246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3D3B"/>
                </a:solidFill>
                <a:latin typeface="Helvetica Neue"/>
                <a:ea typeface="Helvetica Neue"/>
                <a:cs typeface="Helvetica Neue"/>
              </a:defRPr>
            </a:defPPr>
          </a:lstStyle>
          <a:p xmlns:a="http://schemas.openxmlformats.org/drawingml/2006/main">
            <a:pPr algn="l">
              <a:buNone/>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3  Customer approves</a:t>
            </a:r>
          </a:p>
        </p:txBody>
      </p:sp>
      <p:sp>
        <p:nvSpPr>
          <p:cNvPr id="12" name="v31-text-10">
            <a:extLst xmlns:a="http://schemas.openxmlformats.org/drawingml/2006/main">
              <a:ext uri="{FF2B5EF4-FFF2-40B4-BE49-F238E27FC236}">
                <a16:creationId xmlns:a16="http://schemas.microsoft.com/office/drawing/2014/main" id="{18B02C09-B853-4E71-827C-037B91BF763B}"/>
              </a:ext>
            </a:extLst>
          </p:cNvPr>
          <p:cNvSpPr>
            <a:spLocks xmlns:a="http://schemas.openxmlformats.org/drawingml/2006/main" noGrp="1"/>
          </p:cNvSpPr>
          <p:nvPr/>
        </p:nvSpPr>
        <p:spPr>
          <a:xfrm xmlns:a="http://schemas.openxmlformats.org/drawingml/2006/main">
            <a:off x="63246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Chooses </a:t>
            </a:r>
            <a:r>
              <a:rPr sz="1500" b="0">
                <a:solidFill>
                  <a:srgbClr val="103D3B"/>
                </a:solidFill>
                <a:latin typeface="Helvetica Neue"/>
                <a:ea typeface="Helvetica Neue"/>
                <a:cs typeface="Helvetica Neue"/>
              </a:rPr>
              <a:t>best match </a:t>
            </a:r>
            <a:endParaRPr sz="1500" b="0">
              <a:solidFill>
                <a:srgbClr val="103D3B"/>
              </a:solidFill>
              <a:latin typeface="Helvetica Neue"/>
              <a:ea typeface="Helvetica Neue"/>
              <a:cs typeface="Helvetica Neue"/>
            </a:endParaRP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Authorizes the $79 visit</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and payment.</a:t>
            </a:r>
          </a:p>
        </p:txBody>
      </p:sp>
      <p:sp>
        <p:nvSpPr>
          <p:cNvPr id="13" name="v31-text-11">
            <a:extLst xmlns:a="http://schemas.openxmlformats.org/drawingml/2006/main">
              <a:ext uri="{FF2B5EF4-FFF2-40B4-BE49-F238E27FC236}">
                <a16:creationId xmlns:a16="http://schemas.microsoft.com/office/drawing/2014/main" id="{FF4FCD7E-B9C0-4B0B-B470-6CA543F2E900}"/>
              </a:ext>
            </a:extLst>
          </p:cNvPr>
          <p:cNvSpPr>
            <a:spLocks xmlns:a="http://schemas.openxmlformats.org/drawingml/2006/main" noGrp="1"/>
          </p:cNvSpPr>
          <p:nvPr/>
        </p:nvSpPr>
        <p:spPr>
          <a:xfrm xmlns:a="http://schemas.openxmlformats.org/drawingml/2006/main">
            <a:off x="9182100" y="4610100"/>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4  GoLocal books</a:t>
            </a:r>
          </a:p>
        </p:txBody>
      </p:sp>
      <p:sp>
        <p:nvSpPr>
          <p:cNvPr id="14" name="v31-text-12">
            <a:extLst xmlns:a="http://schemas.openxmlformats.org/drawingml/2006/main">
              <a:ext uri="{FF2B5EF4-FFF2-40B4-BE49-F238E27FC236}">
                <a16:creationId xmlns:a16="http://schemas.microsoft.com/office/drawing/2014/main" id="{CB0F95B8-9D3F-42BF-913E-60A45DE272FB}"/>
              </a:ext>
            </a:extLst>
          </p:cNvPr>
          <p:cNvSpPr>
            <a:spLocks xmlns:a="http://schemas.openxmlformats.org/drawingml/2006/main" noGrp="1"/>
          </p:cNvSpPr>
          <p:nvPr/>
        </p:nvSpPr>
        <p:spPr>
          <a:xfrm xmlns:a="http://schemas.openxmlformats.org/drawingml/2006/main">
            <a:off x="9182100" y="5010150"/>
            <a:ext cx="24003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Books in provider system.</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Returns booking ID and</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payment status.</a:t>
            </a:r>
          </a:p>
        </p:txBody>
      </p:sp>
      <p:sp>
        <p:nvSpPr>
          <p:cNvPr id="15" name="v31-text-13">
            <a:extLst xmlns:a="http://schemas.openxmlformats.org/drawingml/2006/main">
              <a:ext uri="{FF2B5EF4-FFF2-40B4-BE49-F238E27FC236}">
                <a16:creationId xmlns:a16="http://schemas.microsoft.com/office/drawing/2014/main" id="{6D3B9BBC-6172-46AA-8D0C-E94267AD8D1F}"/>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236C4E"/>
                </a:solidFill>
                <a:latin typeface="Helvetica Neue"/>
                <a:ea typeface="Helvetica Neue"/>
                <a:cs typeface="Helvetica Neue"/>
              </a:defRPr>
            </a:defPPr>
          </a:lstStyle>
          <a:p xmlns:a="http://schemas.openxmlformats.org/drawingml/2006/main">
            <a:pPr algn="l">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Confirmed: Oak Plumbing, tomorrow 9–11 am</a:t>
            </a:r>
          </a:p>
        </p:txBody>
      </p:sp>
      <p:sp>
        <p:nvSpPr>
          <p:cNvPr id="16" name="v31-text-14">
            <a:extLst xmlns:a="http://schemas.openxmlformats.org/drawingml/2006/main">
              <a:ext uri="{FF2B5EF4-FFF2-40B4-BE49-F238E27FC236}">
                <a16:creationId xmlns:a16="http://schemas.microsoft.com/office/drawing/2014/main" id="{22C67580-34D1-49BC-ADD6-B9B4C984F269}"/>
              </a:ext>
            </a:extLst>
          </p:cNvPr>
          <p:cNvSpPr>
            <a:spLocks xmlns:a="http://schemas.openxmlformats.org/drawingml/2006/main" noGrp="1"/>
          </p:cNvSpPr>
          <p:nvPr/>
        </p:nvSpPr>
        <p:spPr>
          <a:xfrm xmlns:a="http://schemas.openxmlformats.org/drawingml/2006/main">
            <a:off x="609600" y="6257925"/>
            <a:ext cx="1097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3716A"/>
                </a:solidFill>
                <a:latin typeface="Helvetica Neue"/>
                <a:ea typeface="Helvetica Neue"/>
                <a:cs typeface="Helvetica Neue"/>
              </a:defRPr>
            </a:defPPr>
          </a:lstStyle>
          <a:p xmlns:a="http://schemas.openxmlformats.org/drawingml/2006/main">
            <a:pPr algn="l">
              <a:buNone/>
              <a:defRPr sz="1350" b="0">
                <a:solidFill>
                  <a:srgbClr val="53716A"/>
                </a:solidFill>
                <a:latin typeface="Helvetica Neue"/>
                <a:ea typeface="Helvetica Neue"/>
                <a:cs typeface="Helvetica Neue"/>
              </a:defRPr>
            </a:pPr>
            <a:r>
              <a:rPr sz="1350" b="0">
                <a:solidFill>
                  <a:srgbClr val="53716A"/>
                </a:solidFill>
                <a:latin typeface="Helvetica Neue"/>
                <a:ea typeface="Helvetica Neue"/>
                <a:cs typeface="Helvetica Neue"/>
              </a:rPr>
              <a:t>Booking GL-1042. $79 visit fee authorized. </a:t>
            </a:r>
          </a:p>
        </p:txBody>
      </p:sp>
      <p:sp>
        <p:nvSpPr>
          <p:cNvPr id="18" name="v31-text-16">
            <a:extLst xmlns:a="http://schemas.openxmlformats.org/drawingml/2006/main">
              <a:ext uri="{FF2B5EF4-FFF2-40B4-BE49-F238E27FC236}">
                <a16:creationId xmlns:a16="http://schemas.microsoft.com/office/drawing/2014/main" id="{72DB3F0C-6E0B-4F99-BBEC-61E0A9585480}"/>
              </a:ext>
            </a:extLst>
          </p:cNvPr>
          <p:cNvSpPr>
            <a:spLocks xmlns:a="http://schemas.openxmlformats.org/drawingml/2006/main" noGrp="1"/>
          </p:cNvSpPr>
          <p:nvPr/>
        </p:nvSpPr>
        <p:spPr>
          <a:xfrm xmlns:a="http://schemas.openxmlformats.org/drawingml/2006/main">
            <a:off x="11049000" y="66389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buNone/>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4 / 7</a:t>
            </a:r>
          </a:p>
        </p:txBody>
      </p:sp>
    </p:spTree>
    <p:extLst>
      <p:ext uri="{BB962C8B-B14F-4D97-AF65-F5344CB8AC3E}">
        <p14:creationId xmlns:p14="http://schemas.microsoft.com/office/powerpoint/2010/main" val="262451054"/>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7" name="Straight Arrow Connector 16">
            <a:extLst xmlns:a="http://schemas.openxmlformats.org/drawingml/2006/main">
              <a:ext uri="{FF2B5EF4-FFF2-40B4-BE49-F238E27FC236}">
                <a16:creationId xmlns:a16="http://schemas.microsoft.com/office/drawing/2014/main" id="{D357DD54-81B8-47D9-9C36-CC3140DA54B0}"/>
              </a:ext>
            </a:extLst>
          </p:cNvPr>
          <p:cNvCxnSpPr>
            <a:stCxn xmlns:a="http://schemas.openxmlformats.org/drawingml/2006/main" id="13" idx="0"/>
            <a:endCxn xmlns:a="http://schemas.openxmlformats.org/drawingml/2006/main" id="10" idx="2"/>
          </p:cNvCxnSpPr>
          <p:nvPr/>
        </p:nvCxnSpPr>
        <p:spPr>
          <a:xfrm xmlns:a="http://schemas.openxmlformats.org/drawingml/2006/main" flipV="1">
            <a:off x="5881688" y="3514725"/>
            <a:ext cx="0" cy="60960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Straight Arrow Connector 15">
            <a:extLst xmlns:a="http://schemas.openxmlformats.org/drawingml/2006/main">
              <a:ext uri="{FF2B5EF4-FFF2-40B4-BE49-F238E27FC236}">
                <a16:creationId xmlns:a16="http://schemas.microsoft.com/office/drawing/2014/main" id="{5D820BED-15B2-4125-BBD8-47651C19E72A}"/>
              </a:ext>
            </a:extLst>
          </p:cNvPr>
          <p:cNvCxnSpPr/>
          <p:nvPr/>
        </p:nvCxnSpPr>
        <p:spPr>
          <a:xfrm xmlns:a="http://schemas.openxmlformats.org/drawingml/2006/main" flipH="1" flipV="1">
            <a:off x="7790328" y="4486275"/>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5" name="Straight Arrow Connector 14">
            <a:extLst xmlns:a="http://schemas.openxmlformats.org/drawingml/2006/main">
              <a:ext uri="{FF2B5EF4-FFF2-40B4-BE49-F238E27FC236}">
                <a16:creationId xmlns:a16="http://schemas.microsoft.com/office/drawing/2014/main" id="{91025B3A-50A5-4B27-B0ED-7DE24FCAD9A4}"/>
              </a:ext>
            </a:extLst>
          </p:cNvPr>
          <p:cNvCxnSpPr>
            <a:stCxn xmlns:a="http://schemas.openxmlformats.org/drawingml/2006/main" id="11" idx="2"/>
            <a:endCxn xmlns:a="http://schemas.openxmlformats.org/drawingml/2006/main" id="12" idx="0"/>
          </p:cNvCxnSpPr>
          <p:nvPr/>
        </p:nvCxnSpPr>
        <p:spPr>
          <a:xfrm xmlns:a="http://schemas.openxmlformats.org/drawingml/2006/main">
            <a:off x="10063163" y="3695700"/>
            <a:ext cx="0" cy="4762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Straight Arrow Connector 13">
            <a:extLst xmlns:a="http://schemas.openxmlformats.org/drawingml/2006/main">
              <a:ext uri="{FF2B5EF4-FFF2-40B4-BE49-F238E27FC236}">
                <a16:creationId xmlns:a16="http://schemas.microsoft.com/office/drawing/2014/main" id="{5CE96D6E-84BE-4557-9053-228263D60A12}"/>
              </a:ext>
            </a:extLst>
          </p:cNvPr>
          <p:cNvCxnSpPr>
            <a:stCxn xmlns:a="http://schemas.openxmlformats.org/drawingml/2006/main" id="10" idx="3"/>
            <a:endCxn xmlns:a="http://schemas.openxmlformats.org/drawingml/2006/main" id="11" idx="1"/>
          </p:cNvCxnSpPr>
          <p:nvPr/>
        </p:nvCxnSpPr>
        <p:spPr>
          <a:xfrm xmlns:a="http://schemas.openxmlformats.org/drawingml/2006/main">
            <a:off x="7467600" y="3195638"/>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3" name="v27-text-7">
            <a:extLst xmlns:a="http://schemas.openxmlformats.org/drawingml/2006/main">
              <a:ext uri="{FF2B5EF4-FFF2-40B4-BE49-F238E27FC236}">
                <a16:creationId xmlns:a16="http://schemas.microsoft.com/office/drawing/2014/main" id="{552406B7-7212-4A4E-9D8F-4BF49224FCF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v27-text-8">
            <a:extLst xmlns:a="http://schemas.openxmlformats.org/drawingml/2006/main">
              <a:ext uri="{FF2B5EF4-FFF2-40B4-BE49-F238E27FC236}">
                <a16:creationId xmlns:a16="http://schemas.microsoft.com/office/drawing/2014/main" id="{09EF2AB4-50EE-4D03-BB1C-EA0D87949576}"/>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bookings can build a stronger local network</a:t>
            </a:r>
          </a:p>
        </p:txBody>
      </p:sp>
      <p:sp>
        <p:nvSpPr>
          <p:cNvPr id="3" name="v27-text-9">
            <a:extLst xmlns:a="http://schemas.openxmlformats.org/drawingml/2006/main">
              <a:ext uri="{FF2B5EF4-FFF2-40B4-BE49-F238E27FC236}">
                <a16:creationId xmlns:a16="http://schemas.microsoft.com/office/drawing/2014/main" id="{6751AF65-204F-462C-93D4-1DBF2FD9D9F9}"/>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One city and one service category first.</a:t>
            </a:r>
          </a:p>
        </p:txBody>
      </p:sp>
      <p:sp>
        <p:nvSpPr>
          <p:cNvPr id="4" name="v27-text-10">
            <a:extLst xmlns:a="http://schemas.openxmlformats.org/drawingml/2006/main">
              <a:ext uri="{FF2B5EF4-FFF2-40B4-BE49-F238E27FC236}">
                <a16:creationId xmlns:a16="http://schemas.microsoft.com/office/drawing/2014/main" id="{6C7C6279-3DD2-4E61-BB69-C15A5C0182D3}"/>
              </a:ext>
            </a:extLst>
          </p:cNvPr>
          <p:cNvSpPr>
            <a:spLocks xmlns:a="http://schemas.openxmlformats.org/drawingml/2006/main" noGrp="1"/>
          </p:cNvSpPr>
          <p:nvPr/>
        </p:nvSpPr>
        <p:spPr>
          <a:xfrm xmlns:a="http://schemas.openxmlformats.org/drawingml/2006/main">
            <a:off x="495300" y="210502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1  Build a local market</a:t>
            </a:r>
          </a:p>
        </p:txBody>
      </p:sp>
      <p:sp>
        <p:nvSpPr>
          <p:cNvPr id="5" name="v27-text-11">
            <a:extLst xmlns:a="http://schemas.openxmlformats.org/drawingml/2006/main">
              <a:ext uri="{FF2B5EF4-FFF2-40B4-BE49-F238E27FC236}">
                <a16:creationId xmlns:a16="http://schemas.microsoft.com/office/drawing/2014/main" id="{A4B74ED6-7AE9-47F3-9C6C-57CA1ABDE3C1}"/>
              </a:ext>
            </a:extLst>
          </p:cNvPr>
          <p:cNvSpPr>
            <a:spLocks xmlns:a="http://schemas.openxmlformats.org/drawingml/2006/main" noGrp="1"/>
          </p:cNvSpPr>
          <p:nvPr/>
        </p:nvSpPr>
        <p:spPr>
          <a:xfrm xmlns:a="http://schemas.openxmlformats.org/drawingml/2006/main">
            <a:off x="495300" y="2600325"/>
            <a:ext cx="32861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93C32"/>
                </a:solidFill>
                <a:latin typeface="Helvetica Neue"/>
                <a:ea typeface="Helvetica Neue"/>
                <a:cs typeface="Helvetica Neue"/>
              </a:defRPr>
            </a:defPPr>
          </a:lstStyle>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Recruit providers and users</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with a specific booking need</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in one city and category.</a:t>
            </a:r>
          </a:p>
        </p:txBody>
      </p:sp>
      <p:sp>
        <p:nvSpPr>
          <p:cNvPr id="6" name="v27-text-12">
            <a:extLst xmlns:a="http://schemas.openxmlformats.org/drawingml/2006/main">
              <a:ext uri="{FF2B5EF4-FFF2-40B4-BE49-F238E27FC236}">
                <a16:creationId xmlns:a16="http://schemas.microsoft.com/office/drawing/2014/main" id="{D038FF64-F9D1-4FBB-8426-6E1D62BB74DC}"/>
              </a:ext>
            </a:extLst>
          </p:cNvPr>
          <p:cNvSpPr>
            <a:spLocks xmlns:a="http://schemas.openxmlformats.org/drawingml/2006/main" noGrp="1"/>
          </p:cNvSpPr>
          <p:nvPr/>
        </p:nvSpPr>
        <p:spPr>
          <a:xfrm xmlns:a="http://schemas.openxmlformats.org/drawingml/2006/main">
            <a:off x="495300" y="391477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2  Connect their agents</a:t>
            </a:r>
          </a:p>
        </p:txBody>
      </p:sp>
      <p:sp>
        <p:nvSpPr>
          <p:cNvPr id="7" name="v27-text-13">
            <a:extLst xmlns:a="http://schemas.openxmlformats.org/drawingml/2006/main">
              <a:ext uri="{FF2B5EF4-FFF2-40B4-BE49-F238E27FC236}">
                <a16:creationId xmlns:a16="http://schemas.microsoft.com/office/drawing/2014/main" id="{191837B7-7E9C-449A-BADA-EA779B7CD341}"/>
              </a:ext>
            </a:extLst>
          </p:cNvPr>
          <p:cNvSpPr>
            <a:spLocks xmlns:a="http://schemas.openxmlformats.org/drawingml/2006/main" noGrp="1"/>
          </p:cNvSpPr>
          <p:nvPr/>
        </p:nvSpPr>
        <p:spPr>
          <a:xfrm xmlns:a="http://schemas.openxmlformats.org/drawingml/2006/main">
            <a:off x="495300" y="4410075"/>
            <a:ext cx="328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“Add GoLocal to find</a:t>
            </a:r>
          </a:p>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me local services.”</a:t>
            </a:r>
          </a:p>
        </p:txBody>
      </p:sp>
      <p:sp>
        <p:nvSpPr>
          <p:cNvPr id="8" name="v27-text-14">
            <a:extLst xmlns:a="http://schemas.openxmlformats.org/drawingml/2006/main">
              <a:ext uri="{FF2B5EF4-FFF2-40B4-BE49-F238E27FC236}">
                <a16:creationId xmlns:a16="http://schemas.microsoft.com/office/drawing/2014/main" id="{F35D870C-26D8-4432-8D17-27531F6A6155}"/>
              </a:ext>
            </a:extLst>
          </p:cNvPr>
          <p:cNvSpPr>
            <a:spLocks xmlns:a="http://schemas.openxmlformats.org/drawingml/2006/main" noGrp="1"/>
          </p:cNvSpPr>
          <p:nvPr/>
        </p:nvSpPr>
        <p:spPr>
          <a:xfrm xmlns:a="http://schemas.openxmlformats.org/drawingml/2006/main">
            <a:off x="495300" y="51911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One-time setup on a compatible</a:t>
            </a:r>
          </a:p>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agent, with sign-in and approval.</a:t>
            </a:r>
          </a:p>
        </p:txBody>
      </p:sp>
      <p:sp>
        <p:nvSpPr>
          <p:cNvPr id="9" name="v27-text-15">
            <a:extLst xmlns:a="http://schemas.openxmlformats.org/drawingml/2006/main">
              <a:ext uri="{FF2B5EF4-FFF2-40B4-BE49-F238E27FC236}">
                <a16:creationId xmlns:a16="http://schemas.microsoft.com/office/drawing/2014/main" id="{6529E900-B225-4C1D-AAC0-C63E23B875B5}"/>
              </a:ext>
            </a:extLst>
          </p:cNvPr>
          <p:cNvSpPr>
            <a:spLocks xmlns:a="http://schemas.openxmlformats.org/drawingml/2006/main" noGrp="1"/>
          </p:cNvSpPr>
          <p:nvPr/>
        </p:nvSpPr>
        <p:spPr>
          <a:xfrm xmlns:a="http://schemas.openxmlformats.org/drawingml/2006/main">
            <a:off x="4295775" y="2105025"/>
            <a:ext cx="7400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3  The network effect</a:t>
            </a:r>
          </a:p>
        </p:txBody>
      </p:sp>
      <p:sp>
        <p:nvSpPr>
          <p:cNvPr id="10" name="v27-text-16">
            <a:extLst xmlns:a="http://schemas.openxmlformats.org/drawingml/2006/main">
              <a:ext uri="{FF2B5EF4-FFF2-40B4-BE49-F238E27FC236}">
                <a16:creationId xmlns:a16="http://schemas.microsoft.com/office/drawing/2014/main" id="{41F248C4-2E34-45F4-B7A0-3D0F4A273D15}"/>
              </a:ext>
            </a:extLst>
          </p:cNvPr>
          <p:cNvSpPr>
            <a:spLocks xmlns:a="http://schemas.openxmlformats.org/drawingml/2006/main" noGrp="1"/>
          </p:cNvSpPr>
          <p:nvPr/>
        </p:nvSpPr>
        <p:spPr>
          <a:xfrm xmlns:a="http://schemas.openxmlformats.org/drawingml/2006/main">
            <a:off x="4295775" y="2876550"/>
            <a:ext cx="31718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Successful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1" name="v27-text-17">
            <a:extLst xmlns:a="http://schemas.openxmlformats.org/drawingml/2006/main">
              <a:ext uri="{FF2B5EF4-FFF2-40B4-BE49-F238E27FC236}">
                <a16:creationId xmlns:a16="http://schemas.microsoft.com/office/drawing/2014/main" id="{97FBEBDF-09DA-4E8D-83F4-1657A435BB03}"/>
              </a:ext>
            </a:extLst>
          </p:cNvPr>
          <p:cNvSpPr>
            <a:spLocks xmlns:a="http://schemas.openxmlformats.org/drawingml/2006/main" noGrp="1"/>
          </p:cNvSpPr>
          <p:nvPr/>
        </p:nvSpPr>
        <p:spPr>
          <a:xfrm xmlns:a="http://schemas.openxmlformats.org/drawingml/2006/main">
            <a:off x="8429625" y="2714625"/>
            <a:ext cx="32670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193C32"/>
                </a:solidFill>
                <a:latin typeface="Helvetica Neue"/>
                <a:ea typeface="Helvetica Neue"/>
                <a:cs typeface="Helvetica Neue"/>
              </a:defRPr>
            </a:defPPr>
          </a:lstStyle>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Agents suggest GoLocal</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to more users with</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similar requests*</a:t>
            </a:r>
          </a:p>
        </p:txBody>
      </p:sp>
      <p:sp>
        <p:nvSpPr>
          <p:cNvPr id="12" name="v27-text-18">
            <a:extLst xmlns:a="http://schemas.openxmlformats.org/drawingml/2006/main">
              <a:ext uri="{FF2B5EF4-FFF2-40B4-BE49-F238E27FC236}">
                <a16:creationId xmlns:a16="http://schemas.microsoft.com/office/drawing/2014/main" id="{D8C682C3-FB27-45C7-9DD3-12C2E8E52A0D}"/>
              </a:ext>
            </a:extLst>
          </p:cNvPr>
          <p:cNvSpPr>
            <a:spLocks xmlns:a="http://schemas.openxmlformats.org/drawingml/2006/main" noGrp="1"/>
          </p:cNvSpPr>
          <p:nvPr/>
        </p:nvSpPr>
        <p:spPr>
          <a:xfrm xmlns:a="http://schemas.openxmlformats.org/drawingml/2006/main">
            <a:off x="8429625" y="4171950"/>
            <a:ext cx="3267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More local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3" name="v27-text-19">
            <a:extLst xmlns:a="http://schemas.openxmlformats.org/drawingml/2006/main">
              <a:ext uri="{FF2B5EF4-FFF2-40B4-BE49-F238E27FC236}">
                <a16:creationId xmlns:a16="http://schemas.microsoft.com/office/drawing/2014/main" id="{9DA05B9F-2AE2-4577-8F47-50D875FC15C5}"/>
              </a:ext>
            </a:extLst>
          </p:cNvPr>
          <p:cNvSpPr>
            <a:spLocks xmlns:a="http://schemas.openxmlformats.org/drawingml/2006/main" noGrp="1"/>
          </p:cNvSpPr>
          <p:nvPr/>
        </p:nvSpPr>
        <p:spPr>
          <a:xfrm xmlns:a="http://schemas.openxmlformats.org/drawingml/2006/main">
            <a:off x="4295775" y="4124325"/>
            <a:ext cx="31718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 local businesses join,</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expanding useful coverage</a:t>
            </a:r>
          </a:p>
        </p:txBody>
      </p:sp>
      <p:sp>
        <p:nvSpPr>
          <p:cNvPr id="18" name="v27-text-20">
            <a:extLst xmlns:a="http://schemas.openxmlformats.org/drawingml/2006/main">
              <a:ext uri="{FF2B5EF4-FFF2-40B4-BE49-F238E27FC236}">
                <a16:creationId xmlns:a16="http://schemas.microsoft.com/office/drawing/2014/main" id="{E3B4DB50-D0D0-4E6D-874A-FBCC20F6A1F3}"/>
              </a:ext>
            </a:extLst>
          </p:cNvPr>
          <p:cNvSpPr>
            <a:spLocks xmlns:a="http://schemas.openxmlformats.org/drawingml/2006/main" noGrp="1"/>
          </p:cNvSpPr>
          <p:nvPr/>
        </p:nvSpPr>
        <p:spPr>
          <a:xfrm xmlns:a="http://schemas.openxmlformats.org/drawingml/2006/main">
            <a:off x="4295775" y="5219700"/>
            <a:ext cx="74009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Proof in one city supports more categories there,</a:t>
            </a:r>
          </a:p>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then expansion into more cities.</a:t>
            </a:r>
          </a:p>
        </p:txBody>
      </p:sp>
      <p:sp>
        <p:nvSpPr>
          <p:cNvPr id="19" name="v27-text-21">
            <a:extLst xmlns:a="http://schemas.openxmlformats.org/drawingml/2006/main">
              <a:ext uri="{FF2B5EF4-FFF2-40B4-BE49-F238E27FC236}">
                <a16:creationId xmlns:a16="http://schemas.microsoft.com/office/drawing/2014/main" id="{DDCB9C01-99BC-4627-A8E9-CB047DB5BA0F}"/>
              </a:ext>
            </a:extLst>
          </p:cNvPr>
          <p:cNvSpPr>
            <a:spLocks xmlns:a="http://schemas.openxmlformats.org/drawingml/2006/main" noGrp="1"/>
          </p:cNvSpPr>
          <p:nvPr/>
        </p:nvSpPr>
        <p:spPr>
          <a:xfrm xmlns:a="http://schemas.openxmlformats.org/drawingml/2006/main">
            <a:off x="495300" y="5994026"/>
            <a:ext cx="11201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236C4E"/>
                </a:solidFill>
                <a:latin typeface="Helvetica Neue"/>
                <a:ea typeface="Helvetica Neue"/>
                <a:cs typeface="Helvetica Neue"/>
              </a:defRPr>
            </a:defPPr>
          </a:lstStyle>
          <a:p xmlns:a="http://schemas.openxmlformats.org/drawingml/2006/main">
            <a:pPr algn="l">
              <a:buNone/>
              <a:defRPr sz="1200" b="1">
                <a:solidFill>
                  <a:srgbClr val="236C4E"/>
                </a:solidFill>
                <a:latin typeface="Helvetica Neue"/>
                <a:ea typeface="Helvetica Neue"/>
                <a:cs typeface="Helvetica Neue"/>
              </a:defRPr>
            </a:pPr>
            <a:r>
              <a:rPr sz="1200" b="1">
                <a:solidFill>
                  <a:srgbClr val="236C4E"/>
                </a:solidFill>
                <a:latin typeface="Helvetica Neue"/>
                <a:ea typeface="Helvetica Neue"/>
                <a:cs typeface="Helvetica Neue"/>
              </a:rPr>
              <a:t>REVENUE MODEL</a:t>
            </a:r>
          </a:p>
        </p:txBody>
      </p:sp>
      <p:sp>
        <p:nvSpPr>
          <p:cNvPr id="20" name="v27-text-22">
            <a:extLst xmlns:a="http://schemas.openxmlformats.org/drawingml/2006/main">
              <a:ext uri="{FF2B5EF4-FFF2-40B4-BE49-F238E27FC236}">
                <a16:creationId xmlns:a16="http://schemas.microsoft.com/office/drawing/2014/main" id="{0522C01E-D05D-4CA4-9C25-943BC026B5AF}"/>
              </a:ext>
            </a:extLst>
          </p:cNvPr>
          <p:cNvSpPr>
            <a:spLocks xmlns:a="http://schemas.openxmlformats.org/drawingml/2006/main" noGrp="1"/>
          </p:cNvSpPr>
          <p:nvPr/>
        </p:nvSpPr>
        <p:spPr>
          <a:xfrm xmlns:a="http://schemas.openxmlformats.org/drawingml/2006/main">
            <a:off x="495300" y="6222626"/>
            <a:ext cx="11201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03D3B"/>
                </a:solidFill>
                <a:latin typeface="Helvetica Neue"/>
                <a:ea typeface="Helvetica Neue"/>
                <a:cs typeface="Helvetica Neue"/>
              </a:defRPr>
            </a:defPPr>
          </a:lstStyle>
          <a:p xmlns:a="http://schemas.openxmlformats.org/drawingml/2006/main">
            <a:pPr algn="l">
              <a:buNone/>
              <a:defRPr sz="1575" b="0">
                <a:solidFill>
                  <a:srgbClr val="103D3B"/>
                </a:solidFill>
                <a:latin typeface="Helvetica Neue"/>
                <a:ea typeface="Helvetica Neue"/>
                <a:cs typeface="Helvetica Neue"/>
              </a:defRPr>
            </a:pPr>
            <a:r>
              <a:rPr sz="1575" b="0">
                <a:solidFill>
                  <a:srgbClr val="103D3B"/>
                </a:solidFill>
                <a:latin typeface="Helvetica Neue"/>
                <a:ea typeface="Helvetica Neue"/>
                <a:cs typeface="Helvetica Neue"/>
              </a:rPr>
              <a:t>Businesses pay 10% of the booking amount.</a:t>
            </a:r>
            <a:r>
              <a:rPr sz="1575" b="0">
                <a:solidFill>
                  <a:srgbClr val="103D3B"/>
                </a:solidFill>
                <a:latin typeface="Helvetica Neue"/>
                <a:ea typeface="Helvetica Neue"/>
                <a:cs typeface="Helvetica Neue"/>
              </a:rPr>
              <a:t> </a:t>
            </a:r>
            <a:r>
              <a:rPr sz="1575" b="0">
                <a:solidFill>
                  <a:srgbClr val="103D3B"/>
                </a:solidFill>
                <a:latin typeface="Helvetica Neue"/>
                <a:ea typeface="Helvetica Neue"/>
                <a:cs typeface="Helvetica Neue"/>
              </a:rPr>
              <a:t>That 10% fee is shared between GoLocal and software or channel partners.</a:t>
            </a:r>
          </a:p>
        </p:txBody>
      </p:sp>
      <p:sp>
        <p:nvSpPr>
          <p:cNvPr id="22" name="v27-text-24">
            <a:extLst xmlns:a="http://schemas.openxmlformats.org/drawingml/2006/main">
              <a:ext uri="{FF2B5EF4-FFF2-40B4-BE49-F238E27FC236}">
                <a16:creationId xmlns:a16="http://schemas.microsoft.com/office/drawing/2014/main" id="{5FEF83CC-D718-44D3-B7C7-D7399EFDA53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7</a:t>
            </a:r>
          </a:p>
        </p:txBody>
      </p:sp>
      <p:sp>
        <p:nvSpPr>
          <p:cNvPr id="25" name="Straight Connector 24">
            <a:extLst xmlns:a="http://schemas.openxmlformats.org/drawingml/2006/main">
              <a:ext uri="{FF2B5EF4-FFF2-40B4-BE49-F238E27FC236}">
                <a16:creationId xmlns:a16="http://schemas.microsoft.com/office/drawing/2014/main" id="{398712CF-8A18-4B40-A366-94DFC58393DC}"/>
              </a:ext>
            </a:extLst>
          </p:cNvPr>
          <p:cNvSpPr>
            <a:spLocks xmlns:a="http://schemas.openxmlformats.org/drawingml/2006/main" noGrp="1"/>
          </p:cNvSpPr>
          <p:nvPr/>
        </p:nvSpPr>
        <p:spPr>
          <a:xfrm xmlns:a="http://schemas.openxmlformats.org/drawingml/2006/main">
            <a:off x="3833132" y="2130879"/>
            <a:ext cx="0" cy="3816000"/>
          </a:xfrm>
          <a:prstGeom xmlns:a="http://schemas.openxmlformats.org/drawingml/2006/main" prst="line">
            <a:avLst/>
          </a:prstGeom>
          <a:ln xmlns:a="http://schemas.openxmlformats.org/drawingml/2006/main" w="28575"/>
        </p:spPr>
        <p:style>
          <a:lnRef xmlns:a="http://schemas.openxmlformats.org/drawingml/2006/main" idx="2">
            <a:schemeClr val="accent3"/>
          </a:lnRef>
          <a:fillRef xmlns:a="http://schemas.openxmlformats.org/drawingml/2006/main" idx="0">
            <a:schemeClr val="accent3"/>
          </a:fillRef>
          <a:effectRef xmlns:a="http://schemas.openxmlformats.org/drawingml/2006/main" idx="1">
            <a:schemeClr val="accent3"/>
          </a:effectRef>
          <a:fontRef xmlns:a="http://schemas.openxmlformats.org/drawingml/2006/main" idx="minor">
            <a:schemeClr val="tx1"/>
          </a:fontRef>
        </p:style>
      </p:sp>
      <p:cxnSp>
        <p:nvCxnSpPr>
          <p:cNvPr id="29" name="Straight Arrow Connector 28">
            <a:extLst xmlns:a="http://schemas.openxmlformats.org/drawingml/2006/main">
              <a:ext uri="{FF2B5EF4-FFF2-40B4-BE49-F238E27FC236}">
                <a16:creationId xmlns:a16="http://schemas.microsoft.com/office/drawing/2014/main" id="{2E15F5AD-DEDF-4521-A15C-5CBE9A310266}"/>
              </a:ext>
            </a:extLst>
          </p:cNvPr>
          <p:cNvCxnSpPr/>
          <p:nvPr/>
        </p:nvCxnSpPr>
        <p:spPr>
          <a:xfrm xmlns:a="http://schemas.openxmlformats.org/drawingml/2006/main">
            <a:off x="2003612" y="3554506"/>
            <a:ext cx="0" cy="333375"/>
          </a:xfrm>
          <a:prstGeom xmlns:a="http://schemas.openxmlformats.org/drawingml/2006/main" prst="straightConnector1">
            <a:avLst/>
          </a:prstGeom>
          <a:ln xmlns:a="http://schemas.openxmlformats.org/drawingml/2006/main" w="25400">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Tree>
    <p:extLst>
      <p:ext uri="{BB962C8B-B14F-4D97-AF65-F5344CB8AC3E}">
        <p14:creationId xmlns:p14="http://schemas.microsoft.com/office/powerpoint/2010/main" val="113766741"/>
      </p:ext>
    </p:extLst>
  </p:cSld>
</p:sld>
</file>

<file path=ppt/slides/slide6.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cxnSp>
        <p:nvCxnSpPr>
          <p:cNvPr id="15" name="Straight Arrow Connector 14">
            <a:extLst xmlns:a="http://schemas.openxmlformats.org/drawingml/2006/main">
              <a:ext uri="{FF2B5EF4-FFF2-40B4-BE49-F238E27FC236}">
                <a16:creationId xmlns:a16="http://schemas.microsoft.com/office/drawing/2014/main" id="{35F90C2A-34D7-4366-8415-4267911A12FB}"/>
              </a:ext>
            </a:extLst>
          </p:cNvPr>
          <p:cNvCxnSpPr>
            <a:stCxn xmlns:a="http://schemas.openxmlformats.org/drawingml/2006/main" id="12" idx="3"/>
            <a:endCxn xmlns:a="http://schemas.openxmlformats.org/drawingml/2006/main" id="13" idx="1"/>
          </p:cNvCxnSpPr>
          <p:nvPr/>
        </p:nvCxnSpPr>
        <p:spPr>
          <a:xfrm xmlns:a="http://schemas.openxmlformats.org/drawingml/2006/main">
            <a:off x="7572375" y="5943600"/>
            <a:ext cx="885825"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cxnSp>
        <p:nvCxnSpPr>
          <p:cNvPr id="14" name="Straight Arrow Connector 13">
            <a:extLst xmlns:a="http://schemas.openxmlformats.org/drawingml/2006/main">
              <a:ext uri="{FF2B5EF4-FFF2-40B4-BE49-F238E27FC236}">
                <a16:creationId xmlns:a16="http://schemas.microsoft.com/office/drawing/2014/main" id="{7174DF39-2DC8-424B-8D06-E39022A202B7}"/>
              </a:ext>
            </a:extLst>
          </p:cNvPr>
          <p:cNvCxnSpPr>
            <a:stCxn xmlns:a="http://schemas.openxmlformats.org/drawingml/2006/main" id="11" idx="3"/>
            <a:endCxn xmlns:a="http://schemas.openxmlformats.org/drawingml/2006/main" id="12" idx="1"/>
          </p:cNvCxnSpPr>
          <p:nvPr/>
        </p:nvCxnSpPr>
        <p:spPr>
          <a:xfrm xmlns:a="http://schemas.openxmlformats.org/drawingml/2006/main">
            <a:off x="3448050" y="5943600"/>
            <a:ext cx="914400"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sp>
        <p:nvSpPr>
          <p:cNvPr id="18" name="v27-text-25">
            <a:extLst xmlns:a="http://schemas.openxmlformats.org/drawingml/2006/main">
              <a:ext uri="{FF2B5EF4-FFF2-40B4-BE49-F238E27FC236}">
                <a16:creationId xmlns:a16="http://schemas.microsoft.com/office/drawing/2014/main" id="{8CDEA6FE-6022-4A89-85B7-85384BBD90F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DCCAD"/>
                </a:solidFill>
                <a:latin typeface="Helvetica Neue"/>
                <a:ea typeface="Helvetica Neue"/>
                <a:cs typeface="Helvetica Neue"/>
              </a:defRPr>
            </a:defPPr>
          </a:lstStyle>
          <a:p xmlns:a="http://schemas.openxmlformats.org/drawingml/2006/main">
            <a:pPr algn="l">
              <a:buNone/>
              <a:defRPr sz="1275" b="1">
                <a:solidFill>
                  <a:srgbClr val="BDCCAD"/>
                </a:solidFill>
                <a:latin typeface="Helvetica Neue"/>
                <a:ea typeface="Helvetica Neue"/>
                <a:cs typeface="Helvetica Neue"/>
              </a:defRPr>
            </a:pPr>
            <a:r>
              <a:rPr sz="1275" b="1">
                <a:solidFill>
                  <a:srgbClr val="BDCCAD"/>
                </a:solidFill>
                <a:latin typeface="Helvetica Neue"/>
                <a:ea typeface="Helvetica Neue"/>
                <a:cs typeface="Helvetica Neue"/>
              </a:rPr>
              <a:t>PARTNERSHIPS AND PILOT</a:t>
            </a:r>
          </a:p>
        </p:txBody>
      </p:sp>
      <p:sp>
        <p:nvSpPr>
          <p:cNvPr id="2" name="v27-text-26">
            <a:extLst xmlns:a="http://schemas.openxmlformats.org/drawingml/2006/main">
              <a:ext uri="{FF2B5EF4-FFF2-40B4-BE49-F238E27FC236}">
                <a16:creationId xmlns:a16="http://schemas.microsoft.com/office/drawing/2014/main" id="{B30EE2F4-AA61-4FD3-B96E-3D2DCEE5947A}"/>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5F2E9"/>
                </a:solidFill>
                <a:latin typeface="Helvetica Neue"/>
                <a:ea typeface="Helvetica Neue"/>
                <a:cs typeface="Helvetica Neue"/>
              </a:defRPr>
            </a:defPPr>
          </a:lstStyle>
          <a:p xmlns:a="http://schemas.openxmlformats.org/drawingml/2006/main">
            <a:pPr algn="l">
              <a:buNone/>
              <a:defRPr sz="3300" b="1">
                <a:solidFill>
                  <a:srgbClr val="F5F2E9"/>
                </a:solidFill>
                <a:latin typeface="Helvetica Neue"/>
                <a:ea typeface="Helvetica Neue"/>
                <a:cs typeface="Helvetica Neue"/>
              </a:defRPr>
            </a:pPr>
            <a:r>
              <a:rPr sz="3300" b="1">
                <a:solidFill>
                  <a:srgbClr val="F5F2E9"/>
                </a:solidFill>
                <a:latin typeface="Helvetica Neue"/>
                <a:ea typeface="Helvetica Neue"/>
                <a:cs typeface="Helvetica Neue"/>
              </a:rPr>
              <a:t>60+ plumbing companies in the pipeline</a:t>
            </a:r>
          </a:p>
        </p:txBody>
      </p:sp>
      <p:sp>
        <p:nvSpPr>
          <p:cNvPr id="3" name="v27-text-27">
            <a:extLst xmlns:a="http://schemas.openxmlformats.org/drawingml/2006/main">
              <a:ext uri="{FF2B5EF4-FFF2-40B4-BE49-F238E27FC236}">
                <a16:creationId xmlns:a16="http://schemas.microsoft.com/office/drawing/2014/main" id="{68333EAB-847D-41F6-B55B-E9CE4227D4E8}"/>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Salt Lake City, through two channel partners.</a:t>
            </a:r>
          </a:p>
        </p:txBody>
      </p:sp>
      <p:sp>
        <p:nvSpPr>
          <p:cNvPr id="4" name="v27-text-28">
            <a:extLst xmlns:a="http://schemas.openxmlformats.org/drawingml/2006/main">
              <a:ext uri="{FF2B5EF4-FFF2-40B4-BE49-F238E27FC236}">
                <a16:creationId xmlns:a16="http://schemas.microsoft.com/office/drawing/2014/main" id="{F2B4C196-67E2-4BFC-9EE2-4381623CBCEF}"/>
              </a:ext>
            </a:extLst>
          </p:cNvPr>
          <p:cNvSpPr>
            <a:spLocks xmlns:a="http://schemas.openxmlformats.org/drawingml/2006/main" noGrp="1"/>
          </p:cNvSpPr>
          <p:nvPr/>
        </p:nvSpPr>
        <p:spPr>
          <a:xfrm xmlns:a="http://schemas.openxmlformats.org/drawingml/2006/main">
            <a:off x="495300" y="207645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50+</a:t>
            </a:r>
          </a:p>
        </p:txBody>
      </p:sp>
      <p:sp>
        <p:nvSpPr>
          <p:cNvPr id="5" name="v27-text-29">
            <a:extLst xmlns:a="http://schemas.openxmlformats.org/drawingml/2006/main">
              <a:ext uri="{FF2B5EF4-FFF2-40B4-BE49-F238E27FC236}">
                <a16:creationId xmlns:a16="http://schemas.microsoft.com/office/drawing/2014/main" id="{9CC75DF1-7295-4137-AEC4-7E0CC4FEB9DE}"/>
              </a:ext>
            </a:extLst>
          </p:cNvPr>
          <p:cNvSpPr>
            <a:spLocks xmlns:a="http://schemas.openxmlformats.org/drawingml/2006/main" noGrp="1"/>
          </p:cNvSpPr>
          <p:nvPr/>
        </p:nvSpPr>
        <p:spPr>
          <a:xfrm xmlns:a="http://schemas.openxmlformats.org/drawingml/2006/main">
            <a:off x="495300" y="325755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Cactus AI</a:t>
            </a:r>
          </a:p>
        </p:txBody>
      </p:sp>
      <p:sp>
        <p:nvSpPr>
          <p:cNvPr id="6" name="v27-text-30">
            <a:extLst xmlns:a="http://schemas.openxmlformats.org/drawingml/2006/main">
              <a:ext uri="{FF2B5EF4-FFF2-40B4-BE49-F238E27FC236}">
                <a16:creationId xmlns:a16="http://schemas.microsoft.com/office/drawing/2014/main" id="{8170CF0F-AA38-4196-999E-4DAFE6288CA0}"/>
              </a:ext>
            </a:extLst>
          </p:cNvPr>
          <p:cNvSpPr>
            <a:spLocks xmlns:a="http://schemas.openxmlformats.org/drawingml/2006/main" noGrp="1"/>
          </p:cNvSpPr>
          <p:nvPr/>
        </p:nvSpPr>
        <p:spPr>
          <a:xfrm xmlns:a="http://schemas.openxmlformats.org/drawingml/2006/main">
            <a:off x="495300" y="3800475"/>
            <a:ext cx="4857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5F2E9"/>
                </a:solidFill>
                <a:latin typeface="Helvetica Neue"/>
                <a:ea typeface="Helvetica Neue"/>
                <a:cs typeface="Helvetica Neue"/>
              </a:defRPr>
            </a:defPPr>
          </a:lstStyle>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YC-backed AI front office</a:t>
            </a:r>
          </a:p>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for local trades.</a:t>
            </a:r>
          </a:p>
        </p:txBody>
      </p:sp>
      <p:sp>
        <p:nvSpPr>
          <p:cNvPr id="7" name="v27-text-31">
            <a:extLst xmlns:a="http://schemas.openxmlformats.org/drawingml/2006/main">
              <a:ext uri="{FF2B5EF4-FFF2-40B4-BE49-F238E27FC236}">
                <a16:creationId xmlns:a16="http://schemas.microsoft.com/office/drawing/2014/main" id="{E9E0E8FA-C44E-42A0-B4E6-C2D30B1C2FDC}"/>
              </a:ext>
            </a:extLst>
          </p:cNvPr>
          <p:cNvSpPr>
            <a:spLocks xmlns:a="http://schemas.openxmlformats.org/drawingml/2006/main" noGrp="1"/>
          </p:cNvSpPr>
          <p:nvPr/>
        </p:nvSpPr>
        <p:spPr>
          <a:xfrm xmlns:a="http://schemas.openxmlformats.org/drawingml/2006/main">
            <a:off x="6553200" y="2076450"/>
            <a:ext cx="5143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10+</a:t>
            </a:r>
          </a:p>
        </p:txBody>
      </p:sp>
      <p:sp>
        <p:nvSpPr>
          <p:cNvPr id="8" name="v27-text-32">
            <a:extLst xmlns:a="http://schemas.openxmlformats.org/drawingml/2006/main">
              <a:ext uri="{FF2B5EF4-FFF2-40B4-BE49-F238E27FC236}">
                <a16:creationId xmlns:a16="http://schemas.microsoft.com/office/drawing/2014/main" id="{4B2BABC2-6450-40EC-B70F-D11DC084AD5E}"/>
              </a:ext>
            </a:extLst>
          </p:cNvPr>
          <p:cNvSpPr>
            <a:spLocks xmlns:a="http://schemas.openxmlformats.org/drawingml/2006/main" noGrp="1"/>
          </p:cNvSpPr>
          <p:nvPr/>
        </p:nvSpPr>
        <p:spPr>
          <a:xfrm xmlns:a="http://schemas.openxmlformats.org/drawingml/2006/main">
            <a:off x="6553200" y="32575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YourCardare</a:t>
            </a:r>
          </a:p>
        </p:txBody>
      </p:sp>
      <p:sp>
        <p:nvSpPr>
          <p:cNvPr id="9" name="v27-text-33">
            <a:extLst xmlns:a="http://schemas.openxmlformats.org/drawingml/2006/main">
              <a:ext uri="{FF2B5EF4-FFF2-40B4-BE49-F238E27FC236}">
                <a16:creationId xmlns:a16="http://schemas.microsoft.com/office/drawing/2014/main" id="{4711A170-9F96-486F-B1B1-ADEC38729566}"/>
              </a:ext>
            </a:extLst>
          </p:cNvPr>
          <p:cNvSpPr>
            <a:spLocks xmlns:a="http://schemas.openxmlformats.org/drawingml/2006/main" noGrp="1"/>
          </p:cNvSpPr>
          <p:nvPr/>
        </p:nvSpPr>
        <p:spPr>
          <a:xfrm xmlns:a="http://schemas.openxmlformats.org/drawingml/2006/main">
            <a:off x="6553200" y="3800475"/>
            <a:ext cx="5143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Regional back-office partner.</a:t>
            </a:r>
          </a:p>
        </p:txBody>
      </p:sp>
      <p:sp>
        <p:nvSpPr>
          <p:cNvPr id="10" name="v27-text-34">
            <a:extLst xmlns:a="http://schemas.openxmlformats.org/drawingml/2006/main">
              <a:ext uri="{FF2B5EF4-FFF2-40B4-BE49-F238E27FC236}">
                <a16:creationId xmlns:a16="http://schemas.microsoft.com/office/drawing/2014/main" id="{F1697D3A-CDEE-4E34-B96E-50E20D79BF32}"/>
              </a:ext>
            </a:extLst>
          </p:cNvPr>
          <p:cNvSpPr>
            <a:spLocks xmlns:a="http://schemas.openxmlformats.org/drawingml/2006/main" noGrp="1"/>
          </p:cNvSpPr>
          <p:nvPr/>
        </p:nvSpPr>
        <p:spPr>
          <a:xfrm xmlns:a="http://schemas.openxmlformats.org/drawingml/2006/main">
            <a:off x="495300" y="4914900"/>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5F2E9"/>
                </a:solidFill>
                <a:latin typeface="Helvetica Neue"/>
                <a:ea typeface="Helvetica Neue"/>
                <a:cs typeface="Helvetica Neue"/>
              </a:defRPr>
            </a:defPPr>
          </a:lstStyle>
          <a:p xmlns:a="http://schemas.openxmlformats.org/drawingml/2006/main">
            <a:pPr algn="l">
              <a:buNone/>
              <a:defRPr sz="2325" b="1">
                <a:solidFill>
                  <a:srgbClr val="F5F2E9"/>
                </a:solidFill>
                <a:latin typeface="Helvetica Neue"/>
                <a:ea typeface="Helvetica Neue"/>
                <a:cs typeface="Helvetica Neue"/>
              </a:defRPr>
            </a:pPr>
            <a:r>
              <a:rPr sz="2325" b="1">
                <a:solidFill>
                  <a:srgbClr val="F5F2E9"/>
                </a:solidFill>
                <a:latin typeface="Helvetica Neue"/>
                <a:ea typeface="Helvetica Neue"/>
                <a:cs typeface="Helvetica Neue"/>
              </a:rPr>
              <a:t>Next milestone: turn eligible agent requests into confirmed bookings</a:t>
            </a:r>
          </a:p>
        </p:txBody>
      </p:sp>
      <p:sp>
        <p:nvSpPr>
          <p:cNvPr id="11" name="v27-text-35">
            <a:extLst xmlns:a="http://schemas.openxmlformats.org/drawingml/2006/main">
              <a:ext uri="{FF2B5EF4-FFF2-40B4-BE49-F238E27FC236}">
                <a16:creationId xmlns:a16="http://schemas.microsoft.com/office/drawing/2014/main" id="{383220E3-CB4C-40A8-BC8E-40D2C06DF114}"/>
              </a:ext>
            </a:extLst>
          </p:cNvPr>
          <p:cNvSpPr>
            <a:spLocks xmlns:a="http://schemas.openxmlformats.org/drawingml/2006/main" noGrp="1"/>
          </p:cNvSpPr>
          <p:nvPr/>
        </p:nvSpPr>
        <p:spPr>
          <a:xfrm xmlns:a="http://schemas.openxmlformats.org/drawingml/2006/main">
            <a:off x="495300" y="564832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Provider</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introductions</a:t>
            </a:r>
          </a:p>
        </p:txBody>
      </p:sp>
      <p:sp>
        <p:nvSpPr>
          <p:cNvPr id="12" name="v27-text-36">
            <a:extLst xmlns:a="http://schemas.openxmlformats.org/drawingml/2006/main">
              <a:ext uri="{FF2B5EF4-FFF2-40B4-BE49-F238E27FC236}">
                <a16:creationId xmlns:a16="http://schemas.microsoft.com/office/drawing/2014/main" id="{6341BF38-1761-4079-BC8F-8130D8D93DBC}"/>
              </a:ext>
            </a:extLst>
          </p:cNvPr>
          <p:cNvSpPr>
            <a:spLocks xmlns:a="http://schemas.openxmlformats.org/drawingml/2006/main" noGrp="1"/>
          </p:cNvSpPr>
          <p:nvPr/>
        </p:nvSpPr>
        <p:spPr>
          <a:xfrm xmlns:a="http://schemas.openxmlformats.org/drawingml/2006/main">
            <a:off x="4362450" y="5648325"/>
            <a:ext cx="3209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Onboard providers</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and connect software</a:t>
            </a:r>
          </a:p>
        </p:txBody>
      </p:sp>
      <p:sp>
        <p:nvSpPr>
          <p:cNvPr id="13" name="v27-text-37">
            <a:extLst xmlns:a="http://schemas.openxmlformats.org/drawingml/2006/main">
              <a:ext uri="{FF2B5EF4-FFF2-40B4-BE49-F238E27FC236}">
                <a16:creationId xmlns:a16="http://schemas.microsoft.com/office/drawing/2014/main" id="{D4322935-603A-4E67-84FC-D6251CC32E27}"/>
              </a:ext>
            </a:extLst>
          </p:cNvPr>
          <p:cNvSpPr>
            <a:spLocks xmlns:a="http://schemas.openxmlformats.org/drawingml/2006/main" noGrp="1"/>
          </p:cNvSpPr>
          <p:nvPr/>
        </p:nvSpPr>
        <p:spPr>
          <a:xfrm xmlns:a="http://schemas.openxmlformats.org/drawingml/2006/main">
            <a:off x="8458200" y="5648325"/>
            <a:ext cx="323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Test customer-authorized</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agent bookings</a:t>
            </a:r>
          </a:p>
        </p:txBody>
      </p:sp>
      <p:sp>
        <p:nvSpPr>
          <p:cNvPr id="17" name="v27-text-39">
            <a:extLst xmlns:a="http://schemas.openxmlformats.org/drawingml/2006/main">
              <a:ext uri="{FF2B5EF4-FFF2-40B4-BE49-F238E27FC236}">
                <a16:creationId xmlns:a16="http://schemas.microsoft.com/office/drawing/2014/main" id="{55AFBA45-A988-4AA9-9E76-851EFE96F69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F5F2E9"/>
                </a:solidFill>
                <a:latin typeface="Helvetica Neue"/>
                <a:ea typeface="Helvetica Neue"/>
                <a:cs typeface="Helvetica Neue"/>
              </a:defRPr>
            </a:defPPr>
          </a:lstStyle>
          <a:p xmlns:a="http://schemas.openxmlformats.org/drawingml/2006/main">
            <a:pPr algn="l">
              <a:buNone/>
              <a:defRPr sz="1275" b="0">
                <a:solidFill>
                  <a:srgbClr val="F5F2E9"/>
                </a:solidFill>
                <a:latin typeface="Helvetica Neue"/>
                <a:ea typeface="Helvetica Neue"/>
                <a:cs typeface="Helvetica Neue"/>
              </a:defRPr>
            </a:pPr>
            <a:r>
              <a:rPr sz="1275" b="0">
                <a:solidFill>
                  <a:srgbClr val="F5F2E9"/>
                </a:solidFill>
                <a:latin typeface="Helvetica Neue"/>
                <a:ea typeface="Helvetica Neue"/>
                <a:cs typeface="Helvetica Neue"/>
              </a:rPr>
              <a:t>6 / 7</a:t>
            </a:r>
          </a:p>
        </p:txBody>
      </p:sp>
    </p:spTree>
    <p:extLst>
      <p:ext uri="{BB962C8B-B14F-4D97-AF65-F5344CB8AC3E}">
        <p14:creationId xmlns:p14="http://schemas.microsoft.com/office/powerpoint/2010/main" val="22905360"/>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09600"/>
            <a:ext cx="11201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193C32"/>
                </a:solidFill>
                <a:latin typeface="Helvetica Neue"/>
                <a:ea typeface="Helvetica Neue"/>
                <a:cs typeface="Helvetica Neue"/>
              </a:defRPr>
            </a:defPPr>
          </a:lstStyle>
          <a:p xmlns:a="http://schemas.openxmlformats.org/drawingml/2006/main">
            <a:pPr algn="l">
              <a:buNone/>
              <a:defRPr sz="3150" b="1">
                <a:solidFill>
                  <a:srgbClr val="193C32"/>
                </a:solidFill>
                <a:latin typeface="Helvetica Neue"/>
                <a:ea typeface="Helvetica Neue"/>
                <a:cs typeface="Helvetica Neue"/>
              </a:defRPr>
            </a:pPr>
            <a:r>
              <a:rPr sz="3150" b="1">
                <a:solidFill>
                  <a:srgbClr val="193C32"/>
                </a:solidFill>
                <a:latin typeface="Helvetica Neue"/>
                <a:ea typeface="Helvetica Neue"/>
                <a:cs typeface="Helvetica Neue"/>
              </a:rPr>
              <a:t>Built for consumer apps.</a:t>
            </a:r>
          </a:p>
          <a:p xmlns:a="http://schemas.openxmlformats.org/drawingml/2006/main">
            <a:pPr algn="l">
              <a:buNone/>
              <a:defRPr sz="3150" b="1">
                <a:solidFill>
                  <a:srgbClr val="193C32"/>
                </a:solidFill>
                <a:latin typeface="Helvetica Neue"/>
                <a:ea typeface="Helvetica Neue"/>
                <a:cs typeface="Helvetica Neue"/>
              </a:defRPr>
            </a:pPr>
            <a:r>
              <a:rPr sz="3150" b="1">
                <a:solidFill>
                  <a:srgbClr val="193C32"/>
                </a:solidFill>
                <a:latin typeface="Helvetica Neue"/>
                <a:ea typeface="Helvetica Neue"/>
                <a:cs typeface="Helvetica Neue"/>
              </a:rPr>
              <a:t>Now building for the agent layer.</a:t>
            </a:r>
          </a:p>
        </p:txBody>
      </p:sp>
      <p:pic>
        <p:nvPicPr>
          <p:cNvPr id="3" name="Picture 2">
            <a:extLst xmlns:a="http://schemas.openxmlformats.org/drawingml/2006/main">
              <a:ext uri="{FF2B5EF4-FFF2-40B4-BE49-F238E27FC236}">
                <a16:creationId xmlns:a16="http://schemas.microsoft.com/office/drawing/2014/main" id="{35A20CB9-5916-4341-BE73-DB1571B84722}"/>
              </a:ext>
            </a:extLst>
          </p:cNvPr>
          <p:cNvPicPr>
            <a:picLocks xmlns:a="http://schemas.openxmlformats.org/drawingml/2006/main" noChangeAspect="1"/>
          </p:cNvPicPr>
          <p:nvPr/>
        </p:nvPicPr>
        <p:blipFill>
          <a:blip xmlns:r="http://schemas.openxmlformats.org/officeDocument/2006/relationships" xmlns:a="http://schemas.openxmlformats.org/drawingml/2006/main" r:embed="R125e5ae1115b417a"/>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Picture 3">
            <a:extLst xmlns:a="http://schemas.openxmlformats.org/drawingml/2006/main">
              <a:ext uri="{FF2B5EF4-FFF2-40B4-BE49-F238E27FC236}">
                <a16:creationId xmlns:a16="http://schemas.microsoft.com/office/drawing/2014/main" id="{4115018D-6C0F-40FD-B245-E57234BFCCEF}"/>
              </a:ext>
            </a:extLst>
          </p:cNvPr>
          <p:cNvPicPr>
            <a:picLocks xmlns:a="http://schemas.openxmlformats.org/drawingml/2006/main" noChangeAspect="1"/>
          </p:cNvPicPr>
          <p:nvPr/>
        </p:nvPicPr>
        <p:blipFill>
          <a:blip xmlns:r="http://schemas.openxmlformats.org/officeDocument/2006/relationships" xmlns:a="http://schemas.openxmlformats.org/drawingml/2006/main" r:embed="R2948572203c84e5e"/>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236C4E"/>
                </a:solidFill>
                <a:latin typeface="Helvetica Neue"/>
                <a:ea typeface="Helvetica Neue"/>
                <a:cs typeface="Helvetica Neue"/>
              </a:defRPr>
            </a:defPPr>
          </a:lstStyle>
          <a:p xmlns:a="http://schemas.openxmlformats.org/drawingml/2006/main">
            <a:pPr algn="l">
              <a:buNone/>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e12ee6be3de842f7"/>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125075" y="17811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a349e534e0ea42a2"/>
              </a:rPr>
              <a:t>LinkedIn</a:t>
            </a:r>
          </a:p>
        </p:txBody>
      </p:sp>
      <p:pic>
        <p:nvPicPr>
          <p:cNvPr id="11" name="Picture 10">
            <a:extLst xmlns:a="http://schemas.openxmlformats.org/drawingml/2006/main">
              <a:ext uri="{FF2B5EF4-FFF2-40B4-BE49-F238E27FC236}">
                <a16:creationId xmlns:a16="http://schemas.microsoft.com/office/drawing/2014/main" id="{93F4504B-5562-4D3E-B885-89D4D12ECD49}"/>
              </a:ext>
            </a:extLst>
          </p:cNvPr>
          <p:cNvPicPr>
            <a:picLocks xmlns:a="http://schemas.openxmlformats.org/drawingml/2006/main" noChangeAspect="1"/>
          </p:cNvPicPr>
          <p:nvPr/>
        </p:nvPicPr>
        <p:blipFill>
          <a:blip xmlns:r="http://schemas.openxmlformats.org/officeDocument/2006/relationships" xmlns:a="http://schemas.openxmlformats.org/drawingml/2006/main" r:embed="R55f72f71e7dd4b37"/>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xmlns:a="http://schemas.openxmlformats.org/drawingml/2006/main">
              <a:ext uri="{FF2B5EF4-FFF2-40B4-BE49-F238E27FC236}">
                <a16:creationId xmlns:a16="http://schemas.microsoft.com/office/drawing/2014/main" id="{15852E61-B69E-4BB6-A85E-FCBFC8D34E8E}"/>
              </a:ext>
            </a:extLst>
          </p:cNvPr>
          <p:cNvPicPr>
            <a:picLocks xmlns:a="http://schemas.openxmlformats.org/drawingml/2006/main" noChangeAspect="1"/>
          </p:cNvPicPr>
          <p:nvPr/>
        </p:nvPicPr>
        <p:blipFill>
          <a:blip xmlns:r="http://schemas.openxmlformats.org/officeDocument/2006/relationships" xmlns:a="http://schemas.openxmlformats.org/drawingml/2006/main" r:embed="R36d6964c742341c4"/>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xmlns:a="http://schemas.openxmlformats.org/drawingml/2006/main">
              <a:ext uri="{FF2B5EF4-FFF2-40B4-BE49-F238E27FC236}">
                <a16:creationId xmlns:a16="http://schemas.microsoft.com/office/drawing/2014/main" id="{79E5746D-24DF-45CA-9BFF-573CBE891477}"/>
              </a:ext>
            </a:extLst>
          </p:cNvPr>
          <p:cNvPicPr>
            <a:picLocks xmlns:a="http://schemas.openxmlformats.org/drawingml/2006/main" noChangeAspect="1"/>
          </p:cNvPicPr>
          <p:nvPr/>
        </p:nvPicPr>
        <p:blipFill>
          <a:blip xmlns:r="http://schemas.openxmlformats.org/officeDocument/2006/relationships" xmlns:a="http://schemas.openxmlformats.org/drawingml/2006/main" r:embed="Rfb712331731e4c28"/>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Urban Company founding team member. Helped build the marketplace from launch to a $3B IPO.</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and grew revenue to $700K.</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Bessemer Venture Partners investor. Deployed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software engineer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Taught system design to 2,500 engineers on Udemy.</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MCP integrations for production use.</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7 / 7</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2026-10-11T03:22:51.5880000Z</dcterms:created>
  <dcterms:modified xsi:type="dcterms:W3CDTF">2026-10-11T03:22:51.5880000Z</dcterms:modified>
</coreProperties>
</file>