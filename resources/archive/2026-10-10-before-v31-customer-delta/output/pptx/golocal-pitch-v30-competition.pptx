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2b1f41025a84403a" /><Relationship Type="http://schemas.openxmlformats.org/officeDocument/2006/relationships/extended-properties" Target="/docProps/app.xml" Id="R0cbba820fddb46f6" /><Relationship Type="http://schemas.openxmlformats.org/officeDocument/2006/relationships/officeDocument" Target="/ppt/presentation.xml" Id="R40cd1a87a0024b4f" /></Relationships>
</file>

<file path=ppt/presentation.xml><?xml version="1.0" encoding="utf-8"?>
<p:presentation xmlns:p="http://schemas.openxmlformats.org/presentationml/2006/main">
  <p:sldMasterIdLst>
    <p:sldMasterId xmlns:r="http://schemas.openxmlformats.org/officeDocument/2006/relationships" id="2147483648" r:id="Re98393d40d5b4916"/>
  </p:sldMasterIdLst>
  <p:notesMasterIdLst>
    <p:notesMasterId xmlns:r="http://schemas.openxmlformats.org/officeDocument/2006/relationships" r:id="R79f9ddb494294571"/>
  </p:notesMasterIdLst>
  <p:sldIdLst>
    <p:sldId xmlns:r="http://schemas.openxmlformats.org/officeDocument/2006/relationships" id="256" r:id="Rb3528be7bc6644a1"/>
    <p:sldId xmlns:r="http://schemas.openxmlformats.org/officeDocument/2006/relationships" id="257" r:id="R56cb3b4346804139"/>
    <p:sldId xmlns:r="http://schemas.openxmlformats.org/officeDocument/2006/relationships" id="258" r:id="Ra9e1fe78ee7d45ef"/>
    <p:sldId xmlns:r="http://schemas.openxmlformats.org/officeDocument/2006/relationships" id="259" r:id="Rb7effd0b93af4f3c"/>
    <p:sldId xmlns:r="http://schemas.openxmlformats.org/officeDocument/2006/relationships" id="260" r:id="R7107c4d0308c4470"/>
    <p:sldId xmlns:r="http://schemas.openxmlformats.org/officeDocument/2006/relationships" id="261" r:id="R396135c409f5490a"/>
  </p:sldIdLst>
  <p:sldSz cx="12192000" cy="6858000"/>
  <p:notesSz cx="6858000" cy="9144000"/>
  <p:defaultTextStyle>
    <a:defPPr xmlns:a="http://schemas.openxmlformats.org/drawingml/2006/main">
      <a:buNone/>
    </a:defPPr>
    <a:lvl1pPr xmlns:a="http://schemas.openxmlformats.org/drawingml/2006/main" marL="0" algn="l" defTabSz="914400">
      <a:buNone/>
      <a:defRPr sz="1800" kern="1200">
        <a:solidFill>
          <a:schemeClr val="tx1"/>
        </a:solidFill>
        <a:latin typeface="+mn-lt"/>
        <a:ea typeface="+mn-lt"/>
        <a:cs typeface="+mn-lt"/>
      </a:defRPr>
    </a:lvl1pPr>
    <a:lvl2pPr xmlns:a="http://schemas.openxmlformats.org/drawingml/2006/main" marL="457200" algn="l" defTabSz="914400">
      <a:buNone/>
      <a:defRPr sz="1800" kern="1200">
        <a:solidFill>
          <a:schemeClr val="tx1"/>
        </a:solidFill>
        <a:latin typeface="+mn-lt"/>
        <a:ea typeface="+mn-lt"/>
        <a:cs typeface="+mn-lt"/>
      </a:defRPr>
    </a:lvl2pPr>
    <a:lvl3pPr xmlns:a="http://schemas.openxmlformats.org/drawingml/2006/main" marL="914400" algn="l" defTabSz="914400">
      <a:buNone/>
      <a:defRPr sz="1800" kern="1200">
        <a:solidFill>
          <a:schemeClr val="tx1"/>
        </a:solidFill>
        <a:latin typeface="+mn-lt"/>
        <a:ea typeface="+mn-lt"/>
        <a:cs typeface="+mn-lt"/>
      </a:defRPr>
    </a:lvl3pPr>
    <a:lvl4pPr xmlns:a="http://schemas.openxmlformats.org/drawingml/2006/main" marL="1371600" algn="l" defTabSz="914400">
      <a:buNone/>
      <a:defRPr sz="1800" kern="1200">
        <a:solidFill>
          <a:schemeClr val="tx1"/>
        </a:solidFill>
        <a:latin typeface="+mn-lt"/>
        <a:ea typeface="+mn-lt"/>
        <a:cs typeface="+mn-lt"/>
      </a:defRPr>
    </a:lvl4pPr>
    <a:lvl5pPr xmlns:a="http://schemas.openxmlformats.org/drawingml/2006/main" marL="1828800" algn="l" defTabSz="914400">
      <a:buNone/>
      <a:defRPr sz="1800" kern="1200">
        <a:solidFill>
          <a:schemeClr val="tx1"/>
        </a:solidFill>
        <a:latin typeface="+mn-lt"/>
        <a:ea typeface="+mn-lt"/>
        <a:cs typeface="+mn-lt"/>
      </a:defRPr>
    </a:lvl5pPr>
    <a:lvl6pPr xmlns:a="http://schemas.openxmlformats.org/drawingml/2006/main" marL="2286000" algn="l" defTabSz="914400">
      <a:buNone/>
      <a:defRPr sz="1800" kern="1200">
        <a:solidFill>
          <a:schemeClr val="tx1"/>
        </a:solidFill>
        <a:latin typeface="+mn-lt"/>
        <a:ea typeface="+mn-lt"/>
        <a:cs typeface="+mn-lt"/>
      </a:defRPr>
    </a:lvl6pPr>
    <a:lvl7pPr xmlns:a="http://schemas.openxmlformats.org/drawingml/2006/main" marL="2743200" algn="l" defTabSz="914400">
      <a:buNone/>
      <a:defRPr sz="1800" kern="1200">
        <a:solidFill>
          <a:schemeClr val="tx1"/>
        </a:solidFill>
        <a:latin typeface="+mn-lt"/>
        <a:ea typeface="+mn-lt"/>
        <a:cs typeface="+mn-lt"/>
      </a:defRPr>
    </a:lvl7pPr>
    <a:lvl8pPr xmlns:a="http://schemas.openxmlformats.org/drawingml/2006/main" marL="3200400" algn="l" defTabSz="914400">
      <a:buNone/>
      <a:defRPr sz="1800" kern="1200">
        <a:solidFill>
          <a:schemeClr val="tx1"/>
        </a:solidFill>
        <a:latin typeface="+mn-lt"/>
        <a:ea typeface="+mn-lt"/>
        <a:cs typeface="+mn-lt"/>
      </a:defRPr>
    </a:lvl8pPr>
    <a:lvl9pPr xmlns:a="http://schemas.openxmlformats.org/drawingml/2006/main" marL="3657600" algn="l" defTabSz="914400">
      <a:buNone/>
      <a:defRPr sz="1800" kern="1200">
        <a:solidFill>
          <a:schemeClr val="tx1"/>
        </a:solidFill>
        <a:latin typeface="+mn-lt"/>
        <a:ea typeface="+mn-lt"/>
        <a:cs typeface="+mn-lt"/>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&#65279;<?xml version="1.0" encoding="utf-8"?><Relationships xmlns="http://schemas.openxmlformats.org/package/2006/relationships"><Relationship Type="http://schemas.openxmlformats.org/officeDocument/2006/relationships/theme" Target="/ppt/theme/theme1.xml" Id="Rdf56212d0e5846dd" /><Relationship Type="http://schemas.openxmlformats.org/officeDocument/2006/relationships/slideMaster" Target="/ppt/slideMasters/slideMaster1.xml" Id="Re98393d40d5b4916" /><Relationship Type="http://schemas.openxmlformats.org/officeDocument/2006/relationships/notesMaster" Target="/ppt/notesMasters/notesMaster1.xml" Id="R79f9ddb494294571" /><Relationship Type="http://schemas.openxmlformats.org/officeDocument/2006/relationships/presProps" Target="/ppt/presProps.xml" Id="R9f977c0a0cb747e4" /><Relationship Type="http://schemas.openxmlformats.org/officeDocument/2006/relationships/viewProps" Target="/ppt/viewProps.xml" Id="R18ccd8ca3e82442b" /><Relationship Type="http://schemas.openxmlformats.org/officeDocument/2006/relationships/tableStyles" Target="/ppt/tableStyles.xml" Id="R8bd883da66a342c0" /><Relationship Type="http://schemas.openxmlformats.org/officeDocument/2006/relationships/slide" Target="/ppt/slides/slide1.xml" Id="Rb3528be7bc6644a1" /><Relationship Type="http://schemas.openxmlformats.org/officeDocument/2006/relationships/slide" Target="/ppt/slides/slide2.xml" Id="R56cb3b4346804139" /><Relationship Type="http://schemas.openxmlformats.org/officeDocument/2006/relationships/slide" Target="/ppt/slides/slide3.xml" Id="Ra9e1fe78ee7d45ef" /><Relationship Type="http://schemas.openxmlformats.org/officeDocument/2006/relationships/slide" Target="/ppt/slides/slide4.xml" Id="Rb7effd0b93af4f3c" /><Relationship Type="http://schemas.openxmlformats.org/officeDocument/2006/relationships/slide" Target="/ppt/slides/slide5.xml" Id="R7107c4d0308c4470" /><Relationship Type="http://schemas.openxmlformats.org/officeDocument/2006/relationships/slide" Target="/ppt/slides/slide6.xml" Id="R396135c409f5490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230cf68014248d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d76935c894664a2c" /><Relationship Type="http://schemas.openxmlformats.org/officeDocument/2006/relationships/notesMaster" Target="/ppt/notesMasters/notesMaster1.xml" Id="R7a4a8d0109054b5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941d61f30574a90" /><Relationship Type="http://schemas.openxmlformats.org/officeDocument/2006/relationships/notesMaster" Target="/ppt/notesMasters/notesMaster1.xml" Id="R882405fdf4064447" /></Relationships>
</file>

<file path=ppt/notesSlides/_rels/notesSlide3.xml.rels>&#65279;<?xml version="1.0" encoding="utf-8"?><Relationships xmlns="http://schemas.openxmlformats.org/package/2006/relationships"><Relationship Type="http://schemas.openxmlformats.org/officeDocument/2006/relationships/slide" Target="/ppt/slides/slide3.xml" Id="Ra39edcad50824a8f" /><Relationship Type="http://schemas.openxmlformats.org/officeDocument/2006/relationships/notesMaster" Target="/ppt/notesMasters/notesMaster1.xml" Id="R41b5dbe741cf436b" /></Relationships>
</file>

<file path=ppt/notesSlides/_rels/notesSlide4.xml.rels>&#65279;<?xml version="1.0" encoding="utf-8"?><Relationships xmlns="http://schemas.openxmlformats.org/package/2006/relationships"><Relationship Type="http://schemas.openxmlformats.org/officeDocument/2006/relationships/slide" Target="/ppt/slides/slide4.xml" Id="Rf5270641a2c546c9" /><Relationship Type="http://schemas.openxmlformats.org/officeDocument/2006/relationships/notesMaster" Target="/ppt/notesMasters/notesMaster1.xml" Id="R76cddc2277b044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45cba561b3564209" /><Relationship Type="http://schemas.openxmlformats.org/officeDocument/2006/relationships/notesMaster" Target="/ppt/notesMasters/notesMaster1.xml" Id="Rddb7fc75f7514c52" /></Relationships>
</file>

<file path=ppt/notesSlides/_rels/notesSlide6.xml.rels>&#65279;<?xml version="1.0" encoding="utf-8"?><Relationships xmlns="http://schemas.openxmlformats.org/package/2006/relationships"><Relationship Type="http://schemas.openxmlformats.org/officeDocument/2006/relationships/slide" Target="/ppt/slides/slide6.xml" Id="R04081c9713174b9f" /><Relationship Type="http://schemas.openxmlformats.org/officeDocument/2006/relationships/notesMaster" Target="/ppt/notesMasters/notesMaster1.xml" Id="Rc034f7dd0874485c"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 thesis clarified in annotation on October 10, 2026: customers historically explained and scoped a local-service job through calls with providers before obtaining quotes or scheduling. Personal agents can now help scope a job in conversation with the customer and use live provider data to seek quotes and execute authorized bookings. This creates a new use for a shared live local-business data layer. The claim concerns fragmented access across agents, businesses and existing software, not an absence of provider databases or APIs. Live data was already useful to businesses; the new opportunity is making it usable by delegated agents.</a:t>
            </a:r>
          </a:p>
          <a:p xmlns:a="http://schemas.openxmlformats.org/drawingml/2006/main">
            <a:r>
              <a:t>The proposed layer exposes merchant-authorized service definitions, coverage, pricing or quoting rules and current availability, linked to supported booking and payment actions. Read-only data alone cannot confirm a booking. Complex jobs can still require provider review or a site visit; agent scoping does not guarantee a final price. User approval, merchant permissions and reliable transaction execution remain necessary.</a:t>
            </a:r>
          </a:p>
          <a:p xmlns:a="http://schemas.openxmlformats.org/drawingml/2006/main">
            <a:r>
              <a:t>The dates describe illustrative eras rather than launch dates or universal capabilities. The scope row indicates conversational assistance, not full technical diagnosis for every service. The final two task rows are Get quotes &amp; schedule and Book &amp; pay. The missing shared live layer enables those actions across participating providers. Capturing value through completed bookings is the business hypothesis, not a measured outcome.</a:t>
            </a:r>
          </a:p>
          <a:p xmlns:a="http://schemas.openxmlformats.org/drawingml/2006/main">
            <a:r>
              <a:t>Market context: about $1.19T rounded to $1.2T in underlying annual U.S. spending across home improvement/repair (~$600B, including materials and DIY), auto maintenance/repair ($283.802B), personal care/clothing services ($239.558B) and child day care ($65.547B). Mixed years and measures, not GoLocal transactionable volume or fee revenue. Supporting calculation: resources/local-services-tam-2026-10-10.md. https://www.jchs.harvard.edu/sites/default/files/reports/files/Harvard_JCHS_Improving_Americas_Housing_2025.pdf ; https://fred.stlouisfed.org/release/tables?eid=44183&amp;rid=53 ; https://fred.stlouisfed.org/series/AIES6244RCT00US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GoLocal's intended product combines participating provider supply with structured booking execution. The diagram describes the proposed architecture, not currently deployed integrations. Software segments overlap and each category has a different mix. Merchant authorization, vendor permissions and supported operations are required. Agents and frameworks shown are ecosystem examples, not signed distribution partners.</a:t>
            </a:r>
          </a:p>
          <a:p xmlns:a="http://schemas.openxmlformats.org/drawingml/2006/main">
            <a:r>
              <a:t>100+ plumbing software products: conservative directory count supplied in resources/plumbing-vendor-depth-evidence-2026-10-10.json. https://www.softwareadvice.com/field-service/plumbing-software-comparison/ . This is not a count of production booking APIs. Official examples: https://buildops.com/industries/plumbing ; https://www.simprogroup.com/industries/plumbing-software ; https://www.servicefusion.com/plumbing-software ; https://www.joblogic.com/industries/plumbing-software/ ; https://www.kickserv.com/industries/plumbing .</a:t>
            </a:r>
          </a:p>
          <a:p xmlns:a="http://schemas.openxmlformats.org/drawingml/2006/main">
            <a:r>
              <a:t>$2B+ is the supplied selected-company funding total, not funding for every pictured product or evidence of local-service demand: Hark over $700M, Instinct $1B Series C plus $350M previously reported total, Town $55M Series A. Source record: resources/agent-funding-evidence-2026-10-10.json. https://hark.com/articles/hark-announces-usd700-million-fundraising-round ; https://www.businesswire.com/news/home/20260928153437/en/ ; https://techcrunch.com/2026/08/26/viral-ai-startup-instinct-has-raised-350-million-at-a-2-5-billion-valuation/ ; https://www.town.com/press/series-a . Original supplied agent logos retained.</a:t>
            </a:r>
          </a:p>
          <a:p xmlns:a="http://schemas.openxmlformats.org/drawingml/2006/main">
            <a:r>
              <a:t>Why a shared layer: recruiting supply, normalizing different workflows and handling booking state can save each agent company from repeating that work. Supplier coverage and reliable execution are the proposed differentiation. Distribution and economics remain to be proven.</a:t>
            </a:r>
          </a:p>
          <a:p xmlns:a="http://schemas.openxmlformats.org/drawingml/2006/main">
            <a:r>
              <a:t>Display uses fewer representative vendor names per segment for clarity. This does not narrow the proposed integration scope or assert vendor exclusivity. Other examples retained in prior evidence include Probook AI, Service Fusion, Commusoft, Joblogic, Kickserv and Topline Pro. Vendor suitability and access remain to be verified.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Illustrative intended customer journey, not a live GoLocal transaction. Salt Lake City aligns the example with the planned plumbing pilot. Oak Plumbing, the $79 diagnostic visit, 9–11 am slot and booking GL-1042 are fictional. The customer approves the provider, visit fee and payment authorization before execution. Authorization is not payment capture. Repair work requires a separate quote after inspection. GoLocal would return provider-confirmed booking state through authorized software connections; this capability remains to be validated. A completed and paid job, rather than connector installation or a mere request, is the proposed commercial outcome.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cold start requires both useful participating supply and users with real booking needs. One-time setup is an intended experience on compatible platforms and may require sign-in and approval. Each transaction still requires the relevant user authorization.</a:t>
            </a:r>
          </a:p>
          <a:p xmlns:a="http://schemas.openxmlformats.org/drawingml/2006/main">
            <a:r>
              <a:t>Proposed network effect: successful bookings create evidence of usefulness and reliability. Where agent discovery and selection mechanisms can use that evidence, agents may suggest GoLocal to more users with similar requests. Those suggestions can bring more local bookings. Demonstrated demand can attract more businesses, improving coverage and availability and making subsequent bookings more useful. This is a commercial hypothesis, not an observed growth loop or a claim that models automatically learn across users. No demand-routing agreement or automatic recommendation mechanism is established.</a:t>
            </a:r>
          </a:p>
          <a:p xmlns:a="http://schemas.openxmlformats.org/drawingml/2006/main">
            <a:r>
              <a:t>Expansion is a subsequent decision: demonstrate the local loop and viable economics in one city/category, use that proof to add related categories within the city, then repeat in more cities. Supply and demand still need to be established in each new market.</a:t>
            </a:r>
          </a:p>
          <a:p xmlns:a="http://schemas.openxmlformats.org/drawingml/2006/main">
            <a:r>
              <a:t>Proposed commercial model: providers pay a success fee on fulfilled new-customer jobs, with a share for contributing partners. Prices, shares and paid continuation have not been agreed. Repeat visits, cancellations and existing-customer changes do not automatically generate acquisition fees. Contribution must cover acquisition, partner share, integration, support, payment and exception-handling costs. A venture-scale opportunity requires repeatable distribution, reusable integrations and profitable delivery, beyond a thin connector or manual booking service.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Planned pilot: Salt Lake City plumbing. Founder-reported Cactus AI agreement to introduce GoLocal to 50+ service partners. Founder-reported YourCardare regional back-office relationship with another 10+ providers in the pipeline. Counts remain separate because overlap, city/category eligibility, consent and integration readiness are not established. These are introduction channels, not 60+ unique active providers or committed onboardings. The initial milestone is a customer-authorized, provider-confirmed booking through a permitted software connection. No live GoLocal booking, representative agent demand, paid revenue or production reliability has been established in the supplied materials. Pilot evidence should include where eligible requests originate, confirmation and fulfillment, failure/exception rates and contribution after costs. Supplier introductions are early access evidence; they do not establish demand distribution.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Founder-supplied biographies and credentials, not independently verified for this deck. Pulkit Walia: Urban Company founding team member, helped build from launch to a $3B IPO; launched a home security brand at 19 and grew it to $700K revenue; Bessemer Venture Partners investor with $50M deployed in consumer AI startups; Harvard Business School MBA. The IPO figure refers to Urban Company, not GoLocal. https://www.linkedin.com/in/pulkitwalia/ . Rohit Jain: five years as a senior software engineer at Amazon, Square and Citrix; taught 2,500 engineers system design on Udemy; production MCP integration experience; Texas A&amp;M Computer Science and IIT Kharagpur. https://www.linkedin.com/in/rohit-jain-343437187/ . Founder/cofounder titles, ownership and employment commitment are not implied. Original supplied photos and education logos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8d5191da3404cc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fd8fdc4ed9b47e9"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ee0df0e04e6f440a"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75a53582de4484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4751989ff8d46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a92074767304100"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7DEA33C-04CC-4142-BE91-C830BDD080A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Subtitle">
            <a:extLst xmlns:a="http://schemas.openxmlformats.org/drawingml/2006/main">
              <a:ext uri="{FF2B5EF4-FFF2-40B4-BE49-F238E27FC236}">
                <a16:creationId xmlns:a16="http://schemas.microsoft.com/office/drawing/2014/main" id="{D5F36821-6108-4999-8623-899E645C5CF6}"/>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E3E9C23-F88E-4B26-9ED1-FF13C3B3F94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1877624-7B75-4ABB-9549-98AB4E404E4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Body">
            <a:extLst xmlns:a="http://schemas.openxmlformats.org/drawingml/2006/main">
              <a:ext uri="{FF2B5EF4-FFF2-40B4-BE49-F238E27FC236}">
                <a16:creationId xmlns:a16="http://schemas.microsoft.com/office/drawing/2014/main" id="{6582531E-58F9-4E97-BEE2-A5AF64392BAB}"/>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3E7F64E-40F6-4EAB-88FF-C6221C1BD3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472CB5DF-9F2E-44B8-9CE9-7A995A3B050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
        <p:nvSpPr>
          <p:cNvPr id="3" name="Right column">
            <a:extLst xmlns:a="http://schemas.openxmlformats.org/drawingml/2006/main">
              <a:ext uri="{FF2B5EF4-FFF2-40B4-BE49-F238E27FC236}">
                <a16:creationId xmlns:a16="http://schemas.microsoft.com/office/drawing/2014/main" id="{1FBAF9DD-0EFA-424A-B9BC-62623C9B06D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DA3F0720-9661-4BC8-BA55-1F49ED7D6A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defRPr/>
            </a:lvl1pPr>
            <a:lvl2pPr marL="0" indent="0">
              <a:lnSpc>
                <a:spcPct val="110000"/>
              </a:lnSpc>
              <a:spcBef>
                <a:spcPts val="0"/>
              </a:spcBef>
              <a:spcAft>
                <a:spcPts val="0"/>
              </a:spcAft>
              <a:buNone/>
              <a:defRPr/>
            </a:lvl2pPr>
            <a:lvl3pPr marL="0" indent="0">
              <a:lnSpc>
                <a:spcPct val="110000"/>
              </a:lnSpc>
              <a:spcBef>
                <a:spcPts val="0"/>
              </a:spcBef>
              <a:spcAft>
                <a:spcPts val="0"/>
              </a:spcAft>
              <a:buNone/>
              <a:defRPr/>
            </a:lvl3pPr>
            <a:lvl4pPr marL="0" indent="0">
              <a:lnSpc>
                <a:spcPct val="110000"/>
              </a:lnSpc>
              <a:spcBef>
                <a:spcPts val="0"/>
              </a:spcBef>
              <a:spcAft>
                <a:spcPts val="0"/>
              </a:spcAft>
              <a:buNone/>
              <a:defRPr/>
            </a:lvl4pPr>
            <a:lvl5pPr marL="0" indent="0">
              <a:lnSpc>
                <a:spcPct val="110000"/>
              </a:lnSpc>
              <a:spcBef>
                <a:spcPts val="0"/>
              </a:spcBef>
              <a:spcAft>
                <a:spcPts val="0"/>
              </a:spcAft>
              <a:buNone/>
              <a:defRPr/>
            </a:lvl5pPr>
            <a:lvl6pPr marL="0" indent="0">
              <a:lnSpc>
                <a:spcPct val="110000"/>
              </a:lnSpc>
              <a:spcBef>
                <a:spcPts val="0"/>
              </a:spcBef>
              <a:spcAft>
                <a:spcPts val="0"/>
              </a:spcAft>
              <a:buNone/>
              <a:defRPr/>
            </a:lvl6pPr>
            <a:lvl7pPr marL="0" indent="0">
              <a:lnSpc>
                <a:spcPct val="110000"/>
              </a:lnSpc>
              <a:spcBef>
                <a:spcPts val="0"/>
              </a:spcBef>
              <a:spcAft>
                <a:spcPts val="0"/>
              </a:spcAft>
              <a:buNone/>
              <a:defRPr/>
            </a:lvl7pPr>
            <a:lvl8pPr marL="0" indent="0">
              <a:lnSpc>
                <a:spcPct val="110000"/>
              </a:lnSpc>
              <a:spcBef>
                <a:spcPts val="0"/>
              </a:spcBef>
              <a:spcAft>
                <a:spcPts val="0"/>
              </a:spcAft>
              <a:buNone/>
              <a:defRPr/>
            </a:lvl8pPr>
            <a:lvl9pPr marL="0" indent="0">
              <a:lnSpc>
                <a:spcPct val="110000"/>
              </a:lnSpc>
              <a:spcBef>
                <a:spcPts val="0"/>
              </a:spcBef>
              <a:spcAft>
                <a:spcPts val="0"/>
              </a:spcAft>
              <a:buNone/>
              <a:defRPr/>
            </a:lvl9pPr>
          </a:lstStyle>
          <a:p xmlns:a="http://schemas.openxmlformats.org/drawingml/2006/main">
            <a:endParaRPr/>
          </a:p>
        </p:txBody>
      </p:sp>
      <p:sp>
        <p:nvSpPr>
          <p:cNvPr id="2" name="Left column">
            <a:extLst xmlns:a="http://schemas.openxmlformats.org/drawingml/2006/main">
              <a:ext uri="{FF2B5EF4-FFF2-40B4-BE49-F238E27FC236}">
                <a16:creationId xmlns:a16="http://schemas.microsoft.com/office/drawing/2014/main" id="{82CA2249-D475-4C73-BF2C-30661840F52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defRPr/>
            </a:lvl1pPr>
            <a:lvl2pPr marL="533400" indent="-228600">
              <a:lnSpc>
                <a:spcPct val="110000"/>
              </a:lnSpc>
              <a:spcBef>
                <a:spcPts val="0"/>
              </a:spcBef>
              <a:spcAft>
                <a:spcPts val="1200"/>
              </a:spcAft>
              <a:buChar char="•"/>
              <a:defRPr/>
            </a:lvl2pPr>
            <a:lvl3pPr marL="838200" indent="-228600">
              <a:lnSpc>
                <a:spcPct val="110000"/>
              </a:lnSpc>
              <a:spcBef>
                <a:spcPts val="0"/>
              </a:spcBef>
              <a:spcAft>
                <a:spcPts val="1200"/>
              </a:spcAft>
              <a:buChar char="•"/>
              <a:defRPr/>
            </a:lvl3pPr>
            <a:lvl4pPr marL="1143000" indent="-228600">
              <a:lnSpc>
                <a:spcPct val="110000"/>
              </a:lnSpc>
              <a:spcBef>
                <a:spcPts val="0"/>
              </a:spcBef>
              <a:spcAft>
                <a:spcPts val="1200"/>
              </a:spcAft>
              <a:buChar char="•"/>
              <a:defRPr/>
            </a:lvl4pPr>
            <a:lvl5pPr marL="1447800" indent="-228600">
              <a:lnSpc>
                <a:spcPct val="110000"/>
              </a:lnSpc>
              <a:spcBef>
                <a:spcPts val="0"/>
              </a:spcBef>
              <a:spcAft>
                <a:spcPts val="1200"/>
              </a:spcAft>
              <a:buChar char="•"/>
              <a:defRPr/>
            </a:lvl5pPr>
            <a:lvl6pPr marL="1752600" indent="-228600">
              <a:lnSpc>
                <a:spcPct val="110000"/>
              </a:lnSpc>
              <a:spcBef>
                <a:spcPts val="0"/>
              </a:spcBef>
              <a:spcAft>
                <a:spcPts val="1200"/>
              </a:spcAft>
              <a:buChar char="•"/>
              <a:defRPr/>
            </a:lvl6pPr>
            <a:lvl7pPr marL="2057400" indent="-228600">
              <a:lnSpc>
                <a:spcPct val="110000"/>
              </a:lnSpc>
              <a:spcBef>
                <a:spcPts val="0"/>
              </a:spcBef>
              <a:spcAft>
                <a:spcPts val="1200"/>
              </a:spcAft>
              <a:buChar char="•"/>
              <a:defRPr/>
            </a:lvl7pPr>
            <a:lvl8pPr marL="2362200" indent="-228600">
              <a:lnSpc>
                <a:spcPct val="110000"/>
              </a:lnSpc>
              <a:spcBef>
                <a:spcPts val="0"/>
              </a:spcBef>
              <a:spcAft>
                <a:spcPts val="1200"/>
              </a:spcAft>
              <a:buChar char="•"/>
              <a:defRPr/>
            </a:lvl8pPr>
            <a:lvl9pPr marL="2667000" indent="-228600">
              <a:lnSpc>
                <a:spcPct val="110000"/>
              </a:lnSpc>
              <a:spcBef>
                <a:spcPts val="0"/>
              </a:spcBef>
              <a:spcAft>
                <a:spcPts val="1200"/>
              </a:spcAft>
              <a:buChar char="•"/>
              <a:defRPr/>
            </a:lvl9pPr>
          </a:lstStyle>
          <a:p xmlns:a="http://schemas.openxmlformats.org/drawingml/2006/main">
            <a:endParaRPr/>
          </a:p>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fdc9755894734d45" /><Relationship Type="http://schemas.openxmlformats.org/officeDocument/2006/relationships/slideLayout" Target="/ppt/slideLayouts/slideLayout1.xml" Id="Rb4491b465f4e4ca1" /><Relationship Type="http://schemas.openxmlformats.org/officeDocument/2006/relationships/slideLayout" Target="/ppt/slideLayouts/slideLayout2.xml" Id="Rd6f9170ee6a9437f" /><Relationship Type="http://schemas.openxmlformats.org/officeDocument/2006/relationships/slideLayout" Target="/ppt/slideLayouts/slideLayout3.xml" Id="R00baefbe0b0643a6" /><Relationship Type="http://schemas.openxmlformats.org/officeDocument/2006/relationships/slideLayout" Target="/ppt/slideLayouts/slideLayout4.xml" Id="Rf1f525bc45e14c2a" /><Relationship Type="http://schemas.openxmlformats.org/officeDocument/2006/relationships/slideLayout" Target="/ppt/slideLayouts/slideLayout5.xml" Id="Rae1a2a29c8824e00" /><Relationship Type="http://schemas.openxmlformats.org/officeDocument/2006/relationships/slideLayout" Target="/ppt/slideLayouts/slideLayout6.xml" Id="R6a076a34297d4dd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4491b465f4e4ca1"/>
    <p:sldLayoutId xmlns:r="http://schemas.openxmlformats.org/officeDocument/2006/relationships" id="2147483650" r:id="Rd6f9170ee6a9437f"/>
    <p:sldLayoutId xmlns:r="http://schemas.openxmlformats.org/officeDocument/2006/relationships" id="2147483651" r:id="R00baefbe0b0643a6"/>
    <p:sldLayoutId xmlns:r="http://schemas.openxmlformats.org/officeDocument/2006/relationships" id="2147483652" r:id="Rf1f525bc45e14c2a"/>
    <p:sldLayoutId xmlns:r="http://schemas.openxmlformats.org/officeDocument/2006/relationships" id="2147483653" r:id="Rae1a2a29c8824e00"/>
    <p:sldLayoutId xmlns:r="http://schemas.openxmlformats.org/officeDocument/2006/relationships" id="2147483654" r:id="R6a076a34297d4dd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4c888d7a2cc74fc1" /><Relationship Type="http://schemas.openxmlformats.org/officeDocument/2006/relationships/notesSlide" Target="/ppt/notesSlides/notesSlide1.xml" Id="R83600463da474f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25f642d63d34219" /><Relationship Type="http://schemas.openxmlformats.org/officeDocument/2006/relationships/image" Target="/ppt/media/image.png" Id="R6f750bc7a95142ba" /><Relationship Type="http://schemas.openxmlformats.org/officeDocument/2006/relationships/image" Target="/ppt/media/image.jpeg" Id="R2e518da1c9e6491f" /><Relationship Type="http://schemas.openxmlformats.org/officeDocument/2006/relationships/image" Target="/ppt/media/image2.jpeg" Id="R786fe46e400e46da" /><Relationship Type="http://schemas.openxmlformats.org/officeDocument/2006/relationships/image" Target="/ppt/media/image3.jpeg" Id="R83b8487a530e4551" /><Relationship Type="http://schemas.openxmlformats.org/officeDocument/2006/relationships/image" Target="/ppt/media/image2.png" Id="Ra1ee8408c8c14431" /><Relationship Type="http://schemas.openxmlformats.org/officeDocument/2006/relationships/notesSlide" Target="/ppt/notesSlides/notesSlide2.xml" Id="Raed294b8b97c440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eb7ec92060fb42ee" /><Relationship Type="http://schemas.openxmlformats.org/officeDocument/2006/relationships/notesSlide" Target="/ppt/notesSlides/notesSlide3.xml" Id="R4dd68fd2b66b4598"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1df3665a3f3847e3" /><Relationship Type="http://schemas.openxmlformats.org/officeDocument/2006/relationships/notesSlide" Target="/ppt/notesSlides/notesSlide4.xml" Id="Ra2497b8260b24c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dfa063a619c64db0" /><Relationship Type="http://schemas.openxmlformats.org/officeDocument/2006/relationships/notesSlide" Target="/ppt/notesSlides/notesSlide5.xml" Id="R8cd4bcc6e8d34111"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7485b8cdf2948d8" /><Relationship Type="http://schemas.openxmlformats.org/officeDocument/2006/relationships/image" Target="/ppt/media/image4.jpeg" Id="R7f31bb4ddf234b69" /><Relationship Type="http://schemas.openxmlformats.org/officeDocument/2006/relationships/image" Target="/ppt/media/image5.jpeg" Id="R714e914b01f74db6" /><Relationship Type="http://schemas.openxmlformats.org/officeDocument/2006/relationships/hyperlink" Target="https://www.linkedin.com/in/pulkitwalia/" TargetMode="External" Id="Rc3b6d358f6d642ad" /><Relationship Type="http://schemas.openxmlformats.org/officeDocument/2006/relationships/hyperlink" Target="https://www.linkedin.com/in/rohit-jain-343437187/" TargetMode="External" Id="Rbfd42de2f1044cf7" /><Relationship Type="http://schemas.openxmlformats.org/officeDocument/2006/relationships/image" Target="/ppt/media/image6.jpeg" Id="Rb2c9aad9f4974dc7" /><Relationship Type="http://schemas.openxmlformats.org/officeDocument/2006/relationships/image" Target="/ppt/media/image3.png" Id="Rb1513d8de50e4666" /><Relationship Type="http://schemas.openxmlformats.org/officeDocument/2006/relationships/image" Target="/ppt/media/image7.jpeg" Id="Rfd886a891fa1400c" /><Relationship Type="http://schemas.openxmlformats.org/officeDocument/2006/relationships/notesSlide" Target="/ppt/notesSlides/notesSlide6.xml" Id="Rd7ba3c8515d24ab9" /></Relationships>
</file>

<file path=ppt/slides/slide1.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9" name="v30-text-6">
            <a:extLst xmlns:a="http://schemas.openxmlformats.org/drawingml/2006/main">
              <a:ext uri="{FF2B5EF4-FFF2-40B4-BE49-F238E27FC236}">
                <a16:creationId xmlns:a16="http://schemas.microsoft.com/office/drawing/2014/main" id="{BD0FFD8B-A5E6-42AC-B090-7113539B70D4}"/>
              </a:ext>
            </a:extLst>
          </p:cNvPr>
          <p:cNvSpPr>
            <a:spLocks xmlns:a="http://schemas.openxmlformats.org/drawingml/2006/main" noGrp="1"/>
          </p:cNvSpPr>
          <p:nvPr/>
        </p:nvSpPr>
        <p:spPr>
          <a:xfrm xmlns:a="http://schemas.openxmlformats.org/drawingml/2006/main">
            <a:off x="609600" y="285750"/>
            <a:ext cx="952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53716A"/>
                </a:solidFill>
                <a:latin typeface="Helvetica Neue"/>
                <a:ea typeface="Helvetica Neue"/>
                <a:cs typeface="Helvetica Neue"/>
              </a:defRPr>
            </a:defPPr>
          </a:lstStyle>
          <a:p xmlns:a="http://schemas.openxmlformats.org/drawingml/2006/main">
            <a:pPr algn="l">
              <a:defRPr sz="1275" b="1">
                <a:solidFill>
                  <a:srgbClr val="53716A"/>
                </a:solidFill>
                <a:latin typeface="Helvetica Neue"/>
                <a:ea typeface="Helvetica Neue"/>
                <a:cs typeface="Helvetica Neue"/>
              </a:defRPr>
            </a:pPr>
            <a:r>
              <a:rPr sz="1275" b="1">
                <a:solidFill>
                  <a:srgbClr val="53716A"/>
                </a:solidFill>
                <a:latin typeface="Helvetica Neue"/>
                <a:ea typeface="Helvetica Neue"/>
                <a:cs typeface="Helvetica Neue"/>
              </a:rPr>
              <a:t>GOLOCAL</a:t>
            </a:r>
          </a:p>
        </p:txBody>
      </p:sp>
      <p:sp>
        <p:nvSpPr>
          <p:cNvPr id="2" name="v30-text-7">
            <a:extLst xmlns:a="http://schemas.openxmlformats.org/drawingml/2006/main">
              <a:ext uri="{FF2B5EF4-FFF2-40B4-BE49-F238E27FC236}">
                <a16:creationId xmlns:a16="http://schemas.microsoft.com/office/drawing/2014/main" id="{DFF58693-A532-41FB-9C48-A1F677899062}"/>
              </a:ext>
            </a:extLst>
          </p:cNvPr>
          <p:cNvSpPr>
            <a:spLocks xmlns:a="http://schemas.openxmlformats.org/drawingml/2006/main" noGrp="1"/>
          </p:cNvSpPr>
          <p:nvPr/>
        </p:nvSpPr>
        <p:spPr>
          <a:xfrm xmlns:a="http://schemas.openxmlformats.org/drawingml/2006/main">
            <a:off x="6572250" y="276225"/>
            <a:ext cx="50101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500" b="0">
                <a:solidFill>
                  <a:srgbClr val="53716A"/>
                </a:solidFill>
                <a:latin typeface="Helvetica Neue"/>
                <a:ea typeface="Helvetica Neue"/>
                <a:cs typeface="Helvetica Neue"/>
              </a:defRPr>
            </a:defPPr>
          </a:lstStyle>
          <a:p xmlns:a="http://schemas.openxmlformats.org/drawingml/2006/main">
            <a:pPr algn="r">
              <a:defRPr sz="1500" b="0">
                <a:solidFill>
                  <a:srgbClr val="53716A"/>
                </a:solidFill>
                <a:latin typeface="Helvetica Neue"/>
                <a:ea typeface="Helvetica Neue"/>
                <a:cs typeface="Helvetica Neue"/>
              </a:defRPr>
            </a:pPr>
            <a:r>
              <a:rPr sz="1500" b="0">
                <a:solidFill>
                  <a:srgbClr val="53716A"/>
                </a:solidFill>
                <a:latin typeface="Helvetica Neue"/>
                <a:ea typeface="Helvetica Neue"/>
                <a:cs typeface="Helvetica Neue"/>
              </a:rPr>
              <a:t>Local services, booked by your personal agent.</a:t>
            </a:r>
          </a:p>
        </p:txBody>
      </p:sp>
      <p:sp>
        <p:nvSpPr>
          <p:cNvPr id="3" name="v30-text-8">
            <a:extLst xmlns:a="http://schemas.openxmlformats.org/drawingml/2006/main">
              <a:ext uri="{FF2B5EF4-FFF2-40B4-BE49-F238E27FC236}">
                <a16:creationId xmlns:a16="http://schemas.microsoft.com/office/drawing/2014/main" id="{6B788128-3746-4C1A-B6C2-740E2E636D3D}"/>
              </a:ext>
            </a:extLst>
          </p:cNvPr>
          <p:cNvSpPr>
            <a:spLocks xmlns:a="http://schemas.openxmlformats.org/drawingml/2006/main" noGrp="1"/>
          </p:cNvSpPr>
          <p:nvPr/>
        </p:nvSpPr>
        <p:spPr>
          <a:xfrm xmlns:a="http://schemas.openxmlformats.org/drawingml/2006/main">
            <a:off x="609600" y="752475"/>
            <a:ext cx="109728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03D3B"/>
                </a:solidFill>
                <a:latin typeface="Helvetica Neue"/>
                <a:ea typeface="Helvetica Neue"/>
                <a:cs typeface="Helvetica Neue"/>
              </a:defRPr>
            </a:defPPr>
          </a:lstStyle>
          <a:p xmlns:a="http://schemas.openxmlformats.org/drawingml/2006/main">
            <a:pPr algn="l">
              <a:defRPr sz="3300" b="1">
                <a:solidFill>
                  <a:srgbClr val="103D3B"/>
                </a:solidFill>
                <a:latin typeface="Helvetica Neue"/>
                <a:ea typeface="Helvetica Neue"/>
                <a:cs typeface="Helvetica Neue"/>
              </a:defRPr>
            </a:pPr>
            <a:r>
              <a:rPr sz="3300" b="1">
                <a:solidFill>
                  <a:srgbClr val="103D3B"/>
                </a:solidFill>
                <a:latin typeface="Helvetica Neue"/>
                <a:ea typeface="Helvetica Neue"/>
                <a:cs typeface="Helvetica Neue"/>
              </a:rPr>
              <a:t>Personal agents need live local-business data</a:t>
            </a:r>
          </a:p>
        </p:txBody>
      </p:sp>
      <p:sp>
        <p:nvSpPr>
          <p:cNvPr id="4" name="v30-text-9">
            <a:extLst xmlns:a="http://schemas.openxmlformats.org/drawingml/2006/main">
              <a:ext uri="{FF2B5EF4-FFF2-40B4-BE49-F238E27FC236}">
                <a16:creationId xmlns:a16="http://schemas.microsoft.com/office/drawing/2014/main" id="{B9785A91-1E09-4E89-89A7-BAE907AFA058}"/>
              </a:ext>
            </a:extLst>
          </p:cNvPr>
          <p:cNvSpPr>
            <a:spLocks xmlns:a="http://schemas.openxmlformats.org/drawingml/2006/main" noGrp="1"/>
          </p:cNvSpPr>
          <p:nvPr/>
        </p:nvSpPr>
        <p:spPr>
          <a:xfrm xmlns:a="http://schemas.openxmlformats.org/drawingml/2006/main">
            <a:off x="609600" y="1362075"/>
            <a:ext cx="109728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3716A"/>
                </a:solidFill>
                <a:latin typeface="Helvetica Neue"/>
                <a:ea typeface="Helvetica Neue"/>
                <a:cs typeface="Helvetica Neue"/>
              </a:defRPr>
            </a:defPPr>
          </a:lstStyle>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Users once called businesses to scope the job.</a:t>
            </a:r>
          </a:p>
          <a:p xmlns:a="http://schemas.openxmlformats.org/drawingml/2006/main">
            <a:pPr algn="l">
              <a:defRPr sz="1800" b="0">
                <a:solidFill>
                  <a:srgbClr val="53716A"/>
                </a:solidFill>
                <a:latin typeface="Helvetica Neue"/>
                <a:ea typeface="Helvetica Neue"/>
                <a:cs typeface="Helvetica Neue"/>
              </a:defRPr>
            </a:pPr>
            <a:r>
              <a:rPr sz="1800" b="0">
                <a:solidFill>
                  <a:srgbClr val="53716A"/>
                </a:solidFill>
                <a:latin typeface="Helvetica Neue"/>
                <a:ea typeface="Helvetica Neue"/>
                <a:cs typeface="Helvetica Neue"/>
              </a:rPr>
              <a:t>Personal agents can now scope it with the customer, then act on live business data.</a:t>
            </a:r>
          </a:p>
        </p:txBody>
      </p:sp>
      <p:graphicFrame>
        <p:nvGraphicFramePr>
          <p:cNvPr id="5" name="">
            <a:extLst xmlns:a="http://schemas.openxmlformats.org/drawingml/2006/main">
              <a:ext uri="{FF2B5EF4-FFF2-40B4-BE49-F238E27FC236}">
                <a16:creationId xmlns:a16="http://schemas.microsoft.com/office/drawing/2014/main" id="{8306196D-0EBD-458B-B51F-5271C2546D98}"/>
              </a:ext>
            </a:extLst>
          </p:cNvPr>
          <p:cNvGraphicFramePr/>
          <p:nvPr/>
        </p:nvGraphicFramePr>
        <p:xfrm>
          <a:off xmlns:a="http://schemas.openxmlformats.org/drawingml/2006/main" x="609600" y="2076450"/>
          <a:ext xmlns:a="http://schemas.openxmlformats.org/drawingml/2006/main" cx="10972800" cy="3467100"/>
        </p:xfrm>
        <a:graphic xmlns:a="http://schemas.openxmlformats.org/drawingml/2006/main">
          <a:graphicData uri="http://schemas.openxmlformats.org/drawingml/2006/table">
            <a:tbl>
              <a:tblPr firstRow="0" firstCol="0" bandRow="0"/>
              <a:tblGrid>
                <a:gridCol w="2667000"/>
                <a:gridCol w="1661160"/>
                <a:gridCol w="1661160"/>
                <a:gridCol w="1661160"/>
                <a:gridCol w="1661160"/>
                <a:gridCol w="1661160"/>
              </a:tblGrid>
              <a:tr h="285750">
                <a:tc>
                  <a:txBody>
                    <a:bodyPr wrap="square">
                      <a:noAutofit/>
                    </a:bodyPr>
                    <a:lstStyle/>
                    <a:p>
                      <a:pPr algn="l"/>
                      <a:r>
                        <a:rPr sz="1350" b="1">
                          <a:solidFill>
                            <a:srgbClr val="53716A"/>
                          </a:solidFill>
                          <a:latin typeface="Helvetica Neue"/>
                          <a:ea typeface="Helvetica Neue"/>
                          <a:cs typeface="Helvetica Neue"/>
                        </a:rPr>
                        <a:t>ERA</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Pre-2000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2000–2010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2010–2020</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53716A"/>
                          </a:solidFill>
                          <a:latin typeface="Helvetica Neue"/>
                          <a:ea typeface="Helvetica Neue"/>
                          <a:cs typeface="Helvetica Neue"/>
                        </a:rPr>
                        <a:t>2020–2025</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350" b="1">
                          <a:solidFill>
                            <a:srgbClr val="FFFFFF"/>
                          </a:solidFill>
                          <a:latin typeface="Helvetica Neue"/>
                          <a:ea typeface="Helvetica Neue"/>
                          <a:cs typeface="Helvetica Neue"/>
                        </a:rPr>
                        <a:t>2026</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285750">
                <a:tc>
                  <a:txBody>
                    <a:bodyPr wrap="square">
                      <a:noAutofit/>
                    </a:bodyPr>
                    <a:lstStyle/>
                    <a:p>
                      <a:pPr algn="l"/>
                      <a:r>
                        <a:rPr sz="1275" b="1">
                          <a:solidFill>
                            <a:srgbClr val="53716A"/>
                          </a:solidFill>
                          <a:latin typeface="Helvetica Neue"/>
                          <a:ea typeface="Helvetica Neue"/>
                          <a:cs typeface="Helvetica Neue"/>
                        </a:rPr>
                        <a:t>Technology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Telephones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Internet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Mobile + GPS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53716A"/>
                          </a:solidFill>
                          <a:latin typeface="Helvetica Neue"/>
                          <a:ea typeface="Helvetica Neue"/>
                          <a:cs typeface="Helvetica Neue"/>
                        </a:rPr>
                        <a:t>LLMs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275" b="0">
                          <a:solidFill>
                            <a:srgbClr val="FFFFFF"/>
                          </a:solidFill>
                          <a:latin typeface="Helvetica Neue"/>
                          <a:ea typeface="Helvetica Neue"/>
                          <a:cs typeface="Helvetica Neue"/>
                        </a:rPr>
                        <a:t>AI + tools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552450">
                <a:tc>
                  <a:txBody>
                    <a:bodyPr wrap="square">
                      <a:noAutofit/>
                    </a:bodyPr>
                    <a:lstStyle/>
                    <a:p>
                      <a:pPr algn="l"/>
                      <a:r>
                        <a:rPr sz="1575" b="1">
                          <a:solidFill>
                            <a:srgbClr val="103D3B"/>
                          </a:solidFill>
                          <a:latin typeface="Helvetica Neue"/>
                          <a:ea typeface="Helvetica Neue"/>
                          <a:cs typeface="Helvetica Neue"/>
                        </a:rPr>
                        <a:t>Platform</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Yellow Pages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a:t>
                      </a:r>
                    </a:p>
                    <a:p>
                      <a:pPr algn="ctr"/>
                      <a:r>
                        <a:rPr sz="1575" b="1">
                          <a:solidFill>
                            <a:srgbClr val="103D3B"/>
                          </a:solidFill>
                          <a:latin typeface="Helvetica Neue"/>
                          <a:ea typeface="Helvetica Neue"/>
                          <a:cs typeface="Helvetica Neue"/>
                        </a:rPr>
                        <a:t>Craigslist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Google Maps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103D3B"/>
                          </a:solidFill>
                          <a:latin typeface="Helvetica Neue"/>
                          <a:ea typeface="Helvetica Neue"/>
                          <a:cs typeface="Helvetica Neue"/>
                        </a:rPr>
                        <a:t>AI chatbots</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75" b="1">
                          <a:solidFill>
                            <a:srgbClr val="FFFFFF"/>
                          </a:solidFill>
                          <a:latin typeface="Helvetica Neue"/>
                          <a:ea typeface="Helvetica Neue"/>
                          <a:cs typeface="Helvetica Neue"/>
                        </a:rPr>
                        <a:t>Personal</a:t>
                      </a:r>
                    </a:p>
                    <a:p>
                      <a:pPr algn="ctr"/>
                      <a:r>
                        <a:rPr sz="1575" b="1">
                          <a:solidFill>
                            <a:srgbClr val="FFFFFF"/>
                          </a:solidFill>
                          <a:latin typeface="Helvetica Neue"/>
                          <a:ea typeface="Helvetica Neue"/>
                          <a:cs typeface="Helvetica Neue"/>
                        </a:rPr>
                        <a:t>agents today</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103D3B"/>
                    </a:solidFill>
                  </a:tcPr>
                </a:tc>
              </a:tr>
              <a:tr h="304800">
                <a:tc>
                  <a:txBody>
                    <a:bodyPr wrap="square">
                      <a:noAutofit/>
                    </a:bodyPr>
                    <a:lstStyle/>
                    <a:p>
                      <a:pPr algn="l"/>
                      <a:r>
                        <a:rPr sz="1500" b="1">
                          <a:solidFill>
                            <a:srgbClr val="103D3B"/>
                          </a:solidFill>
                          <a:latin typeface="Helvetica Neue"/>
                          <a:ea typeface="Helvetica Neue"/>
                          <a:cs typeface="Helvetica Neue"/>
                        </a:rPr>
                        <a:t>Find a business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Compare options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Location &amp; reviews</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Discuss &amp; scope the job</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c>
                  <a:txBody>
                    <a:bodyPr wrap="square">
                      <a:noAutofit/>
                    </a:bodyPr>
                    <a:lstStyle/>
                    <a:p>
                      <a:pPr algn="ctr"/>
                      <a:r>
                        <a:rPr sz="1650" b="1">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1EADC"/>
                    </a:solidFill>
                  </a:tcPr>
                </a:tc>
              </a:tr>
              <a:tr h="304800">
                <a:tc>
                  <a:txBody>
                    <a:bodyPr wrap="square">
                      <a:noAutofit/>
                    </a:bodyPr>
                    <a:lstStyle/>
                    <a:p>
                      <a:pPr algn="l"/>
                      <a:r>
                        <a:rPr sz="1500" b="1">
                          <a:solidFill>
                            <a:srgbClr val="103D3B"/>
                          </a:solidFill>
                          <a:latin typeface="Helvetica Neue"/>
                          <a:ea typeface="Helvetica Neue"/>
                          <a:cs typeface="Helvetica Neue"/>
                        </a:rPr>
                        <a:t>Delegate the task</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5F2E9"/>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500" b="0">
                          <a:solidFill>
                            <a:srgbClr val="103D3B"/>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ECECE5"/>
                    </a:solidFill>
                  </a:tcPr>
                </a:tc>
                <a:tc>
                  <a:txBody>
                    <a:bodyPr wrap="square">
                      <a:noAutofit/>
                    </a:bodyPr>
                    <a:lstStyle/>
                    <a:p>
                      <a:pPr algn="ctr"/>
                      <a:r>
                        <a:rPr sz="1650" b="1">
                          <a:solidFill>
                            <a:srgbClr val="FFFFFF"/>
                          </a:solidFill>
                          <a:latin typeface="Helvetica Neue"/>
                          <a:ea typeface="Helvetica Neue"/>
                          <a:cs typeface="Helvetica Neue"/>
                        </a:rPr>
                        <a:t>✓</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236C4E"/>
                    </a:solidFill>
                  </a:tcPr>
                </a:tc>
              </a:tr>
              <a:tr h="409575">
                <a:tc>
                  <a:txBody>
                    <a:bodyPr wrap="square">
                      <a:noAutofit/>
                    </a:bodyPr>
                    <a:lstStyle/>
                    <a:p>
                      <a:pPr algn="l"/>
                      <a:r>
                        <a:rPr sz="1500" b="1">
                          <a:solidFill>
                            <a:srgbClr val="A34E3F"/>
                          </a:solidFill>
                          <a:latin typeface="Helvetica Neue"/>
                          <a:ea typeface="Helvetica Neue"/>
                          <a:cs typeface="Helvetica Neue"/>
                        </a:rPr>
                        <a:t>Get quotes &amp; schedule</a:t>
                      </a:r>
                    </a:p>
                  </a:txBody>
                  <a:tcPr marL="57150"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rowSpan="2" gridSpan="5">
                  <a:txBody>
                    <a:bodyPr wrap="square">
                      <a:noAutofit/>
                    </a:bodyPr>
                    <a:lstStyle/>
                    <a:p>
                      <a:pPr algn="ctr"/>
                      <a:r>
                        <a:rPr sz="1650" b="1">
                          <a:solidFill>
                            <a:srgbClr val="A34E3F"/>
                          </a:solidFill>
                          <a:latin typeface="Helvetica Neue"/>
                          <a:ea typeface="Helvetica Neue"/>
                          <a:cs typeface="Helvetica Neue"/>
                        </a:rPr>
                        <a:t>MISSING: a shared live data layer for local businesses</a:t>
                      </a:r>
                    </a:p>
                    <a:p>
                      <a:pPr algn="ctr"/>
                      <a:r>
                        <a:rPr sz="1650" b="1">
                          <a:solidFill>
                            <a:srgbClr val="A34E3F"/>
                          </a:solidFill>
                          <a:latin typeface="Helvetica Neue"/>
                          <a:ea typeface="Helvetica Neue"/>
                          <a:cs typeface="Helvetica Neue"/>
                        </a:rPr>
                        <a:t>Services, pricing and availability, connected to booking &amp; payment</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c hMerge="1" vMerge="0">
                  <a:txBody>
                    <a:bodyPr wrap="square">
                      <a:noAutofit/>
                    </a:bodyPr>
                    <a:lstStyle/>
                    <a:p>
                      <a:r>
                        <a:rPr sz="1575" b="1">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66675">
                      <a:solidFill>
                        <a:srgbClr val="F5F2E9"/>
                      </a:solidFill>
                    </a:lnT>
                    <a:lnB w="19050">
                      <a:solidFill>
                        <a:srgbClr val="F5F2E9"/>
                      </a:solidFill>
                    </a:lnB>
                    <a:solidFill>
                      <a:srgbClr val="F0E2D9"/>
                    </a:solidFill>
                  </a:tcPr>
                </a:tc>
              </a:tr>
              <a:tr h="409575">
                <a:tc>
                  <a:txBody>
                    <a:bodyPr wrap="square">
                      <a:noAutofit/>
                    </a:bodyPr>
                    <a:lstStyle/>
                    <a:p>
                      <a:pPr algn="l"/>
                      <a:r>
                        <a:rPr sz="1500" b="1">
                          <a:solidFill>
                            <a:srgbClr val="A34E3F"/>
                          </a:solidFill>
                          <a:latin typeface="Helvetica Neue"/>
                          <a:ea typeface="Helvetica Neue"/>
                          <a:cs typeface="Helvetica Neue"/>
                        </a:rPr>
                        <a:t>Book &amp; pay</a:t>
                      </a:r>
                    </a:p>
                  </a:txBody>
                  <a:tcPr marL="57150"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0"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c hMerge="1" vMerge="1">
                  <a:txBody>
                    <a:bodyPr wrap="square">
                      <a:noAutofit/>
                    </a:bodyPr>
                    <a:lstStyle/>
                    <a:p>
                      <a:r>
                        <a:rPr sz="1575" b="0">
                          <a:solidFill>
                            <a:srgbClr val="A34E3F"/>
                          </a:solidFill>
                          <a:latin typeface="Helvetica Neue"/>
                          <a:ea typeface="Helvetica Neue"/>
                          <a:cs typeface="Helvetica Neue"/>
                        </a:rPr>
                        <a:t/>
                      </a:r>
                    </a:p>
                  </a:txBody>
                  <a:tcPr marL="66675" marR="57150" marT="19050" marB="19050" anchor="ctr">
                    <a:lnL w="19050">
                      <a:solidFill>
                        <a:srgbClr val="F5F2E9"/>
                      </a:solidFill>
                    </a:lnL>
                    <a:lnR w="19050">
                      <a:solidFill>
                        <a:srgbClr val="F5F2E9"/>
                      </a:solidFill>
                    </a:lnR>
                    <a:lnT w="19050">
                      <a:solidFill>
                        <a:srgbClr val="F5F2E9"/>
                      </a:solidFill>
                    </a:lnT>
                    <a:lnB w="19050">
                      <a:solidFill>
                        <a:srgbClr val="F5F2E9"/>
                      </a:solidFill>
                    </a:lnB>
                    <a:solidFill>
                      <a:srgbClr val="F0E2D9"/>
                    </a:solidFill>
                  </a:tcPr>
                </a:tc>
              </a:tr>
            </a:tbl>
          </a:graphicData>
        </a:graphic>
      </p:graphicFrame>
      <p:sp>
        <p:nvSpPr>
          <p:cNvPr id="6" name="v30-text-10">
            <a:extLst xmlns:a="http://schemas.openxmlformats.org/drawingml/2006/main">
              <a:ext uri="{FF2B5EF4-FFF2-40B4-BE49-F238E27FC236}">
                <a16:creationId xmlns:a16="http://schemas.microsoft.com/office/drawing/2014/main" id="{B1C0E5D7-D403-45CF-BEBB-782F0729DDD6}"/>
              </a:ext>
            </a:extLst>
          </p:cNvPr>
          <p:cNvSpPr>
            <a:spLocks xmlns:a="http://schemas.openxmlformats.org/drawingml/2006/main" noGrp="1"/>
          </p:cNvSpPr>
          <p:nvPr/>
        </p:nvSpPr>
        <p:spPr>
          <a:xfrm xmlns:a="http://schemas.openxmlformats.org/drawingml/2006/main">
            <a:off x="609600" y="5762625"/>
            <a:ext cx="109728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03D3B"/>
                </a:solidFill>
                <a:latin typeface="Helvetica Neue"/>
                <a:ea typeface="Helvetica Neue"/>
                <a:cs typeface="Helvetica Neue"/>
              </a:defRPr>
            </a:defPPr>
          </a:lstStyle>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The live data layer that enables agent bookings can capture value</a:t>
            </a:r>
          </a:p>
          <a:p xmlns:a="http://schemas.openxmlformats.org/drawingml/2006/main">
            <a:pPr algn="l">
              <a:defRPr sz="2100" b="1">
                <a:solidFill>
                  <a:srgbClr val="103D3B"/>
                </a:solidFill>
                <a:latin typeface="Helvetica Neue"/>
                <a:ea typeface="Helvetica Neue"/>
                <a:cs typeface="Helvetica Neue"/>
              </a:defRPr>
            </a:pPr>
            <a:r>
              <a:rPr sz="2100" b="1">
                <a:solidFill>
                  <a:srgbClr val="103D3B"/>
                </a:solidFill>
                <a:latin typeface="Helvetica Neue"/>
                <a:ea typeface="Helvetica Neue"/>
                <a:cs typeface="Helvetica Neue"/>
              </a:rPr>
              <a:t>from the ≈$1.2T local-services spending pool.</a:t>
            </a:r>
          </a:p>
        </p:txBody>
      </p:sp>
      <p:sp>
        <p:nvSpPr>
          <p:cNvPr id="7" name="v30-text-11">
            <a:extLst xmlns:a="http://schemas.openxmlformats.org/drawingml/2006/main">
              <a:ext uri="{FF2B5EF4-FFF2-40B4-BE49-F238E27FC236}">
                <a16:creationId xmlns:a16="http://schemas.microsoft.com/office/drawing/2014/main" id="{3F1CF72F-F646-479D-AAA6-23869C1334FD}"/>
              </a:ext>
            </a:extLst>
          </p:cNvPr>
          <p:cNvSpPr>
            <a:spLocks xmlns:a="http://schemas.openxmlformats.org/drawingml/2006/main" noGrp="1"/>
          </p:cNvSpPr>
          <p:nvPr/>
        </p:nvSpPr>
        <p:spPr>
          <a:xfrm xmlns:a="http://schemas.openxmlformats.org/drawingml/2006/main">
            <a:off x="609600" y="6486525"/>
            <a:ext cx="10668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38" b="0">
                <a:solidFill>
                  <a:srgbClr val="53716A"/>
                </a:solidFill>
                <a:latin typeface="Helvetica Neue"/>
                <a:ea typeface="Helvetica Neue"/>
                <a:cs typeface="Helvetica Neue"/>
              </a:defRPr>
            </a:defPPr>
          </a:lstStyle>
          <a:p xmlns:a="http://schemas.openxmlformats.org/drawingml/2006/main">
            <a:pPr algn="l">
              <a:defRPr sz="938" b="0">
                <a:solidFill>
                  <a:srgbClr val="53716A"/>
                </a:solidFill>
                <a:latin typeface="Helvetica Neue"/>
                <a:ea typeface="Helvetica Neue"/>
                <a:cs typeface="Helvetica Neue"/>
              </a:defRPr>
            </a:pPr>
            <a:r>
              <a:rPr sz="938" b="0">
                <a:solidFill>
                  <a:srgbClr val="53716A"/>
                </a:solidFill>
                <a:latin typeface="Helvetica Neue"/>
                <a:ea typeface="Helvetica Neue"/>
                <a:cs typeface="Helvetica Neue"/>
              </a:rPr>
              <a:t>≈$1.2T annual U.S. spending across selected categories; mixed 2023–25 sources, including materials/DIY. Eras and capabilities illustrative.</a:t>
            </a:r>
          </a:p>
        </p:txBody>
      </p:sp>
      <p:sp>
        <p:nvSpPr>
          <p:cNvPr id="8" name="v30-text-12">
            <a:extLst xmlns:a="http://schemas.openxmlformats.org/drawingml/2006/main">
              <a:ext uri="{FF2B5EF4-FFF2-40B4-BE49-F238E27FC236}">
                <a16:creationId xmlns:a16="http://schemas.microsoft.com/office/drawing/2014/main" id="{48386D84-8846-4C5C-A9EB-52F664EE0672}"/>
              </a:ext>
            </a:extLst>
          </p:cNvPr>
          <p:cNvSpPr>
            <a:spLocks xmlns:a="http://schemas.openxmlformats.org/drawingml/2006/main" noGrp="1"/>
          </p:cNvSpPr>
          <p:nvPr/>
        </p:nvSpPr>
        <p:spPr>
          <a:xfrm xmlns:a="http://schemas.openxmlformats.org/drawingml/2006/main">
            <a:off x="11049000" y="6667500"/>
            <a:ext cx="66675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3716A"/>
                </a:solidFill>
                <a:latin typeface="Helvetica Neue"/>
                <a:ea typeface="Helvetica Neue"/>
                <a:cs typeface="Helvetica Neue"/>
              </a:defRPr>
            </a:defPPr>
          </a:lstStyle>
          <a:p xmlns:a="http://schemas.openxmlformats.org/drawingml/2006/main">
            <a:pPr algn="l">
              <a:defRPr sz="1125" b="0">
                <a:solidFill>
                  <a:srgbClr val="53716A"/>
                </a:solidFill>
                <a:latin typeface="Helvetica Neue"/>
                <a:ea typeface="Helvetica Neue"/>
                <a:cs typeface="Helvetica Neue"/>
              </a:defRPr>
            </a:pPr>
            <a:r>
              <a:rPr sz="1125" b="0">
                <a:solidFill>
                  <a:srgbClr val="53716A"/>
                </a:solidFill>
                <a:latin typeface="Helvetica Neue"/>
                <a:ea typeface="Helvetica Neue"/>
                <a:cs typeface="Helvetica Neue"/>
              </a:rPr>
              <a:t>1 / 6</a:t>
            </a:r>
          </a:p>
        </p:txBody>
      </p:sp>
    </p:spTree>
    <p:extLst>
      <p:ext uri="{BB962C8B-B14F-4D97-AF65-F5344CB8AC3E}">
        <p14:creationId xmlns:p14="http://schemas.microsoft.com/office/powerpoint/2010/main" val="457645913"/>
      </p:ext>
    </p:extLst>
  </p:cSld>
</p:sld>
</file>

<file path=ppt/slides/slide2.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57" name="Straight Arrow Connector 56">
            <a:extLst xmlns:a="http://schemas.openxmlformats.org/drawingml/2006/main">
              <a:ext uri="{FF2B5EF4-FFF2-40B4-BE49-F238E27FC236}">
                <a16:creationId xmlns:a16="http://schemas.microsoft.com/office/drawing/2014/main" id="{422D0E64-5438-4F94-9647-0178CC7D4220}"/>
              </a:ext>
            </a:extLst>
          </p:cNvPr>
          <p:cNvCxnSpPr>
            <a:stCxn xmlns:a="http://schemas.openxmlformats.org/drawingml/2006/main" id="32" idx="3"/>
            <a:endCxn xmlns:a="http://schemas.openxmlformats.org/drawingml/2006/main" id="44" idx="1"/>
          </p:cNvCxnSpPr>
          <p:nvPr/>
        </p:nvCxnSpPr>
        <p:spPr>
          <a:xfrm xmlns:a="http://schemas.openxmlformats.org/drawingml/2006/main">
            <a:off x="9810750" y="4905375"/>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6" name="Elbow Connector 55">
            <a:extLst xmlns:a="http://schemas.openxmlformats.org/drawingml/2006/main">
              <a:ext uri="{FF2B5EF4-FFF2-40B4-BE49-F238E27FC236}">
                <a16:creationId xmlns:a16="http://schemas.microsoft.com/office/drawing/2014/main" id="{2D7BF58C-1C0B-4366-8019-4B57EA207A0E}"/>
              </a:ext>
            </a:extLst>
          </p:cNvPr>
          <p:cNvCxnSpPr>
            <a:stCxn xmlns:a="http://schemas.openxmlformats.org/drawingml/2006/main" id="25" idx="3"/>
            <a:endCxn xmlns:a="http://schemas.openxmlformats.org/drawingml/2006/main" id="32" idx="1"/>
          </p:cNvCxnSpPr>
          <p:nvPr/>
        </p:nvCxnSpPr>
        <p:spPr>
          <a:xfrm xmlns:a="http://schemas.openxmlformats.org/drawingml/2006/main">
            <a:off x="6610350" y="4133850"/>
            <a:ext cx="533400" cy="7715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5" name="Straight Arrow Connector 54">
            <a:extLst xmlns:a="http://schemas.openxmlformats.org/drawingml/2006/main">
              <a:ext uri="{FF2B5EF4-FFF2-40B4-BE49-F238E27FC236}">
                <a16:creationId xmlns:a16="http://schemas.microsoft.com/office/drawing/2014/main" id="{29C55C7C-3C41-4AF2-BC57-2CB7B410F084}"/>
              </a:ext>
            </a:extLst>
          </p:cNvPr>
          <p:cNvCxnSpPr>
            <a:stCxn xmlns:a="http://schemas.openxmlformats.org/drawingml/2006/main" id="31" idx="3"/>
            <a:endCxn xmlns:a="http://schemas.openxmlformats.org/drawingml/2006/main" id="43" idx="1"/>
          </p:cNvCxnSpPr>
          <p:nvPr/>
        </p:nvCxnSpPr>
        <p:spPr>
          <a:xfrm xmlns:a="http://schemas.openxmlformats.org/drawingml/2006/main">
            <a:off x="9810750" y="40005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4" name="Elbow Connector 53">
            <a:extLst xmlns:a="http://schemas.openxmlformats.org/drawingml/2006/main">
              <a:ext uri="{FF2B5EF4-FFF2-40B4-BE49-F238E27FC236}">
                <a16:creationId xmlns:a16="http://schemas.microsoft.com/office/drawing/2014/main" id="{BB1C856F-4FB4-4C92-9271-9D45B3E47182}"/>
              </a:ext>
            </a:extLst>
          </p:cNvPr>
          <p:cNvCxnSpPr>
            <a:stCxn xmlns:a="http://schemas.openxmlformats.org/drawingml/2006/main" id="25" idx="3"/>
            <a:endCxn xmlns:a="http://schemas.openxmlformats.org/drawingml/2006/main" id="31" idx="1"/>
          </p:cNvCxnSpPr>
          <p:nvPr/>
        </p:nvCxnSpPr>
        <p:spPr>
          <a:xfrm xmlns:a="http://schemas.openxmlformats.org/drawingml/2006/main" flipV="1">
            <a:off x="6610350" y="4000500"/>
            <a:ext cx="533400" cy="1333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3" name="Straight Arrow Connector 52">
            <a:extLst xmlns:a="http://schemas.openxmlformats.org/drawingml/2006/main">
              <a:ext uri="{FF2B5EF4-FFF2-40B4-BE49-F238E27FC236}">
                <a16:creationId xmlns:a16="http://schemas.microsoft.com/office/drawing/2014/main" id="{8A13B626-E8E0-42FB-A9E8-5B20CBB3C706}"/>
              </a:ext>
            </a:extLst>
          </p:cNvPr>
          <p:cNvCxnSpPr>
            <a:stCxn xmlns:a="http://schemas.openxmlformats.org/drawingml/2006/main" id="30" idx="3"/>
            <a:endCxn xmlns:a="http://schemas.openxmlformats.org/drawingml/2006/main" id="42" idx="1"/>
          </p:cNvCxnSpPr>
          <p:nvPr/>
        </p:nvCxnSpPr>
        <p:spPr>
          <a:xfrm xmlns:a="http://schemas.openxmlformats.org/drawingml/2006/main">
            <a:off x="9810750" y="3124200"/>
            <a:ext cx="552450" cy="0"/>
          </a:xfrm>
          <a:prstGeom xmlns:a="http://schemas.openxmlformats.org/drawingml/2006/main" prst="straightConnector1">
            <a:avLst/>
          </a:prstGeom>
          <a:ln xmlns:a="http://schemas.openxmlformats.org/drawingml/2006/main" w="19050">
            <a:solidFill>
              <a:srgbClr val="236C4E"/>
            </a:solidFill>
            <a:prstDash val="solid"/>
            <a:headEnd type="arrow" w="sm" len="sm"/>
            <a:tailEnd type="arrow" w="sm" len="sm"/>
          </a:ln>
        </p:spPr>
      </p:cxnSp>
      <p:cxnSp>
        <p:nvCxnSpPr>
          <p:cNvPr id="52" name="Elbow Connector 51">
            <a:extLst xmlns:a="http://schemas.openxmlformats.org/drawingml/2006/main">
              <a:ext uri="{FF2B5EF4-FFF2-40B4-BE49-F238E27FC236}">
                <a16:creationId xmlns:a16="http://schemas.microsoft.com/office/drawing/2014/main" id="{B0300C34-B290-476D-B403-2EBEAD83AF95}"/>
              </a:ext>
            </a:extLst>
          </p:cNvPr>
          <p:cNvCxnSpPr>
            <a:stCxn xmlns:a="http://schemas.openxmlformats.org/drawingml/2006/main" id="25" idx="3"/>
            <a:endCxn xmlns:a="http://schemas.openxmlformats.org/drawingml/2006/main" id="30" idx="1"/>
          </p:cNvCxnSpPr>
          <p:nvPr/>
        </p:nvCxnSpPr>
        <p:spPr>
          <a:xfrm xmlns:a="http://schemas.openxmlformats.org/drawingml/2006/main" flipV="1">
            <a:off x="6610350" y="3124200"/>
            <a:ext cx="533400" cy="1009650"/>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1" name="Elbow Connector 50">
            <a:extLst xmlns:a="http://schemas.openxmlformats.org/drawingml/2006/main">
              <a:ext uri="{FF2B5EF4-FFF2-40B4-BE49-F238E27FC236}">
                <a16:creationId xmlns:a16="http://schemas.microsoft.com/office/drawing/2014/main" id="{DCCE16FE-4691-413A-BB53-5328DA624630}"/>
              </a:ext>
            </a:extLst>
          </p:cNvPr>
          <p:cNvCxnSpPr>
            <a:stCxn xmlns:a="http://schemas.openxmlformats.org/drawingml/2006/main" id="16" idx="3"/>
            <a:endCxn xmlns:a="http://schemas.openxmlformats.org/drawingml/2006/main" id="25" idx="1"/>
          </p:cNvCxnSpPr>
          <p:nvPr/>
        </p:nvCxnSpPr>
        <p:spPr>
          <a:xfrm xmlns:a="http://schemas.openxmlformats.org/drawingml/2006/main" flipV="1">
            <a:off x="2362200" y="4133850"/>
            <a:ext cx="838200" cy="1076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50" name="Elbow Connector 49">
            <a:extLst xmlns:a="http://schemas.openxmlformats.org/drawingml/2006/main">
              <a:ext uri="{FF2B5EF4-FFF2-40B4-BE49-F238E27FC236}">
                <a16:creationId xmlns:a16="http://schemas.microsoft.com/office/drawing/2014/main" id="{A9473855-DB16-4DA2-A053-027BF27D3BB4}"/>
              </a:ext>
            </a:extLst>
          </p:cNvPr>
          <p:cNvCxnSpPr>
            <a:stCxn xmlns:a="http://schemas.openxmlformats.org/drawingml/2006/main" id="15" idx="3"/>
            <a:endCxn xmlns:a="http://schemas.openxmlformats.org/drawingml/2006/main" id="25" idx="1"/>
          </p:cNvCxnSpPr>
          <p:nvPr/>
        </p:nvCxnSpPr>
        <p:spPr>
          <a:xfrm xmlns:a="http://schemas.openxmlformats.org/drawingml/2006/main" flipV="1">
            <a:off x="2362200" y="4133850"/>
            <a:ext cx="838200" cy="695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9" name="Elbow Connector 48">
            <a:extLst xmlns:a="http://schemas.openxmlformats.org/drawingml/2006/main">
              <a:ext uri="{FF2B5EF4-FFF2-40B4-BE49-F238E27FC236}">
                <a16:creationId xmlns:a16="http://schemas.microsoft.com/office/drawing/2014/main" id="{088D1295-5ED9-486C-A697-991321C08BB6}"/>
              </a:ext>
            </a:extLst>
          </p:cNvPr>
          <p:cNvCxnSpPr>
            <a:stCxn xmlns:a="http://schemas.openxmlformats.org/drawingml/2006/main" id="14" idx="3"/>
            <a:endCxn xmlns:a="http://schemas.openxmlformats.org/drawingml/2006/main" id="25" idx="1"/>
          </p:cNvCxnSpPr>
          <p:nvPr/>
        </p:nvCxnSpPr>
        <p:spPr>
          <a:xfrm xmlns:a="http://schemas.openxmlformats.org/drawingml/2006/main" flipV="1">
            <a:off x="2362200" y="4133850"/>
            <a:ext cx="838200" cy="31432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8" name="Elbow Connector 47">
            <a:extLst xmlns:a="http://schemas.openxmlformats.org/drawingml/2006/main">
              <a:ext uri="{FF2B5EF4-FFF2-40B4-BE49-F238E27FC236}">
                <a16:creationId xmlns:a16="http://schemas.microsoft.com/office/drawing/2014/main" id="{F03D7D05-BE5A-4FEA-9385-A787EDCDEBC8}"/>
              </a:ext>
            </a:extLst>
          </p:cNvPr>
          <p:cNvCxnSpPr>
            <a:stCxn xmlns:a="http://schemas.openxmlformats.org/drawingml/2006/main" id="13" idx="3"/>
            <a:endCxn xmlns:a="http://schemas.openxmlformats.org/drawingml/2006/main" id="25" idx="1"/>
          </p:cNvCxnSpPr>
          <p:nvPr/>
        </p:nvCxnSpPr>
        <p:spPr>
          <a:xfrm xmlns:a="http://schemas.openxmlformats.org/drawingml/2006/main">
            <a:off x="2362200" y="4067175"/>
            <a:ext cx="838200" cy="66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7" name="Elbow Connector 46">
            <a:extLst xmlns:a="http://schemas.openxmlformats.org/drawingml/2006/main">
              <a:ext uri="{FF2B5EF4-FFF2-40B4-BE49-F238E27FC236}">
                <a16:creationId xmlns:a16="http://schemas.microsoft.com/office/drawing/2014/main" id="{3B4CFCE5-8095-4E13-BFEA-CFFD1A02A0E8}"/>
              </a:ext>
            </a:extLst>
          </p:cNvPr>
          <p:cNvCxnSpPr>
            <a:stCxn xmlns:a="http://schemas.openxmlformats.org/drawingml/2006/main" id="12" idx="3"/>
            <a:endCxn xmlns:a="http://schemas.openxmlformats.org/drawingml/2006/main" id="25" idx="1"/>
          </p:cNvCxnSpPr>
          <p:nvPr/>
        </p:nvCxnSpPr>
        <p:spPr>
          <a:xfrm xmlns:a="http://schemas.openxmlformats.org/drawingml/2006/main">
            <a:off x="2362200" y="3686175"/>
            <a:ext cx="838200" cy="447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6" name="Elbow Connector 45">
            <a:extLst xmlns:a="http://schemas.openxmlformats.org/drawingml/2006/main">
              <a:ext uri="{FF2B5EF4-FFF2-40B4-BE49-F238E27FC236}">
                <a16:creationId xmlns:a16="http://schemas.microsoft.com/office/drawing/2014/main" id="{F2148AB3-1D02-48F1-9901-54B5003A7E7B}"/>
              </a:ext>
            </a:extLst>
          </p:cNvPr>
          <p:cNvCxnSpPr>
            <a:stCxn xmlns:a="http://schemas.openxmlformats.org/drawingml/2006/main" id="11" idx="3"/>
            <a:endCxn xmlns:a="http://schemas.openxmlformats.org/drawingml/2006/main" id="25" idx="1"/>
          </p:cNvCxnSpPr>
          <p:nvPr/>
        </p:nvCxnSpPr>
        <p:spPr>
          <a:xfrm xmlns:a="http://schemas.openxmlformats.org/drawingml/2006/main">
            <a:off x="2362200" y="3305175"/>
            <a:ext cx="838200" cy="828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cxnSp>
        <p:nvCxnSpPr>
          <p:cNvPr id="45" name="Elbow Connector 44">
            <a:extLst xmlns:a="http://schemas.openxmlformats.org/drawingml/2006/main">
              <a:ext uri="{FF2B5EF4-FFF2-40B4-BE49-F238E27FC236}">
                <a16:creationId xmlns:a16="http://schemas.microsoft.com/office/drawing/2014/main" id="{F98015A4-A1CE-4AD6-A666-4317134CD151}"/>
              </a:ext>
            </a:extLst>
          </p:cNvPr>
          <p:cNvCxnSpPr>
            <a:stCxn xmlns:a="http://schemas.openxmlformats.org/drawingml/2006/main" id="10" idx="3"/>
            <a:endCxn xmlns:a="http://schemas.openxmlformats.org/drawingml/2006/main" id="25" idx="1"/>
          </p:cNvCxnSpPr>
          <p:nvPr/>
        </p:nvCxnSpPr>
        <p:spPr>
          <a:xfrm xmlns:a="http://schemas.openxmlformats.org/drawingml/2006/main">
            <a:off x="2362200" y="2924175"/>
            <a:ext cx="838200" cy="1209675"/>
          </a:xfrm>
          <a:prstGeom xmlns:a="http://schemas.openxmlformats.org/drawingml/2006/main" prst="bentConnector3">
            <a:avLst>
              <a:gd name="adj1" fmla="val 50000"/>
            </a:avLst>
          </a:prstGeom>
          <a:ln xmlns:a="http://schemas.openxmlformats.org/drawingml/2006/main" w="19050">
            <a:solidFill>
              <a:srgbClr val="236C4E"/>
            </a:solidFill>
            <a:prstDash val="solid"/>
            <a:headEnd type="arrow" w="sm" len="sm"/>
            <a:tailEnd type="arrow" w="sm" len="sm"/>
          </a:ln>
        </p:spPr>
      </p:cxnSp>
      <p:sp>
        <p:nvSpPr>
          <p:cNvPr id="63" name="booking-layer-text-0">
            <a:extLst xmlns:a="http://schemas.openxmlformats.org/drawingml/2006/main">
              <a:ext uri="{FF2B5EF4-FFF2-40B4-BE49-F238E27FC236}">
                <a16:creationId xmlns:a16="http://schemas.microsoft.com/office/drawing/2014/main" id="{780846B9-89B6-42C8-88A6-077B482B99A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SHARED DATA AND BOOKING LAYER</a:t>
            </a:r>
          </a:p>
        </p:txBody>
      </p:sp>
      <p:sp>
        <p:nvSpPr>
          <p:cNvPr id="2" name="booking-layer-text-1">
            <a:extLst xmlns:a="http://schemas.openxmlformats.org/drawingml/2006/main">
              <a:ext uri="{FF2B5EF4-FFF2-40B4-BE49-F238E27FC236}">
                <a16:creationId xmlns:a16="http://schemas.microsoft.com/office/drawing/2014/main" id="{558838F4-FB49-405E-B523-5CF53F03D7AD}"/>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One booking layer for agents and local businesses</a:t>
            </a:r>
          </a:p>
        </p:txBody>
      </p:sp>
      <p:sp>
        <p:nvSpPr>
          <p:cNvPr id="3" name="booking-layer-text-2">
            <a:extLst xmlns:a="http://schemas.openxmlformats.org/drawingml/2006/main">
              <a:ext uri="{FF2B5EF4-FFF2-40B4-BE49-F238E27FC236}">
                <a16:creationId xmlns:a16="http://schemas.microsoft.com/office/drawing/2014/main" id="{D5C55A98-D2FC-4D22-BDAF-425BD652E5A4}"/>
              </a:ext>
            </a:extLst>
          </p:cNvPr>
          <p:cNvSpPr>
            <a:spLocks xmlns:a="http://schemas.openxmlformats.org/drawingml/2006/main" noGrp="1"/>
          </p:cNvSpPr>
          <p:nvPr/>
        </p:nvSpPr>
        <p:spPr>
          <a:xfrm xmlns:a="http://schemas.openxmlformats.org/drawingml/2006/main">
            <a:off x="495300" y="1362075"/>
            <a:ext cx="11201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025" b="0">
                <a:solidFill>
                  <a:srgbClr val="65746C"/>
                </a:solidFill>
                <a:latin typeface="Helvetica Neue"/>
                <a:ea typeface="Helvetica Neue"/>
                <a:cs typeface="Helvetica Neue"/>
              </a:defRPr>
            </a:defPPr>
          </a:lstStyle>
          <a:p xmlns:a="http://schemas.openxmlformats.org/drawingml/2006/main">
            <a:pPr>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We connect participating businesses through the software they already use.</a:t>
            </a:r>
          </a:p>
        </p:txBody>
      </p:sp>
      <p:sp>
        <p:nvSpPr>
          <p:cNvPr id="4" name="booking-layer-text-3">
            <a:extLst xmlns:a="http://schemas.openxmlformats.org/drawingml/2006/main">
              <a:ext uri="{FF2B5EF4-FFF2-40B4-BE49-F238E27FC236}">
                <a16:creationId xmlns:a16="http://schemas.microsoft.com/office/drawing/2014/main" id="{25D62D51-3ACC-42B9-AF5C-085EBB1C6C26}"/>
              </a:ext>
            </a:extLst>
          </p:cNvPr>
          <p:cNvSpPr>
            <a:spLocks xmlns:a="http://schemas.openxmlformats.org/drawingml/2006/main" noGrp="1"/>
          </p:cNvSpPr>
          <p:nvPr/>
        </p:nvSpPr>
        <p:spPr>
          <a:xfrm xmlns:a="http://schemas.openxmlformats.org/drawingml/2006/main">
            <a:off x="495300" y="2152650"/>
            <a:ext cx="18669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Personal agents</a:t>
            </a:r>
          </a:p>
        </p:txBody>
      </p:sp>
      <p:sp>
        <p:nvSpPr>
          <p:cNvPr id="5" name="booking-layer-text-4">
            <a:extLst xmlns:a="http://schemas.openxmlformats.org/drawingml/2006/main">
              <a:ext uri="{FF2B5EF4-FFF2-40B4-BE49-F238E27FC236}">
                <a16:creationId xmlns:a16="http://schemas.microsoft.com/office/drawing/2014/main" id="{D27E49B2-4AE1-4370-860E-31238EBC6788}"/>
              </a:ext>
            </a:extLst>
          </p:cNvPr>
          <p:cNvSpPr>
            <a:spLocks xmlns:a="http://schemas.openxmlformats.org/drawingml/2006/main" noGrp="1"/>
          </p:cNvSpPr>
          <p:nvPr/>
        </p:nvSpPr>
        <p:spPr>
          <a:xfrm xmlns:a="http://schemas.openxmlformats.org/drawingml/2006/main">
            <a:off x="495300" y="2476500"/>
            <a:ext cx="18669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0">
                <a:solidFill>
                  <a:srgbClr val="65746C"/>
                </a:solidFill>
                <a:latin typeface="Helvetica Neue"/>
                <a:ea typeface="Helvetica Neue"/>
                <a:cs typeface="Helvetica Neue"/>
              </a:defRPr>
            </a:defPPr>
          </a:lstStyle>
          <a:p xmlns:a="http://schemas.openxmlformats.org/drawingml/2006/main">
            <a:pPr>
              <a:buNone/>
              <a:defRPr sz="1425" b="0">
                <a:solidFill>
                  <a:srgbClr val="65746C"/>
                </a:solidFill>
                <a:latin typeface="Helvetica Neue"/>
                <a:ea typeface="Helvetica Neue"/>
                <a:cs typeface="Helvetica Neue"/>
              </a:defRPr>
            </a:pPr>
            <a:r>
              <a:rPr sz="1425" b="0">
                <a:solidFill>
                  <a:srgbClr val="65746C"/>
                </a:solidFill>
                <a:latin typeface="Helvetica Neue"/>
                <a:ea typeface="Helvetica Neue"/>
                <a:cs typeface="Helvetica Neue"/>
              </a:rPr>
              <a:t>$2B+ raised*</a:t>
            </a:r>
          </a:p>
        </p:txBody>
      </p:sp>
      <p:sp>
        <p:nvSpPr>
          <p:cNvPr id="6" name="booking-layer-text-5">
            <a:extLst xmlns:a="http://schemas.openxmlformats.org/drawingml/2006/main">
              <a:ext uri="{FF2B5EF4-FFF2-40B4-BE49-F238E27FC236}">
                <a16:creationId xmlns:a16="http://schemas.microsoft.com/office/drawing/2014/main" id="{1C0B045E-DE72-45BB-9114-EFBA9CC9C157}"/>
              </a:ext>
            </a:extLst>
          </p:cNvPr>
          <p:cNvSpPr>
            <a:spLocks xmlns:a="http://schemas.openxmlformats.org/drawingml/2006/main" noGrp="1"/>
          </p:cNvSpPr>
          <p:nvPr/>
        </p:nvSpPr>
        <p:spPr>
          <a:xfrm xmlns:a="http://schemas.openxmlformats.org/drawingml/2006/main">
            <a:off x="3200400" y="2152650"/>
            <a:ext cx="34099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193C32"/>
                </a:solidFill>
                <a:latin typeface="Helvetica Neue"/>
                <a:ea typeface="Helvetica Neue"/>
                <a:cs typeface="Helvetica Neue"/>
              </a:defRPr>
            </a:defPPr>
          </a:lstStyle>
          <a:p xmlns:a="http://schemas.openxmlformats.org/drawingml/2006/main">
            <a:pPr>
              <a:buNone/>
              <a:defRPr sz="1650" b="1">
                <a:solidFill>
                  <a:srgbClr val="193C32"/>
                </a:solidFill>
                <a:latin typeface="Helvetica Neue"/>
                <a:ea typeface="Helvetica Neue"/>
                <a:cs typeface="Helvetica Neue"/>
              </a:defRPr>
            </a:pPr>
            <a:r>
              <a:rPr sz="1650" b="1">
                <a:solidFill>
                  <a:srgbClr val="193C32"/>
                </a:solidFill>
                <a:latin typeface="Helvetica Neue"/>
                <a:ea typeface="Helvetica Neue"/>
                <a:cs typeface="Helvetica Neue"/>
              </a:rPr>
              <a:t>GoLocal</a:t>
            </a:r>
          </a:p>
        </p:txBody>
      </p:sp>
      <p:sp>
        <p:nvSpPr>
          <p:cNvPr id="7" name="booking-layer-text-6">
            <a:extLst xmlns:a="http://schemas.openxmlformats.org/drawingml/2006/main">
              <a:ext uri="{FF2B5EF4-FFF2-40B4-BE49-F238E27FC236}">
                <a16:creationId xmlns:a16="http://schemas.microsoft.com/office/drawing/2014/main" id="{2FC5CA1D-5A2A-4CEA-AF88-28C06E1AA264}"/>
              </a:ext>
            </a:extLst>
          </p:cNvPr>
          <p:cNvSpPr>
            <a:spLocks xmlns:a="http://schemas.openxmlformats.org/drawingml/2006/main" noGrp="1"/>
          </p:cNvSpPr>
          <p:nvPr/>
        </p:nvSpPr>
        <p:spPr>
          <a:xfrm xmlns:a="http://schemas.openxmlformats.org/drawingml/2006/main">
            <a:off x="7143750" y="2124075"/>
            <a:ext cx="266700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 software stacks</a:t>
            </a:r>
          </a:p>
        </p:txBody>
      </p:sp>
      <p:sp>
        <p:nvSpPr>
          <p:cNvPr id="8" name="booking-layer-text-7">
            <a:extLst xmlns:a="http://schemas.openxmlformats.org/drawingml/2006/main">
              <a:ext uri="{FF2B5EF4-FFF2-40B4-BE49-F238E27FC236}">
                <a16:creationId xmlns:a16="http://schemas.microsoft.com/office/drawing/2014/main" id="{60CE6CDB-A101-4987-B56C-52BC2B44F701}"/>
              </a:ext>
            </a:extLst>
          </p:cNvPr>
          <p:cNvSpPr>
            <a:spLocks xmlns:a="http://schemas.openxmlformats.org/drawingml/2006/main" noGrp="1"/>
          </p:cNvSpPr>
          <p:nvPr/>
        </p:nvSpPr>
        <p:spPr>
          <a:xfrm xmlns:a="http://schemas.openxmlformats.org/drawingml/2006/main">
            <a:off x="7143750" y="24193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00" b="1">
                <a:solidFill>
                  <a:srgbClr val="236C4E"/>
                </a:solidFill>
                <a:latin typeface="Helvetica Neue"/>
                <a:ea typeface="Helvetica Neue"/>
                <a:cs typeface="Helvetica Neue"/>
              </a:defRPr>
            </a:defPPr>
          </a:lstStyle>
          <a:p xmlns:a="http://schemas.openxmlformats.org/drawingml/2006/main">
            <a:pPr>
              <a:buNone/>
              <a:defRPr sz="1500" b="1">
                <a:solidFill>
                  <a:srgbClr val="236C4E"/>
                </a:solidFill>
                <a:latin typeface="Helvetica Neue"/>
                <a:ea typeface="Helvetica Neue"/>
                <a:cs typeface="Helvetica Neue"/>
              </a:defRPr>
            </a:pPr>
            <a:r>
              <a:rPr sz="1500" b="1">
                <a:solidFill>
                  <a:srgbClr val="236C4E"/>
                </a:solidFill>
                <a:latin typeface="Helvetica Neue"/>
                <a:ea typeface="Helvetica Neue"/>
                <a:cs typeface="Helvetica Neue"/>
              </a:rPr>
              <a:t>100+ listed options*</a:t>
            </a:r>
          </a:p>
        </p:txBody>
      </p:sp>
      <p:sp>
        <p:nvSpPr>
          <p:cNvPr id="9" name="booking-layer-text-8">
            <a:extLst xmlns:a="http://schemas.openxmlformats.org/drawingml/2006/main">
              <a:ext uri="{FF2B5EF4-FFF2-40B4-BE49-F238E27FC236}">
                <a16:creationId xmlns:a16="http://schemas.microsoft.com/office/drawing/2014/main" id="{D5ED5DD5-348A-40D0-B661-0AB61FC9256A}"/>
              </a:ext>
            </a:extLst>
          </p:cNvPr>
          <p:cNvSpPr>
            <a:spLocks xmlns:a="http://schemas.openxmlformats.org/drawingml/2006/main" noGrp="1"/>
          </p:cNvSpPr>
          <p:nvPr/>
        </p:nvSpPr>
        <p:spPr>
          <a:xfrm xmlns:a="http://schemas.openxmlformats.org/drawingml/2006/main">
            <a:off x="10363200" y="2124075"/>
            <a:ext cx="1333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93C32"/>
                </a:solidFill>
                <a:latin typeface="Helvetica Neue"/>
                <a:ea typeface="Helvetica Neue"/>
                <a:cs typeface="Helvetica Neue"/>
              </a:defRPr>
            </a:defPPr>
          </a:lstStyle>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Plumbing</a:t>
            </a:r>
          </a:p>
          <a:p xmlns:a="http://schemas.openxmlformats.org/drawingml/2006/main">
            <a:pP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10" name="booking-layer-node-9">
            <a:extLst xmlns:a="http://schemas.openxmlformats.org/drawingml/2006/main">
              <a:ext uri="{FF2B5EF4-FFF2-40B4-BE49-F238E27FC236}">
                <a16:creationId xmlns:a16="http://schemas.microsoft.com/office/drawing/2014/main" id="{C5BE2521-AF10-4909-92F1-A7D9E53DFEBA}"/>
              </a:ext>
            </a:extLst>
          </p:cNvPr>
          <p:cNvSpPr>
            <a:spLocks xmlns:a="http://schemas.openxmlformats.org/drawingml/2006/main" noGrp="1"/>
          </p:cNvSpPr>
          <p:nvPr/>
        </p:nvSpPr>
        <p:spPr>
          <a:xfrm xmlns:a="http://schemas.openxmlformats.org/drawingml/2006/main">
            <a:off x="495300" y="2762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Instinct</a:t>
            </a:r>
          </a:p>
        </p:txBody>
      </p:sp>
      <p:sp>
        <p:nvSpPr>
          <p:cNvPr id="11" name="booking-layer-node-10">
            <a:extLst xmlns:a="http://schemas.openxmlformats.org/drawingml/2006/main">
              <a:ext uri="{FF2B5EF4-FFF2-40B4-BE49-F238E27FC236}">
                <a16:creationId xmlns:a16="http://schemas.microsoft.com/office/drawing/2014/main" id="{5BE92FEF-B9A3-49B6-AE30-B5D9AE989CA7}"/>
              </a:ext>
            </a:extLst>
          </p:cNvPr>
          <p:cNvSpPr>
            <a:spLocks xmlns:a="http://schemas.openxmlformats.org/drawingml/2006/main" noGrp="1"/>
          </p:cNvSpPr>
          <p:nvPr/>
        </p:nvSpPr>
        <p:spPr>
          <a:xfrm xmlns:a="http://schemas.openxmlformats.org/drawingml/2006/main">
            <a:off x="495300" y="3143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2" name="booking-layer-node-11">
            <a:extLst xmlns:a="http://schemas.openxmlformats.org/drawingml/2006/main">
              <a:ext uri="{FF2B5EF4-FFF2-40B4-BE49-F238E27FC236}">
                <a16:creationId xmlns:a16="http://schemas.microsoft.com/office/drawing/2014/main" id="{9AC664CA-0C30-422C-802F-2582A5C5E69A}"/>
              </a:ext>
            </a:extLst>
          </p:cNvPr>
          <p:cNvSpPr>
            <a:spLocks xmlns:a="http://schemas.openxmlformats.org/drawingml/2006/main" noGrp="1"/>
          </p:cNvSpPr>
          <p:nvPr/>
        </p:nvSpPr>
        <p:spPr>
          <a:xfrm xmlns:a="http://schemas.openxmlformats.org/drawingml/2006/main">
            <a:off x="495300" y="3524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pPr algn="ctr">
              <a:buNone/>
              <a:defRPr sz="1650" b="1">
                <a:solidFill>
                  <a:srgbClr val="101010"/>
                </a:solidFill>
                <a:latin typeface="Helvetica Neue"/>
                <a:ea typeface="Helvetica Neue"/>
                <a:cs typeface="Helvetica Neue"/>
              </a:defRPr>
            </a:pPr>
            <a:r>
              <a:rPr sz="1650" b="1">
                <a:solidFill>
                  <a:srgbClr val="101010"/>
                </a:solidFill>
                <a:latin typeface="Helvetica Neue"/>
                <a:ea typeface="Helvetica Neue"/>
                <a:cs typeface="Helvetica Neue"/>
              </a:rPr>
              <a:t>Dots</a:t>
            </a:r>
          </a:p>
        </p:txBody>
      </p:sp>
      <p:sp>
        <p:nvSpPr>
          <p:cNvPr id="13" name="booking-layer-node-12">
            <a:extLst xmlns:a="http://schemas.openxmlformats.org/drawingml/2006/main">
              <a:ext uri="{FF2B5EF4-FFF2-40B4-BE49-F238E27FC236}">
                <a16:creationId xmlns:a16="http://schemas.microsoft.com/office/drawing/2014/main" id="{184F9E6D-A0F9-433B-BC7B-8B634B43FA0D}"/>
              </a:ext>
            </a:extLst>
          </p:cNvPr>
          <p:cNvSpPr>
            <a:spLocks xmlns:a="http://schemas.openxmlformats.org/drawingml/2006/main" noGrp="1"/>
          </p:cNvSpPr>
          <p:nvPr/>
        </p:nvSpPr>
        <p:spPr>
          <a:xfrm xmlns:a="http://schemas.openxmlformats.org/drawingml/2006/main">
            <a:off x="495300" y="3905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4" name="booking-layer-node-13">
            <a:extLst xmlns:a="http://schemas.openxmlformats.org/drawingml/2006/main">
              <a:ext uri="{FF2B5EF4-FFF2-40B4-BE49-F238E27FC236}">
                <a16:creationId xmlns:a16="http://schemas.microsoft.com/office/drawing/2014/main" id="{657ECBFD-9328-43BE-9C40-9DD102C43416}"/>
              </a:ext>
            </a:extLst>
          </p:cNvPr>
          <p:cNvSpPr>
            <a:spLocks xmlns:a="http://schemas.openxmlformats.org/drawingml/2006/main" noGrp="1"/>
          </p:cNvSpPr>
          <p:nvPr/>
        </p:nvSpPr>
        <p:spPr>
          <a:xfrm xmlns:a="http://schemas.openxmlformats.org/drawingml/2006/main">
            <a:off x="495300" y="4286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5" name="booking-layer-node-14">
            <a:extLst xmlns:a="http://schemas.openxmlformats.org/drawingml/2006/main">
              <a:ext uri="{FF2B5EF4-FFF2-40B4-BE49-F238E27FC236}">
                <a16:creationId xmlns:a16="http://schemas.microsoft.com/office/drawing/2014/main" id="{877FB408-43FD-4283-86ED-F2F9299DC889}"/>
              </a:ext>
            </a:extLst>
          </p:cNvPr>
          <p:cNvSpPr>
            <a:spLocks xmlns:a="http://schemas.openxmlformats.org/drawingml/2006/main" noGrp="1"/>
          </p:cNvSpPr>
          <p:nvPr/>
        </p:nvSpPr>
        <p:spPr>
          <a:xfrm xmlns:a="http://schemas.openxmlformats.org/drawingml/2006/main">
            <a:off x="495300" y="4667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sp>
        <p:nvSpPr>
          <p:cNvPr id="16" name="booking-layer-node-15">
            <a:extLst xmlns:a="http://schemas.openxmlformats.org/drawingml/2006/main">
              <a:ext uri="{FF2B5EF4-FFF2-40B4-BE49-F238E27FC236}">
                <a16:creationId xmlns:a16="http://schemas.microsoft.com/office/drawing/2014/main" id="{4ADA72F3-71A5-474A-82D5-32213561CCCF}"/>
              </a:ext>
            </a:extLst>
          </p:cNvPr>
          <p:cNvSpPr>
            <a:spLocks xmlns:a="http://schemas.openxmlformats.org/drawingml/2006/main" noGrp="1"/>
          </p:cNvSpPr>
          <p:nvPr/>
        </p:nvSpPr>
        <p:spPr>
          <a:xfrm xmlns:a="http://schemas.openxmlformats.org/drawingml/2006/main">
            <a:off x="495300" y="5048250"/>
            <a:ext cx="1866900" cy="323850"/>
          </a:xfrm>
          <a:prstGeom xmlns:a="http://schemas.openxmlformats.org/drawingml/2006/main" prst="rect">
            <a:avLst/>
          </a:prstGeom>
          <a:solidFill xmlns:a="http://schemas.openxmlformats.org/drawingml/2006/main">
            <a:srgbClr val="FFFFFF"/>
          </a:solidFill>
          <a:ln xmlns:a="http://schemas.openxmlformats.org/drawingml/2006/main" w="14288">
            <a:solidFill>
              <a:srgbClr val="CDD5CE"/>
            </a:solidFill>
            <a:prstDash val="solid"/>
          </a:ln>
        </p:spPr>
        <p:txBody>
          <a:bodyPr xmlns:a="http://schemas.openxmlformats.org/drawingml/2006/main" wrap="square" lIns="38100" tIns="38100" rIns="38100" bIns="38100" anchor="ctr">
            <a:noAutofit/>
          </a:bodyPr>
          <a:lstStyle xmlns:a="http://schemas.openxmlformats.org/drawingml/2006/main">
            <a:defPPr algn="ctr">
              <a:defRPr sz="1650" b="1">
                <a:solidFill>
                  <a:srgbClr val="101010"/>
                </a:solidFill>
                <a:latin typeface="Helvetica Neue"/>
                <a:ea typeface="Helvetica Neue"/>
                <a:cs typeface="Helvetica Neue"/>
              </a:defRPr>
            </a:defPPr>
          </a:lstStyle>
          <a:p xmlns:a="http://schemas.openxmlformats.org/drawingml/2006/main">
            <a:endParaRPr/>
          </a:p>
        </p:txBody>
      </p:sp>
      <p:pic>
        <p:nvPicPr>
          <p:cNvPr id="17" name="Picture 16">
            <a:extLst xmlns:a="http://schemas.openxmlformats.org/drawingml/2006/main">
              <a:ext uri="{FF2B5EF4-FFF2-40B4-BE49-F238E27FC236}">
                <a16:creationId xmlns:a16="http://schemas.microsoft.com/office/drawing/2014/main" id="{A82E6754-1B5C-4987-A1AE-286CC5AB3467}"/>
              </a:ext>
            </a:extLst>
          </p:cNvPr>
          <p:cNvPicPr>
            <a:picLocks xmlns:a="http://schemas.openxmlformats.org/drawingml/2006/main" noChangeAspect="1"/>
          </p:cNvPicPr>
          <p:nvPr/>
        </p:nvPicPr>
        <p:blipFill>
          <a:blip xmlns:r="http://schemas.openxmlformats.org/officeDocument/2006/relationships" xmlns:a="http://schemas.openxmlformats.org/drawingml/2006/main" r:embed="R6f750bc7a95142ba"/>
          <a:srcRect xmlns:a="http://schemas.openxmlformats.org/drawingml/2006/main" l="8000" t="33000" r="6500" b="35000"/>
          <a:stretch xmlns:a="http://schemas.openxmlformats.org/drawingml/2006/main"/>
        </p:blipFill>
        <p:spPr>
          <a:xfrm xmlns:a="http://schemas.openxmlformats.org/drawingml/2006/main">
            <a:off x="904875" y="3181350"/>
            <a:ext cx="1047750" cy="257175"/>
          </a:xfrm>
          <a:prstGeom xmlns:a="http://schemas.openxmlformats.org/drawingml/2006/main" prst="rect">
            <a:avLst/>
          </a:prstGeom>
        </p:spPr>
      </p:pic>
      <p:pic>
        <p:nvPicPr>
          <p:cNvPr id="18" name="Picture 17">
            <a:extLst xmlns:a="http://schemas.openxmlformats.org/drawingml/2006/main">
              <a:ext uri="{FF2B5EF4-FFF2-40B4-BE49-F238E27FC236}">
                <a16:creationId xmlns:a16="http://schemas.microsoft.com/office/drawing/2014/main" id="{666041C9-9493-4D1D-907C-58E4E7AE25E8}"/>
              </a:ext>
            </a:extLst>
          </p:cNvPr>
          <p:cNvPicPr>
            <a:picLocks xmlns:a="http://schemas.openxmlformats.org/drawingml/2006/main" noChangeAspect="1"/>
          </p:cNvPicPr>
          <p:nvPr/>
        </p:nvPicPr>
        <p:blipFill>
          <a:blip xmlns:r="http://schemas.openxmlformats.org/officeDocument/2006/relationships" xmlns:a="http://schemas.openxmlformats.org/drawingml/2006/main" r:embed="R2e518da1c9e6491f"/>
          <a:srcRect xmlns:a="http://schemas.openxmlformats.org/drawingml/2006/main" l="6000" t="39500" r="9500" b="37000"/>
          <a:stretch xmlns:a="http://schemas.openxmlformats.org/drawingml/2006/main"/>
        </p:blipFill>
        <p:spPr>
          <a:xfrm xmlns:a="http://schemas.openxmlformats.org/drawingml/2006/main">
            <a:off x="828675" y="3943350"/>
            <a:ext cx="1200150" cy="257175"/>
          </a:xfrm>
          <a:prstGeom xmlns:a="http://schemas.openxmlformats.org/drawingml/2006/main" prst="rect">
            <a:avLst/>
          </a:prstGeom>
        </p:spPr>
      </p:pic>
      <p:pic>
        <p:nvPicPr>
          <p:cNvPr id="19" name="Picture 18">
            <a:extLst xmlns:a="http://schemas.openxmlformats.org/drawingml/2006/main">
              <a:ext uri="{FF2B5EF4-FFF2-40B4-BE49-F238E27FC236}">
                <a16:creationId xmlns:a16="http://schemas.microsoft.com/office/drawing/2014/main" id="{F3820170-6483-40E3-8023-FB7EC5FF2877}"/>
              </a:ext>
            </a:extLst>
          </p:cNvPr>
          <p:cNvPicPr>
            <a:picLocks xmlns:a="http://schemas.openxmlformats.org/drawingml/2006/main" noChangeAspect="1"/>
          </p:cNvPicPr>
          <p:nvPr/>
        </p:nvPicPr>
        <p:blipFill>
          <a:blip xmlns:r="http://schemas.openxmlformats.org/officeDocument/2006/relationships" xmlns:a="http://schemas.openxmlformats.org/drawingml/2006/main" r:embed="R786fe46e400e46da"/>
          <a:srcRect xmlns:a="http://schemas.openxmlformats.org/drawingml/2006/main" l="21000" t="26000" r="21000" b="32000"/>
          <a:stretch xmlns:a="http://schemas.openxmlformats.org/drawingml/2006/main"/>
        </p:blipFill>
        <p:spPr>
          <a:xfrm xmlns:a="http://schemas.openxmlformats.org/drawingml/2006/main">
            <a:off x="962025" y="4314825"/>
            <a:ext cx="933450" cy="266700"/>
          </a:xfrm>
          <a:prstGeom xmlns:a="http://schemas.openxmlformats.org/drawingml/2006/main" prst="rect">
            <a:avLst/>
          </a:prstGeom>
        </p:spPr>
      </p:pic>
      <p:pic>
        <p:nvPicPr>
          <p:cNvPr id="20" name="Picture 19">
            <a:extLst xmlns:a="http://schemas.openxmlformats.org/drawingml/2006/main">
              <a:ext uri="{FF2B5EF4-FFF2-40B4-BE49-F238E27FC236}">
                <a16:creationId xmlns:a16="http://schemas.microsoft.com/office/drawing/2014/main" id="{56F23E4B-161B-4287-83E7-E431BD570F1A}"/>
              </a:ext>
            </a:extLst>
          </p:cNvPr>
          <p:cNvPicPr>
            <a:picLocks xmlns:a="http://schemas.openxmlformats.org/drawingml/2006/main" noChangeAspect="1"/>
          </p:cNvPicPr>
          <p:nvPr/>
        </p:nvPicPr>
        <p:blipFill>
          <a:blip xmlns:r="http://schemas.openxmlformats.org/officeDocument/2006/relationships" xmlns:a="http://schemas.openxmlformats.org/drawingml/2006/main" r:embed="R83b8487a530e4551"/>
          <a:srcRect xmlns:a="http://schemas.openxmlformats.org/drawingml/2006/main" l="3500" t="7000" r="69500" b="11000"/>
          <a:stretch xmlns:a="http://schemas.openxmlformats.org/drawingml/2006/main"/>
        </p:blipFill>
        <p:spPr>
          <a:xfrm xmlns:a="http://schemas.openxmlformats.org/drawingml/2006/main">
            <a:off x="838200" y="4695825"/>
            <a:ext cx="257175" cy="266700"/>
          </a:xfrm>
          <a:prstGeom xmlns:a="http://schemas.openxmlformats.org/drawingml/2006/main" prst="rect">
            <a:avLst/>
          </a:prstGeom>
        </p:spPr>
      </p:pic>
      <p:sp>
        <p:nvSpPr>
          <p:cNvPr id="21" name="booking-layer-text-16">
            <a:extLst xmlns:a="http://schemas.openxmlformats.org/drawingml/2006/main">
              <a:ext uri="{FF2B5EF4-FFF2-40B4-BE49-F238E27FC236}">
                <a16:creationId xmlns:a16="http://schemas.microsoft.com/office/drawing/2014/main" id="{B44C165E-AEAF-47F5-8904-554268F63319}"/>
              </a:ext>
            </a:extLst>
          </p:cNvPr>
          <p:cNvSpPr>
            <a:spLocks xmlns:a="http://schemas.openxmlformats.org/drawingml/2006/main" noGrp="1"/>
          </p:cNvSpPr>
          <p:nvPr/>
        </p:nvSpPr>
        <p:spPr>
          <a:xfrm xmlns:a="http://schemas.openxmlformats.org/drawingml/2006/main">
            <a:off x="1209675" y="4714875"/>
            <a:ext cx="10953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OpenClaw</a:t>
            </a:r>
          </a:p>
        </p:txBody>
      </p:sp>
      <p:pic>
        <p:nvPicPr>
          <p:cNvPr id="22" name="Picture 21">
            <a:extLst xmlns:a="http://schemas.openxmlformats.org/drawingml/2006/main">
              <a:ext uri="{FF2B5EF4-FFF2-40B4-BE49-F238E27FC236}">
                <a16:creationId xmlns:a16="http://schemas.microsoft.com/office/drawing/2014/main" id="{DFA3015C-0DA0-4E03-845A-19DE30D22B58}"/>
              </a:ext>
            </a:extLst>
          </p:cNvPr>
          <p:cNvPicPr>
            <a:picLocks xmlns:a="http://schemas.openxmlformats.org/drawingml/2006/main" noChangeAspect="1"/>
          </p:cNvPicPr>
          <p:nvPr/>
        </p:nvPicPr>
        <p:blipFill>
          <a:blip xmlns:r="http://schemas.openxmlformats.org/officeDocument/2006/relationships" xmlns:a="http://schemas.openxmlformats.org/drawingml/2006/main" r:embed="Ra1ee8408c8c14431"/>
          <a:srcRect xmlns:a="http://schemas.openxmlformats.org/drawingml/2006/main" l="0" t="0" r="0" b="0"/>
          <a:stretch xmlns:a="http://schemas.openxmlformats.org/drawingml/2006/main"/>
        </p:blipFill>
        <p:spPr>
          <a:xfrm xmlns:a="http://schemas.openxmlformats.org/drawingml/2006/main">
            <a:off x="981075" y="5086350"/>
            <a:ext cx="247650" cy="247650"/>
          </a:xfrm>
          <a:prstGeom xmlns:a="http://schemas.openxmlformats.org/drawingml/2006/main" prst="rect">
            <a:avLst/>
          </a:prstGeom>
        </p:spPr>
      </p:pic>
      <p:sp>
        <p:nvSpPr>
          <p:cNvPr id="23" name="booking-layer-text-17">
            <a:extLst xmlns:a="http://schemas.openxmlformats.org/drawingml/2006/main">
              <a:ext uri="{FF2B5EF4-FFF2-40B4-BE49-F238E27FC236}">
                <a16:creationId xmlns:a16="http://schemas.microsoft.com/office/drawing/2014/main" id="{7807ACC5-6E11-4442-8DAE-E40658E334E7}"/>
              </a:ext>
            </a:extLst>
          </p:cNvPr>
          <p:cNvSpPr>
            <a:spLocks xmlns:a="http://schemas.openxmlformats.org/drawingml/2006/main" noGrp="1"/>
          </p:cNvSpPr>
          <p:nvPr/>
        </p:nvSpPr>
        <p:spPr>
          <a:xfrm xmlns:a="http://schemas.openxmlformats.org/drawingml/2006/main">
            <a:off x="1323975" y="5095875"/>
            <a:ext cx="857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1">
                <a:solidFill>
                  <a:srgbClr val="101010"/>
                </a:solidFill>
                <a:latin typeface="Helvetica Neue"/>
                <a:ea typeface="Helvetica Neue"/>
                <a:cs typeface="Helvetica Neue"/>
              </a:defRPr>
            </a:defPPr>
          </a:lstStyle>
          <a:p xmlns:a="http://schemas.openxmlformats.org/drawingml/2006/main">
            <a:pPr>
              <a:buNone/>
              <a:defRPr sz="1575" b="1">
                <a:solidFill>
                  <a:srgbClr val="101010"/>
                </a:solidFill>
                <a:latin typeface="Helvetica Neue"/>
                <a:ea typeface="Helvetica Neue"/>
                <a:cs typeface="Helvetica Neue"/>
              </a:defRPr>
            </a:pPr>
            <a:r>
              <a:rPr sz="1575" b="1">
                <a:solidFill>
                  <a:srgbClr val="101010"/>
                </a:solidFill>
                <a:latin typeface="Helvetica Neue"/>
                <a:ea typeface="Helvetica Neue"/>
                <a:cs typeface="Helvetica Neue"/>
              </a:rPr>
              <a:t>Hermes</a:t>
            </a:r>
          </a:p>
        </p:txBody>
      </p:sp>
      <p:sp>
        <p:nvSpPr>
          <p:cNvPr id="24" name="booking-layer-text-18">
            <a:extLst xmlns:a="http://schemas.openxmlformats.org/drawingml/2006/main">
              <a:ext uri="{FF2B5EF4-FFF2-40B4-BE49-F238E27FC236}">
                <a16:creationId xmlns:a16="http://schemas.microsoft.com/office/drawing/2014/main" id="{32C0CC3B-119F-4144-9827-BE99EADABABB}"/>
              </a:ext>
            </a:extLst>
          </p:cNvPr>
          <p:cNvSpPr>
            <a:spLocks xmlns:a="http://schemas.openxmlformats.org/drawingml/2006/main" noGrp="1"/>
          </p:cNvSpPr>
          <p:nvPr/>
        </p:nvSpPr>
        <p:spPr>
          <a:xfrm xmlns:a="http://schemas.openxmlformats.org/drawingml/2006/main">
            <a:off x="495300" y="5467350"/>
            <a:ext cx="2190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0">
                <a:solidFill>
                  <a:srgbClr val="65746C"/>
                </a:solidFill>
                <a:latin typeface="Helvetica Neue"/>
                <a:ea typeface="Helvetica Neue"/>
                <a:cs typeface="Helvetica Neue"/>
              </a:defRPr>
            </a:defPPr>
          </a:lstStyle>
          <a:p xmlns:a="http://schemas.openxmlformats.org/drawingml/2006/main">
            <a:pPr>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rPr>
              <a:t>Claude · Gemini · more</a:t>
            </a:r>
          </a:p>
        </p:txBody>
      </p:sp>
      <p:sp>
        <p:nvSpPr>
          <p:cNvPr id="25" name="booking-layer-node-19">
            <a:extLst xmlns:a="http://schemas.openxmlformats.org/drawingml/2006/main">
              <a:ext uri="{FF2B5EF4-FFF2-40B4-BE49-F238E27FC236}">
                <a16:creationId xmlns:a16="http://schemas.microsoft.com/office/drawing/2014/main" id="{74AA40FC-02C1-4BE0-8313-7735099DCF1D}"/>
              </a:ext>
            </a:extLst>
          </p:cNvPr>
          <p:cNvSpPr>
            <a:spLocks xmlns:a="http://schemas.openxmlformats.org/drawingml/2006/main" noGrp="1"/>
          </p:cNvSpPr>
          <p:nvPr/>
        </p:nvSpPr>
        <p:spPr>
          <a:xfrm xmlns:a="http://schemas.openxmlformats.org/drawingml/2006/main">
            <a:off x="3200400" y="2762250"/>
            <a:ext cx="3409950" cy="2743200"/>
          </a:xfrm>
          <a:prstGeom xmlns:a="http://schemas.openxmlformats.org/drawingml/2006/main" prst="rect">
            <a:avLst/>
          </a:prstGeom>
          <a:solidFill xmlns:a="http://schemas.openxmlformats.org/drawingml/2006/main">
            <a:srgbClr val="236C4E"/>
          </a:solidFill>
          <a:ln xmlns:a="http://schemas.openxmlformats.org/drawingml/2006/main" w="14288">
            <a:solidFill>
              <a:srgbClr val="236C4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FFFFFF"/>
                </a:solidFill>
                <a:latin typeface="Helvetica Neue"/>
                <a:ea typeface="Helvetica Neue"/>
                <a:cs typeface="Helvetica Neue"/>
              </a:defRPr>
            </a:defPPr>
          </a:lstStyle>
          <a:p xmlns:a="http://schemas.openxmlformats.org/drawingml/2006/main">
            <a:endParaRPr/>
          </a:p>
        </p:txBody>
      </p:sp>
      <p:sp>
        <p:nvSpPr>
          <p:cNvPr id="26" name="booking-layer-text-20">
            <a:extLst xmlns:a="http://schemas.openxmlformats.org/drawingml/2006/main">
              <a:ext uri="{FF2B5EF4-FFF2-40B4-BE49-F238E27FC236}">
                <a16:creationId xmlns:a16="http://schemas.microsoft.com/office/drawing/2014/main" id="{C6D36CF4-F934-46A7-A7ED-AE0B6B0A28B7}"/>
              </a:ext>
            </a:extLst>
          </p:cNvPr>
          <p:cNvSpPr>
            <a:spLocks xmlns:a="http://schemas.openxmlformats.org/drawingml/2006/main" noGrp="1"/>
          </p:cNvSpPr>
          <p:nvPr/>
        </p:nvSpPr>
        <p:spPr>
          <a:xfrm xmlns:a="http://schemas.openxmlformats.org/drawingml/2006/main">
            <a:off x="3400425" y="2971800"/>
            <a:ext cx="3000375"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775" b="1">
                <a:solidFill>
                  <a:srgbClr val="FFFFFF"/>
                </a:solidFill>
                <a:latin typeface="Helvetica Neue"/>
                <a:ea typeface="Helvetica Neue"/>
                <a:cs typeface="Helvetica Neue"/>
              </a:defRPr>
            </a:defPPr>
          </a:lstStyle>
          <a:p xmlns:a="http://schemas.openxmlformats.org/drawingml/2006/main">
            <a:pPr>
              <a:buNone/>
              <a:defRPr sz="2775" b="1">
                <a:solidFill>
                  <a:srgbClr val="FFFFFF"/>
                </a:solidFill>
                <a:latin typeface="Helvetica Neue"/>
                <a:ea typeface="Helvetica Neue"/>
                <a:cs typeface="Helvetica Neue"/>
              </a:defRPr>
            </a:pPr>
            <a:r>
              <a:rPr sz="2775" b="1">
                <a:solidFill>
                  <a:srgbClr val="FFFFFF"/>
                </a:solidFill>
                <a:latin typeface="Helvetica Neue"/>
                <a:ea typeface="Helvetica Neue"/>
                <a:cs typeface="Helvetica Neue"/>
              </a:rPr>
              <a:t>GoLocal</a:t>
            </a:r>
          </a:p>
        </p:txBody>
      </p:sp>
      <p:sp>
        <p:nvSpPr>
          <p:cNvPr id="27" name="booking-layer-text-21">
            <a:extLst xmlns:a="http://schemas.openxmlformats.org/drawingml/2006/main">
              <a:ext uri="{FF2B5EF4-FFF2-40B4-BE49-F238E27FC236}">
                <a16:creationId xmlns:a16="http://schemas.microsoft.com/office/drawing/2014/main" id="{D2E9DA3D-BADC-411C-9816-D7B830B85686}"/>
              </a:ext>
            </a:extLst>
          </p:cNvPr>
          <p:cNvSpPr>
            <a:spLocks xmlns:a="http://schemas.openxmlformats.org/drawingml/2006/main" noGrp="1"/>
          </p:cNvSpPr>
          <p:nvPr/>
        </p:nvSpPr>
        <p:spPr>
          <a:xfrm xmlns:a="http://schemas.openxmlformats.org/drawingml/2006/main">
            <a:off x="3400425" y="3495675"/>
            <a:ext cx="300037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1">
                <a:solidFill>
                  <a:srgbClr val="FFFFFF"/>
                </a:solidFill>
                <a:latin typeface="Helvetica Neue"/>
                <a:ea typeface="Helvetica Neue"/>
                <a:cs typeface="Helvetica Neue"/>
              </a:defRPr>
            </a:defPPr>
          </a:lstStyle>
          <a:p xmlns:a="http://schemas.openxmlformats.org/drawingml/2006/main">
            <a:pPr>
              <a:buNone/>
              <a:defRPr sz="1725" b="1">
                <a:solidFill>
                  <a:srgbClr val="FFFFFF"/>
                </a:solidFill>
                <a:latin typeface="Helvetica Neue"/>
                <a:ea typeface="Helvetica Neue"/>
                <a:cs typeface="Helvetica Neue"/>
              </a:defRPr>
            </a:pPr>
            <a:r>
              <a:rPr sz="1725" b="1">
                <a:solidFill>
                  <a:srgbClr val="FFFFFF"/>
                </a:solidFill>
                <a:latin typeface="Helvetica Neue"/>
                <a:ea typeface="Helvetica Neue"/>
                <a:cs typeface="Helvetica Neue"/>
              </a:rPr>
              <a:t>Data and booking API</a:t>
            </a:r>
          </a:p>
        </p:txBody>
      </p:sp>
      <p:sp>
        <p:nvSpPr>
          <p:cNvPr id="28" name="booking-layer-text-22">
            <a:extLst xmlns:a="http://schemas.openxmlformats.org/drawingml/2006/main">
              <a:ext uri="{FF2B5EF4-FFF2-40B4-BE49-F238E27FC236}">
                <a16:creationId xmlns:a16="http://schemas.microsoft.com/office/drawing/2014/main" id="{C930747B-9306-4183-8241-FF8F43990C91}"/>
              </a:ext>
            </a:extLst>
          </p:cNvPr>
          <p:cNvSpPr>
            <a:spLocks xmlns:a="http://schemas.openxmlformats.org/drawingml/2006/main" noGrp="1"/>
          </p:cNvSpPr>
          <p:nvPr/>
        </p:nvSpPr>
        <p:spPr>
          <a:xfrm xmlns:a="http://schemas.openxmlformats.org/drawingml/2006/main">
            <a:off x="3400425" y="4010025"/>
            <a:ext cx="30003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575" b="0">
                <a:solidFill>
                  <a:srgbClr val="FFFFFF"/>
                </a:solidFill>
                <a:latin typeface="Helvetica Neue"/>
                <a:ea typeface="Helvetica Neue"/>
                <a:cs typeface="Helvetica Neue"/>
              </a:defRPr>
            </a:defPPr>
          </a:lstStyle>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Services &amp; coverage</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Pricing &amp; quote requirements</a:t>
            </a:r>
          </a:p>
          <a:p xmlns:a="http://schemas.openxmlformats.org/drawingml/2006/main">
            <a:pPr>
              <a:buNone/>
              <a:defRPr sz="1575" b="0">
                <a:solidFill>
                  <a:srgbClr val="FFFFFF"/>
                </a:solidFill>
                <a:latin typeface="Helvetica Neue"/>
                <a:ea typeface="Helvetica Neue"/>
                <a:cs typeface="Helvetica Neue"/>
              </a:defRPr>
            </a:pPr>
            <a:r>
              <a:rPr sz="1575" b="0">
                <a:solidFill>
                  <a:srgbClr val="FFFFFF"/>
                </a:solidFill>
                <a:latin typeface="Helvetica Neue"/>
                <a:ea typeface="Helvetica Neue"/>
                <a:cs typeface="Helvetica Neue"/>
              </a:rPr>
              <a:t>Live availability</a:t>
            </a:r>
          </a:p>
        </p:txBody>
      </p:sp>
      <p:sp>
        <p:nvSpPr>
          <p:cNvPr id="29" name="booking-layer-text-23">
            <a:extLst xmlns:a="http://schemas.openxmlformats.org/drawingml/2006/main">
              <a:ext uri="{FF2B5EF4-FFF2-40B4-BE49-F238E27FC236}">
                <a16:creationId xmlns:a16="http://schemas.microsoft.com/office/drawing/2014/main" id="{85C28355-C62A-4204-9E75-6908910F82D4}"/>
              </a:ext>
            </a:extLst>
          </p:cNvPr>
          <p:cNvSpPr>
            <a:spLocks xmlns:a="http://schemas.openxmlformats.org/drawingml/2006/main" noGrp="1"/>
          </p:cNvSpPr>
          <p:nvPr/>
        </p:nvSpPr>
        <p:spPr>
          <a:xfrm xmlns:a="http://schemas.openxmlformats.org/drawingml/2006/main">
            <a:off x="3400425" y="5067300"/>
            <a:ext cx="30003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1">
                <a:solidFill>
                  <a:srgbClr val="FFFFFF"/>
                </a:solidFill>
                <a:latin typeface="Helvetica Neue"/>
                <a:ea typeface="Helvetica Neue"/>
                <a:cs typeface="Helvetica Neue"/>
              </a:defRPr>
            </a:defPPr>
          </a:lstStyle>
          <a:p xmlns:a="http://schemas.openxmlformats.org/drawingml/2006/main">
            <a:pPr>
              <a:buNone/>
              <a:defRPr sz="1650" b="1">
                <a:solidFill>
                  <a:srgbClr val="FFFFFF"/>
                </a:solidFill>
                <a:latin typeface="Helvetica Neue"/>
                <a:ea typeface="Helvetica Neue"/>
                <a:cs typeface="Helvetica Neue"/>
              </a:defRPr>
            </a:pPr>
            <a:r>
              <a:rPr sz="1650" b="1">
                <a:solidFill>
                  <a:srgbClr val="FFFFFF"/>
                </a:solidFill>
                <a:latin typeface="Helvetica Neue"/>
                <a:ea typeface="Helvetica Neue"/>
                <a:cs typeface="Helvetica Neue"/>
              </a:rPr>
              <a:t>Quote, book, pay &amp; manage</a:t>
            </a:r>
          </a:p>
        </p:txBody>
      </p:sp>
      <p:sp>
        <p:nvSpPr>
          <p:cNvPr id="30" name="booking-layer-node-24">
            <a:extLst xmlns:a="http://schemas.openxmlformats.org/drawingml/2006/main">
              <a:ext uri="{FF2B5EF4-FFF2-40B4-BE49-F238E27FC236}">
                <a16:creationId xmlns:a16="http://schemas.microsoft.com/office/drawing/2014/main" id="{A4A8E40D-D041-4171-A580-3214F68214AE}"/>
              </a:ext>
            </a:extLst>
          </p:cNvPr>
          <p:cNvSpPr>
            <a:spLocks xmlns:a="http://schemas.openxmlformats.org/drawingml/2006/main" noGrp="1"/>
          </p:cNvSpPr>
          <p:nvPr/>
        </p:nvSpPr>
        <p:spPr>
          <a:xfrm xmlns:a="http://schemas.openxmlformats.org/drawingml/2006/main">
            <a:off x="7143750" y="27527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1" name="booking-layer-node-25">
            <a:extLst xmlns:a="http://schemas.openxmlformats.org/drawingml/2006/main">
              <a:ext uri="{FF2B5EF4-FFF2-40B4-BE49-F238E27FC236}">
                <a16:creationId xmlns:a16="http://schemas.microsoft.com/office/drawing/2014/main" id="{381E847E-A9FA-4F37-B3E5-C61763DD5015}"/>
              </a:ext>
            </a:extLst>
          </p:cNvPr>
          <p:cNvSpPr>
            <a:spLocks xmlns:a="http://schemas.openxmlformats.org/drawingml/2006/main" noGrp="1"/>
          </p:cNvSpPr>
          <p:nvPr/>
        </p:nvSpPr>
        <p:spPr>
          <a:xfrm xmlns:a="http://schemas.openxmlformats.org/drawingml/2006/main">
            <a:off x="7143750" y="3629025"/>
            <a:ext cx="26670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2" name="booking-layer-node-26">
            <a:extLst xmlns:a="http://schemas.openxmlformats.org/drawingml/2006/main">
              <a:ext uri="{FF2B5EF4-FFF2-40B4-BE49-F238E27FC236}">
                <a16:creationId xmlns:a16="http://schemas.microsoft.com/office/drawing/2014/main" id="{6C43306A-9317-4532-A9D7-E457E756AD02}"/>
              </a:ext>
            </a:extLst>
          </p:cNvPr>
          <p:cNvSpPr>
            <a:spLocks xmlns:a="http://schemas.openxmlformats.org/drawingml/2006/main" noGrp="1"/>
          </p:cNvSpPr>
          <p:nvPr/>
        </p:nvSpPr>
        <p:spPr>
          <a:xfrm xmlns:a="http://schemas.openxmlformats.org/drawingml/2006/main">
            <a:off x="7143750" y="4505325"/>
            <a:ext cx="26670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800" b="1">
                <a:solidFill>
                  <a:srgbClr val="193C32"/>
                </a:solidFill>
                <a:latin typeface="Helvetica Neue"/>
                <a:ea typeface="Helvetica Neue"/>
                <a:cs typeface="Helvetica Neue"/>
              </a:defRPr>
            </a:defPPr>
          </a:lstStyle>
          <a:p xmlns:a="http://schemas.openxmlformats.org/drawingml/2006/main">
            <a:endParaRPr/>
          </a:p>
        </p:txBody>
      </p:sp>
      <p:sp>
        <p:nvSpPr>
          <p:cNvPr id="33" name="booking-layer-text-27">
            <a:extLst xmlns:a="http://schemas.openxmlformats.org/drawingml/2006/main">
              <a:ext uri="{FF2B5EF4-FFF2-40B4-BE49-F238E27FC236}">
                <a16:creationId xmlns:a16="http://schemas.microsoft.com/office/drawing/2014/main" id="{F7AA3C7C-9687-4831-B1E3-609571EA6283}"/>
              </a:ext>
            </a:extLst>
          </p:cNvPr>
          <p:cNvSpPr>
            <a:spLocks xmlns:a="http://schemas.openxmlformats.org/drawingml/2006/main" noGrp="1"/>
          </p:cNvSpPr>
          <p:nvPr/>
        </p:nvSpPr>
        <p:spPr>
          <a:xfrm xmlns:a="http://schemas.openxmlformats.org/drawingml/2006/main">
            <a:off x="7258050" y="28194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BuildOps, ServiceTitan</a:t>
            </a:r>
          </a:p>
        </p:txBody>
      </p:sp>
      <p:sp>
        <p:nvSpPr>
          <p:cNvPr id="34" name="booking-layer-text-28">
            <a:extLst xmlns:a="http://schemas.openxmlformats.org/drawingml/2006/main">
              <a:ext uri="{FF2B5EF4-FFF2-40B4-BE49-F238E27FC236}">
                <a16:creationId xmlns:a16="http://schemas.microsoft.com/office/drawing/2014/main" id="{DAF92F19-6F68-463C-A5D7-17C7BF943389}"/>
              </a:ext>
            </a:extLst>
          </p:cNvPr>
          <p:cNvSpPr>
            <a:spLocks xmlns:a="http://schemas.openxmlformats.org/drawingml/2006/main" noGrp="1"/>
          </p:cNvSpPr>
          <p:nvPr/>
        </p:nvSpPr>
        <p:spPr>
          <a:xfrm xmlns:a="http://schemas.openxmlformats.org/drawingml/2006/main">
            <a:off x="7258050" y="3048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Simpro</a:t>
            </a:r>
          </a:p>
        </p:txBody>
      </p:sp>
      <p:sp>
        <p:nvSpPr>
          <p:cNvPr id="35" name="booking-layer-text-29">
            <a:extLst xmlns:a="http://schemas.openxmlformats.org/drawingml/2006/main">
              <a:ext uri="{FF2B5EF4-FFF2-40B4-BE49-F238E27FC236}">
                <a16:creationId xmlns:a16="http://schemas.microsoft.com/office/drawing/2014/main" id="{EFFD3163-3DDB-4787-B7DC-5B310C25C6B8}"/>
              </a:ext>
            </a:extLst>
          </p:cNvPr>
          <p:cNvSpPr>
            <a:spLocks xmlns:a="http://schemas.openxmlformats.org/drawingml/2006/main" noGrp="1"/>
          </p:cNvSpPr>
          <p:nvPr/>
        </p:nvSpPr>
        <p:spPr>
          <a:xfrm xmlns:a="http://schemas.openxmlformats.org/drawingml/2006/main">
            <a:off x="7258050" y="32766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other platforms</a:t>
            </a:r>
          </a:p>
        </p:txBody>
      </p:sp>
      <p:sp>
        <p:nvSpPr>
          <p:cNvPr id="36" name="booking-layer-text-30">
            <a:extLst xmlns:a="http://schemas.openxmlformats.org/drawingml/2006/main">
              <a:ext uri="{FF2B5EF4-FFF2-40B4-BE49-F238E27FC236}">
                <a16:creationId xmlns:a16="http://schemas.microsoft.com/office/drawing/2014/main" id="{640864B5-5C1A-4DE5-9D3F-17B4BF336541}"/>
              </a:ext>
            </a:extLst>
          </p:cNvPr>
          <p:cNvSpPr>
            <a:spLocks xmlns:a="http://schemas.openxmlformats.org/drawingml/2006/main" noGrp="1"/>
          </p:cNvSpPr>
          <p:nvPr/>
        </p:nvSpPr>
        <p:spPr>
          <a:xfrm xmlns:a="http://schemas.openxmlformats.org/drawingml/2006/main">
            <a:off x="7258050" y="36957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Housecall Pro, FieldEdge</a:t>
            </a:r>
          </a:p>
        </p:txBody>
      </p:sp>
      <p:sp>
        <p:nvSpPr>
          <p:cNvPr id="37" name="booking-layer-text-31">
            <a:extLst xmlns:a="http://schemas.openxmlformats.org/drawingml/2006/main">
              <a:ext uri="{FF2B5EF4-FFF2-40B4-BE49-F238E27FC236}">
                <a16:creationId xmlns:a16="http://schemas.microsoft.com/office/drawing/2014/main" id="{623A8565-8E22-49E9-BA3D-0EFB49F4B012}"/>
              </a:ext>
            </a:extLst>
          </p:cNvPr>
          <p:cNvSpPr>
            <a:spLocks xmlns:a="http://schemas.openxmlformats.org/drawingml/2006/main" noGrp="1"/>
          </p:cNvSpPr>
          <p:nvPr/>
        </p:nvSpPr>
        <p:spPr>
          <a:xfrm xmlns:a="http://schemas.openxmlformats.org/drawingml/2006/main">
            <a:off x="7258050" y="39243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Cactus AI</a:t>
            </a:r>
          </a:p>
        </p:txBody>
      </p:sp>
      <p:sp>
        <p:nvSpPr>
          <p:cNvPr id="38" name="booking-layer-text-32">
            <a:extLst xmlns:a="http://schemas.openxmlformats.org/drawingml/2006/main">
              <a:ext uri="{FF2B5EF4-FFF2-40B4-BE49-F238E27FC236}">
                <a16:creationId xmlns:a16="http://schemas.microsoft.com/office/drawing/2014/main" id="{E69B47E3-FC57-4C21-B033-DB430D828C62}"/>
              </a:ext>
            </a:extLst>
          </p:cNvPr>
          <p:cNvSpPr>
            <a:spLocks xmlns:a="http://schemas.openxmlformats.org/drawingml/2006/main" noGrp="1"/>
          </p:cNvSpPr>
          <p:nvPr/>
        </p:nvSpPr>
        <p:spPr>
          <a:xfrm xmlns:a="http://schemas.openxmlformats.org/drawingml/2006/main">
            <a:off x="7258050" y="4152900"/>
            <a:ext cx="24384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193C32"/>
                </a:solidFill>
                <a:latin typeface="Helvetica Neue"/>
                <a:ea typeface="Helvetica Neue"/>
                <a:cs typeface="Helvetica Neue"/>
              </a:defRPr>
            </a:defPPr>
          </a:lstStyle>
          <a:p xmlns:a="http://schemas.openxmlformats.org/drawingml/2006/main">
            <a:pPr>
              <a:buNone/>
              <a:defRPr sz="1350" b="1">
                <a:solidFill>
                  <a:srgbClr val="193C32"/>
                </a:solidFill>
                <a:latin typeface="Helvetica Neue"/>
                <a:ea typeface="Helvetica Neue"/>
                <a:cs typeface="Helvetica Neue"/>
              </a:defRPr>
            </a:pPr>
            <a:r>
              <a:rPr sz="1350" b="1">
                <a:solidFill>
                  <a:srgbClr val="193C32"/>
                </a:solidFill>
                <a:latin typeface="Helvetica Neue"/>
                <a:ea typeface="Helvetica Neue"/>
                <a:cs typeface="Helvetica Neue"/>
              </a:rPr>
              <a:t>+ other platforms</a:t>
            </a:r>
          </a:p>
        </p:txBody>
      </p:sp>
      <p:sp>
        <p:nvSpPr>
          <p:cNvPr id="39" name="booking-layer-text-33">
            <a:extLst xmlns:a="http://schemas.openxmlformats.org/drawingml/2006/main">
              <a:ext uri="{FF2B5EF4-FFF2-40B4-BE49-F238E27FC236}">
                <a16:creationId xmlns:a16="http://schemas.microsoft.com/office/drawing/2014/main" id="{34FFBC60-20E6-445B-9EB8-05E52E28C49C}"/>
              </a:ext>
            </a:extLst>
          </p:cNvPr>
          <p:cNvSpPr>
            <a:spLocks xmlns:a="http://schemas.openxmlformats.org/drawingml/2006/main" noGrp="1"/>
          </p:cNvSpPr>
          <p:nvPr/>
        </p:nvSpPr>
        <p:spPr>
          <a:xfrm xmlns:a="http://schemas.openxmlformats.org/drawingml/2006/main">
            <a:off x="7258050" y="4572000"/>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Jobber, Workiz, ServiceM8</a:t>
            </a:r>
          </a:p>
        </p:txBody>
      </p:sp>
      <p:sp>
        <p:nvSpPr>
          <p:cNvPr id="40" name="booking-layer-text-34">
            <a:extLst xmlns:a="http://schemas.openxmlformats.org/drawingml/2006/main">
              <a:ext uri="{FF2B5EF4-FFF2-40B4-BE49-F238E27FC236}">
                <a16:creationId xmlns:a16="http://schemas.microsoft.com/office/drawing/2014/main" id="{75764D65-252C-45A0-9B39-5D9214475394}"/>
              </a:ext>
            </a:extLst>
          </p:cNvPr>
          <p:cNvSpPr>
            <a:spLocks xmlns:a="http://schemas.openxmlformats.org/drawingml/2006/main" noGrp="1"/>
          </p:cNvSpPr>
          <p:nvPr/>
        </p:nvSpPr>
        <p:spPr>
          <a:xfrm xmlns:a="http://schemas.openxmlformats.org/drawingml/2006/main">
            <a:off x="7258050" y="4810125"/>
            <a:ext cx="24384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425" b="1">
                <a:solidFill>
                  <a:srgbClr val="193C32"/>
                </a:solidFill>
                <a:latin typeface="Helvetica Neue"/>
                <a:ea typeface="Helvetica Neue"/>
                <a:cs typeface="Helvetica Neue"/>
              </a:defRPr>
            </a:defPPr>
          </a:lstStyle>
          <a:p xmlns:a="http://schemas.openxmlformats.org/drawingml/2006/main">
            <a:pPr>
              <a:buNone/>
              <a:defRPr sz="1425" b="1">
                <a:solidFill>
                  <a:srgbClr val="193C32"/>
                </a:solidFill>
                <a:latin typeface="Helvetica Neue"/>
                <a:ea typeface="Helvetica Neue"/>
                <a:cs typeface="Helvetica Neue"/>
              </a:defRPr>
            </a:pPr>
            <a:r>
              <a:rPr sz="1425" b="1">
                <a:solidFill>
                  <a:srgbClr val="193C32"/>
                </a:solidFill>
                <a:latin typeface="Helvetica Neue"/>
                <a:ea typeface="Helvetica Neue"/>
                <a:cs typeface="Helvetica Neue"/>
              </a:rPr>
              <a:t>+ other platforms</a:t>
            </a:r>
          </a:p>
        </p:txBody>
      </p:sp>
      <p:sp>
        <p:nvSpPr>
          <p:cNvPr id="41" name="booking-layer-text-35">
            <a:extLst xmlns:a="http://schemas.openxmlformats.org/drawingml/2006/main">
              <a:ext uri="{FF2B5EF4-FFF2-40B4-BE49-F238E27FC236}">
                <a16:creationId xmlns:a16="http://schemas.microsoft.com/office/drawing/2014/main" id="{1F54E58A-93CF-4529-BE74-48271C8062FA}"/>
              </a:ext>
            </a:extLst>
          </p:cNvPr>
          <p:cNvSpPr>
            <a:spLocks xmlns:a="http://schemas.openxmlformats.org/drawingml/2006/main" noGrp="1"/>
          </p:cNvSpPr>
          <p:nvPr/>
        </p:nvSpPr>
        <p:spPr>
          <a:xfrm xmlns:a="http://schemas.openxmlformats.org/drawingml/2006/main">
            <a:off x="7258050" y="5067300"/>
            <a:ext cx="24384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
            </a:r>
          </a:p>
        </p:txBody>
      </p:sp>
      <p:sp>
        <p:nvSpPr>
          <p:cNvPr id="42" name="booking-layer-node-36">
            <a:extLst xmlns:a="http://schemas.openxmlformats.org/drawingml/2006/main">
              <a:ext uri="{FF2B5EF4-FFF2-40B4-BE49-F238E27FC236}">
                <a16:creationId xmlns:a16="http://schemas.microsoft.com/office/drawing/2014/main" id="{F23562F6-92C0-4E2A-9C4E-14CAF1AB025D}"/>
              </a:ext>
            </a:extLst>
          </p:cNvPr>
          <p:cNvSpPr>
            <a:spLocks xmlns:a="http://schemas.openxmlformats.org/drawingml/2006/main" noGrp="1"/>
          </p:cNvSpPr>
          <p:nvPr/>
        </p:nvSpPr>
        <p:spPr>
          <a:xfrm xmlns:a="http://schemas.openxmlformats.org/drawingml/2006/main">
            <a:off x="10363200" y="27527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Enterprise</a:t>
            </a:r>
          </a:p>
        </p:txBody>
      </p:sp>
      <p:sp>
        <p:nvSpPr>
          <p:cNvPr id="43" name="booking-layer-node-37">
            <a:extLst xmlns:a="http://schemas.openxmlformats.org/drawingml/2006/main">
              <a:ext uri="{FF2B5EF4-FFF2-40B4-BE49-F238E27FC236}">
                <a16:creationId xmlns:a16="http://schemas.microsoft.com/office/drawing/2014/main" id="{E0913280-755C-4FC9-B294-B8877BA719C3}"/>
              </a:ext>
            </a:extLst>
          </p:cNvPr>
          <p:cNvSpPr>
            <a:spLocks xmlns:a="http://schemas.openxmlformats.org/drawingml/2006/main" noGrp="1"/>
          </p:cNvSpPr>
          <p:nvPr/>
        </p:nvSpPr>
        <p:spPr>
          <a:xfrm xmlns:a="http://schemas.openxmlformats.org/drawingml/2006/main">
            <a:off x="10363200" y="3629025"/>
            <a:ext cx="1333500" cy="74295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Mid-market</a:t>
            </a:r>
          </a:p>
        </p:txBody>
      </p:sp>
      <p:sp>
        <p:nvSpPr>
          <p:cNvPr id="44" name="booking-layer-node-38">
            <a:extLst xmlns:a="http://schemas.openxmlformats.org/drawingml/2006/main">
              <a:ext uri="{FF2B5EF4-FFF2-40B4-BE49-F238E27FC236}">
                <a16:creationId xmlns:a16="http://schemas.microsoft.com/office/drawing/2014/main" id="{CD61F4F2-BFCA-4380-B3D6-9E65D8B5C450}"/>
              </a:ext>
            </a:extLst>
          </p:cNvPr>
          <p:cNvSpPr>
            <a:spLocks xmlns:a="http://schemas.openxmlformats.org/drawingml/2006/main" noGrp="1"/>
          </p:cNvSpPr>
          <p:nvPr/>
        </p:nvSpPr>
        <p:spPr>
          <a:xfrm xmlns:a="http://schemas.openxmlformats.org/drawingml/2006/main">
            <a:off x="10363200" y="4505325"/>
            <a:ext cx="1333500" cy="800100"/>
          </a:xfrm>
          <a:prstGeom xmlns:a="http://schemas.openxmlformats.org/drawingml/2006/main" prst="rect">
            <a:avLst/>
          </a:prstGeom>
          <a:solidFill xmlns:a="http://schemas.openxmlformats.org/drawingml/2006/main">
            <a:srgbClr val="F0F2EE"/>
          </a:solidFill>
          <a:ln xmlns:a="http://schemas.openxmlformats.org/drawingml/2006/main" w="14288">
            <a:solidFill>
              <a:srgbClr val="CDD5CE"/>
            </a:solidFill>
            <a:prstDash val="solid"/>
          </a:ln>
        </p:spPr>
        <p:txBody>
          <a:bodyPr xmlns:a="http://schemas.openxmlformats.org/drawingml/2006/main" wrap="square" lIns="76200" tIns="76200" rIns="76200" bIns="76200" anchor="ctr">
            <a:noAutofit/>
          </a:bodyPr>
          <a:lstStyle xmlns:a="http://schemas.openxmlformats.org/drawingml/2006/main">
            <a:defPPr algn="ctr">
              <a:defRPr sz="1575" b="1">
                <a:solidFill>
                  <a:srgbClr val="193C32"/>
                </a:solidFill>
                <a:latin typeface="Helvetica Neue"/>
                <a:ea typeface="Helvetica Neue"/>
                <a:cs typeface="Helvetica Neue"/>
              </a:defRPr>
            </a:defPPr>
          </a:lstStyle>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Small</a:t>
            </a:r>
          </a:p>
          <a:p xmlns:a="http://schemas.openxmlformats.org/drawingml/2006/main">
            <a:pPr algn="ctr">
              <a:buNone/>
              <a:defRPr sz="1575" b="1">
                <a:solidFill>
                  <a:srgbClr val="193C32"/>
                </a:solidFill>
                <a:latin typeface="Helvetica Neue"/>
                <a:ea typeface="Helvetica Neue"/>
                <a:cs typeface="Helvetica Neue"/>
              </a:defRPr>
            </a:pPr>
            <a:r>
              <a:rPr sz="1575" b="1">
                <a:solidFill>
                  <a:srgbClr val="193C32"/>
                </a:solidFill>
                <a:latin typeface="Helvetica Neue"/>
                <a:ea typeface="Helvetica Neue"/>
                <a:cs typeface="Helvetica Neue"/>
              </a:rPr>
              <a:t>businesses</a:t>
            </a:r>
          </a:p>
        </p:txBody>
      </p:sp>
      <p:sp>
        <p:nvSpPr>
          <p:cNvPr id="58" name="booking-layer-text-39">
            <a:extLst xmlns:a="http://schemas.openxmlformats.org/drawingml/2006/main">
              <a:ext uri="{FF2B5EF4-FFF2-40B4-BE49-F238E27FC236}">
                <a16:creationId xmlns:a16="http://schemas.microsoft.com/office/drawing/2014/main" id="{FA822E6B-449C-4790-9B5C-EF573D939BBE}"/>
              </a:ext>
            </a:extLst>
          </p:cNvPr>
          <p:cNvSpPr>
            <a:spLocks xmlns:a="http://schemas.openxmlformats.org/drawingml/2006/main" noGrp="1"/>
          </p:cNvSpPr>
          <p:nvPr/>
        </p:nvSpPr>
        <p:spPr>
          <a:xfrm xmlns:a="http://schemas.openxmlformats.org/drawingml/2006/main">
            <a:off x="7143750" y="5400675"/>
            <a:ext cx="45529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350" b="1">
                <a:solidFill>
                  <a:srgbClr val="236C4E"/>
                </a:solidFill>
                <a:latin typeface="Helvetica Neue"/>
                <a:ea typeface="Helvetica Neue"/>
                <a:cs typeface="Helvetica Neue"/>
              </a:defRPr>
            </a:defPPr>
          </a:lstStyle>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Plumbing is one category.</a:t>
            </a:r>
          </a:p>
          <a:p xmlns:a="http://schemas.openxmlformats.org/drawingml/2006/main">
            <a:pPr>
              <a:buNone/>
              <a:defRPr sz="1350" b="1">
                <a:solidFill>
                  <a:srgbClr val="236C4E"/>
                </a:solidFill>
                <a:latin typeface="Helvetica Neue"/>
                <a:ea typeface="Helvetica Neue"/>
                <a:cs typeface="Helvetica Neue"/>
              </a:defRPr>
            </a:pPr>
            <a:r>
              <a:rPr sz="1350" b="1">
                <a:solidFill>
                  <a:srgbClr val="236C4E"/>
                </a:solidFill>
                <a:latin typeface="Helvetica Neue"/>
                <a:ea typeface="Helvetica Neue"/>
                <a:cs typeface="Helvetica Neue"/>
              </a:rPr>
              <a:t>Each category has its own software mix.</a:t>
            </a:r>
          </a:p>
        </p:txBody>
      </p:sp>
      <p:sp>
        <p:nvSpPr>
          <p:cNvPr id="59" name="booking-layer-text-40">
            <a:extLst xmlns:a="http://schemas.openxmlformats.org/drawingml/2006/main">
              <a:ext uri="{FF2B5EF4-FFF2-40B4-BE49-F238E27FC236}">
                <a16:creationId xmlns:a16="http://schemas.microsoft.com/office/drawing/2014/main" id="{F64613CD-0DA4-4247-B4D8-7BA61504B61F}"/>
              </a:ext>
            </a:extLst>
          </p:cNvPr>
          <p:cNvSpPr>
            <a:spLocks xmlns:a="http://schemas.openxmlformats.org/drawingml/2006/main" noGrp="1"/>
          </p:cNvSpPr>
          <p:nvPr/>
        </p:nvSpPr>
        <p:spPr>
          <a:xfrm xmlns:a="http://schemas.openxmlformats.org/drawingml/2006/main">
            <a:off x="495300" y="5781675"/>
            <a:ext cx="11201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100" b="1">
                <a:solidFill>
                  <a:srgbClr val="193C32"/>
                </a:solidFill>
                <a:latin typeface="Helvetica Neue"/>
                <a:ea typeface="Helvetica Neue"/>
                <a:cs typeface="Helvetica Neue"/>
              </a:defRPr>
            </a:defPPr>
          </a:lstStyle>
          <a:p xmlns:a="http://schemas.openxmlformats.org/drawingml/2006/main">
            <a:pPr>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Agents reach local supply through one connection.</a:t>
            </a:r>
          </a:p>
        </p:txBody>
      </p:sp>
      <p:sp>
        <p:nvSpPr>
          <p:cNvPr id="60" name="booking-layer-text-41">
            <a:extLst xmlns:a="http://schemas.openxmlformats.org/drawingml/2006/main">
              <a:ext uri="{FF2B5EF4-FFF2-40B4-BE49-F238E27FC236}">
                <a16:creationId xmlns:a16="http://schemas.microsoft.com/office/drawing/2014/main" id="{03CB5374-FA64-4A7A-AD8D-323F3E11523C}"/>
              </a:ext>
            </a:extLst>
          </p:cNvPr>
          <p:cNvSpPr>
            <a:spLocks xmlns:a="http://schemas.openxmlformats.org/drawingml/2006/main" noGrp="1"/>
          </p:cNvSpPr>
          <p:nvPr/>
        </p:nvSpPr>
        <p:spPr>
          <a:xfrm xmlns:a="http://schemas.openxmlformats.org/drawingml/2006/main">
            <a:off x="495300" y="6210300"/>
            <a:ext cx="11201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75" b="0">
                <a:solidFill>
                  <a:srgbClr val="236C4E"/>
                </a:solidFill>
                <a:latin typeface="Helvetica Neue"/>
                <a:ea typeface="Helvetica Neue"/>
                <a:cs typeface="Helvetica Neue"/>
              </a:defRPr>
            </a:defPPr>
          </a:lstStyle>
          <a:p xmlns:a="http://schemas.openxmlformats.org/drawingml/2006/main">
            <a:pPr>
              <a:buNone/>
              <a:defRPr sz="1875" b="0">
                <a:solidFill>
                  <a:srgbClr val="236C4E"/>
                </a:solidFill>
                <a:latin typeface="Helvetica Neue"/>
                <a:ea typeface="Helvetica Neue"/>
                <a:cs typeface="Helvetica Neue"/>
              </a:defRPr>
            </a:pPr>
            <a:r>
              <a:rPr sz="1875" b="0">
                <a:solidFill>
                  <a:srgbClr val="236C4E"/>
                </a:solidFill>
                <a:latin typeface="Helvetica Neue"/>
                <a:ea typeface="Helvetica Neue"/>
                <a:cs typeface="Helvetica Neue"/>
              </a:rPr>
              <a:t>Businesses reach connected agents through one integration.</a:t>
            </a:r>
          </a:p>
        </p:txBody>
      </p:sp>
      <p:sp>
        <p:nvSpPr>
          <p:cNvPr id="61" name="booking-layer-text-42">
            <a:extLst xmlns:a="http://schemas.openxmlformats.org/drawingml/2006/main">
              <a:ext uri="{FF2B5EF4-FFF2-40B4-BE49-F238E27FC236}">
                <a16:creationId xmlns:a16="http://schemas.microsoft.com/office/drawing/2014/main" id="{AE01A67E-E79E-40E0-916B-B9A50D4AE318}"/>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*Selected-startup funding. 100+ plumbing products listed by Software Advice. Examples, not live integrations.</a:t>
            </a:r>
          </a:p>
        </p:txBody>
      </p:sp>
      <p:sp>
        <p:nvSpPr>
          <p:cNvPr id="62" name="booking-layer-text-43">
            <a:extLst xmlns:a="http://schemas.openxmlformats.org/drawingml/2006/main">
              <a:ext uri="{FF2B5EF4-FFF2-40B4-BE49-F238E27FC236}">
                <a16:creationId xmlns:a16="http://schemas.microsoft.com/office/drawing/2014/main" id="{5CD82E1E-F31D-41BF-B159-FA5EFFFF6B38}"/>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2 / 6</a:t>
            </a:r>
          </a:p>
        </p:txBody>
      </p:sp>
    </p:spTree>
    <p:extLst>
      <p:ext uri="{BB962C8B-B14F-4D97-AF65-F5344CB8AC3E}">
        <p14:creationId xmlns:p14="http://schemas.microsoft.com/office/powerpoint/2010/main" val="596186317"/>
      </p:ext>
    </p:extLst>
  </p:cSld>
</p:sld>
</file>

<file path=ppt/slides/slide3.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1" name="Straight Arrow Connector 10">
            <a:extLst xmlns:a="http://schemas.openxmlformats.org/drawingml/2006/main">
              <a:ext uri="{FF2B5EF4-FFF2-40B4-BE49-F238E27FC236}">
                <a16:creationId xmlns:a16="http://schemas.microsoft.com/office/drawing/2014/main" id="{CE0A9D65-4786-41C4-83AE-8F4B787662A1}"/>
              </a:ext>
            </a:extLst>
          </p:cNvPr>
          <p:cNvCxnSpPr>
            <a:stCxn xmlns:a="http://schemas.openxmlformats.org/drawingml/2006/main" id="7" idx="3"/>
            <a:endCxn xmlns:a="http://schemas.openxmlformats.org/drawingml/2006/main" id="8" idx="1"/>
          </p:cNvCxnSpPr>
          <p:nvPr/>
        </p:nvCxnSpPr>
        <p:spPr>
          <a:xfrm xmlns:a="http://schemas.openxmlformats.org/drawingml/2006/main">
            <a:off x="88201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0" name="Straight Arrow Connector 9">
            <a:extLst xmlns:a="http://schemas.openxmlformats.org/drawingml/2006/main">
              <a:ext uri="{FF2B5EF4-FFF2-40B4-BE49-F238E27FC236}">
                <a16:creationId xmlns:a16="http://schemas.microsoft.com/office/drawing/2014/main" id="{625108EB-26BC-4811-A0DB-E7A2079709E3}"/>
              </a:ext>
            </a:extLst>
          </p:cNvPr>
          <p:cNvCxnSpPr>
            <a:stCxn xmlns:a="http://schemas.openxmlformats.org/drawingml/2006/main" id="6" idx="3"/>
            <a:endCxn xmlns:a="http://schemas.openxmlformats.org/drawingml/2006/main" id="7" idx="1"/>
          </p:cNvCxnSpPr>
          <p:nvPr/>
        </p:nvCxnSpPr>
        <p:spPr>
          <a:xfrm xmlns:a="http://schemas.openxmlformats.org/drawingml/2006/main">
            <a:off x="594360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9" name="Straight Arrow Connector 8">
            <a:extLst xmlns:a="http://schemas.openxmlformats.org/drawingml/2006/main">
              <a:ext uri="{FF2B5EF4-FFF2-40B4-BE49-F238E27FC236}">
                <a16:creationId xmlns:a16="http://schemas.microsoft.com/office/drawing/2014/main" id="{996EF4E0-B4A6-4639-BF89-CF3509F0ABE6}"/>
              </a:ext>
            </a:extLst>
          </p:cNvPr>
          <p:cNvCxnSpPr>
            <a:stCxn xmlns:a="http://schemas.openxmlformats.org/drawingml/2006/main" id="5" idx="3"/>
            <a:endCxn xmlns:a="http://schemas.openxmlformats.org/drawingml/2006/main" id="6" idx="1"/>
          </p:cNvCxnSpPr>
          <p:nvPr/>
        </p:nvCxnSpPr>
        <p:spPr>
          <a:xfrm xmlns:a="http://schemas.openxmlformats.org/drawingml/2006/main">
            <a:off x="3067050" y="3086100"/>
            <a:ext cx="304800" cy="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9" name="booking-story-text-0">
            <a:extLst xmlns:a="http://schemas.openxmlformats.org/drawingml/2006/main">
              <a:ext uri="{FF2B5EF4-FFF2-40B4-BE49-F238E27FC236}">
                <a16:creationId xmlns:a16="http://schemas.microsoft.com/office/drawing/2014/main" id="{B57A0389-4F00-4E99-A55C-BF00F56D2DBC}"/>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CUSTOMER EXPERIENCE</a:t>
            </a:r>
          </a:p>
        </p:txBody>
      </p:sp>
      <p:sp>
        <p:nvSpPr>
          <p:cNvPr id="2" name="booking-story-text-1">
            <a:extLst xmlns:a="http://schemas.openxmlformats.org/drawingml/2006/main">
              <a:ext uri="{FF2B5EF4-FFF2-40B4-BE49-F238E27FC236}">
                <a16:creationId xmlns:a16="http://schemas.microsoft.com/office/drawing/2014/main" id="{A24AB0A3-2E57-4890-BBD5-9C331DFB8046}"/>
              </a:ext>
            </a:extLst>
          </p:cNvPr>
          <p:cNvSpPr>
            <a:spLocks xmlns:a="http://schemas.openxmlformats.org/drawingml/2006/main" noGrp="1"/>
          </p:cNvSpPr>
          <p:nvPr/>
        </p:nvSpPr>
        <p:spPr>
          <a:xfrm xmlns:a="http://schemas.openxmlformats.org/drawingml/2006/main">
            <a:off x="495300" y="619125"/>
            <a:ext cx="112014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3300" b="1">
                <a:solidFill>
                  <a:srgbClr val="193C32"/>
                </a:solidFill>
                <a:latin typeface="Helvetica Neue"/>
                <a:ea typeface="Helvetica Neue"/>
                <a:cs typeface="Helvetica Neue"/>
              </a:defRPr>
            </a:defPPr>
          </a:lstStyle>
          <a:p xmlns:a="http://schemas.openxmlformats.org/drawingml/2006/main">
            <a:pPr>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A customer request becomes a confirmed booking</a:t>
            </a:r>
          </a:p>
        </p:txBody>
      </p:sp>
      <p:sp>
        <p:nvSpPr>
          <p:cNvPr id="3" name="booking-story-text-2">
            <a:extLst xmlns:a="http://schemas.openxmlformats.org/drawingml/2006/main">
              <a:ext uri="{FF2B5EF4-FFF2-40B4-BE49-F238E27FC236}">
                <a16:creationId xmlns:a16="http://schemas.microsoft.com/office/drawing/2014/main" id="{5BD70F1D-6B85-4E19-9340-39F0DB916705}"/>
              </a:ext>
            </a:extLst>
          </p:cNvPr>
          <p:cNvSpPr>
            <a:spLocks xmlns:a="http://schemas.openxmlformats.org/drawingml/2006/main" noGrp="1"/>
          </p:cNvSpPr>
          <p:nvPr/>
        </p:nvSpPr>
        <p:spPr>
          <a:xfrm xmlns:a="http://schemas.openxmlformats.org/drawingml/2006/main">
            <a:off x="495300" y="1571625"/>
            <a:ext cx="112014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TO PERSONAL AGENT</a:t>
            </a:r>
          </a:p>
        </p:txBody>
      </p:sp>
      <p:sp>
        <p:nvSpPr>
          <p:cNvPr id="4" name="booking-story-text-3">
            <a:extLst xmlns:a="http://schemas.openxmlformats.org/drawingml/2006/main">
              <a:ext uri="{FF2B5EF4-FFF2-40B4-BE49-F238E27FC236}">
                <a16:creationId xmlns:a16="http://schemas.microsoft.com/office/drawing/2014/main" id="{824F4526-8F26-404F-8B27-EF3BACEF071F}"/>
              </a:ext>
            </a:extLst>
          </p:cNvPr>
          <p:cNvSpPr>
            <a:spLocks xmlns:a="http://schemas.openxmlformats.org/drawingml/2006/main" noGrp="1"/>
          </p:cNvSpPr>
          <p:nvPr/>
        </p:nvSpPr>
        <p:spPr>
          <a:xfrm xmlns:a="http://schemas.openxmlformats.org/drawingml/2006/main">
            <a:off x="495300" y="1933575"/>
            <a:ext cx="112014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475" b="1">
                <a:solidFill>
                  <a:srgbClr val="193C32"/>
                </a:solidFill>
                <a:latin typeface="Helvetica Neue"/>
                <a:ea typeface="Helvetica Neue"/>
                <a:cs typeface="Helvetica Neue"/>
              </a:defRPr>
            </a:defPPr>
          </a:lstStyle>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“Book a plumber in Salt Lake City tomorrow</a:t>
            </a:r>
          </a:p>
          <a:p xmlns:a="http://schemas.openxmlformats.org/drawingml/2006/main">
            <a:pPr>
              <a:buNone/>
              <a:defRPr sz="2475" b="1">
                <a:solidFill>
                  <a:srgbClr val="193C32"/>
                </a:solidFill>
                <a:latin typeface="Helvetica Neue"/>
                <a:ea typeface="Helvetica Neue"/>
                <a:cs typeface="Helvetica Neue"/>
              </a:defRPr>
            </a:pPr>
            <a:r>
              <a:rPr sz="2475" b="1">
                <a:solidFill>
                  <a:srgbClr val="193C32"/>
                </a:solidFill>
                <a:latin typeface="Helvetica Neue"/>
                <a:ea typeface="Helvetica Neue"/>
                <a:cs typeface="Helvetica Neue"/>
              </a:rPr>
              <a:t>morning for my leaking kitchen tap.”</a:t>
            </a:r>
          </a:p>
        </p:txBody>
      </p:sp>
      <p:sp>
        <p:nvSpPr>
          <p:cNvPr id="5" name="booking-story-flow-4">
            <a:extLst xmlns:a="http://schemas.openxmlformats.org/drawingml/2006/main">
              <a:ext uri="{FF2B5EF4-FFF2-40B4-BE49-F238E27FC236}">
                <a16:creationId xmlns:a16="http://schemas.microsoft.com/office/drawing/2014/main" id="{5CCFB1FE-1A94-4920-85EE-4D3D5C5976A3}"/>
              </a:ext>
            </a:extLst>
          </p:cNvPr>
          <p:cNvSpPr>
            <a:spLocks xmlns:a="http://schemas.openxmlformats.org/drawingml/2006/main" noGrp="1"/>
          </p:cNvSpPr>
          <p:nvPr/>
        </p:nvSpPr>
        <p:spPr>
          <a:xfrm xmlns:a="http://schemas.openxmlformats.org/drawingml/2006/main">
            <a:off x="4953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6" name="booking-story-flow-5">
            <a:extLst xmlns:a="http://schemas.openxmlformats.org/drawingml/2006/main">
              <a:ext uri="{FF2B5EF4-FFF2-40B4-BE49-F238E27FC236}">
                <a16:creationId xmlns:a16="http://schemas.microsoft.com/office/drawing/2014/main" id="{8D13F472-9F83-419A-8518-4AB71C9DA5BA}"/>
              </a:ext>
            </a:extLst>
          </p:cNvPr>
          <p:cNvSpPr>
            <a:spLocks xmlns:a="http://schemas.openxmlformats.org/drawingml/2006/main" noGrp="1"/>
          </p:cNvSpPr>
          <p:nvPr/>
        </p:nvSpPr>
        <p:spPr>
          <a:xfrm xmlns:a="http://schemas.openxmlformats.org/drawingml/2006/main">
            <a:off x="33718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7" name="booking-story-flow-6">
            <a:extLst xmlns:a="http://schemas.openxmlformats.org/drawingml/2006/main">
              <a:ext uri="{FF2B5EF4-FFF2-40B4-BE49-F238E27FC236}">
                <a16:creationId xmlns:a16="http://schemas.microsoft.com/office/drawing/2014/main" id="{7532C0F7-5C11-418A-93E0-289414CA5DFC}"/>
              </a:ext>
            </a:extLst>
          </p:cNvPr>
          <p:cNvSpPr>
            <a:spLocks xmlns:a="http://schemas.openxmlformats.org/drawingml/2006/main" noGrp="1"/>
          </p:cNvSpPr>
          <p:nvPr/>
        </p:nvSpPr>
        <p:spPr>
          <a:xfrm xmlns:a="http://schemas.openxmlformats.org/drawingml/2006/main">
            <a:off x="624840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8" name="booking-story-flow-7">
            <a:extLst xmlns:a="http://schemas.openxmlformats.org/drawingml/2006/main">
              <a:ext uri="{FF2B5EF4-FFF2-40B4-BE49-F238E27FC236}">
                <a16:creationId xmlns:a16="http://schemas.microsoft.com/office/drawing/2014/main" id="{D063A1A6-F925-44E9-8700-9FA17055F078}"/>
              </a:ext>
            </a:extLst>
          </p:cNvPr>
          <p:cNvSpPr>
            <a:spLocks xmlns:a="http://schemas.openxmlformats.org/drawingml/2006/main" noGrp="1"/>
          </p:cNvSpPr>
          <p:nvPr/>
        </p:nvSpPr>
        <p:spPr>
          <a:xfrm xmlns:a="http://schemas.openxmlformats.org/drawingml/2006/main">
            <a:off x="9124950" y="3076575"/>
            <a:ext cx="2571750" cy="19050"/>
          </a:xfrm>
          <a:prstGeom xmlns:a="http://schemas.openxmlformats.org/drawingml/2006/main" prst="rect">
            <a:avLst/>
          </a:prstGeom>
          <a:solidFill xmlns:a="http://schemas.openxmlformats.org/drawingml/2006/main">
            <a:srgbClr val="CDD5C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12" name="booking-story-text-8">
            <a:extLst xmlns:a="http://schemas.openxmlformats.org/drawingml/2006/main">
              <a:ext uri="{FF2B5EF4-FFF2-40B4-BE49-F238E27FC236}">
                <a16:creationId xmlns:a16="http://schemas.microsoft.com/office/drawing/2014/main" id="{9CC6342D-0163-402A-9864-1DAD90E6BA94}"/>
              </a:ext>
            </a:extLst>
          </p:cNvPr>
          <p:cNvSpPr>
            <a:spLocks xmlns:a="http://schemas.openxmlformats.org/drawingml/2006/main" noGrp="1"/>
          </p:cNvSpPr>
          <p:nvPr/>
        </p:nvSpPr>
        <p:spPr>
          <a:xfrm xmlns:a="http://schemas.openxmlformats.org/drawingml/2006/main">
            <a:off x="4953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PERSONAL AGENT</a:t>
            </a:r>
          </a:p>
        </p:txBody>
      </p:sp>
      <p:sp>
        <p:nvSpPr>
          <p:cNvPr id="13" name="booking-story-text-9">
            <a:extLst xmlns:a="http://schemas.openxmlformats.org/drawingml/2006/main">
              <a:ext uri="{FF2B5EF4-FFF2-40B4-BE49-F238E27FC236}">
                <a16:creationId xmlns:a16="http://schemas.microsoft.com/office/drawing/2014/main" id="{DFC364BF-4D4D-4DA7-ABA4-629DC2AFF6A5}"/>
              </a:ext>
            </a:extLst>
          </p:cNvPr>
          <p:cNvSpPr>
            <a:spLocks xmlns:a="http://schemas.openxmlformats.org/drawingml/2006/main" noGrp="1"/>
          </p:cNvSpPr>
          <p:nvPr/>
        </p:nvSpPr>
        <p:spPr>
          <a:xfrm xmlns:a="http://schemas.openxmlformats.org/drawingml/2006/main">
            <a:off x="4953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1  Scope the job</a:t>
            </a:r>
          </a:p>
        </p:txBody>
      </p:sp>
      <p:sp>
        <p:nvSpPr>
          <p:cNvPr id="14" name="booking-story-text-10">
            <a:extLst xmlns:a="http://schemas.openxmlformats.org/drawingml/2006/main">
              <a:ext uri="{FF2B5EF4-FFF2-40B4-BE49-F238E27FC236}">
                <a16:creationId xmlns:a16="http://schemas.microsoft.com/office/drawing/2014/main" id="{12B0AFC8-2612-4277-9CEB-963EA88ED1D5}"/>
              </a:ext>
            </a:extLst>
          </p:cNvPr>
          <p:cNvSpPr>
            <a:spLocks xmlns:a="http://schemas.openxmlformats.org/drawingml/2006/main" noGrp="1"/>
          </p:cNvSpPr>
          <p:nvPr/>
        </p:nvSpPr>
        <p:spPr>
          <a:xfrm xmlns:a="http://schemas.openxmlformats.org/drawingml/2006/main">
            <a:off x="4953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Collects the address and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 photo of the leak.</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Scopes a diagnostic visit.</a:t>
            </a:r>
          </a:p>
        </p:txBody>
      </p:sp>
      <p:sp>
        <p:nvSpPr>
          <p:cNvPr id="15" name="booking-story-text-11">
            <a:extLst xmlns:a="http://schemas.openxmlformats.org/drawingml/2006/main">
              <a:ext uri="{FF2B5EF4-FFF2-40B4-BE49-F238E27FC236}">
                <a16:creationId xmlns:a16="http://schemas.microsoft.com/office/drawing/2014/main" id="{7B966131-CD90-4A6B-8855-B1F258876E82}"/>
              </a:ext>
            </a:extLst>
          </p:cNvPr>
          <p:cNvSpPr>
            <a:spLocks xmlns:a="http://schemas.openxmlformats.org/drawingml/2006/main" noGrp="1"/>
          </p:cNvSpPr>
          <p:nvPr/>
        </p:nvSpPr>
        <p:spPr>
          <a:xfrm xmlns:a="http://schemas.openxmlformats.org/drawingml/2006/main">
            <a:off x="33718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16" name="booking-story-text-12">
            <a:extLst xmlns:a="http://schemas.openxmlformats.org/drawingml/2006/main">
              <a:ext uri="{FF2B5EF4-FFF2-40B4-BE49-F238E27FC236}">
                <a16:creationId xmlns:a16="http://schemas.microsoft.com/office/drawing/2014/main" id="{4C4A54FC-BED6-41DD-8EDE-83091AC76FEB}"/>
              </a:ext>
            </a:extLst>
          </p:cNvPr>
          <p:cNvSpPr>
            <a:spLocks xmlns:a="http://schemas.openxmlformats.org/drawingml/2006/main" noGrp="1"/>
          </p:cNvSpPr>
          <p:nvPr/>
        </p:nvSpPr>
        <p:spPr>
          <a:xfrm xmlns:a="http://schemas.openxmlformats.org/drawingml/2006/main">
            <a:off x="33718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2  Check live options</a:t>
            </a:r>
          </a:p>
        </p:txBody>
      </p:sp>
      <p:sp>
        <p:nvSpPr>
          <p:cNvPr id="17" name="booking-story-text-13">
            <a:extLst xmlns:a="http://schemas.openxmlformats.org/drawingml/2006/main">
              <a:ext uri="{FF2B5EF4-FFF2-40B4-BE49-F238E27FC236}">
                <a16:creationId xmlns:a16="http://schemas.microsoft.com/office/drawing/2014/main" id="{112DF1EA-4441-4A80-97EC-22A6380BB59C}"/>
              </a:ext>
            </a:extLst>
          </p:cNvPr>
          <p:cNvSpPr>
            <a:spLocks xmlns:a="http://schemas.openxmlformats.org/drawingml/2006/main" noGrp="1"/>
          </p:cNvSpPr>
          <p:nvPr/>
        </p:nvSpPr>
        <p:spPr>
          <a:xfrm xmlns:a="http://schemas.openxmlformats.org/drawingml/2006/main">
            <a:off x="33718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Matches connected providers.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available slots</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visit fees.</a:t>
            </a:r>
          </a:p>
        </p:txBody>
      </p:sp>
      <p:sp>
        <p:nvSpPr>
          <p:cNvPr id="18" name="booking-story-text-14">
            <a:extLst xmlns:a="http://schemas.openxmlformats.org/drawingml/2006/main">
              <a:ext uri="{FF2B5EF4-FFF2-40B4-BE49-F238E27FC236}">
                <a16:creationId xmlns:a16="http://schemas.microsoft.com/office/drawing/2014/main" id="{2D80A181-62A2-4F46-B414-0D7B03DB015B}"/>
              </a:ext>
            </a:extLst>
          </p:cNvPr>
          <p:cNvSpPr>
            <a:spLocks xmlns:a="http://schemas.openxmlformats.org/drawingml/2006/main" noGrp="1"/>
          </p:cNvSpPr>
          <p:nvPr/>
        </p:nvSpPr>
        <p:spPr>
          <a:xfrm xmlns:a="http://schemas.openxmlformats.org/drawingml/2006/main">
            <a:off x="624840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65746C"/>
                </a:solidFill>
                <a:latin typeface="Helvetica Neue"/>
                <a:ea typeface="Helvetica Neue"/>
                <a:cs typeface="Helvetica Neue"/>
              </a:defRPr>
            </a:defPPr>
          </a:lstStyle>
          <a:p xmlns:a="http://schemas.openxmlformats.org/drawingml/2006/main">
            <a:pPr>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CUSTOMER + AGENT</a:t>
            </a:r>
          </a:p>
        </p:txBody>
      </p:sp>
      <p:sp>
        <p:nvSpPr>
          <p:cNvPr id="19" name="booking-story-text-15">
            <a:extLst xmlns:a="http://schemas.openxmlformats.org/drawingml/2006/main">
              <a:ext uri="{FF2B5EF4-FFF2-40B4-BE49-F238E27FC236}">
                <a16:creationId xmlns:a16="http://schemas.microsoft.com/office/drawing/2014/main" id="{683138A3-844B-4246-8BEE-A0B98C3A11F5}"/>
              </a:ext>
            </a:extLst>
          </p:cNvPr>
          <p:cNvSpPr>
            <a:spLocks xmlns:a="http://schemas.openxmlformats.org/drawingml/2006/main" noGrp="1"/>
          </p:cNvSpPr>
          <p:nvPr/>
        </p:nvSpPr>
        <p:spPr>
          <a:xfrm xmlns:a="http://schemas.openxmlformats.org/drawingml/2006/main">
            <a:off x="624840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3  Approve the visit</a:t>
            </a:r>
          </a:p>
        </p:txBody>
      </p:sp>
      <p:sp>
        <p:nvSpPr>
          <p:cNvPr id="20" name="booking-story-text-16">
            <a:extLst xmlns:a="http://schemas.openxmlformats.org/drawingml/2006/main">
              <a:ext uri="{FF2B5EF4-FFF2-40B4-BE49-F238E27FC236}">
                <a16:creationId xmlns:a16="http://schemas.microsoft.com/office/drawing/2014/main" id="{52AF28D2-35F6-4CF2-9BFA-F576323C8A72}"/>
              </a:ext>
            </a:extLst>
          </p:cNvPr>
          <p:cNvSpPr>
            <a:spLocks xmlns:a="http://schemas.openxmlformats.org/drawingml/2006/main" noGrp="1"/>
          </p:cNvSpPr>
          <p:nvPr/>
        </p:nvSpPr>
        <p:spPr>
          <a:xfrm xmlns:a="http://schemas.openxmlformats.org/drawingml/2006/main">
            <a:off x="624840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Chooses Oak Plumbing.</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Approves the $79 visit</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authorization.</a:t>
            </a:r>
          </a:p>
        </p:txBody>
      </p:sp>
      <p:sp>
        <p:nvSpPr>
          <p:cNvPr id="21" name="booking-story-text-17">
            <a:extLst xmlns:a="http://schemas.openxmlformats.org/drawingml/2006/main">
              <a:ext uri="{FF2B5EF4-FFF2-40B4-BE49-F238E27FC236}">
                <a16:creationId xmlns:a16="http://schemas.microsoft.com/office/drawing/2014/main" id="{AA315DCC-6AA8-416D-829C-DF422D9091A9}"/>
              </a:ext>
            </a:extLst>
          </p:cNvPr>
          <p:cNvSpPr>
            <a:spLocks xmlns:a="http://schemas.openxmlformats.org/drawingml/2006/main" noGrp="1"/>
          </p:cNvSpPr>
          <p:nvPr/>
        </p:nvSpPr>
        <p:spPr>
          <a:xfrm xmlns:a="http://schemas.openxmlformats.org/drawingml/2006/main">
            <a:off x="9124950" y="3257550"/>
            <a:ext cx="2571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1">
                <a:solidFill>
                  <a:srgbClr val="236C4E"/>
                </a:solidFill>
                <a:latin typeface="Helvetica Neue"/>
                <a:ea typeface="Helvetica Neue"/>
                <a:cs typeface="Helvetica Neue"/>
              </a:defRPr>
            </a:defPPr>
          </a:lstStyle>
          <a:p xmlns:a="http://schemas.openxmlformats.org/drawingml/2006/main">
            <a:pPr>
              <a:buNone/>
              <a:defRPr sz="1275" b="1">
                <a:solidFill>
                  <a:srgbClr val="236C4E"/>
                </a:solidFill>
                <a:latin typeface="Helvetica Neue"/>
                <a:ea typeface="Helvetica Neue"/>
                <a:cs typeface="Helvetica Neue"/>
              </a:defRPr>
            </a:pPr>
            <a:r>
              <a:rPr sz="1275" b="1">
                <a:solidFill>
                  <a:srgbClr val="236C4E"/>
                </a:solidFill>
                <a:latin typeface="Helvetica Neue"/>
                <a:ea typeface="Helvetica Neue"/>
                <a:cs typeface="Helvetica Neue"/>
              </a:rPr>
              <a:t>GOLOCAL</a:t>
            </a:r>
          </a:p>
        </p:txBody>
      </p:sp>
      <p:sp>
        <p:nvSpPr>
          <p:cNvPr id="22" name="booking-story-text-18">
            <a:extLst xmlns:a="http://schemas.openxmlformats.org/drawingml/2006/main">
              <a:ext uri="{FF2B5EF4-FFF2-40B4-BE49-F238E27FC236}">
                <a16:creationId xmlns:a16="http://schemas.microsoft.com/office/drawing/2014/main" id="{533B2514-09D5-40D2-AF38-6DED6511B5B5}"/>
              </a:ext>
            </a:extLst>
          </p:cNvPr>
          <p:cNvSpPr>
            <a:spLocks xmlns:a="http://schemas.openxmlformats.org/drawingml/2006/main" noGrp="1"/>
          </p:cNvSpPr>
          <p:nvPr/>
        </p:nvSpPr>
        <p:spPr>
          <a:xfrm xmlns:a="http://schemas.openxmlformats.org/drawingml/2006/main">
            <a:off x="9124950" y="3629025"/>
            <a:ext cx="2571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800" b="1">
                <a:solidFill>
                  <a:srgbClr val="193C32"/>
                </a:solidFill>
                <a:latin typeface="Helvetica Neue"/>
                <a:ea typeface="Helvetica Neue"/>
                <a:cs typeface="Helvetica Neue"/>
              </a:defRPr>
            </a:defPPr>
          </a:lstStyle>
          <a:p xmlns:a="http://schemas.openxmlformats.org/drawingml/2006/main">
            <a:pPr>
              <a:buNone/>
              <a:defRPr sz="1800" b="1">
                <a:solidFill>
                  <a:srgbClr val="193C32"/>
                </a:solidFill>
                <a:latin typeface="Helvetica Neue"/>
                <a:ea typeface="Helvetica Neue"/>
                <a:cs typeface="Helvetica Neue"/>
              </a:defRPr>
            </a:pPr>
            <a:r>
              <a:rPr sz="1800" b="1">
                <a:solidFill>
                  <a:srgbClr val="193C32"/>
                </a:solidFill>
                <a:latin typeface="Helvetica Neue"/>
                <a:ea typeface="Helvetica Neue"/>
                <a:cs typeface="Helvetica Neue"/>
              </a:rPr>
              <a:t>4  Confirm the booking</a:t>
            </a:r>
          </a:p>
        </p:txBody>
      </p:sp>
      <p:sp>
        <p:nvSpPr>
          <p:cNvPr id="23" name="booking-story-text-19">
            <a:extLst xmlns:a="http://schemas.openxmlformats.org/drawingml/2006/main">
              <a:ext uri="{FF2B5EF4-FFF2-40B4-BE49-F238E27FC236}">
                <a16:creationId xmlns:a16="http://schemas.microsoft.com/office/drawing/2014/main" id="{A3415803-B23A-4A43-9DA8-C4BD79AAEE7B}"/>
              </a:ext>
            </a:extLst>
          </p:cNvPr>
          <p:cNvSpPr>
            <a:spLocks xmlns:a="http://schemas.openxmlformats.org/drawingml/2006/main" noGrp="1"/>
          </p:cNvSpPr>
          <p:nvPr/>
        </p:nvSpPr>
        <p:spPr>
          <a:xfrm xmlns:a="http://schemas.openxmlformats.org/drawingml/2006/main">
            <a:off x="9124950" y="4114800"/>
            <a:ext cx="25717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650" b="0">
                <a:solidFill>
                  <a:srgbClr val="193C32"/>
                </a:solidFill>
                <a:latin typeface="Helvetica Neue"/>
                <a:ea typeface="Helvetica Neue"/>
                <a:cs typeface="Helvetica Neue"/>
              </a:defRPr>
            </a:defPPr>
          </a:lstStyle>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Books in the provider’s system.</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Returns the booking ID</a:t>
            </a:r>
          </a:p>
          <a:p xmlns:a="http://schemas.openxmlformats.org/drawingml/2006/main">
            <a:pPr>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and payment status.</a:t>
            </a:r>
          </a:p>
        </p:txBody>
      </p:sp>
      <p:sp>
        <p:nvSpPr>
          <p:cNvPr id="24" name="booking-story-flow-20">
            <a:extLst xmlns:a="http://schemas.openxmlformats.org/drawingml/2006/main">
              <a:ext uri="{FF2B5EF4-FFF2-40B4-BE49-F238E27FC236}">
                <a16:creationId xmlns:a16="http://schemas.microsoft.com/office/drawing/2014/main" id="{DD7CE275-95F2-4D3E-9964-402638082BAE}"/>
              </a:ext>
            </a:extLst>
          </p:cNvPr>
          <p:cNvSpPr>
            <a:spLocks xmlns:a="http://schemas.openxmlformats.org/drawingml/2006/main" noGrp="1"/>
          </p:cNvSpPr>
          <p:nvPr/>
        </p:nvSpPr>
        <p:spPr>
          <a:xfrm xmlns:a="http://schemas.openxmlformats.org/drawingml/2006/main">
            <a:off x="495300" y="5391150"/>
            <a:ext cx="11201400" cy="1028700"/>
          </a:xfrm>
          <a:prstGeom xmlns:a="http://schemas.openxmlformats.org/drawingml/2006/main" prst="rect">
            <a:avLst/>
          </a:prstGeom>
          <a:solidFill xmlns:a="http://schemas.openxmlformats.org/drawingml/2006/main">
            <a:srgbClr val="236C4E"/>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endParaRPr/>
          </a:p>
        </p:txBody>
      </p:sp>
      <p:sp>
        <p:nvSpPr>
          <p:cNvPr id="25" name="booking-story-text-21">
            <a:extLst xmlns:a="http://schemas.openxmlformats.org/drawingml/2006/main">
              <a:ext uri="{FF2B5EF4-FFF2-40B4-BE49-F238E27FC236}">
                <a16:creationId xmlns:a16="http://schemas.microsoft.com/office/drawing/2014/main" id="{8754C950-F5DC-4EC1-868F-8A9DCB4E47AD}"/>
              </a:ext>
            </a:extLst>
          </p:cNvPr>
          <p:cNvSpPr>
            <a:spLocks xmlns:a="http://schemas.openxmlformats.org/drawingml/2006/main" noGrp="1"/>
          </p:cNvSpPr>
          <p:nvPr/>
        </p:nvSpPr>
        <p:spPr>
          <a:xfrm xmlns:a="http://schemas.openxmlformats.org/drawingml/2006/main">
            <a:off x="695325" y="5543550"/>
            <a:ext cx="108013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stStyle>
          <a:p xmlns:a="http://schemas.openxmlformats.org/drawingml/2006/main">
            <a:pPr>
              <a:buNone/>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Oak Plumbing confirmed for tomorrow, 9–11 am</a:t>
            </a:r>
          </a:p>
        </p:txBody>
      </p:sp>
      <p:sp>
        <p:nvSpPr>
          <p:cNvPr id="26" name="booking-story-text-22">
            <a:extLst xmlns:a="http://schemas.openxmlformats.org/drawingml/2006/main">
              <a:ext uri="{FF2B5EF4-FFF2-40B4-BE49-F238E27FC236}">
                <a16:creationId xmlns:a16="http://schemas.microsoft.com/office/drawing/2014/main" id="{7762AFC1-78FC-4994-81E7-CD6BA5D7B9FF}"/>
              </a:ext>
            </a:extLst>
          </p:cNvPr>
          <p:cNvSpPr>
            <a:spLocks xmlns:a="http://schemas.openxmlformats.org/drawingml/2006/main" noGrp="1"/>
          </p:cNvSpPr>
          <p:nvPr/>
        </p:nvSpPr>
        <p:spPr>
          <a:xfrm xmlns:a="http://schemas.openxmlformats.org/drawingml/2006/main">
            <a:off x="695325" y="6019800"/>
            <a:ext cx="108013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725" b="0">
                <a:solidFill>
                  <a:srgbClr val="FFFFFF"/>
                </a:solidFill>
                <a:latin typeface="Helvetica Neue"/>
                <a:ea typeface="Helvetica Neue"/>
                <a:cs typeface="Helvetica Neue"/>
              </a:defRPr>
            </a:defPPr>
          </a:lstStyle>
          <a:p xmlns:a="http://schemas.openxmlformats.org/drawingml/2006/main">
            <a:pPr>
              <a:buNone/>
              <a:defRPr sz="1725" b="0">
                <a:solidFill>
                  <a:srgbClr val="FFFFFF"/>
                </a:solidFill>
                <a:latin typeface="Helvetica Neue"/>
                <a:ea typeface="Helvetica Neue"/>
                <a:cs typeface="Helvetica Neue"/>
              </a:defRPr>
            </a:pPr>
            <a:r>
              <a:rPr sz="1725" b="0">
                <a:solidFill>
                  <a:srgbClr val="FFFFFF"/>
                </a:solidFill>
                <a:latin typeface="Helvetica Neue"/>
                <a:ea typeface="Helvetica Neue"/>
                <a:cs typeface="Helvetica Neue"/>
              </a:rPr>
              <a:t>Booking GL-1042. $79 visit fee authorized. Repairs quoted after inspection.</a:t>
            </a:r>
          </a:p>
        </p:txBody>
      </p:sp>
      <p:sp>
        <p:nvSpPr>
          <p:cNvPr id="27" name="booking-story-text-23">
            <a:extLst xmlns:a="http://schemas.openxmlformats.org/drawingml/2006/main">
              <a:ext uri="{FF2B5EF4-FFF2-40B4-BE49-F238E27FC236}">
                <a16:creationId xmlns:a16="http://schemas.microsoft.com/office/drawing/2014/main" id="{DCF5C9E5-F549-4DDE-AB7F-BAE131D05FD4}"/>
              </a:ext>
            </a:extLst>
          </p:cNvPr>
          <p:cNvSpPr>
            <a:spLocks xmlns:a="http://schemas.openxmlformats.org/drawingml/2006/main" noGrp="1"/>
          </p:cNvSpPr>
          <p:nvPr/>
        </p:nvSpPr>
        <p:spPr>
          <a:xfrm xmlns:a="http://schemas.openxmlformats.org/drawingml/2006/main">
            <a:off x="495300" y="6619875"/>
            <a:ext cx="104394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125" b="0">
                <a:solidFill>
                  <a:srgbClr val="65746C"/>
                </a:solidFill>
                <a:latin typeface="Helvetica Neue"/>
                <a:ea typeface="Helvetica Neue"/>
                <a:cs typeface="Helvetica Neue"/>
              </a:defRPr>
            </a:defPPr>
          </a:lstStyle>
          <a:p xmlns:a="http://schemas.openxmlformats.org/drawingml/2006/main">
            <a:pPr>
              <a:buNone/>
              <a:defRPr sz="1125" b="0">
                <a:solidFill>
                  <a:srgbClr val="65746C"/>
                </a:solidFill>
                <a:latin typeface="Helvetica Neue"/>
                <a:ea typeface="Helvetica Neue"/>
                <a:cs typeface="Helvetica Neue"/>
              </a:defRPr>
            </a:pPr>
            <a:r>
              <a:rPr sz="1125" b="0">
                <a:solidFill>
                  <a:srgbClr val="65746C"/>
                </a:solidFill>
                <a:latin typeface="Helvetica Neue"/>
                <a:ea typeface="Helvetica Neue"/>
                <a:cs typeface="Helvetica Neue"/>
              </a:rPr>
              <a:t>Illustrative customer journey. Provider, price, slot and booking ID are examples, not live transactions.</a:t>
            </a:r>
          </a:p>
        </p:txBody>
      </p:sp>
      <p:sp>
        <p:nvSpPr>
          <p:cNvPr id="28" name="booking-story-text-24">
            <a:extLst xmlns:a="http://schemas.openxmlformats.org/drawingml/2006/main">
              <a:ext uri="{FF2B5EF4-FFF2-40B4-BE49-F238E27FC236}">
                <a16:creationId xmlns:a16="http://schemas.microsoft.com/office/drawing/2014/main" id="{9C54B56B-EE83-4B3A-A78C-89B9203337DD}"/>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defRPr sz="1275" b="0">
                <a:solidFill>
                  <a:srgbClr val="65746C"/>
                </a:solidFill>
                <a:latin typeface="Helvetica Neue"/>
                <a:ea typeface="Helvetica Neue"/>
                <a:cs typeface="Helvetica Neue"/>
              </a:defRPr>
            </a:defPPr>
          </a:lstStyle>
          <a:p xmlns:a="http://schemas.openxmlformats.org/drawingml/2006/main">
            <a:pPr>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3 / 6</a:t>
            </a:r>
          </a:p>
        </p:txBody>
      </p:sp>
    </p:spTree>
    <p:extLst>
      <p:ext uri="{BB962C8B-B14F-4D97-AF65-F5344CB8AC3E}">
        <p14:creationId xmlns:p14="http://schemas.microsoft.com/office/powerpoint/2010/main" val="262451054"/>
      </p:ext>
    </p:extLst>
  </p:cSld>
</p:sld>
</file>

<file path=ppt/slides/slide4.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cxnSp>
        <p:nvCxnSpPr>
          <p:cNvPr id="17" name="">
            <a:extLst xmlns:a="http://schemas.openxmlformats.org/drawingml/2006/main">
              <a:ext uri="{FF2B5EF4-FFF2-40B4-BE49-F238E27FC236}">
                <a16:creationId xmlns:a16="http://schemas.microsoft.com/office/drawing/2014/main" id="{0B933135-72E5-4E56-AE5B-015E3D7E621F}"/>
              </a:ext>
            </a:extLst>
          </p:cNvPr>
          <p:cNvCxnSpPr>
            <a:stCxn xmlns:a="http://schemas.openxmlformats.org/drawingml/2006/main" id="13" idx="0"/>
            <a:endCxn xmlns:a="http://schemas.openxmlformats.org/drawingml/2006/main" id="10" idx="2"/>
          </p:cNvCxnSpPr>
          <p:nvPr/>
        </p:nvCxnSpPr>
        <p:spPr>
          <a:xfrm xmlns:a="http://schemas.openxmlformats.org/drawingml/2006/main" flipV="1">
            <a:off x="5881688" y="3514725"/>
            <a:ext cx="0" cy="60960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6" name="">
            <a:extLst xmlns:a="http://schemas.openxmlformats.org/drawingml/2006/main">
              <a:ext uri="{FF2B5EF4-FFF2-40B4-BE49-F238E27FC236}">
                <a16:creationId xmlns:a16="http://schemas.microsoft.com/office/drawing/2014/main" id="{C222C927-7E71-4AAB-AB17-6822E7F471A2}"/>
              </a:ext>
            </a:extLst>
          </p:cNvPr>
          <p:cNvCxnSpPr>
            <a:stCxn xmlns:a="http://schemas.openxmlformats.org/drawingml/2006/main" id="12" idx="1"/>
            <a:endCxn xmlns:a="http://schemas.openxmlformats.org/drawingml/2006/main" id="13" idx="3"/>
          </p:cNvCxnSpPr>
          <p:nvPr/>
        </p:nvCxnSpPr>
        <p:spPr>
          <a:xfrm xmlns:a="http://schemas.openxmlformats.org/drawingml/2006/main" flipH="1" flipV="1">
            <a:off x="7467600" y="4486275"/>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5" name="">
            <a:extLst xmlns:a="http://schemas.openxmlformats.org/drawingml/2006/main">
              <a:ext uri="{FF2B5EF4-FFF2-40B4-BE49-F238E27FC236}">
                <a16:creationId xmlns:a16="http://schemas.microsoft.com/office/drawing/2014/main" id="{62810A5D-5BDC-490F-828D-68779E1A76C8}"/>
              </a:ext>
            </a:extLst>
          </p:cNvPr>
          <p:cNvCxnSpPr>
            <a:stCxn xmlns:a="http://schemas.openxmlformats.org/drawingml/2006/main" id="11" idx="2"/>
            <a:endCxn xmlns:a="http://schemas.openxmlformats.org/drawingml/2006/main" id="12" idx="0"/>
          </p:cNvCxnSpPr>
          <p:nvPr/>
        </p:nvCxnSpPr>
        <p:spPr>
          <a:xfrm xmlns:a="http://schemas.openxmlformats.org/drawingml/2006/main">
            <a:off x="10063163" y="3695700"/>
            <a:ext cx="0" cy="476250"/>
          </a:xfrm>
          <a:prstGeom xmlns:a="http://schemas.openxmlformats.org/drawingml/2006/main" prst="straightConnector1">
            <a:avLst/>
          </a:prstGeom>
          <a:ln xmlns:a="http://schemas.openxmlformats.org/drawingml/2006/main" w="19050">
            <a:solidFill>
              <a:srgbClr val="236C4E"/>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AA1BFAB2-06DC-4342-B52A-346340B3EAE7}"/>
              </a:ext>
            </a:extLst>
          </p:cNvPr>
          <p:cNvCxnSpPr>
            <a:stCxn xmlns:a="http://schemas.openxmlformats.org/drawingml/2006/main" id="10" idx="3"/>
            <a:endCxn xmlns:a="http://schemas.openxmlformats.org/drawingml/2006/main" id="11" idx="1"/>
          </p:cNvCxnSpPr>
          <p:nvPr/>
        </p:nvCxnSpPr>
        <p:spPr>
          <a:xfrm xmlns:a="http://schemas.openxmlformats.org/drawingml/2006/main">
            <a:off x="7467600" y="3195638"/>
            <a:ext cx="962025" cy="9525"/>
          </a:xfrm>
          <a:prstGeom xmlns:a="http://schemas.openxmlformats.org/drawingml/2006/main" prst="straightConnector1">
            <a:avLst/>
          </a:prstGeom>
          <a:ln xmlns:a="http://schemas.openxmlformats.org/drawingml/2006/main" w="19050">
            <a:solidFill>
              <a:srgbClr val="236C4E"/>
            </a:solidFill>
            <a:prstDash val="solid"/>
            <a:tailEnd type="arrow" w="sm" len="sm"/>
          </a:ln>
        </p:spPr>
      </p:cxnSp>
      <p:sp>
        <p:nvSpPr>
          <p:cNvPr id="23" name="v27-text-7">
            <a:extLst xmlns:a="http://schemas.openxmlformats.org/drawingml/2006/main">
              <a:ext uri="{FF2B5EF4-FFF2-40B4-BE49-F238E27FC236}">
                <a16:creationId xmlns:a16="http://schemas.microsoft.com/office/drawing/2014/main" id="{552406B7-7212-4A4E-9D8F-4BF49224FCF5}"/>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LAUNCH AND GROWTH</a:t>
            </a:r>
          </a:p>
        </p:txBody>
      </p:sp>
      <p:sp>
        <p:nvSpPr>
          <p:cNvPr id="2" name="v27-text-8">
            <a:extLst xmlns:a="http://schemas.openxmlformats.org/drawingml/2006/main">
              <a:ext uri="{FF2B5EF4-FFF2-40B4-BE49-F238E27FC236}">
                <a16:creationId xmlns:a16="http://schemas.microsoft.com/office/drawing/2014/main" id="{09EF2AB4-50EE-4D03-BB1C-EA0D87949576}"/>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93C32"/>
                </a:solidFill>
                <a:latin typeface="Helvetica Neue"/>
                <a:ea typeface="Helvetica Neue"/>
                <a:cs typeface="Helvetica Neue"/>
              </a:defRPr>
            </a:defPPr>
          </a:lstStyle>
          <a:p xmlns:a="http://schemas.openxmlformats.org/drawingml/2006/main">
            <a:pPr algn="l">
              <a:buNone/>
              <a:defRPr sz="3300" b="1">
                <a:solidFill>
                  <a:srgbClr val="193C32"/>
                </a:solidFill>
                <a:latin typeface="Helvetica Neue"/>
                <a:ea typeface="Helvetica Neue"/>
                <a:cs typeface="Helvetica Neue"/>
              </a:defRPr>
            </a:pPr>
            <a:r>
              <a:rPr sz="3300" b="1">
                <a:solidFill>
                  <a:srgbClr val="193C32"/>
                </a:solidFill>
                <a:latin typeface="Helvetica Neue"/>
                <a:ea typeface="Helvetica Neue"/>
                <a:cs typeface="Helvetica Neue"/>
              </a:rPr>
              <a:t>Local bookings can build a stronger local network</a:t>
            </a:r>
          </a:p>
        </p:txBody>
      </p:sp>
      <p:sp>
        <p:nvSpPr>
          <p:cNvPr id="3" name="v27-text-9">
            <a:extLst xmlns:a="http://schemas.openxmlformats.org/drawingml/2006/main">
              <a:ext uri="{FF2B5EF4-FFF2-40B4-BE49-F238E27FC236}">
                <a16:creationId xmlns:a16="http://schemas.microsoft.com/office/drawing/2014/main" id="{6751AF65-204F-462C-93D4-1DBF2FD9D9F9}"/>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65746C"/>
                </a:solidFill>
                <a:latin typeface="Helvetica Neue"/>
                <a:ea typeface="Helvetica Neue"/>
                <a:cs typeface="Helvetica Neue"/>
              </a:defRPr>
            </a:defPPr>
          </a:lstStyle>
          <a:p xmlns:a="http://schemas.openxmlformats.org/drawingml/2006/main">
            <a:pPr algn="l">
              <a:buNone/>
              <a:defRPr sz="2025" b="0">
                <a:solidFill>
                  <a:srgbClr val="65746C"/>
                </a:solidFill>
                <a:latin typeface="Helvetica Neue"/>
                <a:ea typeface="Helvetica Neue"/>
                <a:cs typeface="Helvetica Neue"/>
              </a:defRPr>
            </a:pPr>
            <a:r>
              <a:rPr sz="2025" b="0">
                <a:solidFill>
                  <a:srgbClr val="65746C"/>
                </a:solidFill>
                <a:latin typeface="Helvetica Neue"/>
                <a:ea typeface="Helvetica Neue"/>
                <a:cs typeface="Helvetica Neue"/>
              </a:rPr>
              <a:t>One city and one service category first.</a:t>
            </a:r>
          </a:p>
        </p:txBody>
      </p:sp>
      <p:sp>
        <p:nvSpPr>
          <p:cNvPr id="4" name="v27-text-10">
            <a:extLst xmlns:a="http://schemas.openxmlformats.org/drawingml/2006/main">
              <a:ext uri="{FF2B5EF4-FFF2-40B4-BE49-F238E27FC236}">
                <a16:creationId xmlns:a16="http://schemas.microsoft.com/office/drawing/2014/main" id="{6C7C6279-3DD2-4E61-BB69-C15A5C0182D3}"/>
              </a:ext>
            </a:extLst>
          </p:cNvPr>
          <p:cNvSpPr>
            <a:spLocks xmlns:a="http://schemas.openxmlformats.org/drawingml/2006/main" noGrp="1"/>
          </p:cNvSpPr>
          <p:nvPr/>
        </p:nvSpPr>
        <p:spPr>
          <a:xfrm xmlns:a="http://schemas.openxmlformats.org/drawingml/2006/main">
            <a:off x="495300" y="210502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1  Build a local market</a:t>
            </a:r>
          </a:p>
        </p:txBody>
      </p:sp>
      <p:sp>
        <p:nvSpPr>
          <p:cNvPr id="5" name="v27-text-11">
            <a:extLst xmlns:a="http://schemas.openxmlformats.org/drawingml/2006/main">
              <a:ext uri="{FF2B5EF4-FFF2-40B4-BE49-F238E27FC236}">
                <a16:creationId xmlns:a16="http://schemas.microsoft.com/office/drawing/2014/main" id="{A4B74ED6-7AE9-47F3-9C6C-57CA1ABDE3C1}"/>
              </a:ext>
            </a:extLst>
          </p:cNvPr>
          <p:cNvSpPr>
            <a:spLocks xmlns:a="http://schemas.openxmlformats.org/drawingml/2006/main" noGrp="1"/>
          </p:cNvSpPr>
          <p:nvPr/>
        </p:nvSpPr>
        <p:spPr>
          <a:xfrm xmlns:a="http://schemas.openxmlformats.org/drawingml/2006/main">
            <a:off x="495300" y="2600325"/>
            <a:ext cx="328612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93C32"/>
                </a:solidFill>
                <a:latin typeface="Helvetica Neue"/>
                <a:ea typeface="Helvetica Neue"/>
                <a:cs typeface="Helvetica Neue"/>
              </a:defRPr>
            </a:defPPr>
          </a:lstStyle>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Recruit providers and users</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with a specific booking need</a:t>
            </a:r>
          </a:p>
          <a:p xmlns:a="http://schemas.openxmlformats.org/drawingml/2006/main">
            <a:pPr algn="l">
              <a:buNone/>
              <a:defRPr sz="1875" b="0">
                <a:solidFill>
                  <a:srgbClr val="193C32"/>
                </a:solidFill>
                <a:latin typeface="Helvetica Neue"/>
                <a:ea typeface="Helvetica Neue"/>
                <a:cs typeface="Helvetica Neue"/>
              </a:defRPr>
            </a:pPr>
            <a:r>
              <a:rPr sz="1875" b="0">
                <a:solidFill>
                  <a:srgbClr val="193C32"/>
                </a:solidFill>
                <a:latin typeface="Helvetica Neue"/>
                <a:ea typeface="Helvetica Neue"/>
                <a:cs typeface="Helvetica Neue"/>
              </a:rPr>
              <a:t>in one city and category.</a:t>
            </a:r>
          </a:p>
        </p:txBody>
      </p:sp>
      <p:sp>
        <p:nvSpPr>
          <p:cNvPr id="6" name="v27-text-12">
            <a:extLst xmlns:a="http://schemas.openxmlformats.org/drawingml/2006/main">
              <a:ext uri="{FF2B5EF4-FFF2-40B4-BE49-F238E27FC236}">
                <a16:creationId xmlns:a16="http://schemas.microsoft.com/office/drawing/2014/main" id="{D038FF64-F9D1-4FBB-8426-6E1D62BB74DC}"/>
              </a:ext>
            </a:extLst>
          </p:cNvPr>
          <p:cNvSpPr>
            <a:spLocks xmlns:a="http://schemas.openxmlformats.org/drawingml/2006/main" noGrp="1"/>
          </p:cNvSpPr>
          <p:nvPr/>
        </p:nvSpPr>
        <p:spPr>
          <a:xfrm xmlns:a="http://schemas.openxmlformats.org/drawingml/2006/main">
            <a:off x="495300" y="3914775"/>
            <a:ext cx="32861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2  Connect their agents</a:t>
            </a:r>
          </a:p>
        </p:txBody>
      </p:sp>
      <p:sp>
        <p:nvSpPr>
          <p:cNvPr id="7" name="v27-text-13">
            <a:extLst xmlns:a="http://schemas.openxmlformats.org/drawingml/2006/main">
              <a:ext uri="{FF2B5EF4-FFF2-40B4-BE49-F238E27FC236}">
                <a16:creationId xmlns:a16="http://schemas.microsoft.com/office/drawing/2014/main" id="{191837B7-7E9C-449A-BADA-EA779B7CD341}"/>
              </a:ext>
            </a:extLst>
          </p:cNvPr>
          <p:cNvSpPr>
            <a:spLocks xmlns:a="http://schemas.openxmlformats.org/drawingml/2006/main" noGrp="1"/>
          </p:cNvSpPr>
          <p:nvPr/>
        </p:nvSpPr>
        <p:spPr>
          <a:xfrm xmlns:a="http://schemas.openxmlformats.org/drawingml/2006/main">
            <a:off x="495300" y="4410075"/>
            <a:ext cx="328612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236C4E"/>
                </a:solidFill>
                <a:latin typeface="Helvetica Neue"/>
                <a:ea typeface="Helvetica Neue"/>
                <a:cs typeface="Helvetica Neue"/>
              </a:defRPr>
            </a:defPPr>
          </a:lstStyle>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“Add GoLocal to find</a:t>
            </a:r>
          </a:p>
          <a:p xmlns:a="http://schemas.openxmlformats.org/drawingml/2006/main">
            <a:pPr algn="l">
              <a:buNone/>
              <a:defRPr sz="2025" b="1">
                <a:solidFill>
                  <a:srgbClr val="236C4E"/>
                </a:solidFill>
                <a:latin typeface="Helvetica Neue"/>
                <a:ea typeface="Helvetica Neue"/>
                <a:cs typeface="Helvetica Neue"/>
              </a:defRPr>
            </a:pPr>
            <a:r>
              <a:rPr sz="2025" b="1">
                <a:solidFill>
                  <a:srgbClr val="236C4E"/>
                </a:solidFill>
                <a:latin typeface="Helvetica Neue"/>
                <a:ea typeface="Helvetica Neue"/>
                <a:cs typeface="Helvetica Neue"/>
              </a:rPr>
              <a:t>me local services.”</a:t>
            </a:r>
          </a:p>
        </p:txBody>
      </p:sp>
      <p:sp>
        <p:nvSpPr>
          <p:cNvPr id="8" name="v27-text-14">
            <a:extLst xmlns:a="http://schemas.openxmlformats.org/drawingml/2006/main">
              <a:ext uri="{FF2B5EF4-FFF2-40B4-BE49-F238E27FC236}">
                <a16:creationId xmlns:a16="http://schemas.microsoft.com/office/drawing/2014/main" id="{F35D870C-26D8-4432-8D17-27531F6A6155}"/>
              </a:ext>
            </a:extLst>
          </p:cNvPr>
          <p:cNvSpPr>
            <a:spLocks xmlns:a="http://schemas.openxmlformats.org/drawingml/2006/main" noGrp="1"/>
          </p:cNvSpPr>
          <p:nvPr/>
        </p:nvSpPr>
        <p:spPr>
          <a:xfrm xmlns:a="http://schemas.openxmlformats.org/drawingml/2006/main">
            <a:off x="495300" y="5191125"/>
            <a:ext cx="3333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One-time setup on a compatible</a:t>
            </a:r>
          </a:p>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agent, with sign-in and approval.</a:t>
            </a:r>
          </a:p>
        </p:txBody>
      </p:sp>
      <p:sp>
        <p:nvSpPr>
          <p:cNvPr id="9" name="v27-text-15">
            <a:extLst xmlns:a="http://schemas.openxmlformats.org/drawingml/2006/main">
              <a:ext uri="{FF2B5EF4-FFF2-40B4-BE49-F238E27FC236}">
                <a16:creationId xmlns:a16="http://schemas.microsoft.com/office/drawing/2014/main" id="{6529E900-B225-4C1D-AAC0-C63E23B875B5}"/>
              </a:ext>
            </a:extLst>
          </p:cNvPr>
          <p:cNvSpPr>
            <a:spLocks xmlns:a="http://schemas.openxmlformats.org/drawingml/2006/main" noGrp="1"/>
          </p:cNvSpPr>
          <p:nvPr/>
        </p:nvSpPr>
        <p:spPr>
          <a:xfrm xmlns:a="http://schemas.openxmlformats.org/drawingml/2006/main">
            <a:off x="4295775" y="2105025"/>
            <a:ext cx="74009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93C32"/>
                </a:solidFill>
                <a:latin typeface="Helvetica Neue"/>
                <a:ea typeface="Helvetica Neue"/>
                <a:cs typeface="Helvetica Neue"/>
              </a:defRPr>
            </a:defPPr>
          </a:lstStyle>
          <a:p xmlns:a="http://schemas.openxmlformats.org/drawingml/2006/main">
            <a:pPr algn="l">
              <a:buNone/>
              <a:defRPr sz="2100" b="1">
                <a:solidFill>
                  <a:srgbClr val="193C32"/>
                </a:solidFill>
                <a:latin typeface="Helvetica Neue"/>
                <a:ea typeface="Helvetica Neue"/>
                <a:cs typeface="Helvetica Neue"/>
              </a:defRPr>
            </a:pPr>
            <a:r>
              <a:rPr sz="2100" b="1">
                <a:solidFill>
                  <a:srgbClr val="193C32"/>
                </a:solidFill>
                <a:latin typeface="Helvetica Neue"/>
                <a:ea typeface="Helvetica Neue"/>
                <a:cs typeface="Helvetica Neue"/>
              </a:rPr>
              <a:t>3  The proposed network effect</a:t>
            </a:r>
          </a:p>
        </p:txBody>
      </p:sp>
      <p:sp>
        <p:nvSpPr>
          <p:cNvPr id="10" name="v27-text-16">
            <a:extLst xmlns:a="http://schemas.openxmlformats.org/drawingml/2006/main">
              <a:ext uri="{FF2B5EF4-FFF2-40B4-BE49-F238E27FC236}">
                <a16:creationId xmlns:a16="http://schemas.microsoft.com/office/drawing/2014/main" id="{41F248C4-2E34-45F4-B7A0-3D0F4A273D15}"/>
              </a:ext>
            </a:extLst>
          </p:cNvPr>
          <p:cNvSpPr>
            <a:spLocks xmlns:a="http://schemas.openxmlformats.org/drawingml/2006/main" noGrp="1"/>
          </p:cNvSpPr>
          <p:nvPr/>
        </p:nvSpPr>
        <p:spPr>
          <a:xfrm xmlns:a="http://schemas.openxmlformats.org/drawingml/2006/main">
            <a:off x="4295775" y="2876550"/>
            <a:ext cx="31718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Successful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1" name="v27-text-17">
            <a:extLst xmlns:a="http://schemas.openxmlformats.org/drawingml/2006/main">
              <a:ext uri="{FF2B5EF4-FFF2-40B4-BE49-F238E27FC236}">
                <a16:creationId xmlns:a16="http://schemas.microsoft.com/office/drawing/2014/main" id="{97FBEBDF-09DA-4E8D-83F4-1657A435BB03}"/>
              </a:ext>
            </a:extLst>
          </p:cNvPr>
          <p:cNvSpPr>
            <a:spLocks xmlns:a="http://schemas.openxmlformats.org/drawingml/2006/main" noGrp="1"/>
          </p:cNvSpPr>
          <p:nvPr/>
        </p:nvSpPr>
        <p:spPr>
          <a:xfrm xmlns:a="http://schemas.openxmlformats.org/drawingml/2006/main">
            <a:off x="8429625" y="2714625"/>
            <a:ext cx="3267075"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1">
                <a:solidFill>
                  <a:srgbClr val="193C32"/>
                </a:solidFill>
                <a:latin typeface="Helvetica Neue"/>
                <a:ea typeface="Helvetica Neue"/>
                <a:cs typeface="Helvetica Neue"/>
              </a:defRPr>
            </a:defPPr>
          </a:lstStyle>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Agents suggest GoLocal</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to more users with</a:t>
            </a:r>
          </a:p>
          <a:p xmlns:a="http://schemas.openxmlformats.org/drawingml/2006/main">
            <a:pPr algn="ctr">
              <a:buNone/>
              <a:defRPr sz="1950" b="1">
                <a:solidFill>
                  <a:srgbClr val="193C32"/>
                </a:solidFill>
                <a:latin typeface="Helvetica Neue"/>
                <a:ea typeface="Helvetica Neue"/>
                <a:cs typeface="Helvetica Neue"/>
              </a:defRPr>
            </a:pPr>
            <a:r>
              <a:rPr sz="1950" b="1">
                <a:solidFill>
                  <a:srgbClr val="193C32"/>
                </a:solidFill>
                <a:latin typeface="Helvetica Neue"/>
                <a:ea typeface="Helvetica Neue"/>
                <a:cs typeface="Helvetica Neue"/>
              </a:rPr>
              <a:t>similar requests*</a:t>
            </a:r>
          </a:p>
        </p:txBody>
      </p:sp>
      <p:sp>
        <p:nvSpPr>
          <p:cNvPr id="12" name="v27-text-18">
            <a:extLst xmlns:a="http://schemas.openxmlformats.org/drawingml/2006/main">
              <a:ext uri="{FF2B5EF4-FFF2-40B4-BE49-F238E27FC236}">
                <a16:creationId xmlns:a16="http://schemas.microsoft.com/office/drawing/2014/main" id="{D8C682C3-FB27-45C7-9DD3-12C2E8E52A0D}"/>
              </a:ext>
            </a:extLst>
          </p:cNvPr>
          <p:cNvSpPr>
            <a:spLocks xmlns:a="http://schemas.openxmlformats.org/drawingml/2006/main" noGrp="1"/>
          </p:cNvSpPr>
          <p:nvPr/>
        </p:nvSpPr>
        <p:spPr>
          <a:xfrm xmlns:a="http://schemas.openxmlformats.org/drawingml/2006/main">
            <a:off x="8429625" y="4171950"/>
            <a:ext cx="3267075"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236C4E"/>
                </a:solidFill>
                <a:latin typeface="Helvetica Neue"/>
                <a:ea typeface="Helvetica Neue"/>
                <a:cs typeface="Helvetica Neue"/>
              </a:defRPr>
            </a:defPPr>
          </a:lstStyle>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More local</a:t>
            </a:r>
          </a:p>
          <a:p xmlns:a="http://schemas.openxmlformats.org/drawingml/2006/main">
            <a:pPr algn="ctr">
              <a:buNone/>
              <a:defRPr sz="2100" b="1">
                <a:solidFill>
                  <a:srgbClr val="236C4E"/>
                </a:solidFill>
                <a:latin typeface="Helvetica Neue"/>
                <a:ea typeface="Helvetica Neue"/>
                <a:cs typeface="Helvetica Neue"/>
              </a:defRPr>
            </a:pPr>
            <a:r>
              <a:rPr sz="2100" b="1">
                <a:solidFill>
                  <a:srgbClr val="236C4E"/>
                </a:solidFill>
                <a:latin typeface="Helvetica Neue"/>
                <a:ea typeface="Helvetica Neue"/>
                <a:cs typeface="Helvetica Neue"/>
              </a:rPr>
              <a:t>bookings</a:t>
            </a:r>
          </a:p>
        </p:txBody>
      </p:sp>
      <p:sp>
        <p:nvSpPr>
          <p:cNvPr id="13" name="v27-text-19">
            <a:extLst xmlns:a="http://schemas.openxmlformats.org/drawingml/2006/main">
              <a:ext uri="{FF2B5EF4-FFF2-40B4-BE49-F238E27FC236}">
                <a16:creationId xmlns:a16="http://schemas.microsoft.com/office/drawing/2014/main" id="{9DA05B9F-2AE2-4577-8F47-50D875FC15C5}"/>
              </a:ext>
            </a:extLst>
          </p:cNvPr>
          <p:cNvSpPr>
            <a:spLocks xmlns:a="http://schemas.openxmlformats.org/drawingml/2006/main" noGrp="1"/>
          </p:cNvSpPr>
          <p:nvPr/>
        </p:nvSpPr>
        <p:spPr>
          <a:xfrm xmlns:a="http://schemas.openxmlformats.org/drawingml/2006/main">
            <a:off x="4295775" y="4124325"/>
            <a:ext cx="317182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93C32"/>
                </a:solidFill>
                <a:latin typeface="Helvetica Neue"/>
                <a:ea typeface="Helvetica Neue"/>
                <a:cs typeface="Helvetica Neue"/>
              </a:defRPr>
            </a:defPPr>
          </a:lstStyle>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More local businesses join,</a:t>
            </a:r>
          </a:p>
          <a:p xmlns:a="http://schemas.openxmlformats.org/drawingml/2006/main">
            <a:pPr algn="ctr">
              <a:buNone/>
              <a:defRPr sz="1875" b="1">
                <a:solidFill>
                  <a:srgbClr val="193C32"/>
                </a:solidFill>
                <a:latin typeface="Helvetica Neue"/>
                <a:ea typeface="Helvetica Neue"/>
                <a:cs typeface="Helvetica Neue"/>
              </a:defRPr>
            </a:pPr>
            <a:r>
              <a:rPr sz="1875" b="1">
                <a:solidFill>
                  <a:srgbClr val="193C32"/>
                </a:solidFill>
                <a:latin typeface="Helvetica Neue"/>
                <a:ea typeface="Helvetica Neue"/>
                <a:cs typeface="Helvetica Neue"/>
              </a:rPr>
              <a:t>expanding useful coverage</a:t>
            </a:r>
          </a:p>
        </p:txBody>
      </p:sp>
      <p:sp>
        <p:nvSpPr>
          <p:cNvPr id="18" name="v27-text-20">
            <a:extLst xmlns:a="http://schemas.openxmlformats.org/drawingml/2006/main">
              <a:ext uri="{FF2B5EF4-FFF2-40B4-BE49-F238E27FC236}">
                <a16:creationId xmlns:a16="http://schemas.microsoft.com/office/drawing/2014/main" id="{E3B4DB50-D0D0-4E6D-874A-FBCC20F6A1F3}"/>
              </a:ext>
            </a:extLst>
          </p:cNvPr>
          <p:cNvSpPr>
            <a:spLocks xmlns:a="http://schemas.openxmlformats.org/drawingml/2006/main" noGrp="1"/>
          </p:cNvSpPr>
          <p:nvPr/>
        </p:nvSpPr>
        <p:spPr>
          <a:xfrm xmlns:a="http://schemas.openxmlformats.org/drawingml/2006/main">
            <a:off x="4295775" y="5219700"/>
            <a:ext cx="7400925"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236C4E"/>
                </a:solidFill>
                <a:latin typeface="Helvetica Neue"/>
                <a:ea typeface="Helvetica Neue"/>
                <a:cs typeface="Helvetica Neue"/>
              </a:defRPr>
            </a:defPPr>
          </a:lstStyle>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Proof in one city supports more categories there,</a:t>
            </a:r>
          </a:p>
          <a:p xmlns:a="http://schemas.openxmlformats.org/drawingml/2006/main">
            <a:pPr algn="l">
              <a:buNone/>
              <a:defRPr sz="1875" b="1">
                <a:solidFill>
                  <a:srgbClr val="236C4E"/>
                </a:solidFill>
                <a:latin typeface="Helvetica Neue"/>
                <a:ea typeface="Helvetica Neue"/>
                <a:cs typeface="Helvetica Neue"/>
              </a:defRPr>
            </a:pPr>
            <a:r>
              <a:rPr sz="1875" b="1">
                <a:solidFill>
                  <a:srgbClr val="236C4E"/>
                </a:solidFill>
                <a:latin typeface="Helvetica Neue"/>
                <a:ea typeface="Helvetica Neue"/>
                <a:cs typeface="Helvetica Neue"/>
              </a:rPr>
              <a:t>then expansion into more cities.</a:t>
            </a:r>
          </a:p>
        </p:txBody>
      </p:sp>
      <p:sp>
        <p:nvSpPr>
          <p:cNvPr id="19" name="v27-text-21">
            <a:extLst xmlns:a="http://schemas.openxmlformats.org/drawingml/2006/main">
              <a:ext uri="{FF2B5EF4-FFF2-40B4-BE49-F238E27FC236}">
                <a16:creationId xmlns:a16="http://schemas.microsoft.com/office/drawing/2014/main" id="{DDCB9C01-99BC-4627-A8E9-CB047DB5BA0F}"/>
              </a:ext>
            </a:extLst>
          </p:cNvPr>
          <p:cNvSpPr>
            <a:spLocks xmlns:a="http://schemas.openxmlformats.org/drawingml/2006/main" noGrp="1"/>
          </p:cNvSpPr>
          <p:nvPr/>
        </p:nvSpPr>
        <p:spPr>
          <a:xfrm xmlns:a="http://schemas.openxmlformats.org/drawingml/2006/main">
            <a:off x="495300" y="6019800"/>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1">
                <a:solidFill>
                  <a:srgbClr val="236C4E"/>
                </a:solidFill>
                <a:latin typeface="Helvetica Neue"/>
                <a:ea typeface="Helvetica Neue"/>
                <a:cs typeface="Helvetica Neue"/>
              </a:defRPr>
            </a:defPPr>
          </a:lstStyle>
          <a:p xmlns:a="http://schemas.openxmlformats.org/drawingml/2006/main">
            <a:pPr algn="l">
              <a:buNone/>
              <a:defRPr sz="1200" b="1">
                <a:solidFill>
                  <a:srgbClr val="236C4E"/>
                </a:solidFill>
                <a:latin typeface="Helvetica Neue"/>
                <a:ea typeface="Helvetica Neue"/>
                <a:cs typeface="Helvetica Neue"/>
              </a:defRPr>
            </a:pPr>
            <a:r>
              <a:rPr sz="1200" b="1">
                <a:solidFill>
                  <a:srgbClr val="236C4E"/>
                </a:solidFill>
                <a:latin typeface="Helvetica Neue"/>
                <a:ea typeface="Helvetica Neue"/>
                <a:cs typeface="Helvetica Neue"/>
              </a:rPr>
              <a:t>PROPOSED REVENUE MODEL</a:t>
            </a:r>
          </a:p>
        </p:txBody>
      </p:sp>
      <p:sp>
        <p:nvSpPr>
          <p:cNvPr id="20" name="v27-text-22">
            <a:extLst xmlns:a="http://schemas.openxmlformats.org/drawingml/2006/main">
              <a:ext uri="{FF2B5EF4-FFF2-40B4-BE49-F238E27FC236}">
                <a16:creationId xmlns:a16="http://schemas.microsoft.com/office/drawing/2014/main" id="{0522C01E-D05D-4CA4-9C25-943BC026B5AF}"/>
              </a:ext>
            </a:extLst>
          </p:cNvPr>
          <p:cNvSpPr>
            <a:spLocks xmlns:a="http://schemas.openxmlformats.org/drawingml/2006/main" noGrp="1"/>
          </p:cNvSpPr>
          <p:nvPr/>
        </p:nvSpPr>
        <p:spPr>
          <a:xfrm xmlns:a="http://schemas.openxmlformats.org/drawingml/2006/main">
            <a:off x="495300" y="6267450"/>
            <a:ext cx="112014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93C32"/>
                </a:solidFill>
                <a:latin typeface="Helvetica Neue"/>
                <a:ea typeface="Helvetica Neue"/>
                <a:cs typeface="Helvetica Neue"/>
              </a:defRPr>
            </a:defPPr>
          </a:lstStyle>
          <a:p xmlns:a="http://schemas.openxmlformats.org/drawingml/2006/main">
            <a:pPr algn="l">
              <a:buNone/>
              <a:defRPr sz="1650" b="0">
                <a:solidFill>
                  <a:srgbClr val="193C32"/>
                </a:solidFill>
                <a:latin typeface="Helvetica Neue"/>
                <a:ea typeface="Helvetica Neue"/>
                <a:cs typeface="Helvetica Neue"/>
              </a:defRPr>
            </a:pPr>
            <a:r>
              <a:rPr sz="1650" b="0">
                <a:solidFill>
                  <a:srgbClr val="193C32"/>
                </a:solidFill>
                <a:latin typeface="Helvetica Neue"/>
                <a:ea typeface="Helvetica Neue"/>
                <a:cs typeface="Helvetica Neue"/>
              </a:rPr>
              <a:t>Businesses pay a success fee on fulfilled new-customer jobs, shared with contributing partners.</a:t>
            </a:r>
          </a:p>
        </p:txBody>
      </p:sp>
      <p:sp>
        <p:nvSpPr>
          <p:cNvPr id="21" name="v27-text-23">
            <a:extLst xmlns:a="http://schemas.openxmlformats.org/drawingml/2006/main">
              <a:ext uri="{FF2B5EF4-FFF2-40B4-BE49-F238E27FC236}">
                <a16:creationId xmlns:a16="http://schemas.microsoft.com/office/drawing/2014/main" id="{9610E78A-BDB5-4ED0-87FB-381319EF7A6C}"/>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65746C"/>
                </a:solidFill>
                <a:latin typeface="Helvetica Neue"/>
                <a:ea typeface="Helvetica Neue"/>
                <a:cs typeface="Helvetica Neue"/>
              </a:defRPr>
            </a:defPPr>
          </a:lstStyle>
          <a:p xmlns:a="http://schemas.openxmlformats.org/drawingml/2006/main">
            <a:pPr algn="l">
              <a:buNone/>
              <a:defRPr sz="1050" b="0">
                <a:solidFill>
                  <a:srgbClr val="65746C"/>
                </a:solidFill>
                <a:latin typeface="Helvetica Neue"/>
                <a:ea typeface="Helvetica Neue"/>
                <a:cs typeface="Helvetica Neue"/>
              </a:defRPr>
            </a:pPr>
            <a:r>
              <a:rPr sz="1050" b="0">
                <a:solidFill>
                  <a:srgbClr val="65746C"/>
                </a:solidFill>
                <a:latin typeface="Helvetica Neue"/>
                <a:ea typeface="Helvetica Neue"/>
                <a:cs typeface="Helvetica Neue"/>
              </a:rPr>
              <a:t>*Growth hypothesis. Recommendations depend on booking reliability, platform discovery and selection rules.</a:t>
            </a:r>
          </a:p>
        </p:txBody>
      </p:sp>
      <p:sp>
        <p:nvSpPr>
          <p:cNvPr id="22" name="v27-text-24">
            <a:extLst xmlns:a="http://schemas.openxmlformats.org/drawingml/2006/main">
              <a:ext uri="{FF2B5EF4-FFF2-40B4-BE49-F238E27FC236}">
                <a16:creationId xmlns:a16="http://schemas.microsoft.com/office/drawing/2014/main" id="{5FEF83CC-D718-44D3-B7C7-D7399EFDA53A}"/>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4 / 6</a:t>
            </a:r>
          </a:p>
        </p:txBody>
      </p:sp>
    </p:spTree>
    <p:extLst>
      <p:ext uri="{BB962C8B-B14F-4D97-AF65-F5344CB8AC3E}">
        <p14:creationId xmlns:p14="http://schemas.microsoft.com/office/powerpoint/2010/main" val="113766741"/>
      </p:ext>
    </p:extLst>
  </p:cSld>
</p:sld>
</file>

<file path=ppt/slides/slide5.xml><?xml version="1.0" encoding="utf-8"?>
<p:sld xmlns:p="http://schemas.openxmlformats.org/presentationml/2006/main">
  <p:cSld>
    <p:bg>
      <p:bgPr>
        <a:solidFill xmlns:a="http://schemas.openxmlformats.org/drawingml/2006/main">
          <a:srgbClr val="103D3B"/>
        </a:solidFill>
      </p:bgPr>
    </p:bg>
    <p:spTree>
      <p:nvGrpSpPr>
        <p:cNvPr id="1" name=""/>
        <p:cNvGrpSpPr/>
        <p:nvPr/>
      </p:nvGrpSpPr>
      <p:grpSpPr>
        <a:xfrm xmlns:a="http://schemas.openxmlformats.org/drawingml/2006/main"/>
      </p:grpSpPr>
      <p:cxnSp>
        <p:nvCxnSpPr>
          <p:cNvPr id="15" name="">
            <a:extLst xmlns:a="http://schemas.openxmlformats.org/drawingml/2006/main">
              <a:ext uri="{FF2B5EF4-FFF2-40B4-BE49-F238E27FC236}">
                <a16:creationId xmlns:a16="http://schemas.microsoft.com/office/drawing/2014/main" id="{D5916563-2587-4EBA-9E9B-725BB197CF1D}"/>
              </a:ext>
            </a:extLst>
          </p:cNvPr>
          <p:cNvCxnSpPr>
            <a:stCxn xmlns:a="http://schemas.openxmlformats.org/drawingml/2006/main" id="12" idx="3"/>
            <a:endCxn xmlns:a="http://schemas.openxmlformats.org/drawingml/2006/main" id="13" idx="1"/>
          </p:cNvCxnSpPr>
          <p:nvPr/>
        </p:nvCxnSpPr>
        <p:spPr>
          <a:xfrm xmlns:a="http://schemas.openxmlformats.org/drawingml/2006/main">
            <a:off x="7572375" y="5943600"/>
            <a:ext cx="885825"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cxnSp>
        <p:nvCxnSpPr>
          <p:cNvPr id="14" name="">
            <a:extLst xmlns:a="http://schemas.openxmlformats.org/drawingml/2006/main">
              <a:ext uri="{FF2B5EF4-FFF2-40B4-BE49-F238E27FC236}">
                <a16:creationId xmlns:a16="http://schemas.microsoft.com/office/drawing/2014/main" id="{FE060609-84EE-4972-A499-583CFE2427E4}"/>
              </a:ext>
            </a:extLst>
          </p:cNvPr>
          <p:cNvCxnSpPr>
            <a:stCxn xmlns:a="http://schemas.openxmlformats.org/drawingml/2006/main" id="11" idx="3"/>
            <a:endCxn xmlns:a="http://schemas.openxmlformats.org/drawingml/2006/main" id="12" idx="1"/>
          </p:cNvCxnSpPr>
          <p:nvPr/>
        </p:nvCxnSpPr>
        <p:spPr>
          <a:xfrm xmlns:a="http://schemas.openxmlformats.org/drawingml/2006/main">
            <a:off x="3448050" y="5943600"/>
            <a:ext cx="914400" cy="0"/>
          </a:xfrm>
          <a:prstGeom xmlns:a="http://schemas.openxmlformats.org/drawingml/2006/main" prst="straightConnector1">
            <a:avLst/>
          </a:prstGeom>
          <a:ln xmlns:a="http://schemas.openxmlformats.org/drawingml/2006/main" w="19050">
            <a:solidFill>
              <a:srgbClr val="BDCCAD"/>
            </a:solidFill>
            <a:prstDash val="solid"/>
            <a:tailEnd type="arrow" w="sm" len="sm"/>
          </a:ln>
        </p:spPr>
      </p:cxnSp>
      <p:sp>
        <p:nvSpPr>
          <p:cNvPr id="18" name="v27-text-25">
            <a:extLst xmlns:a="http://schemas.openxmlformats.org/drawingml/2006/main">
              <a:ext uri="{FF2B5EF4-FFF2-40B4-BE49-F238E27FC236}">
                <a16:creationId xmlns:a16="http://schemas.microsoft.com/office/drawing/2014/main" id="{8CDEA6FE-6022-4A89-85B7-85384BBD90F2}"/>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BDCCAD"/>
                </a:solidFill>
                <a:latin typeface="Helvetica Neue"/>
                <a:ea typeface="Helvetica Neue"/>
                <a:cs typeface="Helvetica Neue"/>
              </a:defRPr>
            </a:defPPr>
          </a:lstStyle>
          <a:p xmlns:a="http://schemas.openxmlformats.org/drawingml/2006/main">
            <a:pPr algn="l">
              <a:buNone/>
              <a:defRPr sz="1275" b="1">
                <a:solidFill>
                  <a:srgbClr val="BDCCAD"/>
                </a:solidFill>
                <a:latin typeface="Helvetica Neue"/>
                <a:ea typeface="Helvetica Neue"/>
                <a:cs typeface="Helvetica Neue"/>
              </a:defRPr>
            </a:pPr>
            <a:r>
              <a:rPr sz="1275" b="1">
                <a:solidFill>
                  <a:srgbClr val="BDCCAD"/>
                </a:solidFill>
                <a:latin typeface="Helvetica Neue"/>
                <a:ea typeface="Helvetica Neue"/>
                <a:cs typeface="Helvetica Neue"/>
              </a:rPr>
              <a:t>PARTNERSHIPS AND PILOT</a:t>
            </a:r>
          </a:p>
        </p:txBody>
      </p:sp>
      <p:sp>
        <p:nvSpPr>
          <p:cNvPr id="2" name="v27-text-26">
            <a:extLst xmlns:a="http://schemas.openxmlformats.org/drawingml/2006/main">
              <a:ext uri="{FF2B5EF4-FFF2-40B4-BE49-F238E27FC236}">
                <a16:creationId xmlns:a16="http://schemas.microsoft.com/office/drawing/2014/main" id="{B30EE2F4-AA61-4FD3-B96E-3D2DCEE5947A}"/>
              </a:ext>
            </a:extLst>
          </p:cNvPr>
          <p:cNvSpPr>
            <a:spLocks xmlns:a="http://schemas.openxmlformats.org/drawingml/2006/main" noGrp="1"/>
          </p:cNvSpPr>
          <p:nvPr/>
        </p:nvSpPr>
        <p:spPr>
          <a:xfrm xmlns:a="http://schemas.openxmlformats.org/drawingml/2006/main">
            <a:off x="495300" y="619125"/>
            <a:ext cx="112014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5F2E9"/>
                </a:solidFill>
                <a:latin typeface="Helvetica Neue"/>
                <a:ea typeface="Helvetica Neue"/>
                <a:cs typeface="Helvetica Neue"/>
              </a:defRPr>
            </a:defPPr>
          </a:lstStyle>
          <a:p xmlns:a="http://schemas.openxmlformats.org/drawingml/2006/main">
            <a:pPr algn="l">
              <a:buNone/>
              <a:defRPr sz="3300" b="1">
                <a:solidFill>
                  <a:srgbClr val="F5F2E9"/>
                </a:solidFill>
                <a:latin typeface="Helvetica Neue"/>
                <a:ea typeface="Helvetica Neue"/>
                <a:cs typeface="Helvetica Neue"/>
              </a:defRPr>
            </a:pPr>
            <a:r>
              <a:rPr sz="3300" b="1">
                <a:solidFill>
                  <a:srgbClr val="F5F2E9"/>
                </a:solidFill>
                <a:latin typeface="Helvetica Neue"/>
                <a:ea typeface="Helvetica Neue"/>
                <a:cs typeface="Helvetica Neue"/>
              </a:rPr>
              <a:t>First pilot: plumbing in Salt Lake City</a:t>
            </a:r>
          </a:p>
        </p:txBody>
      </p:sp>
      <p:sp>
        <p:nvSpPr>
          <p:cNvPr id="3" name="v27-text-27">
            <a:extLst xmlns:a="http://schemas.openxmlformats.org/drawingml/2006/main">
              <a:ext uri="{FF2B5EF4-FFF2-40B4-BE49-F238E27FC236}">
                <a16:creationId xmlns:a16="http://schemas.microsoft.com/office/drawing/2014/main" id="{68333EAB-847D-41F6-B55B-E9CE4227D4E8}"/>
              </a:ext>
            </a:extLst>
          </p:cNvPr>
          <p:cNvSpPr>
            <a:spLocks xmlns:a="http://schemas.openxmlformats.org/drawingml/2006/main" noGrp="1"/>
          </p:cNvSpPr>
          <p:nvPr/>
        </p:nvSpPr>
        <p:spPr>
          <a:xfrm xmlns:a="http://schemas.openxmlformats.org/drawingml/2006/main">
            <a:off x="495300" y="1343025"/>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Two channel partners provide a starting point for supply.</a:t>
            </a:r>
          </a:p>
        </p:txBody>
      </p:sp>
      <p:sp>
        <p:nvSpPr>
          <p:cNvPr id="4" name="v27-text-28">
            <a:extLst xmlns:a="http://schemas.openxmlformats.org/drawingml/2006/main">
              <a:ext uri="{FF2B5EF4-FFF2-40B4-BE49-F238E27FC236}">
                <a16:creationId xmlns:a16="http://schemas.microsoft.com/office/drawing/2014/main" id="{F2B4C196-67E2-4BFC-9EE2-4381623CBCEF}"/>
              </a:ext>
            </a:extLst>
          </p:cNvPr>
          <p:cNvSpPr>
            <a:spLocks xmlns:a="http://schemas.openxmlformats.org/drawingml/2006/main" noGrp="1"/>
          </p:cNvSpPr>
          <p:nvPr/>
        </p:nvSpPr>
        <p:spPr>
          <a:xfrm xmlns:a="http://schemas.openxmlformats.org/drawingml/2006/main">
            <a:off x="495300" y="2076450"/>
            <a:ext cx="485775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50+</a:t>
            </a:r>
          </a:p>
        </p:txBody>
      </p:sp>
      <p:sp>
        <p:nvSpPr>
          <p:cNvPr id="5" name="v27-text-29">
            <a:extLst xmlns:a="http://schemas.openxmlformats.org/drawingml/2006/main">
              <a:ext uri="{FF2B5EF4-FFF2-40B4-BE49-F238E27FC236}">
                <a16:creationId xmlns:a16="http://schemas.microsoft.com/office/drawing/2014/main" id="{9CC75DF1-7295-4137-AEC4-7E0CC4FEB9DE}"/>
              </a:ext>
            </a:extLst>
          </p:cNvPr>
          <p:cNvSpPr>
            <a:spLocks xmlns:a="http://schemas.openxmlformats.org/drawingml/2006/main" noGrp="1"/>
          </p:cNvSpPr>
          <p:nvPr/>
        </p:nvSpPr>
        <p:spPr>
          <a:xfrm xmlns:a="http://schemas.openxmlformats.org/drawingml/2006/main">
            <a:off x="495300" y="3257550"/>
            <a:ext cx="48577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Cactus AI</a:t>
            </a:r>
          </a:p>
        </p:txBody>
      </p:sp>
      <p:sp>
        <p:nvSpPr>
          <p:cNvPr id="6" name="v27-text-30">
            <a:extLst xmlns:a="http://schemas.openxmlformats.org/drawingml/2006/main">
              <a:ext uri="{FF2B5EF4-FFF2-40B4-BE49-F238E27FC236}">
                <a16:creationId xmlns:a16="http://schemas.microsoft.com/office/drawing/2014/main" id="{8170CF0F-AA38-4196-999E-4DAFE6288CA0}"/>
              </a:ext>
            </a:extLst>
          </p:cNvPr>
          <p:cNvSpPr>
            <a:spLocks xmlns:a="http://schemas.openxmlformats.org/drawingml/2006/main" noGrp="1"/>
          </p:cNvSpPr>
          <p:nvPr/>
        </p:nvSpPr>
        <p:spPr>
          <a:xfrm xmlns:a="http://schemas.openxmlformats.org/drawingml/2006/main">
            <a:off x="495300" y="3800475"/>
            <a:ext cx="485775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5F2E9"/>
                </a:solidFill>
                <a:latin typeface="Helvetica Neue"/>
                <a:ea typeface="Helvetica Neue"/>
                <a:cs typeface="Helvetica Neue"/>
              </a:defRPr>
            </a:defPPr>
          </a:lstStyle>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Agreed to introduce GoLocal</a:t>
            </a:r>
          </a:p>
          <a:p xmlns:a="http://schemas.openxmlformats.org/drawingml/2006/main">
            <a:pPr algn="l">
              <a:buNone/>
              <a:defRPr sz="2100" b="0">
                <a:solidFill>
                  <a:srgbClr val="F5F2E9"/>
                </a:solidFill>
                <a:latin typeface="Helvetica Neue"/>
                <a:ea typeface="Helvetica Neue"/>
                <a:cs typeface="Helvetica Neue"/>
              </a:defRPr>
            </a:pPr>
            <a:r>
              <a:rPr sz="2100" b="0">
                <a:solidFill>
                  <a:srgbClr val="F5F2E9"/>
                </a:solidFill>
                <a:latin typeface="Helvetica Neue"/>
                <a:ea typeface="Helvetica Neue"/>
                <a:cs typeface="Helvetica Neue"/>
              </a:rPr>
              <a:t>to 50+ service partners.</a:t>
            </a:r>
          </a:p>
        </p:txBody>
      </p:sp>
      <p:sp>
        <p:nvSpPr>
          <p:cNvPr id="7" name="v27-text-31">
            <a:extLst xmlns:a="http://schemas.openxmlformats.org/drawingml/2006/main">
              <a:ext uri="{FF2B5EF4-FFF2-40B4-BE49-F238E27FC236}">
                <a16:creationId xmlns:a16="http://schemas.microsoft.com/office/drawing/2014/main" id="{E9E0E8FA-C44E-42A0-B4E6-C2D30B1C2FDC}"/>
              </a:ext>
            </a:extLst>
          </p:cNvPr>
          <p:cNvSpPr>
            <a:spLocks xmlns:a="http://schemas.openxmlformats.org/drawingml/2006/main" noGrp="1"/>
          </p:cNvSpPr>
          <p:nvPr/>
        </p:nvSpPr>
        <p:spPr>
          <a:xfrm xmlns:a="http://schemas.openxmlformats.org/drawingml/2006/main">
            <a:off x="6553200" y="2076450"/>
            <a:ext cx="5143500" cy="1104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650" b="1">
                <a:solidFill>
                  <a:srgbClr val="F5F2E9"/>
                </a:solidFill>
                <a:latin typeface="Helvetica Neue"/>
                <a:ea typeface="Helvetica Neue"/>
                <a:cs typeface="Helvetica Neue"/>
              </a:defRPr>
            </a:defPPr>
          </a:lstStyle>
          <a:p xmlns:a="http://schemas.openxmlformats.org/drawingml/2006/main">
            <a:pPr algn="l">
              <a:buNone/>
              <a:defRPr sz="7650" b="1">
                <a:solidFill>
                  <a:srgbClr val="F5F2E9"/>
                </a:solidFill>
                <a:latin typeface="Helvetica Neue"/>
                <a:ea typeface="Helvetica Neue"/>
                <a:cs typeface="Helvetica Neue"/>
              </a:defRPr>
            </a:pPr>
            <a:r>
              <a:rPr sz="7650" b="1">
                <a:solidFill>
                  <a:srgbClr val="F5F2E9"/>
                </a:solidFill>
                <a:latin typeface="Helvetica Neue"/>
                <a:ea typeface="Helvetica Neue"/>
                <a:cs typeface="Helvetica Neue"/>
              </a:rPr>
              <a:t>10+</a:t>
            </a:r>
          </a:p>
        </p:txBody>
      </p:sp>
      <p:sp>
        <p:nvSpPr>
          <p:cNvPr id="8" name="v27-text-32">
            <a:extLst xmlns:a="http://schemas.openxmlformats.org/drawingml/2006/main">
              <a:ext uri="{FF2B5EF4-FFF2-40B4-BE49-F238E27FC236}">
                <a16:creationId xmlns:a16="http://schemas.microsoft.com/office/drawing/2014/main" id="{4B2BABC2-6450-40EC-B70F-D11DC084AD5E}"/>
              </a:ext>
            </a:extLst>
          </p:cNvPr>
          <p:cNvSpPr>
            <a:spLocks xmlns:a="http://schemas.openxmlformats.org/drawingml/2006/main" noGrp="1"/>
          </p:cNvSpPr>
          <p:nvPr/>
        </p:nvSpPr>
        <p:spPr>
          <a:xfrm xmlns:a="http://schemas.openxmlformats.org/drawingml/2006/main">
            <a:off x="6553200" y="3257550"/>
            <a:ext cx="5143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F5F2E9"/>
                </a:solidFill>
                <a:latin typeface="Helvetica Neue"/>
                <a:ea typeface="Helvetica Neue"/>
                <a:cs typeface="Helvetica Neue"/>
              </a:defRPr>
            </a:defPPr>
          </a:lstStyle>
          <a:p xmlns:a="http://schemas.openxmlformats.org/drawingml/2006/main">
            <a:pPr algn="l">
              <a:buNone/>
              <a:defRPr sz="2550" b="1">
                <a:solidFill>
                  <a:srgbClr val="F5F2E9"/>
                </a:solidFill>
                <a:latin typeface="Helvetica Neue"/>
                <a:ea typeface="Helvetica Neue"/>
                <a:cs typeface="Helvetica Neue"/>
              </a:defRPr>
            </a:pPr>
            <a:r>
              <a:rPr sz="2550" b="1">
                <a:solidFill>
                  <a:srgbClr val="F5F2E9"/>
                </a:solidFill>
                <a:latin typeface="Helvetica Neue"/>
                <a:ea typeface="Helvetica Neue"/>
                <a:cs typeface="Helvetica Neue"/>
              </a:rPr>
              <a:t>YourCardare</a:t>
            </a:r>
          </a:p>
        </p:txBody>
      </p:sp>
      <p:sp>
        <p:nvSpPr>
          <p:cNvPr id="9" name="v27-text-33">
            <a:extLst xmlns:a="http://schemas.openxmlformats.org/drawingml/2006/main">
              <a:ext uri="{FF2B5EF4-FFF2-40B4-BE49-F238E27FC236}">
                <a16:creationId xmlns:a16="http://schemas.microsoft.com/office/drawing/2014/main" id="{4711A170-9F96-486F-B1B1-ADEC38729566}"/>
              </a:ext>
            </a:extLst>
          </p:cNvPr>
          <p:cNvSpPr>
            <a:spLocks xmlns:a="http://schemas.openxmlformats.org/drawingml/2006/main" noGrp="1"/>
          </p:cNvSpPr>
          <p:nvPr/>
        </p:nvSpPr>
        <p:spPr>
          <a:xfrm xmlns:a="http://schemas.openxmlformats.org/drawingml/2006/main">
            <a:off x="6553200" y="3800475"/>
            <a:ext cx="51435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F5F2E9"/>
                </a:solidFill>
                <a:latin typeface="Helvetica Neue"/>
                <a:ea typeface="Helvetica Neue"/>
                <a:cs typeface="Helvetica Neue"/>
              </a:defRPr>
            </a:defPPr>
          </a:lstStyle>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Regional back-office partner.</a:t>
            </a:r>
          </a:p>
          <a:p xmlns:a="http://schemas.openxmlformats.org/drawingml/2006/main">
            <a:pPr algn="l">
              <a:buNone/>
              <a:defRPr sz="2025" b="0">
                <a:solidFill>
                  <a:srgbClr val="F5F2E9"/>
                </a:solidFill>
                <a:latin typeface="Helvetica Neue"/>
                <a:ea typeface="Helvetica Neue"/>
                <a:cs typeface="Helvetica Neue"/>
              </a:defRPr>
            </a:pPr>
            <a:r>
              <a:rPr sz="2025" b="0">
                <a:solidFill>
                  <a:srgbClr val="F5F2E9"/>
                </a:solidFill>
                <a:latin typeface="Helvetica Neue"/>
                <a:ea typeface="Helvetica Neue"/>
                <a:cs typeface="Helvetica Neue"/>
              </a:rPr>
              <a:t>Another 10+ providers in the pipeline.</a:t>
            </a:r>
          </a:p>
        </p:txBody>
      </p:sp>
      <p:sp>
        <p:nvSpPr>
          <p:cNvPr id="10" name="v27-text-34">
            <a:extLst xmlns:a="http://schemas.openxmlformats.org/drawingml/2006/main">
              <a:ext uri="{FF2B5EF4-FFF2-40B4-BE49-F238E27FC236}">
                <a16:creationId xmlns:a16="http://schemas.microsoft.com/office/drawing/2014/main" id="{F1697D3A-CDEE-4E34-B96E-50E20D79BF32}"/>
              </a:ext>
            </a:extLst>
          </p:cNvPr>
          <p:cNvSpPr>
            <a:spLocks xmlns:a="http://schemas.openxmlformats.org/drawingml/2006/main" noGrp="1"/>
          </p:cNvSpPr>
          <p:nvPr/>
        </p:nvSpPr>
        <p:spPr>
          <a:xfrm xmlns:a="http://schemas.openxmlformats.org/drawingml/2006/main">
            <a:off x="495300" y="4914900"/>
            <a:ext cx="11201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325" b="1">
                <a:solidFill>
                  <a:srgbClr val="F5F2E9"/>
                </a:solidFill>
                <a:latin typeface="Helvetica Neue"/>
                <a:ea typeface="Helvetica Neue"/>
                <a:cs typeface="Helvetica Neue"/>
              </a:defRPr>
            </a:defPPr>
          </a:lstStyle>
          <a:p xmlns:a="http://schemas.openxmlformats.org/drawingml/2006/main">
            <a:pPr algn="l">
              <a:buNone/>
              <a:defRPr sz="2325" b="1">
                <a:solidFill>
                  <a:srgbClr val="F5F2E9"/>
                </a:solidFill>
                <a:latin typeface="Helvetica Neue"/>
                <a:ea typeface="Helvetica Neue"/>
                <a:cs typeface="Helvetica Neue"/>
              </a:defRPr>
            </a:pPr>
            <a:r>
              <a:rPr sz="2325" b="1">
                <a:solidFill>
                  <a:srgbClr val="F5F2E9"/>
                </a:solidFill>
                <a:latin typeface="Helvetica Neue"/>
                <a:ea typeface="Helvetica Neue"/>
                <a:cs typeface="Helvetica Neue"/>
              </a:rPr>
              <a:t>Next milestone: turn eligible agent requests into confirmed bookings</a:t>
            </a:r>
          </a:p>
        </p:txBody>
      </p:sp>
      <p:sp>
        <p:nvSpPr>
          <p:cNvPr id="11" name="v27-text-35">
            <a:extLst xmlns:a="http://schemas.openxmlformats.org/drawingml/2006/main">
              <a:ext uri="{FF2B5EF4-FFF2-40B4-BE49-F238E27FC236}">
                <a16:creationId xmlns:a16="http://schemas.microsoft.com/office/drawing/2014/main" id="{383220E3-CB4C-40A8-BC8E-40D2C06DF114}"/>
              </a:ext>
            </a:extLst>
          </p:cNvPr>
          <p:cNvSpPr>
            <a:spLocks xmlns:a="http://schemas.openxmlformats.org/drawingml/2006/main" noGrp="1"/>
          </p:cNvSpPr>
          <p:nvPr/>
        </p:nvSpPr>
        <p:spPr>
          <a:xfrm xmlns:a="http://schemas.openxmlformats.org/drawingml/2006/main">
            <a:off x="495300" y="5648325"/>
            <a:ext cx="295275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Provider</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introductions</a:t>
            </a:r>
          </a:p>
        </p:txBody>
      </p:sp>
      <p:sp>
        <p:nvSpPr>
          <p:cNvPr id="12" name="v27-text-36">
            <a:extLst xmlns:a="http://schemas.openxmlformats.org/drawingml/2006/main">
              <a:ext uri="{FF2B5EF4-FFF2-40B4-BE49-F238E27FC236}">
                <a16:creationId xmlns:a16="http://schemas.microsoft.com/office/drawing/2014/main" id="{6341BF38-1761-4079-BC8F-8130D8D93DBC}"/>
              </a:ext>
            </a:extLst>
          </p:cNvPr>
          <p:cNvSpPr>
            <a:spLocks xmlns:a="http://schemas.openxmlformats.org/drawingml/2006/main" noGrp="1"/>
          </p:cNvSpPr>
          <p:nvPr/>
        </p:nvSpPr>
        <p:spPr>
          <a:xfrm xmlns:a="http://schemas.openxmlformats.org/drawingml/2006/main">
            <a:off x="4362450" y="5648325"/>
            <a:ext cx="3209925"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Onboard providers</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and connect software</a:t>
            </a:r>
          </a:p>
        </p:txBody>
      </p:sp>
      <p:sp>
        <p:nvSpPr>
          <p:cNvPr id="13" name="v27-text-37">
            <a:extLst xmlns:a="http://schemas.openxmlformats.org/drawingml/2006/main">
              <a:ext uri="{FF2B5EF4-FFF2-40B4-BE49-F238E27FC236}">
                <a16:creationId xmlns:a16="http://schemas.microsoft.com/office/drawing/2014/main" id="{D4322935-603A-4E67-84FC-D6251CC32E27}"/>
              </a:ext>
            </a:extLst>
          </p:cNvPr>
          <p:cNvSpPr>
            <a:spLocks xmlns:a="http://schemas.openxmlformats.org/drawingml/2006/main" noGrp="1"/>
          </p:cNvSpPr>
          <p:nvPr/>
        </p:nvSpPr>
        <p:spPr>
          <a:xfrm xmlns:a="http://schemas.openxmlformats.org/drawingml/2006/main">
            <a:off x="8458200" y="5648325"/>
            <a:ext cx="32385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F5F2E9"/>
                </a:solidFill>
                <a:latin typeface="Helvetica Neue"/>
                <a:ea typeface="Helvetica Neue"/>
                <a:cs typeface="Helvetica Neue"/>
              </a:defRPr>
            </a:defPPr>
          </a:lstStyle>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Test customer-authorized</a:t>
            </a:r>
          </a:p>
          <a:p xmlns:a="http://schemas.openxmlformats.org/drawingml/2006/main">
            <a:pPr algn="l">
              <a:buNone/>
              <a:defRPr sz="1950" b="1">
                <a:solidFill>
                  <a:srgbClr val="F5F2E9"/>
                </a:solidFill>
                <a:latin typeface="Helvetica Neue"/>
                <a:ea typeface="Helvetica Neue"/>
                <a:cs typeface="Helvetica Neue"/>
              </a:defRPr>
            </a:pPr>
            <a:r>
              <a:rPr sz="1950" b="1">
                <a:solidFill>
                  <a:srgbClr val="F5F2E9"/>
                </a:solidFill>
                <a:latin typeface="Helvetica Neue"/>
                <a:ea typeface="Helvetica Neue"/>
                <a:cs typeface="Helvetica Neue"/>
              </a:rPr>
              <a:t>agent bookings</a:t>
            </a:r>
          </a:p>
        </p:txBody>
      </p:sp>
      <p:sp>
        <p:nvSpPr>
          <p:cNvPr id="16" name="v27-text-38">
            <a:extLst xmlns:a="http://schemas.openxmlformats.org/drawingml/2006/main">
              <a:ext uri="{FF2B5EF4-FFF2-40B4-BE49-F238E27FC236}">
                <a16:creationId xmlns:a16="http://schemas.microsoft.com/office/drawing/2014/main" id="{7B712574-D8EA-4A5A-92BC-0E40D7F3A96E}"/>
              </a:ext>
            </a:extLst>
          </p:cNvPr>
          <p:cNvSpPr>
            <a:spLocks xmlns:a="http://schemas.openxmlformats.org/drawingml/2006/main" noGrp="1"/>
          </p:cNvSpPr>
          <p:nvPr/>
        </p:nvSpPr>
        <p:spPr>
          <a:xfrm xmlns:a="http://schemas.openxmlformats.org/drawingml/2006/main">
            <a:off x="495300" y="6543675"/>
            <a:ext cx="10429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BDCCAD"/>
                </a:solidFill>
                <a:latin typeface="Helvetica Neue"/>
                <a:ea typeface="Helvetica Neue"/>
                <a:cs typeface="Helvetica Neue"/>
              </a:defRPr>
            </a:defPPr>
          </a:lstStyle>
          <a:p xmlns:a="http://schemas.openxmlformats.org/drawingml/2006/main">
            <a:pPr algn="l">
              <a:buNone/>
              <a:defRPr sz="1050" b="0">
                <a:solidFill>
                  <a:srgbClr val="BDCCAD"/>
                </a:solidFill>
                <a:latin typeface="Helvetica Neue"/>
                <a:ea typeface="Helvetica Neue"/>
                <a:cs typeface="Helvetica Neue"/>
              </a:defRPr>
            </a:pPr>
            <a:r>
              <a:rPr sz="1050" b="0">
                <a:solidFill>
                  <a:srgbClr val="BDCCAD"/>
                </a:solidFill>
                <a:latin typeface="Helvetica Neue"/>
                <a:ea typeface="Helvetica Neue"/>
                <a:cs typeface="Helvetica Neue"/>
              </a:rPr>
              <a:t>Founder-reported pipeline. Introductions are not live supply. GoLocal bookings and paid demand remain unproven.</a:t>
            </a:r>
          </a:p>
        </p:txBody>
      </p:sp>
      <p:sp>
        <p:nvSpPr>
          <p:cNvPr id="17" name="v27-text-39">
            <a:extLst xmlns:a="http://schemas.openxmlformats.org/drawingml/2006/main">
              <a:ext uri="{FF2B5EF4-FFF2-40B4-BE49-F238E27FC236}">
                <a16:creationId xmlns:a16="http://schemas.microsoft.com/office/drawing/2014/main" id="{55AFBA45-A988-4AA9-9E76-851EFE96F695}"/>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F5F2E9"/>
                </a:solidFill>
                <a:latin typeface="Helvetica Neue"/>
                <a:ea typeface="Helvetica Neue"/>
                <a:cs typeface="Helvetica Neue"/>
              </a:defRPr>
            </a:defPPr>
          </a:lstStyle>
          <a:p xmlns:a="http://schemas.openxmlformats.org/drawingml/2006/main">
            <a:pPr algn="l">
              <a:buNone/>
              <a:defRPr sz="1275" b="0">
                <a:solidFill>
                  <a:srgbClr val="F5F2E9"/>
                </a:solidFill>
                <a:latin typeface="Helvetica Neue"/>
                <a:ea typeface="Helvetica Neue"/>
                <a:cs typeface="Helvetica Neue"/>
              </a:defRPr>
            </a:pPr>
            <a:r>
              <a:rPr sz="1275" b="0">
                <a:solidFill>
                  <a:srgbClr val="F5F2E9"/>
                </a:solidFill>
                <a:latin typeface="Helvetica Neue"/>
                <a:ea typeface="Helvetica Neue"/>
                <a:cs typeface="Helvetica Neue"/>
              </a:rPr>
              <a:t>5 / 6</a:t>
            </a:r>
          </a:p>
        </p:txBody>
      </p:sp>
    </p:spTree>
    <p:extLst>
      <p:ext uri="{BB962C8B-B14F-4D97-AF65-F5344CB8AC3E}">
        <p14:creationId xmlns:p14="http://schemas.microsoft.com/office/powerpoint/2010/main" val="22905360"/>
      </p:ext>
    </p:extLst>
  </p:cSld>
</p:sld>
</file>

<file path=ppt/slides/slide6.xml><?xml version="1.0" encoding="utf-8"?>
<p:sld xmlns:p="http://schemas.openxmlformats.org/presentationml/2006/main">
  <p:cSld>
    <p:bg>
      <p:bgPr>
        <a:solidFill xmlns:a="http://schemas.openxmlformats.org/drawingml/2006/main">
          <a:srgbClr val="F5F2E9"/>
        </a:solidFill>
      </p:bgPr>
    </p:bg>
    <p:spTree>
      <p:nvGrpSpPr>
        <p:cNvPr id="1" name=""/>
        <p:cNvGrpSpPr/>
        <p:nvPr/>
      </p:nvGrpSpPr>
      <p:grpSpPr>
        <a:xfrm xmlns:a="http://schemas.openxmlformats.org/drawingml/2006/main"/>
      </p:grpSpPr>
      <p:sp>
        <p:nvSpPr>
          <p:cNvPr id="20" name="team-premium-0">
            <a:extLst xmlns:a="http://schemas.openxmlformats.org/drawingml/2006/main">
              <a:ext uri="{FF2B5EF4-FFF2-40B4-BE49-F238E27FC236}">
                <a16:creationId xmlns:a16="http://schemas.microsoft.com/office/drawing/2014/main" id="{FE086505-BCA8-42A1-A449-4AA38B3E9D34}"/>
              </a:ext>
            </a:extLst>
          </p:cNvPr>
          <p:cNvSpPr>
            <a:spLocks xmlns:a="http://schemas.openxmlformats.org/drawingml/2006/main" noGrp="1"/>
          </p:cNvSpPr>
          <p:nvPr/>
        </p:nvSpPr>
        <p:spPr>
          <a:xfrm xmlns:a="http://schemas.openxmlformats.org/drawingml/2006/main">
            <a:off x="495300" y="257175"/>
            <a:ext cx="112014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1">
                <a:solidFill>
                  <a:srgbClr val="65746C"/>
                </a:solidFill>
                <a:latin typeface="Helvetica Neue"/>
                <a:ea typeface="Helvetica Neue"/>
                <a:cs typeface="Helvetica Neue"/>
              </a:defRPr>
            </a:defPPr>
          </a:lstStyle>
          <a:p xmlns:a="http://schemas.openxmlformats.org/drawingml/2006/main">
            <a:pPr algn="l">
              <a:buNone/>
              <a:defRPr sz="1275" b="1">
                <a:solidFill>
                  <a:srgbClr val="65746C"/>
                </a:solidFill>
                <a:latin typeface="Helvetica Neue"/>
                <a:ea typeface="Helvetica Neue"/>
                <a:cs typeface="Helvetica Neue"/>
              </a:defRPr>
            </a:pPr>
            <a:r>
              <a:rPr sz="1275" b="1">
                <a:solidFill>
                  <a:srgbClr val="65746C"/>
                </a:solidFill>
                <a:latin typeface="Helvetica Neue"/>
                <a:ea typeface="Helvetica Neue"/>
                <a:cs typeface="Helvetica Neue"/>
              </a:rPr>
              <a:t>THE TEAM</a:t>
            </a:r>
          </a:p>
        </p:txBody>
      </p:sp>
      <p:sp>
        <p:nvSpPr>
          <p:cNvPr id="2" name="team-premium-1">
            <a:extLst xmlns:a="http://schemas.openxmlformats.org/drawingml/2006/main">
              <a:ext uri="{FF2B5EF4-FFF2-40B4-BE49-F238E27FC236}">
                <a16:creationId xmlns:a16="http://schemas.microsoft.com/office/drawing/2014/main" id="{9137416B-2BE1-4055-BEEA-E988545DADB8}"/>
              </a:ext>
            </a:extLst>
          </p:cNvPr>
          <p:cNvSpPr>
            <a:spLocks xmlns:a="http://schemas.openxmlformats.org/drawingml/2006/main" noGrp="1"/>
          </p:cNvSpPr>
          <p:nvPr/>
        </p:nvSpPr>
        <p:spPr>
          <a:xfrm xmlns:a="http://schemas.openxmlformats.org/drawingml/2006/main">
            <a:off x="495300" y="619125"/>
            <a:ext cx="112014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450" b="1">
                <a:solidFill>
                  <a:srgbClr val="193C32"/>
                </a:solidFill>
                <a:latin typeface="Helvetica Neue"/>
                <a:ea typeface="Helvetica Neue"/>
                <a:cs typeface="Helvetica Neue"/>
              </a:defRPr>
            </a:defPPr>
          </a:lstStyle>
          <a:p xmlns:a="http://schemas.openxmlformats.org/drawingml/2006/main">
            <a:pPr algn="l">
              <a:buNone/>
              <a:defRPr sz="3450" b="1">
                <a:solidFill>
                  <a:srgbClr val="193C32"/>
                </a:solidFill>
                <a:latin typeface="Helvetica Neue"/>
                <a:ea typeface="Helvetica Neue"/>
                <a:cs typeface="Helvetica Neue"/>
              </a:defRPr>
            </a:pPr>
            <a:r>
              <a:rPr sz="3450" b="1">
                <a:solidFill>
                  <a:srgbClr val="193C32"/>
                </a:solidFill>
                <a:latin typeface="Helvetica Neue"/>
                <a:ea typeface="Helvetica Neue"/>
                <a:cs typeface="Helvetica Neue"/>
              </a:rPr>
              <a:t>The team behind GoLocal</a:t>
            </a:r>
          </a:p>
        </p:txBody>
      </p:sp>
      <p:pic>
        <p:nvPicPr>
          <p:cNvPr id="3" name="Picture 2">
            <a:extLst xmlns:a="http://schemas.openxmlformats.org/drawingml/2006/main">
              <a:ext uri="{FF2B5EF4-FFF2-40B4-BE49-F238E27FC236}">
                <a16:creationId xmlns:a16="http://schemas.microsoft.com/office/drawing/2014/main" id="{AC6C39F4-B77D-47F5-B4B9-D7C2E0664263}"/>
              </a:ext>
            </a:extLst>
          </p:cNvPr>
          <p:cNvPicPr>
            <a:picLocks xmlns:a="http://schemas.openxmlformats.org/drawingml/2006/main" noChangeAspect="1"/>
          </p:cNvPicPr>
          <p:nvPr/>
        </p:nvPicPr>
        <p:blipFill>
          <a:blip xmlns:r="http://schemas.openxmlformats.org/officeDocument/2006/relationships" xmlns:a="http://schemas.openxmlformats.org/drawingml/2006/main" r:embed="R7f31bb4ddf234b69"/>
          <a:stretch xmlns:a="http://schemas.openxmlformats.org/drawingml/2006/main"/>
        </p:blipFill>
        <p:spPr>
          <a:xfrm xmlns:a="http://schemas.openxmlformats.org/drawingml/2006/main">
            <a:off x="495300" y="1666875"/>
            <a:ext cx="1257300" cy="1257300"/>
          </a:xfrm>
          <a:prstGeom xmlns:a="http://schemas.openxmlformats.org/drawingml/2006/main" prst="roundRect">
            <a:avLst>
              <a:gd name="adj" fmla="val 12121"/>
            </a:avLst>
          </a:prstGeom>
        </p:spPr>
      </p:pic>
      <p:pic>
        <p:nvPicPr>
          <p:cNvPr id="4" name="Picture 3">
            <a:extLst xmlns:a="http://schemas.openxmlformats.org/drawingml/2006/main">
              <a:ext uri="{FF2B5EF4-FFF2-40B4-BE49-F238E27FC236}">
                <a16:creationId xmlns:a16="http://schemas.microsoft.com/office/drawing/2014/main" id="{F89AF5CC-209F-4427-93DF-54E1FDE07C9B}"/>
              </a:ext>
            </a:extLst>
          </p:cNvPr>
          <p:cNvPicPr>
            <a:picLocks xmlns:a="http://schemas.openxmlformats.org/drawingml/2006/main" noChangeAspect="1"/>
          </p:cNvPicPr>
          <p:nvPr/>
        </p:nvPicPr>
        <p:blipFill>
          <a:blip xmlns:r="http://schemas.openxmlformats.org/officeDocument/2006/relationships" xmlns:a="http://schemas.openxmlformats.org/drawingml/2006/main" r:embed="R714e914b01f74db6"/>
          <a:stretch xmlns:a="http://schemas.openxmlformats.org/drawingml/2006/main"/>
        </p:blipFill>
        <p:spPr>
          <a:xfrm xmlns:a="http://schemas.openxmlformats.org/drawingml/2006/main">
            <a:off x="6553200" y="1666875"/>
            <a:ext cx="1257300" cy="1257300"/>
          </a:xfrm>
          <a:prstGeom xmlns:a="http://schemas.openxmlformats.org/drawingml/2006/main" prst="roundRect">
            <a:avLst>
              <a:gd name="adj" fmla="val 12121"/>
            </a:avLst>
          </a:prstGeom>
        </p:spPr>
      </p:pic>
      <p:sp>
        <p:nvSpPr>
          <p:cNvPr id="5" name="team-premium-2">
            <a:extLst xmlns:a="http://schemas.openxmlformats.org/drawingml/2006/main">
              <a:ext uri="{FF2B5EF4-FFF2-40B4-BE49-F238E27FC236}">
                <a16:creationId xmlns:a16="http://schemas.microsoft.com/office/drawing/2014/main" id="{6876597E-8A94-49AA-A5D1-9C782D39AE84}"/>
              </a:ext>
            </a:extLst>
          </p:cNvPr>
          <p:cNvSpPr>
            <a:spLocks xmlns:a="http://schemas.openxmlformats.org/drawingml/2006/main" noGrp="1"/>
          </p:cNvSpPr>
          <p:nvPr/>
        </p:nvSpPr>
        <p:spPr>
          <a:xfrm xmlns:a="http://schemas.openxmlformats.org/drawingml/2006/main">
            <a:off x="2000250" y="1666875"/>
            <a:ext cx="26670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Pulkit Walia</a:t>
            </a:r>
          </a:p>
        </p:txBody>
      </p:sp>
      <p:sp>
        <p:nvSpPr>
          <p:cNvPr id="6" name="team-premium-3">
            <a:extLst xmlns:a="http://schemas.openxmlformats.org/drawingml/2006/main">
              <a:ext uri="{FF2B5EF4-FFF2-40B4-BE49-F238E27FC236}">
                <a16:creationId xmlns:a16="http://schemas.microsoft.com/office/drawing/2014/main" id="{9C6B3158-020C-4CA1-863B-72B584401299}"/>
              </a:ext>
            </a:extLst>
          </p:cNvPr>
          <p:cNvSpPr>
            <a:spLocks xmlns:a="http://schemas.openxmlformats.org/drawingml/2006/main" noGrp="1"/>
          </p:cNvSpPr>
          <p:nvPr/>
        </p:nvSpPr>
        <p:spPr>
          <a:xfrm xmlns:a="http://schemas.openxmlformats.org/drawingml/2006/main">
            <a:off x="2000250" y="2152650"/>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236C4E"/>
                </a:solidFill>
                <a:latin typeface="Helvetica Neue"/>
                <a:ea typeface="Helvetica Neue"/>
                <a:cs typeface="Helvetica Neue"/>
              </a:defRPr>
            </a:defPPr>
          </a:lstStyle>
          <a:p xmlns:a="http://schemas.openxmlformats.org/drawingml/2006/main">
            <a:pPr algn="l">
              <a:buNone/>
              <a:defRPr sz="1725" b="1">
                <a:solidFill>
                  <a:srgbClr val="236C4E"/>
                </a:solidFill>
                <a:latin typeface="Helvetica Neue"/>
                <a:ea typeface="Helvetica Neue"/>
                <a:cs typeface="Helvetica Neue"/>
              </a:defRPr>
            </a:pPr>
            <a:r>
              <a:rPr sz="1725" b="1">
                <a:solidFill>
                  <a:srgbClr val="236C4E"/>
                </a:solidFill>
                <a:latin typeface="Helvetica Neue"/>
                <a:ea typeface="Helvetica Neue"/>
                <a:cs typeface="Helvetica Neue"/>
              </a:rPr>
              <a:t>Operations and Partnerships</a:t>
            </a:r>
          </a:p>
        </p:txBody>
      </p:sp>
      <p:sp>
        <p:nvSpPr>
          <p:cNvPr id="7" name="team-premium-4">
            <a:extLst xmlns:a="http://schemas.openxmlformats.org/drawingml/2006/main">
              <a:ext uri="{FF2B5EF4-FFF2-40B4-BE49-F238E27FC236}">
                <a16:creationId xmlns:a16="http://schemas.microsoft.com/office/drawing/2014/main" id="{2FF1F676-1DD0-4611-B3A3-B0D7011C83D2}"/>
              </a:ext>
            </a:extLst>
          </p:cNvPr>
          <p:cNvSpPr>
            <a:spLocks xmlns:a="http://schemas.openxmlformats.org/drawingml/2006/main" noGrp="1"/>
          </p:cNvSpPr>
          <p:nvPr/>
        </p:nvSpPr>
        <p:spPr>
          <a:xfrm xmlns:a="http://schemas.openxmlformats.org/drawingml/2006/main">
            <a:off x="4905375" y="1781175"/>
            <a:ext cx="9048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c3b6d358f6d642ad"/>
              </a:rPr>
              <a:t>LinkedIn</a:t>
            </a:r>
          </a:p>
        </p:txBody>
      </p:sp>
      <p:sp>
        <p:nvSpPr>
          <p:cNvPr id="8" name="team-premium-5">
            <a:extLst xmlns:a="http://schemas.openxmlformats.org/drawingml/2006/main">
              <a:ext uri="{FF2B5EF4-FFF2-40B4-BE49-F238E27FC236}">
                <a16:creationId xmlns:a16="http://schemas.microsoft.com/office/drawing/2014/main" id="{1AD92C3B-A22F-4FAD-976E-8B7E9098971D}"/>
              </a:ext>
            </a:extLst>
          </p:cNvPr>
          <p:cNvSpPr>
            <a:spLocks xmlns:a="http://schemas.openxmlformats.org/drawingml/2006/main" noGrp="1"/>
          </p:cNvSpPr>
          <p:nvPr/>
        </p:nvSpPr>
        <p:spPr>
          <a:xfrm xmlns:a="http://schemas.openxmlformats.org/drawingml/2006/main">
            <a:off x="8058150" y="1666875"/>
            <a:ext cx="1952625"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00" b="1">
                <a:solidFill>
                  <a:srgbClr val="193C32"/>
                </a:solidFill>
                <a:latin typeface="Helvetica Neue"/>
                <a:ea typeface="Helvetica Neue"/>
                <a:cs typeface="Helvetica Neue"/>
              </a:defRPr>
            </a:defPPr>
          </a:lstStyle>
          <a:p xmlns:a="http://schemas.openxmlformats.org/drawingml/2006/main">
            <a:pPr algn="l">
              <a:buNone/>
              <a:defRPr sz="2700" b="1">
                <a:solidFill>
                  <a:srgbClr val="193C32"/>
                </a:solidFill>
                <a:latin typeface="Helvetica Neue"/>
                <a:ea typeface="Helvetica Neue"/>
                <a:cs typeface="Helvetica Neue"/>
              </a:defRPr>
            </a:pPr>
            <a:r>
              <a:rPr sz="2700" b="1">
                <a:solidFill>
                  <a:srgbClr val="193C32"/>
                </a:solidFill>
                <a:latin typeface="Helvetica Neue"/>
                <a:ea typeface="Helvetica Neue"/>
                <a:cs typeface="Helvetica Neue"/>
              </a:rPr>
              <a:t>Rohit Jain</a:t>
            </a:r>
          </a:p>
        </p:txBody>
      </p:sp>
      <p:sp>
        <p:nvSpPr>
          <p:cNvPr id="9" name="team-premium-6">
            <a:extLst xmlns:a="http://schemas.openxmlformats.org/drawingml/2006/main">
              <a:ext uri="{FF2B5EF4-FFF2-40B4-BE49-F238E27FC236}">
                <a16:creationId xmlns:a16="http://schemas.microsoft.com/office/drawing/2014/main" id="{1CBA991C-4205-4F04-8D91-8911AF4B864B}"/>
              </a:ext>
            </a:extLst>
          </p:cNvPr>
          <p:cNvSpPr>
            <a:spLocks xmlns:a="http://schemas.openxmlformats.org/drawingml/2006/main" noGrp="1"/>
          </p:cNvSpPr>
          <p:nvPr/>
        </p:nvSpPr>
        <p:spPr>
          <a:xfrm xmlns:a="http://schemas.openxmlformats.org/drawingml/2006/main">
            <a:off x="8058150" y="2152650"/>
            <a:ext cx="17621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236C4E"/>
                </a:solidFill>
                <a:latin typeface="Helvetica Neue"/>
                <a:ea typeface="Helvetica Neue"/>
                <a:cs typeface="Helvetica Neue"/>
              </a:defRPr>
            </a:defPPr>
          </a:lstStyle>
          <a:p xmlns:a="http://schemas.openxmlformats.org/drawingml/2006/main">
            <a:pPr algn="l">
              <a:buNone/>
              <a:defRPr sz="1800" b="1">
                <a:solidFill>
                  <a:srgbClr val="236C4E"/>
                </a:solidFill>
                <a:latin typeface="Helvetica Neue"/>
                <a:ea typeface="Helvetica Neue"/>
                <a:cs typeface="Helvetica Neue"/>
              </a:defRPr>
            </a:pPr>
            <a:r>
              <a:rPr sz="1800" b="1">
                <a:solidFill>
                  <a:srgbClr val="236C4E"/>
                </a:solidFill>
                <a:latin typeface="Helvetica Neue"/>
                <a:ea typeface="Helvetica Neue"/>
                <a:cs typeface="Helvetica Neue"/>
              </a:rPr>
              <a:t>Engineering</a:t>
            </a:r>
          </a:p>
        </p:txBody>
      </p:sp>
      <p:sp>
        <p:nvSpPr>
          <p:cNvPr id="10" name="team-premium-7">
            <a:extLst xmlns:a="http://schemas.openxmlformats.org/drawingml/2006/main">
              <a:ext uri="{FF2B5EF4-FFF2-40B4-BE49-F238E27FC236}">
                <a16:creationId xmlns:a16="http://schemas.microsoft.com/office/drawing/2014/main" id="{80658FC1-CD06-49AB-A436-A48065CD7CE3}"/>
              </a:ext>
            </a:extLst>
          </p:cNvPr>
          <p:cNvSpPr>
            <a:spLocks xmlns:a="http://schemas.openxmlformats.org/drawingml/2006/main" noGrp="1"/>
          </p:cNvSpPr>
          <p:nvPr/>
        </p:nvSpPr>
        <p:spPr>
          <a:xfrm xmlns:a="http://schemas.openxmlformats.org/drawingml/2006/main">
            <a:off x="10125075" y="1781175"/>
            <a:ext cx="12382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65746C"/>
                </a:solidFill>
                <a:latin typeface="Helvetica Neue"/>
                <a:ea typeface="Helvetica Neue"/>
                <a:cs typeface="Helvetica Neue"/>
              </a:defRPr>
            </a:defPPr>
          </a:lstStyle>
          <a:p xmlns:a="http://schemas.openxmlformats.org/drawingml/2006/main">
            <a:pPr algn="l">
              <a:buNone/>
              <a:defRPr sz="1350" b="0">
                <a:solidFill>
                  <a:srgbClr val="65746C"/>
                </a:solidFill>
                <a:latin typeface="Helvetica Neue"/>
                <a:ea typeface="Helvetica Neue"/>
                <a:cs typeface="Helvetica Neue"/>
              </a:defRPr>
            </a:pPr>
            <a:r>
              <a:rPr sz="1350" b="0">
                <a:solidFill>
                  <a:srgbClr val="65746C"/>
                </a:solidFill>
                <a:latin typeface="Helvetica Neue"/>
                <a:ea typeface="Helvetica Neue"/>
                <a:cs typeface="Helvetica Neue"/>
                <a:hlinkClick xmlns:r="http://schemas.openxmlformats.org/officeDocument/2006/relationships" r:id="Rbfd42de2f1044cf7"/>
              </a:rPr>
              <a:t>LinkedIn</a:t>
            </a:r>
          </a:p>
        </p:txBody>
      </p:sp>
      <p:pic>
        <p:nvPicPr>
          <p:cNvPr id="11" name="Picture 10">
            <a:extLst xmlns:a="http://schemas.openxmlformats.org/drawingml/2006/main">
              <a:ext uri="{FF2B5EF4-FFF2-40B4-BE49-F238E27FC236}">
                <a16:creationId xmlns:a16="http://schemas.microsoft.com/office/drawing/2014/main" id="{403ABAB9-3C6B-4666-A7E9-A4064A1FDCD9}"/>
              </a:ext>
            </a:extLst>
          </p:cNvPr>
          <p:cNvPicPr>
            <a:picLocks xmlns:a="http://schemas.openxmlformats.org/drawingml/2006/main" noChangeAspect="1"/>
          </p:cNvPicPr>
          <p:nvPr/>
        </p:nvPicPr>
        <p:blipFill>
          <a:blip xmlns:r="http://schemas.openxmlformats.org/officeDocument/2006/relationships" xmlns:a="http://schemas.openxmlformats.org/drawingml/2006/main" r:embed="Rb2c9aad9f4974dc7"/>
          <a:stretch xmlns:a="http://schemas.openxmlformats.org/drawingml/2006/main"/>
        </p:blipFill>
        <p:spPr>
          <a:xfrm xmlns:a="http://schemas.openxmlformats.org/drawingml/2006/main">
            <a:off x="2000250" y="2619375"/>
            <a:ext cx="419100" cy="419100"/>
          </a:xfrm>
          <a:prstGeom xmlns:a="http://schemas.openxmlformats.org/drawingml/2006/main" prst="rect">
            <a:avLst/>
          </a:prstGeom>
        </p:spPr>
      </p:pic>
      <p:sp>
        <p:nvSpPr>
          <p:cNvPr id="12" name="team-premium-8">
            <a:extLst xmlns:a="http://schemas.openxmlformats.org/drawingml/2006/main">
              <a:ext uri="{FF2B5EF4-FFF2-40B4-BE49-F238E27FC236}">
                <a16:creationId xmlns:a16="http://schemas.microsoft.com/office/drawing/2014/main" id="{7E3CA637-624D-4AAD-8E83-02E285C48BB3}"/>
              </a:ext>
            </a:extLst>
          </p:cNvPr>
          <p:cNvSpPr>
            <a:spLocks xmlns:a="http://schemas.openxmlformats.org/drawingml/2006/main" noGrp="1"/>
          </p:cNvSpPr>
          <p:nvPr/>
        </p:nvSpPr>
        <p:spPr>
          <a:xfrm xmlns:a="http://schemas.openxmlformats.org/drawingml/2006/main">
            <a:off x="2571750" y="2600325"/>
            <a:ext cx="3333750" cy="561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65746C"/>
                </a:solidFill>
                <a:latin typeface="Helvetica Neue"/>
                <a:ea typeface="Helvetica Neue"/>
                <a:cs typeface="Helvetica Neue"/>
              </a:defRPr>
            </a:defPPr>
          </a:lstStyle>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Harvard Business School</a:t>
            </a:r>
          </a:p>
          <a:p xmlns:a="http://schemas.openxmlformats.org/drawingml/2006/main">
            <a:pPr algn="l">
              <a:buNone/>
              <a:defRPr sz="1575" b="0">
                <a:solidFill>
                  <a:srgbClr val="65746C"/>
                </a:solidFill>
                <a:latin typeface="Helvetica Neue"/>
                <a:ea typeface="Helvetica Neue"/>
                <a:cs typeface="Helvetica Neue"/>
              </a:defRPr>
            </a:pPr>
            <a:r>
              <a:rPr sz="1575" b="0">
                <a:solidFill>
                  <a:srgbClr val="65746C"/>
                </a:solidFill>
                <a:latin typeface="Helvetica Neue"/>
                <a:ea typeface="Helvetica Neue"/>
                <a:cs typeface="Helvetica Neue"/>
              </a:rPr>
              <a:t>MBA</a:t>
            </a:r>
          </a:p>
        </p:txBody>
      </p:sp>
      <p:pic>
        <p:nvPicPr>
          <p:cNvPr id="13" name="Picture 12">
            <a:extLst xmlns:a="http://schemas.openxmlformats.org/drawingml/2006/main">
              <a:ext uri="{FF2B5EF4-FFF2-40B4-BE49-F238E27FC236}">
                <a16:creationId xmlns:a16="http://schemas.microsoft.com/office/drawing/2014/main" id="{F0F89D07-7C1B-43B9-B79E-909733CA63CF}"/>
              </a:ext>
            </a:extLst>
          </p:cNvPr>
          <p:cNvPicPr>
            <a:picLocks xmlns:a="http://schemas.openxmlformats.org/drawingml/2006/main" noChangeAspect="1"/>
          </p:cNvPicPr>
          <p:nvPr/>
        </p:nvPicPr>
        <p:blipFill>
          <a:blip xmlns:r="http://schemas.openxmlformats.org/officeDocument/2006/relationships" xmlns:a="http://schemas.openxmlformats.org/drawingml/2006/main" r:embed="Rb1513d8de50e4666"/>
          <a:stretch xmlns:a="http://schemas.openxmlformats.org/drawingml/2006/main"/>
        </p:blipFill>
        <p:spPr>
          <a:xfrm xmlns:a="http://schemas.openxmlformats.org/drawingml/2006/main">
            <a:off x="8058150" y="2582466"/>
            <a:ext cx="342900" cy="321469"/>
          </a:xfrm>
          <a:prstGeom xmlns:a="http://schemas.openxmlformats.org/drawingml/2006/main" prst="rect">
            <a:avLst/>
          </a:prstGeom>
        </p:spPr>
      </p:pic>
      <p:sp>
        <p:nvSpPr>
          <p:cNvPr id="14" name="team-premium-9">
            <a:extLst xmlns:a="http://schemas.openxmlformats.org/drawingml/2006/main">
              <a:ext uri="{FF2B5EF4-FFF2-40B4-BE49-F238E27FC236}">
                <a16:creationId xmlns:a16="http://schemas.microsoft.com/office/drawing/2014/main" id="{5E028DA2-DD30-40E0-BD52-F0FD217B419C}"/>
              </a:ext>
            </a:extLst>
          </p:cNvPr>
          <p:cNvSpPr>
            <a:spLocks xmlns:a="http://schemas.openxmlformats.org/drawingml/2006/main" noGrp="1"/>
          </p:cNvSpPr>
          <p:nvPr/>
        </p:nvSpPr>
        <p:spPr>
          <a:xfrm xmlns:a="http://schemas.openxmlformats.org/drawingml/2006/main">
            <a:off x="8553450" y="260985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Texas A&amp;M, Computer Science</a:t>
            </a:r>
          </a:p>
        </p:txBody>
      </p:sp>
      <p:pic>
        <p:nvPicPr>
          <p:cNvPr id="15" name="Picture 14">
            <a:extLst xmlns:a="http://schemas.openxmlformats.org/drawingml/2006/main">
              <a:ext uri="{FF2B5EF4-FFF2-40B4-BE49-F238E27FC236}">
                <a16:creationId xmlns:a16="http://schemas.microsoft.com/office/drawing/2014/main" id="{7AC7F3AB-C639-4739-B01F-55A8D90EFF1F}"/>
              </a:ext>
            </a:extLst>
          </p:cNvPr>
          <p:cNvPicPr>
            <a:picLocks xmlns:a="http://schemas.openxmlformats.org/drawingml/2006/main" noChangeAspect="1"/>
          </p:cNvPicPr>
          <p:nvPr/>
        </p:nvPicPr>
        <p:blipFill>
          <a:blip xmlns:r="http://schemas.openxmlformats.org/officeDocument/2006/relationships" xmlns:a="http://schemas.openxmlformats.org/drawingml/2006/main" r:embed="Rfd886a891fa1400c"/>
          <a:stretch xmlns:a="http://schemas.openxmlformats.org/drawingml/2006/main"/>
        </p:blipFill>
        <p:spPr>
          <a:xfrm xmlns:a="http://schemas.openxmlformats.org/drawingml/2006/main">
            <a:off x="8058150" y="3043707"/>
            <a:ext cx="342900" cy="256237"/>
          </a:xfrm>
          <a:prstGeom xmlns:a="http://schemas.openxmlformats.org/drawingml/2006/main" prst="rect">
            <a:avLst/>
          </a:prstGeom>
        </p:spPr>
      </p:pic>
      <p:sp>
        <p:nvSpPr>
          <p:cNvPr id="16" name="team-premium-10">
            <a:extLst xmlns:a="http://schemas.openxmlformats.org/drawingml/2006/main">
              <a:ext uri="{FF2B5EF4-FFF2-40B4-BE49-F238E27FC236}">
                <a16:creationId xmlns:a16="http://schemas.microsoft.com/office/drawing/2014/main" id="{819BCC42-91C4-4913-9152-2C5ECF6DEEC2}"/>
              </a:ext>
            </a:extLst>
          </p:cNvPr>
          <p:cNvSpPr>
            <a:spLocks xmlns:a="http://schemas.openxmlformats.org/drawingml/2006/main" noGrp="1"/>
          </p:cNvSpPr>
          <p:nvPr/>
        </p:nvSpPr>
        <p:spPr>
          <a:xfrm xmlns:a="http://schemas.openxmlformats.org/drawingml/2006/main">
            <a:off x="8553450" y="3038475"/>
            <a:ext cx="3143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5746C"/>
                </a:solidFill>
                <a:latin typeface="Helvetica Neue"/>
                <a:ea typeface="Helvetica Neue"/>
                <a:cs typeface="Helvetica Neue"/>
              </a:defRPr>
            </a:defPPr>
          </a:lstStyle>
          <a:p xmlns:a="http://schemas.openxmlformats.org/drawingml/2006/main">
            <a:pPr algn="l">
              <a:buNone/>
              <a:defRPr sz="1500" b="0">
                <a:solidFill>
                  <a:srgbClr val="65746C"/>
                </a:solidFill>
                <a:latin typeface="Helvetica Neue"/>
                <a:ea typeface="Helvetica Neue"/>
                <a:cs typeface="Helvetica Neue"/>
              </a:defRPr>
            </a:pPr>
            <a:r>
              <a:rPr sz="1500" b="0">
                <a:solidFill>
                  <a:srgbClr val="65746C"/>
                </a:solidFill>
                <a:latin typeface="Helvetica Neue"/>
                <a:ea typeface="Helvetica Neue"/>
                <a:cs typeface="Helvetica Neue"/>
              </a:rPr>
              <a:t>IIT Kharagpur</a:t>
            </a:r>
          </a:p>
        </p:txBody>
      </p:sp>
      <p:sp>
        <p:nvSpPr>
          <p:cNvPr id="17" name="team-premium-11">
            <a:extLst xmlns:a="http://schemas.openxmlformats.org/drawingml/2006/main">
              <a:ext uri="{FF2B5EF4-FFF2-40B4-BE49-F238E27FC236}">
                <a16:creationId xmlns:a16="http://schemas.microsoft.com/office/drawing/2014/main" id="{9CD3FA75-DADB-42A0-B21B-2091DEF33B7E}"/>
              </a:ext>
            </a:extLst>
          </p:cNvPr>
          <p:cNvSpPr>
            <a:spLocks xmlns:a="http://schemas.openxmlformats.org/drawingml/2006/main" noGrp="1"/>
          </p:cNvSpPr>
          <p:nvPr/>
        </p:nvSpPr>
        <p:spPr>
          <a:xfrm xmlns:a="http://schemas.openxmlformats.org/drawingml/2006/main">
            <a:off x="495300" y="3686175"/>
            <a:ext cx="531495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Urban Company founding team member. Helped build the marketplace from launch to a $3B IPO.</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Launched a home security brand at 19 and grew revenue to $700K.</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Bessemer Venture Partners investor. Deployed $50M in consumer AI startups.</a:t>
            </a:r>
          </a:p>
        </p:txBody>
      </p:sp>
      <p:sp>
        <p:nvSpPr>
          <p:cNvPr id="18" name="team-premium-12">
            <a:extLst xmlns:a="http://schemas.openxmlformats.org/drawingml/2006/main">
              <a:ext uri="{FF2B5EF4-FFF2-40B4-BE49-F238E27FC236}">
                <a16:creationId xmlns:a16="http://schemas.microsoft.com/office/drawing/2014/main" id="{B74F479A-3BCE-4289-B4A2-D3F3E0BC7DCD}"/>
              </a:ext>
            </a:extLst>
          </p:cNvPr>
          <p:cNvSpPr>
            <a:spLocks xmlns:a="http://schemas.openxmlformats.org/drawingml/2006/main" noGrp="1"/>
          </p:cNvSpPr>
          <p:nvPr/>
        </p:nvSpPr>
        <p:spPr>
          <a:xfrm xmlns:a="http://schemas.openxmlformats.org/drawingml/2006/main">
            <a:off x="6553200" y="3686175"/>
            <a:ext cx="5143500" cy="2581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193C32"/>
                </a:solidFill>
                <a:latin typeface="Helvetica Neue"/>
                <a:ea typeface="Helvetica Neue"/>
                <a:cs typeface="Helvetica Neue"/>
              </a:defRPr>
            </a:defPPr>
          </a:lstStyle>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5 years as a senior software engineer at Amazon, Square and Citrix.</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Taught system design to 2,500 engineers on Udemy.</a:t>
            </a:r>
          </a:p>
          <a:p xmlns:a="http://schemas.openxmlformats.org/drawingml/2006/main">
            <a:pPr marL="228600" indent="-114300" algn="l">
              <a:spcAft>
                <a:spcPts val="1600"/>
              </a:spcAft>
              <a:buChar char="•"/>
              <a:defRPr sz="1950" b="0">
                <a:solidFill>
                  <a:srgbClr val="193C32"/>
                </a:solidFill>
                <a:latin typeface="Helvetica Neue"/>
                <a:ea typeface="Helvetica Neue"/>
                <a:cs typeface="Helvetica Neue"/>
              </a:defRPr>
            </a:pPr>
            <a:r>
              <a:rPr sz="1950" b="0">
                <a:solidFill>
                  <a:srgbClr val="193C32"/>
                </a:solidFill>
                <a:latin typeface="Helvetica Neue"/>
                <a:ea typeface="Helvetica Neue"/>
                <a:cs typeface="Helvetica Neue"/>
              </a:rPr>
              <a:t>Built MCP integrations for production use.</a:t>
            </a:r>
          </a:p>
        </p:txBody>
      </p:sp>
      <p:sp>
        <p:nvSpPr>
          <p:cNvPr id="19" name="team-premium-13">
            <a:extLst xmlns:a="http://schemas.openxmlformats.org/drawingml/2006/main">
              <a:ext uri="{FF2B5EF4-FFF2-40B4-BE49-F238E27FC236}">
                <a16:creationId xmlns:a16="http://schemas.microsoft.com/office/drawing/2014/main" id="{00C72333-1F4A-4A90-AEBE-E98E7D08609E}"/>
              </a:ext>
            </a:extLst>
          </p:cNvPr>
          <p:cNvSpPr>
            <a:spLocks xmlns:a="http://schemas.openxmlformats.org/drawingml/2006/main" noGrp="1"/>
          </p:cNvSpPr>
          <p:nvPr/>
        </p:nvSpPr>
        <p:spPr>
          <a:xfrm xmlns:a="http://schemas.openxmlformats.org/drawingml/2006/main">
            <a:off x="11049000" y="6619875"/>
            <a:ext cx="66675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65746C"/>
                </a:solidFill>
                <a:latin typeface="Helvetica Neue"/>
                <a:ea typeface="Helvetica Neue"/>
                <a:cs typeface="Helvetica Neue"/>
              </a:defRPr>
            </a:defPPr>
          </a:lstStyle>
          <a:p xmlns:a="http://schemas.openxmlformats.org/drawingml/2006/main">
            <a:pPr algn="l">
              <a:buNone/>
              <a:defRPr sz="1275" b="0">
                <a:solidFill>
                  <a:srgbClr val="65746C"/>
                </a:solidFill>
                <a:latin typeface="Helvetica Neue"/>
                <a:ea typeface="Helvetica Neue"/>
                <a:cs typeface="Helvetica Neue"/>
              </a:defRPr>
            </a:pPr>
            <a:r>
              <a:rPr sz="1275" b="0">
                <a:solidFill>
                  <a:srgbClr val="65746C"/>
                </a:solidFill>
                <a:latin typeface="Helvetica Neue"/>
                <a:ea typeface="Helvetica Neue"/>
                <a:cs typeface="Helvetica Neue"/>
              </a:rPr>
              <a:t>6 / 6</a:t>
            </a:r>
          </a:p>
        </p:txBody>
      </p:sp>
    </p:spTree>
    <p:extLst>
      <p:ext uri="{BB962C8B-B14F-4D97-AF65-F5344CB8AC3E}">
        <p14:creationId xmlns:p14="http://schemas.microsoft.com/office/powerpoint/2010/main" val="1203062399"/>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2026-10-11T02:22:51.5790000Z</dcterms:created>
  <dcterms:modified xsi:type="dcterms:W3CDTF">2026-10-11T02:22:51.5790000Z</dcterms:modified>
</coreProperties>
</file>