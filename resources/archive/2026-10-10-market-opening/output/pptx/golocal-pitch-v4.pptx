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6e7c21542924d43" /><Relationship Type="http://schemas.openxmlformats.org/officeDocument/2006/relationships/extended-properties" Target="/docProps/app.xml" Id="R9ff2be33aa24472e" /><Relationship Type="http://schemas.openxmlformats.org/officeDocument/2006/relationships/officeDocument" Target="/ppt/presentation.xml" Id="R221604278a8e4ade" /></Relationships>
</file>

<file path=ppt/presentation.xml><?xml version="1.0" encoding="utf-8"?>
<p:presentation xmlns:p="http://schemas.openxmlformats.org/presentationml/2006/main">
  <p:sldMasterIdLst>
    <p:sldMasterId xmlns:r="http://schemas.openxmlformats.org/officeDocument/2006/relationships" id="2147483648" r:id="R91fb4b8733cd4f5a"/>
  </p:sldMasterIdLst>
  <p:notesMasterIdLst>
    <p:notesMasterId xmlns:r="http://schemas.openxmlformats.org/officeDocument/2006/relationships" r:id="Rde0d7ffc19df463a"/>
  </p:notesMasterIdLst>
  <p:sldIdLst>
    <p:sldId xmlns:r="http://schemas.openxmlformats.org/officeDocument/2006/relationships" id="256" r:id="R44bfefaabb7547fa"/>
    <p:sldId xmlns:r="http://schemas.openxmlformats.org/officeDocument/2006/relationships" id="257" r:id="R866495d51e9a4ee9"/>
    <p:sldId xmlns:r="http://schemas.openxmlformats.org/officeDocument/2006/relationships" id="258" r:id="R73611e7cd3234073"/>
    <p:sldId xmlns:r="http://schemas.openxmlformats.org/officeDocument/2006/relationships" id="259" r:id="Rc5024106d25e421d"/>
    <p:sldId xmlns:r="http://schemas.openxmlformats.org/officeDocument/2006/relationships" id="260" r:id="R80d8f5b8ffe645fb"/>
    <p:sldId xmlns:r="http://schemas.openxmlformats.org/officeDocument/2006/relationships" id="261" r:id="R09aae183d0c2449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adec68ea2c94ccf" /><Relationship Type="http://schemas.openxmlformats.org/officeDocument/2006/relationships/slideMaster" Target="/ppt/slideMasters/slideMaster1.xml" Id="R91fb4b8733cd4f5a" /><Relationship Type="http://schemas.openxmlformats.org/officeDocument/2006/relationships/notesMaster" Target="/ppt/notesMasters/notesMaster1.xml" Id="Rde0d7ffc19df463a" /><Relationship Type="http://schemas.openxmlformats.org/officeDocument/2006/relationships/presProps" Target="/ppt/presProps.xml" Id="Rf6fff03e3599422f" /><Relationship Type="http://schemas.openxmlformats.org/officeDocument/2006/relationships/tableStyles" Target="/ppt/tableStyles.xml" Id="R9b47ee25243a417e" /><Relationship Type="http://schemas.openxmlformats.org/officeDocument/2006/relationships/slide" Target="/ppt/slides/slide1.xml" Id="R44bfefaabb7547fa" /><Relationship Type="http://schemas.openxmlformats.org/officeDocument/2006/relationships/slide" Target="/ppt/slides/slide2.xml" Id="R866495d51e9a4ee9" /><Relationship Type="http://schemas.openxmlformats.org/officeDocument/2006/relationships/slide" Target="/ppt/slides/slide3.xml" Id="R73611e7cd3234073" /><Relationship Type="http://schemas.openxmlformats.org/officeDocument/2006/relationships/slide" Target="/ppt/slides/slide4.xml" Id="Rc5024106d25e421d" /><Relationship Type="http://schemas.openxmlformats.org/officeDocument/2006/relationships/slide" Target="/ppt/slides/slide5.xml" Id="R80d8f5b8ffe645fb" /><Relationship Type="http://schemas.openxmlformats.org/officeDocument/2006/relationships/slide" Target="/ppt/slides/slide6.xml" Id="R09aae183d0c2449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20159f362b7400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fba0586b1144fd2" /><Relationship Type="http://schemas.openxmlformats.org/officeDocument/2006/relationships/notesMaster" Target="/ppt/notesMasters/notesMaster1.xml" Id="R291aa69a0b554747" /></Relationships>
</file>

<file path=ppt/notesSlides/_rels/notesSlide2.xml.rels>&#65279;<?xml version="1.0" encoding="utf-8"?><Relationships xmlns="http://schemas.openxmlformats.org/package/2006/relationships"><Relationship Type="http://schemas.openxmlformats.org/officeDocument/2006/relationships/slide" Target="/ppt/slides/slide2.xml" Id="Re24260c5f2cf4b3d" /><Relationship Type="http://schemas.openxmlformats.org/officeDocument/2006/relationships/notesMaster" Target="/ppt/notesMasters/notesMaster1.xml" Id="Rb2216a7009bd4f5d" /></Relationships>
</file>

<file path=ppt/notesSlides/_rels/notesSlide3.xml.rels>&#65279;<?xml version="1.0" encoding="utf-8"?><Relationships xmlns="http://schemas.openxmlformats.org/package/2006/relationships"><Relationship Type="http://schemas.openxmlformats.org/officeDocument/2006/relationships/slide" Target="/ppt/slides/slide3.xml" Id="R86007db4b1764b90" /><Relationship Type="http://schemas.openxmlformats.org/officeDocument/2006/relationships/notesMaster" Target="/ppt/notesMasters/notesMaster1.xml" Id="Re32cdb6c74664853" /></Relationships>
</file>

<file path=ppt/notesSlides/_rels/notesSlide4.xml.rels>&#65279;<?xml version="1.0" encoding="utf-8"?><Relationships xmlns="http://schemas.openxmlformats.org/package/2006/relationships"><Relationship Type="http://schemas.openxmlformats.org/officeDocument/2006/relationships/slide" Target="/ppt/slides/slide4.xml" Id="R897430967c3f4c75" /><Relationship Type="http://schemas.openxmlformats.org/officeDocument/2006/relationships/notesMaster" Target="/ppt/notesMasters/notesMaster1.xml" Id="Rfcada84000da473f" /></Relationships>
</file>

<file path=ppt/notesSlides/_rels/notesSlide5.xml.rels>&#65279;<?xml version="1.0" encoding="utf-8"?><Relationships xmlns="http://schemas.openxmlformats.org/package/2006/relationships"><Relationship Type="http://schemas.openxmlformats.org/officeDocument/2006/relationships/slide" Target="/ppt/slides/slide5.xml" Id="R9a163680dc3a4234" /><Relationship Type="http://schemas.openxmlformats.org/officeDocument/2006/relationships/notesMaster" Target="/ppt/notesMasters/notesMaster1.xml" Id="R64b854511e424c5f" /></Relationships>
</file>

<file path=ppt/notesSlides/_rels/notesSlide6.xml.rels>&#65279;<?xml version="1.0" encoding="utf-8"?><Relationships xmlns="http://schemas.openxmlformats.org/package/2006/relationships"><Relationship Type="http://schemas.openxmlformats.org/officeDocument/2006/relationships/slide" Target="/ppt/slides/slide6.xml" Id="R8dbdf01648a54a49" /><Relationship Type="http://schemas.openxmlformats.org/officeDocument/2006/relationships/notesMaster" Target="/ppt/notesMasters/notesMaster1.xml" Id="R5da9bd36610340e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Market/problem opening revised at the founder’s request, October 10 2026. Slide 1 introduces no GoLocal product name or Stripe analogy. It establishes the $600B home-services opportunity and the sequence of technological unlocks: telephones enabled discovery and outreach; internet search/listings enabled comparison; mobile/GPS improved location awareness and reviews; AI assistants let customers describe needs conversationally; personal AI agents can take on research and outreach. The remaining gap is access to structured authorized business data and reliable transactions across fragmented suppliers and software. Agents can already call/browse and some service platforms already transact; this is not a claim that every booking, payment or scoping workflow is impossible. Complex scope can require merchant input.</a:t>
            </a:r>
          </a:p>
          <a:p xmlns:a="http://schemas.openxmlformats.org/drawingml/2006/main">
            <a:r>
              <a:t>Market figure: $600B home services, preserved from founder-sourced resources/business-thesis.md and the user-edited thesis. Geography/year/methodology not supplied in the project source; underlying service spend is not GoLocal fee revenue.</a:t>
            </a:r>
          </a:p>
          <a:p xmlns:a="http://schemas.openxmlformats.org/drawingml/2006/main">
            <a:r>
              <a:t>Channel eras selected for the narrative, not precise invention or universal adoption dates: Pre-2000 telephones/Yellow Pages; 2000–2010 internet/Google/Craigslist; 2010–2025 mobile/GPS/Google Maps; 2020s AI assistants; 2026+ personal AI agents (founder framing). No fixed ten-year-cycle claim. Craigslist history: https://www.craigslist.org/about/mission_and_history ; Google Maps retrospective: https://blog.google/products-and-platforms/products/maps/look-back-15-years-mapping-world/ . Earlier launch dates do not contradict later channel-adoption periods. Personal-agent capabilities and demand-side evidence are on slide 2; GoLocal is introduced on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Hark &gt;$700M Series A: https://hark.com/articles/hark-announces-usd700-million-fundraising-round ; Instinct $1B Series C: https://www.businesswire.com/news/home/20260928153437/en/ ; earlier reported Instinct cumulative $350M: https://techcrunch.com/2026/08/26/viral-ai-startup-instinct-has-raised-350-million-at-a-2-5-billion-valuation/ ; Town $55M Series A: https://www.town.com/press/series-a . Selected-company total &gt;$2.105B; not an exhaustive market aggregate. Excludes unverified Wajo funding and general AI-lab financing that cannot be allocated to Muse/Dots.</a:t>
            </a:r>
          </a:p>
          <a:p xmlns:a="http://schemas.openxmlformats.org/drawingml/2006/main">
            <a:r>
              <a:t>Muse platform guidelines: https://muse.ai/platform/docs . OpenAI plugin guidelines: https://developers.openai.com/plugins/plugin-guidelines and Dots supported installed/enabled plugins: https://learn.chatgpt.com/docs/dots/computers-and-apps . Claude directory versus custom: https://claude.com/docs/connectors/building/directory-vs-custom . Review, compatibility, account availability and permissions vary. Platforms support developer connectors; GoLocal is not approved or integrated yet.</a:t>
            </a:r>
          </a:p>
          <a:p xmlns:a="http://schemas.openxmlformats.org/drawingml/2006/main">
            <a:r>
              <a:t>Primary connector documentation accessed October 10 2026. Company-name shapes are editable logo positions for later design, not partnership logos. The shift of local discovery into many agents is the investment thesis, not a quantified share shift. Funding does not establish local-service request volume. Founder-sourced market figures ($2T local services, $600B home services) preserved from business-thesis.md; geography, year and methodology not supplied. Home services is a subset and the figures must not be added. They describe underlying services spending, not addressable GoLocal fee revenue. Existing competition includes https://updater.com/ ; claim concerns fragmentation and intended participating coverage, not no middleware anywhere. Agent platforms may have both consumer and business workflows; funding is company-level.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architecture. FSM = field service management; CRM = customer relationship management. System labels are generic integration targets, not signed vendors or live integrations. GoLocal recruits suitable participating supply, obtains merchant authorization, connects permitted business software and standardizes the data/action interface for agents. Existing systems remain authoritative for schedules, quotes and job status. Transaction history is exposed only where supported, authorized and appropriate. One integration per business provides access to the agents actually connected to GoLocal, not every agent in the market. APIs can compare participating providers without contacting each sequentially, but asynchronous availability, complex scope or provider acceptance can still require follow-up. The founder supplied ~15 minutes of calls to 3-4 providers versus an under-5-second API lookup as an illustration; it is not a measured benchmark, speed guarantee or full-booking latency. Quote, payment and management capabilities are proposed; payment collection can use approved external checkout and is separate from GoLocal success-fee monetization. Discovery must also prioritize fit, availability, consent and service coverage, not merely lowest price. GoLocal has no claimed live bookings.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proposal, not signed pricing, revenue projections or validated unit economics. Supplier pays for a fulfilled job from a new customer; proposed partner share is not agreed. New-customer acquisition and serving an existing customer are separate hypotheses. Payment processing itself is not assumed to be the monetization model. Direct agent-platform routing requires a secured partnership; supplier partner Cactus is not that demand partner. A marketplace/directory connector still needs user discovery and consent. One prompt may start installation on supported platforms; permissions, review and custom integration requirements vary. These are routes under exploration, not exclusive or finalized. Muse platform guidelines: https://muse.ai/platform/docs . OpenAI plugin guidelines: https://developers.openai.com/plugins/plugin-guidelines and Dots supported installed/enabled plugins: https://learn.chatgpt.com/docs/dots/computers-and-apps . Claude directory versus custom: https://claude.com/docs/connectors/building/directory-vs-custom . Review, compatibility, account availability and permissions vary. Platforms support developer connectors; GoLocal is not approved or integrated yet.</a:t>
            </a:r>
          </a:p>
          <a:p xmlns:a="http://schemas.openxmlformats.org/drawingml/2006/main">
            <a:r>
              <a:t>Muse separates approved connector discovery from editorial featuring and guarantees neither ranking nor traffic. OpenAI says strong utility/satisfaction may support enhanced placement or proactive suggestions. Claude directory listings are eligible for Suggested Connectors; custom connectors are not. Transaction history alone is not a published universal ranking mechanism. Early presence can help learn and prove utility; there is no guaranteed first-mover distribution advantage. Important tests: who installs/routes requests, how many requests finish, whether suppliers pay, and contribution after acquisition, integration and support costs.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reports October 10 2026: Cactus AI (YC) serves 100+ mid-market trade shops in Salt Lake City and Dallas and agreed to introductions and booking access through its existing customers. Separate back-office management company agreed to onboard its 20 clients. Counts are not unique live GoLocal customers and are not summed. No active integration, request-routing partner, production booking, paid continuation or revenue established. Positive interviews and partnership calls reported without a count or attributable testimonials. Public Cactus identity: https://www.ycombinator.com/companies/oncactus ; public profile does not prove the private commitment. Initial trade and city to be selected from eligible requests and partner access, not assumed Boston cleaning. Next tasks include getting merchant-specific authorization and an actual customer demand channel. Team should show the product completes permitted scoped actions rather than only serving listings.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Pulkit founder-supplied: Urban Company founding team member, decade building Asia local services, helped scale company zero to $3B IPO. Company milestone, not personal wealth. HBS MBA student. Profile https://www.linkedin.com/in/pulkitwalia/ . Rohit is shown as Engineering as supplied, not an inferred CTO/cofounder title; role commitment unspecified. Founder reports production-grade MCP products and system-design teaching. Engineering employer context: https://laoh.ai/ links to supplied https://www.linkedin.com/in/rohit-jain-343437187/ . Relevant fit is operational experience building local services plus backend and transaction systems. Connector, demand and unit-economics proof is still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27027691826468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ce133d68ea44f9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e584584e741471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d133c01f8714f6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1839b644e0e450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1e1d656cfd2447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DEA33C-04CC-4142-BE91-C830BDD080A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5F36821-6108-4999-8623-899E645C5C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3E9C23-F88E-4B26-9ED1-FF13C3B3F9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877624-7B75-4ABB-9549-98AB4E404E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582531E-58F9-4E97-BEE2-A5AF64392B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E7F64E-40F6-4EAB-88FF-C6221C1BD3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2CB5DF-9F2E-44B8-9CE9-7A995A3B05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FBAF9DD-0EFA-424A-B9BC-62623C9B06D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3F0720-9661-4BC8-BA55-1F49ED7D6A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2CA2249-D475-4C73-BF2C-30661840F5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6e4c86005214d37" /><Relationship Type="http://schemas.openxmlformats.org/officeDocument/2006/relationships/slideLayout" Target="/ppt/slideLayouts/slideLayout1.xml" Id="R152d73df1b834783" /><Relationship Type="http://schemas.openxmlformats.org/officeDocument/2006/relationships/slideLayout" Target="/ppt/slideLayouts/slideLayout2.xml" Id="Rcb251df0989b4edd" /><Relationship Type="http://schemas.openxmlformats.org/officeDocument/2006/relationships/slideLayout" Target="/ppt/slideLayouts/slideLayout3.xml" Id="Ra1cc989198e24391" /><Relationship Type="http://schemas.openxmlformats.org/officeDocument/2006/relationships/slideLayout" Target="/ppt/slideLayouts/slideLayout4.xml" Id="R583c54b4c5fd4370" /><Relationship Type="http://schemas.openxmlformats.org/officeDocument/2006/relationships/slideLayout" Target="/ppt/slideLayouts/slideLayout5.xml" Id="R88877e9cb0dd4b71" /><Relationship Type="http://schemas.openxmlformats.org/officeDocument/2006/relationships/slideLayout" Target="/ppt/slideLayouts/slideLayout6.xml" Id="R3430aefffee141d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52d73df1b834783"/>
    <p:sldLayoutId xmlns:r="http://schemas.openxmlformats.org/officeDocument/2006/relationships" id="2147483650" r:id="Rcb251df0989b4edd"/>
    <p:sldLayoutId xmlns:r="http://schemas.openxmlformats.org/officeDocument/2006/relationships" id="2147483651" r:id="Ra1cc989198e24391"/>
    <p:sldLayoutId xmlns:r="http://schemas.openxmlformats.org/officeDocument/2006/relationships" id="2147483652" r:id="R583c54b4c5fd4370"/>
    <p:sldLayoutId xmlns:r="http://schemas.openxmlformats.org/officeDocument/2006/relationships" id="2147483653" r:id="R88877e9cb0dd4b71"/>
    <p:sldLayoutId xmlns:r="http://schemas.openxmlformats.org/officeDocument/2006/relationships" id="2147483654" r:id="R3430aefffee141d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b81dc09c98540f8" /><Relationship Type="http://schemas.openxmlformats.org/officeDocument/2006/relationships/notesSlide" Target="/ppt/notesSlides/notesSlide1.xml" Id="Rc0796b6860e641a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16751c506c749bf" /><Relationship Type="http://schemas.openxmlformats.org/officeDocument/2006/relationships/notesSlide" Target="/ppt/notesSlides/notesSlide2.xml" Id="R7498f94c5e8045e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5179ea7a6f74fec" /><Relationship Type="http://schemas.openxmlformats.org/officeDocument/2006/relationships/notesSlide" Target="/ppt/notesSlides/notesSlide3.xml" Id="Rbbd48eaa48c84f9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3f527e9495a4e32" /><Relationship Type="http://schemas.openxmlformats.org/officeDocument/2006/relationships/notesSlide" Target="/ppt/notesSlides/notesSlide4.xml" Id="R2364854ac2604e8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b7f328727534b48" /><Relationship Type="http://schemas.openxmlformats.org/officeDocument/2006/relationships/notesSlide" Target="/ppt/notesSlides/notesSlide5.xml" Id="Rca442fbceca4418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3f94a06b5e944a9" /><Relationship Type="http://schemas.openxmlformats.org/officeDocument/2006/relationships/notesSlide" Target="/ppt/notesSlides/notesSlide6.xml" Id="R3379994dfe434e98" /></Relationships>
</file>

<file path=ppt/slides/slide1.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9" name="market-opening-0">
            <a:extLst xmlns:a="http://schemas.openxmlformats.org/drawingml/2006/main">
              <a:ext uri="{FF2B5EF4-FFF2-40B4-BE49-F238E27FC236}">
                <a16:creationId xmlns:a16="http://schemas.microsoft.com/office/drawing/2014/main" id="{F4E498D0-7808-4ED8-9798-3246CE02B1DD}"/>
              </a:ext>
            </a:extLst>
          </p:cNvPr>
          <p:cNvSpPr>
            <a:spLocks xmlns:a="http://schemas.openxmlformats.org/drawingml/2006/main" noGrp="1"/>
          </p:cNvSpPr>
          <p:nvPr/>
        </p:nvSpPr>
        <p:spPr>
          <a:xfrm xmlns:a="http://schemas.openxmlformats.org/drawingml/2006/main">
            <a:off x="495300" y="400050"/>
            <a:ext cx="11201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050" b="1">
                <a:solidFill>
                  <a:srgbClr val="193C32"/>
                </a:solidFill>
                <a:latin typeface="Helvetica Neue"/>
                <a:ea typeface="Helvetica Neue"/>
                <a:cs typeface="Helvetica Neue"/>
              </a:defRPr>
            </a:defPPr>
          </a:lstStyle>
          <a:p xmlns:a="http://schemas.openxmlformats.org/drawingml/2006/main">
            <a:pPr>
              <a:defRPr sz="4050" b="1">
                <a:solidFill>
                  <a:srgbClr val="193C32"/>
                </a:solidFill>
                <a:latin typeface="Helvetica Neue"/>
                <a:ea typeface="Helvetica Neue"/>
                <a:cs typeface="Helvetica Neue"/>
              </a:defRPr>
            </a:pPr>
            <a:r>
              <a:rPr sz="4050" b="1">
                <a:solidFill>
                  <a:srgbClr val="193C32"/>
                </a:solidFill>
                <a:latin typeface="Helvetica Neue"/>
                <a:ea typeface="Helvetica Neue"/>
                <a:cs typeface="Helvetica Neue"/>
              </a:rPr>
              <a:t>$600B home-services market</a:t>
            </a:r>
          </a:p>
        </p:txBody>
      </p:sp>
      <p:sp>
        <p:nvSpPr>
          <p:cNvPr id="2" name="market-opening-1">
            <a:extLst xmlns:a="http://schemas.openxmlformats.org/drawingml/2006/main">
              <a:ext uri="{FF2B5EF4-FFF2-40B4-BE49-F238E27FC236}">
                <a16:creationId xmlns:a16="http://schemas.microsoft.com/office/drawing/2014/main" id="{5B598389-CE42-4A81-8483-EF8440965B10}"/>
              </a:ext>
            </a:extLst>
          </p:cNvPr>
          <p:cNvSpPr>
            <a:spLocks xmlns:a="http://schemas.openxmlformats.org/drawingml/2006/main" noGrp="1"/>
          </p:cNvSpPr>
          <p:nvPr/>
        </p:nvSpPr>
        <p:spPr>
          <a:xfrm xmlns:a="http://schemas.openxmlformats.org/drawingml/2006/main">
            <a:off x="495300" y="1295400"/>
            <a:ext cx="11201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00" b="0">
                <a:solidFill>
                  <a:srgbClr val="65746C"/>
                </a:solidFill>
                <a:latin typeface="Helvetica Neue"/>
                <a:ea typeface="Helvetica Neue"/>
                <a:cs typeface="Helvetica Neue"/>
              </a:defRPr>
            </a:defPPr>
          </a:lstStyle>
          <a:p xmlns:a="http://schemas.openxmlformats.org/drawingml/2006/main">
            <a:pPr>
              <a:defRPr sz="2400" b="0">
                <a:solidFill>
                  <a:srgbClr val="65746C"/>
                </a:solidFill>
                <a:latin typeface="Helvetica Neue"/>
                <a:ea typeface="Helvetica Neue"/>
                <a:cs typeface="Helvetica Neue"/>
              </a:defRPr>
            </a:pPr>
            <a:r>
              <a:rPr sz="2400" b="0">
                <a:solidFill>
                  <a:srgbClr val="65746C"/>
                </a:solidFill>
                <a:latin typeface="Helvetica Neue"/>
                <a:ea typeface="Helvetica Neue"/>
                <a:cs typeface="Helvetica Neue"/>
              </a:rPr>
              <a:t>Each tech era unlocked more of the customer journey</a:t>
            </a:r>
          </a:p>
        </p:txBody>
      </p:sp>
      <p:graphicFrame>
        <p:nvGraphicFramePr>
          <p:cNvPr id="3" name="">
            <a:extLst xmlns:a="http://schemas.openxmlformats.org/drawingml/2006/main">
              <a:ext uri="{FF2B5EF4-FFF2-40B4-BE49-F238E27FC236}">
                <a16:creationId xmlns:a16="http://schemas.microsoft.com/office/drawing/2014/main" id="{68367759-550F-47D9-A03E-9ACA51408715}"/>
              </a:ext>
            </a:extLst>
          </p:cNvPr>
          <p:cNvGraphicFramePr/>
          <p:nvPr/>
        </p:nvGraphicFramePr>
        <p:xfrm>
          <a:off xmlns:a="http://schemas.openxmlformats.org/drawingml/2006/main" x="495300" y="2105025"/>
          <a:ext xmlns:a="http://schemas.openxmlformats.org/drawingml/2006/main" cx="11201400" cy="2400300"/>
        </p:xfrm>
        <a:graphic xmlns:a="http://schemas.openxmlformats.org/drawingml/2006/main">
          <a:graphicData uri="http://schemas.openxmlformats.org/drawingml/2006/table">
            <a:tbl>
              <a:tblPr firstRow="0" firstCol="0" bandRow="0"/>
              <a:tblGrid>
                <a:gridCol w="2240280"/>
                <a:gridCol w="2240280"/>
                <a:gridCol w="2240280"/>
                <a:gridCol w="2240280"/>
                <a:gridCol w="2240280"/>
              </a:tblGrid>
              <a:tr h="381000">
                <a:tc>
                  <a:txBody>
                    <a:bodyPr wrap="square">
                      <a:noAutofit/>
                    </a:bodyPr>
                    <a:lstStyle/>
                    <a:p>
                      <a:pPr algn="ctr"/>
                      <a:r>
                        <a:rPr sz="1725" b="1">
                          <a:solidFill>
                            <a:srgbClr val="65746C"/>
                          </a:solidFill>
                          <a:latin typeface="Helvetica Neue"/>
                          <a:ea typeface="Helvetica Neue"/>
                          <a:cs typeface="Helvetica Neue"/>
                        </a:rPr>
                        <a:t>Pre-2000</a:t>
                      </a:r>
                    </a:p>
                  </a:txBody>
                  <a:tcPr marL="114300" marR="114300" marT="57150" marB="571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725" b="1">
                          <a:solidFill>
                            <a:srgbClr val="65746C"/>
                          </a:solidFill>
                          <a:latin typeface="Helvetica Neue"/>
                          <a:ea typeface="Helvetica Neue"/>
                          <a:cs typeface="Helvetica Neue"/>
                        </a:rPr>
                        <a:t>2000–2010</a:t>
                      </a:r>
                    </a:p>
                  </a:txBody>
                  <a:tcPr marL="114300" marR="114300" marT="57150" marB="571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725" b="1">
                          <a:solidFill>
                            <a:srgbClr val="65746C"/>
                          </a:solidFill>
                          <a:latin typeface="Helvetica Neue"/>
                          <a:ea typeface="Helvetica Neue"/>
                          <a:cs typeface="Helvetica Neue"/>
                        </a:rPr>
                        <a:t>2010–2025</a:t>
                      </a:r>
                    </a:p>
                  </a:txBody>
                  <a:tcPr marL="114300" marR="114300" marT="57150" marB="571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725" b="1">
                          <a:solidFill>
                            <a:srgbClr val="65746C"/>
                          </a:solidFill>
                          <a:latin typeface="Helvetica Neue"/>
                          <a:ea typeface="Helvetica Neue"/>
                          <a:cs typeface="Helvetica Neue"/>
                        </a:rPr>
                        <a:t>2020s</a:t>
                      </a:r>
                    </a:p>
                  </a:txBody>
                  <a:tcPr marL="114300" marR="114300" marT="57150" marB="571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725" b="1">
                          <a:solidFill>
                            <a:srgbClr val="65746C"/>
                          </a:solidFill>
                          <a:latin typeface="Helvetica Neue"/>
                          <a:ea typeface="Helvetica Neue"/>
                          <a:cs typeface="Helvetica Neue"/>
                        </a:rPr>
                        <a:t>2026+</a:t>
                      </a:r>
                    </a:p>
                  </a:txBody>
                  <a:tcPr marL="114300" marR="114300" marT="57150" marB="571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r>
              <a:tr h="971550">
                <a:tc>
                  <a:txBody>
                    <a:bodyPr wrap="square">
                      <a:noAutofit/>
                    </a:bodyPr>
                    <a:lstStyle/>
                    <a:p>
                      <a:pPr algn="ctr"/>
                      <a:r>
                        <a:rPr sz="1800" b="1">
                          <a:solidFill>
                            <a:srgbClr val="193C32"/>
                          </a:solidFill>
                          <a:latin typeface="Helvetica Neue"/>
                          <a:ea typeface="Helvetica Neue"/>
                          <a:cs typeface="Helvetica Neue"/>
                        </a:rPr>
                        <a:t>Telephones</a:t>
                      </a:r>
                    </a:p>
                    <a:p>
                      <a:pPr algn="ctr"/>
                      <a:r>
                        <a:rPr sz="1800" b="1">
                          <a:solidFill>
                            <a:srgbClr val="193C32"/>
                          </a:solidFill>
                          <a:latin typeface="Helvetica Neue"/>
                          <a:ea typeface="Helvetica Neue"/>
                          <a:cs typeface="Helvetica Neue"/>
                        </a:rPr>
                        <a:t>Yellow Pages</a:t>
                      </a:r>
                    </a:p>
                  </a:txBody>
                  <a:tcPr marL="114300" marR="114300" marT="57150" marB="571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800" b="1">
                          <a:solidFill>
                            <a:srgbClr val="193C32"/>
                          </a:solidFill>
                          <a:latin typeface="Helvetica Neue"/>
                          <a:ea typeface="Helvetica Neue"/>
                          <a:cs typeface="Helvetica Neue"/>
                        </a:rPr>
                        <a:t>Internet</a:t>
                      </a:r>
                    </a:p>
                    <a:p>
                      <a:pPr algn="ctr"/>
                      <a:r>
                        <a:rPr sz="1800" b="1">
                          <a:solidFill>
                            <a:srgbClr val="193C32"/>
                          </a:solidFill>
                          <a:latin typeface="Helvetica Neue"/>
                          <a:ea typeface="Helvetica Neue"/>
                          <a:cs typeface="Helvetica Neue"/>
                        </a:rPr>
                        <a:t>Google / Craigslist</a:t>
                      </a:r>
                    </a:p>
                  </a:txBody>
                  <a:tcPr marL="114300" marR="114300" marT="57150" marB="571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800" b="1">
                          <a:solidFill>
                            <a:srgbClr val="193C32"/>
                          </a:solidFill>
                          <a:latin typeface="Helvetica Neue"/>
                          <a:ea typeface="Helvetica Neue"/>
                          <a:cs typeface="Helvetica Neue"/>
                        </a:rPr>
                        <a:t>Mobile + GPS</a:t>
                      </a:r>
                    </a:p>
                    <a:p>
                      <a:pPr algn="ctr"/>
                      <a:r>
                        <a:rPr sz="1800" b="1">
                          <a:solidFill>
                            <a:srgbClr val="193C32"/>
                          </a:solidFill>
                          <a:latin typeface="Helvetica Neue"/>
                          <a:ea typeface="Helvetica Neue"/>
                          <a:cs typeface="Helvetica Neue"/>
                        </a:rPr>
                        <a:t>Google Maps</a:t>
                      </a:r>
                    </a:p>
                  </a:txBody>
                  <a:tcPr marL="114300" marR="114300" marT="57150" marB="571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800" b="1">
                          <a:solidFill>
                            <a:srgbClr val="193C32"/>
                          </a:solidFill>
                          <a:latin typeface="Helvetica Neue"/>
                          <a:ea typeface="Helvetica Neue"/>
                          <a:cs typeface="Helvetica Neue"/>
                        </a:rPr>
                        <a:t>AI assistants</a:t>
                      </a:r>
                    </a:p>
                  </a:txBody>
                  <a:tcPr marL="114300" marR="114300" marT="57150" marB="571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800" b="1">
                          <a:solidFill>
                            <a:srgbClr val="FFFFFF"/>
                          </a:solidFill>
                          <a:latin typeface="Helvetica Neue"/>
                          <a:ea typeface="Helvetica Neue"/>
                          <a:cs typeface="Helvetica Neue"/>
                        </a:rPr>
                        <a:t>Personal AI</a:t>
                      </a:r>
                    </a:p>
                    <a:p>
                      <a:pPr algn="ctr"/>
                      <a:r>
                        <a:rPr sz="1800" b="1">
                          <a:solidFill>
                            <a:srgbClr val="FFFFFF"/>
                          </a:solidFill>
                          <a:latin typeface="Helvetica Neue"/>
                          <a:ea typeface="Helvetica Neue"/>
                          <a:cs typeface="Helvetica Neue"/>
                        </a:rPr>
                        <a:t>agents</a:t>
                      </a:r>
                    </a:p>
                  </a:txBody>
                  <a:tcPr marL="114300" marR="114300" marT="57150" marB="571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r>
              <a:tr h="1047750">
                <a:tc>
                  <a:txBody>
                    <a:bodyPr wrap="square">
                      <a:noAutofit/>
                    </a:bodyPr>
                    <a:lstStyle/>
                    <a:p>
                      <a:pPr algn="ctr"/>
                      <a:r>
                        <a:rPr sz="1800" b="0">
                          <a:solidFill>
                            <a:srgbClr val="236C4E"/>
                          </a:solidFill>
                          <a:latin typeface="Helvetica Neue"/>
                          <a:ea typeface="Helvetica Neue"/>
                          <a:cs typeface="Helvetica Neue"/>
                        </a:rPr>
                        <a:t>Phone discovery</a:t>
                      </a:r>
                    </a:p>
                    <a:p>
                      <a:pPr algn="ctr"/>
                      <a:r>
                        <a:rPr sz="1800" b="0">
                          <a:solidFill>
                            <a:srgbClr val="236C4E"/>
                          </a:solidFill>
                          <a:latin typeface="Helvetica Neue"/>
                          <a:ea typeface="Helvetica Neue"/>
                          <a:cs typeface="Helvetica Neue"/>
                        </a:rPr>
                        <a:t>&amp; outreach</a:t>
                      </a:r>
                    </a:p>
                  </a:txBody>
                  <a:tcPr marL="114300" marR="114300" marT="57150" marB="571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r>
                        <a:rPr sz="1800" b="0">
                          <a:solidFill>
                            <a:srgbClr val="236C4E"/>
                          </a:solidFill>
                          <a:latin typeface="Helvetica Neue"/>
                          <a:ea typeface="Helvetica Neue"/>
                          <a:cs typeface="Helvetica Neue"/>
                        </a:rPr>
                        <a:t>Search &amp;</a:t>
                      </a:r>
                    </a:p>
                    <a:p>
                      <a:pPr algn="ctr"/>
                      <a:r>
                        <a:rPr sz="1800" b="0">
                          <a:solidFill>
                            <a:srgbClr val="236C4E"/>
                          </a:solidFill>
                          <a:latin typeface="Helvetica Neue"/>
                          <a:ea typeface="Helvetica Neue"/>
                          <a:cs typeface="Helvetica Neue"/>
                        </a:rPr>
                        <a:t>comparison</a:t>
                      </a:r>
                    </a:p>
                  </a:txBody>
                  <a:tcPr marL="114300" marR="114300" marT="57150" marB="571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r>
                        <a:rPr sz="1800" b="0">
                          <a:solidFill>
                            <a:srgbClr val="236C4E"/>
                          </a:solidFill>
                          <a:latin typeface="Helvetica Neue"/>
                          <a:ea typeface="Helvetica Neue"/>
                          <a:cs typeface="Helvetica Neue"/>
                        </a:rPr>
                        <a:t>Location &amp;</a:t>
                      </a:r>
                    </a:p>
                    <a:p>
                      <a:pPr algn="ctr"/>
                      <a:r>
                        <a:rPr sz="1800" b="0">
                          <a:solidFill>
                            <a:srgbClr val="236C4E"/>
                          </a:solidFill>
                          <a:latin typeface="Helvetica Neue"/>
                          <a:ea typeface="Helvetica Neue"/>
                          <a:cs typeface="Helvetica Neue"/>
                        </a:rPr>
                        <a:t>reviews</a:t>
                      </a:r>
                    </a:p>
                  </a:txBody>
                  <a:tcPr marL="114300" marR="114300" marT="57150" marB="571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r>
                        <a:rPr sz="1800" b="0">
                          <a:solidFill>
                            <a:srgbClr val="236C4E"/>
                          </a:solidFill>
                          <a:latin typeface="Helvetica Neue"/>
                          <a:ea typeface="Helvetica Neue"/>
                          <a:cs typeface="Helvetica Neue"/>
                        </a:rPr>
                        <a:t>Explain needs</a:t>
                      </a:r>
                    </a:p>
                    <a:p>
                      <a:pPr algn="ctr"/>
                      <a:r>
                        <a:rPr sz="1800" b="0">
                          <a:solidFill>
                            <a:srgbClr val="236C4E"/>
                          </a:solidFill>
                          <a:latin typeface="Helvetica Neue"/>
                          <a:ea typeface="Helvetica Neue"/>
                          <a:cs typeface="Helvetica Neue"/>
                        </a:rPr>
                        <a:t>in plain language</a:t>
                      </a:r>
                    </a:p>
                  </a:txBody>
                  <a:tcPr marL="114300" marR="114300" marT="57150" marB="571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r>
                        <a:rPr sz="1800" b="1">
                          <a:solidFill>
                            <a:srgbClr val="236C4E"/>
                          </a:solidFill>
                          <a:latin typeface="Helvetica Neue"/>
                          <a:ea typeface="Helvetica Neue"/>
                          <a:cs typeface="Helvetica Neue"/>
                        </a:rPr>
                        <a:t>Delegate research</a:t>
                      </a:r>
                    </a:p>
                    <a:p>
                      <a:pPr algn="ctr"/>
                      <a:r>
                        <a:rPr sz="1800" b="1">
                          <a:solidFill>
                            <a:srgbClr val="236C4E"/>
                          </a:solidFill>
                          <a:latin typeface="Helvetica Neue"/>
                          <a:ea typeface="Helvetica Neue"/>
                          <a:cs typeface="Helvetica Neue"/>
                        </a:rPr>
                        <a:t>&amp; outreach</a:t>
                      </a:r>
                    </a:p>
                  </a:txBody>
                  <a:tcPr marL="114300" marR="114300" marT="57150" marB="571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bl>
          </a:graphicData>
        </a:graphic>
      </p:graphicFrame>
      <p:sp>
        <p:nvSpPr>
          <p:cNvPr id="4" name="market-opening-2">
            <a:extLst xmlns:a="http://schemas.openxmlformats.org/drawingml/2006/main">
              <a:ext uri="{FF2B5EF4-FFF2-40B4-BE49-F238E27FC236}">
                <a16:creationId xmlns:a16="http://schemas.microsoft.com/office/drawing/2014/main" id="{B6E2FD1A-CD9F-4F4D-9918-FD22526E0A97}"/>
              </a:ext>
            </a:extLst>
          </p:cNvPr>
          <p:cNvSpPr>
            <a:spLocks xmlns:a="http://schemas.openxmlformats.org/drawingml/2006/main" noGrp="1"/>
          </p:cNvSpPr>
          <p:nvPr/>
        </p:nvSpPr>
        <p:spPr>
          <a:xfrm xmlns:a="http://schemas.openxmlformats.org/drawingml/2006/main">
            <a:off x="495300" y="4886325"/>
            <a:ext cx="11201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9D514B"/>
                </a:solidFill>
                <a:latin typeface="Helvetica Neue"/>
                <a:ea typeface="Helvetica Neue"/>
                <a:cs typeface="Helvetica Neue"/>
              </a:defRPr>
            </a:defPPr>
          </a:lstStyle>
          <a:p xmlns:a="http://schemas.openxmlformats.org/drawingml/2006/main">
            <a:pPr>
              <a:defRPr sz="2175" b="1">
                <a:solidFill>
                  <a:srgbClr val="9D514B"/>
                </a:solidFill>
                <a:latin typeface="Helvetica Neue"/>
                <a:ea typeface="Helvetica Neue"/>
                <a:cs typeface="Helvetica Neue"/>
              </a:defRPr>
            </a:pPr>
            <a:r>
              <a:rPr sz="2175" b="1">
                <a:solidFill>
                  <a:srgbClr val="9D514B"/>
                </a:solidFill>
                <a:latin typeface="Helvetica Neue"/>
                <a:ea typeface="Helvetica Neue"/>
                <a:cs typeface="Helvetica Neue"/>
              </a:rPr>
              <a:t>The remaining gap</a:t>
            </a:r>
          </a:p>
        </p:txBody>
      </p:sp>
      <p:sp>
        <p:nvSpPr>
          <p:cNvPr id="5" name="market-opening-3">
            <a:extLst xmlns:a="http://schemas.openxmlformats.org/drawingml/2006/main">
              <a:ext uri="{FF2B5EF4-FFF2-40B4-BE49-F238E27FC236}">
                <a16:creationId xmlns:a16="http://schemas.microsoft.com/office/drawing/2014/main" id="{D152A6AF-A42B-418A-BEAE-34287A31662C}"/>
              </a:ext>
            </a:extLst>
          </p:cNvPr>
          <p:cNvSpPr>
            <a:spLocks xmlns:a="http://schemas.openxmlformats.org/drawingml/2006/main" noGrp="1"/>
          </p:cNvSpPr>
          <p:nvPr/>
        </p:nvSpPr>
        <p:spPr>
          <a:xfrm xmlns:a="http://schemas.openxmlformats.org/drawingml/2006/main">
            <a:off x="495300" y="5400675"/>
            <a:ext cx="112014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9D514B"/>
                </a:solidFill>
                <a:latin typeface="Helvetica Neue"/>
                <a:ea typeface="Helvetica Neue"/>
                <a:cs typeface="Helvetica Neue"/>
              </a:defRPr>
            </a:defPPr>
          </a:lstStyle>
          <a:p xmlns:a="http://schemas.openxmlformats.org/drawingml/2006/main">
            <a:pPr>
              <a:defRPr sz="2175" b="0">
                <a:solidFill>
                  <a:srgbClr val="9D514B"/>
                </a:solidFill>
                <a:latin typeface="Helvetica Neue"/>
                <a:ea typeface="Helvetica Neue"/>
                <a:cs typeface="Helvetica Neue"/>
              </a:defRPr>
            </a:pPr>
            <a:r>
              <a:rPr sz="2175" b="0">
                <a:solidFill>
                  <a:srgbClr val="9D514B"/>
                </a:solidFill>
                <a:latin typeface="Helvetica Neue"/>
                <a:ea typeface="Helvetica Neue"/>
                <a:cs typeface="Helvetica Neue"/>
              </a:rPr>
              <a:t>Scope &amp; quote   ·   Live availability   ·   Booking, payment &amp; follow-up</a:t>
            </a:r>
          </a:p>
        </p:txBody>
      </p:sp>
      <p:sp>
        <p:nvSpPr>
          <p:cNvPr id="6" name="market-opening-4">
            <a:extLst xmlns:a="http://schemas.openxmlformats.org/drawingml/2006/main">
              <a:ext uri="{FF2B5EF4-FFF2-40B4-BE49-F238E27FC236}">
                <a16:creationId xmlns:a16="http://schemas.microsoft.com/office/drawing/2014/main" id="{B7506933-8A73-4DBF-BE74-A3AEB0F18C98}"/>
              </a:ext>
            </a:extLst>
          </p:cNvPr>
          <p:cNvSpPr>
            <a:spLocks xmlns:a="http://schemas.openxmlformats.org/drawingml/2006/main" noGrp="1"/>
          </p:cNvSpPr>
          <p:nvPr/>
        </p:nvSpPr>
        <p:spPr>
          <a:xfrm xmlns:a="http://schemas.openxmlformats.org/drawingml/2006/main">
            <a:off x="495300" y="6019800"/>
            <a:ext cx="11201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93C32"/>
                </a:solidFill>
                <a:latin typeface="Helvetica Neue"/>
                <a:ea typeface="Helvetica Neue"/>
                <a:cs typeface="Helvetica Neue"/>
              </a:defRPr>
            </a:defPPr>
          </a:lstStyle>
          <a:p xmlns:a="http://schemas.openxmlformats.org/drawingml/2006/main">
            <a:pPr>
              <a:defRPr sz="2175" b="1">
                <a:solidFill>
                  <a:srgbClr val="193C32"/>
                </a:solidFill>
                <a:latin typeface="Helvetica Neue"/>
                <a:ea typeface="Helvetica Neue"/>
                <a:cs typeface="Helvetica Neue"/>
              </a:defRPr>
            </a:pPr>
            <a:r>
              <a:rPr sz="2175" b="1">
                <a:solidFill>
                  <a:srgbClr val="193C32"/>
                </a:solidFill>
                <a:latin typeface="Helvetica Neue"/>
                <a:ea typeface="Helvetica Neue"/>
                <a:cs typeface="Helvetica Neue"/>
              </a:rPr>
              <a:t>Agents still need structured business data and a reliable way to transact.</a:t>
            </a:r>
          </a:p>
        </p:txBody>
      </p:sp>
      <p:sp>
        <p:nvSpPr>
          <p:cNvPr id="7" name="market-opening-5">
            <a:extLst xmlns:a="http://schemas.openxmlformats.org/drawingml/2006/main">
              <a:ext uri="{FF2B5EF4-FFF2-40B4-BE49-F238E27FC236}">
                <a16:creationId xmlns:a16="http://schemas.microsoft.com/office/drawing/2014/main" id="{41AC0C06-10C4-46CB-B948-F2B0B31A7CAD}"/>
              </a:ext>
            </a:extLst>
          </p:cNvPr>
          <p:cNvSpPr>
            <a:spLocks xmlns:a="http://schemas.openxmlformats.org/drawingml/2006/main" noGrp="1"/>
          </p:cNvSpPr>
          <p:nvPr/>
        </p:nvSpPr>
        <p:spPr>
          <a:xfrm xmlns:a="http://schemas.openxmlformats.org/drawingml/2006/main">
            <a:off x="495300" y="6581775"/>
            <a:ext cx="10439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0">
                <a:solidFill>
                  <a:srgbClr val="65746C"/>
                </a:solidFill>
                <a:latin typeface="Helvetica Neue"/>
                <a:ea typeface="Helvetica Neue"/>
                <a:cs typeface="Helvetica Neue"/>
              </a:defRPr>
            </a:defPPr>
          </a:lstStyle>
          <a:p xmlns:a="http://schemas.openxmlformats.org/drawingml/2006/main">
            <a:pPr>
              <a:defRPr sz="1200" b="0">
                <a:solidFill>
                  <a:srgbClr val="65746C"/>
                </a:solidFill>
                <a:latin typeface="Helvetica Neue"/>
                <a:ea typeface="Helvetica Neue"/>
                <a:cs typeface="Helvetica Neue"/>
              </a:defRPr>
            </a:pPr>
            <a:r>
              <a:rPr sz="1200" b="0">
                <a:solidFill>
                  <a:srgbClr val="65746C"/>
                </a:solidFill>
                <a:latin typeface="Helvetica Neue"/>
                <a:ea typeface="Helvetica Neue"/>
                <a:cs typeface="Helvetica Neue"/>
              </a:rPr>
              <a:t>Illustrative channel eras; typical fragmented workflow. Some platforms already support transactions.</a:t>
            </a:r>
          </a:p>
        </p:txBody>
      </p:sp>
      <p:sp>
        <p:nvSpPr>
          <p:cNvPr id="8" name="market-opening-6">
            <a:extLst xmlns:a="http://schemas.openxmlformats.org/drawingml/2006/main">
              <a:ext uri="{FF2B5EF4-FFF2-40B4-BE49-F238E27FC236}">
                <a16:creationId xmlns:a16="http://schemas.microsoft.com/office/drawing/2014/main" id="{0C45BFB1-A658-4C67-AAD6-0623F72827DC}"/>
              </a:ext>
            </a:extLst>
          </p:cNvPr>
          <p:cNvSpPr>
            <a:spLocks xmlns:a="http://schemas.openxmlformats.org/drawingml/2006/main" noGrp="1"/>
          </p:cNvSpPr>
          <p:nvPr/>
        </p:nvSpPr>
        <p:spPr>
          <a:xfrm xmlns:a="http://schemas.openxmlformats.org/drawingml/2006/main">
            <a:off x="11049000" y="6581775"/>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1 / 6</a:t>
            </a:r>
          </a:p>
        </p:txBody>
      </p:sp>
    </p:spTree>
    <p:extLst>
      <p:ext uri="{BB962C8B-B14F-4D97-AF65-F5344CB8AC3E}">
        <p14:creationId xmlns:p14="http://schemas.microsoft.com/office/powerpoint/2010/main" val="45764591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6">
            <a:extLst xmlns:a="http://schemas.openxmlformats.org/drawingml/2006/main">
              <a:ext uri="{FF2B5EF4-FFF2-40B4-BE49-F238E27FC236}">
                <a16:creationId xmlns:a16="http://schemas.microsoft.com/office/drawing/2014/main" id="{14D0AA0C-B632-4D00-ADB8-EE89FC9B3CE6}"/>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WHY NOW</a:t>
            </a:r>
          </a:p>
        </p:txBody>
      </p:sp>
      <p:sp>
        <p:nvSpPr>
          <p:cNvPr id="2" name="text-7">
            <a:extLst xmlns:a="http://schemas.openxmlformats.org/drawingml/2006/main">
              <a:ext uri="{FF2B5EF4-FFF2-40B4-BE49-F238E27FC236}">
                <a16:creationId xmlns:a16="http://schemas.microsoft.com/office/drawing/2014/main" id="{348A0129-E7D1-4B51-BB7A-95C91244852F}"/>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Billions are backing personal agents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and a new way to find local services</a:t>
            </a:r>
          </a:p>
        </p:txBody>
      </p:sp>
      <p:sp>
        <p:nvSpPr>
          <p:cNvPr id="3" name="text-8">
            <a:extLst xmlns:a="http://schemas.openxmlformats.org/drawingml/2006/main">
              <a:ext uri="{FF2B5EF4-FFF2-40B4-BE49-F238E27FC236}">
                <a16:creationId xmlns:a16="http://schemas.microsoft.com/office/drawing/2014/main" id="{9105B53C-19A4-4FB5-9741-A407FBB09429}"/>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9">
            <a:extLst xmlns:a="http://schemas.openxmlformats.org/drawingml/2006/main">
              <a:ext uri="{FF2B5EF4-FFF2-40B4-BE49-F238E27FC236}">
                <a16:creationId xmlns:a16="http://schemas.microsoft.com/office/drawing/2014/main" id="{5E3A0F35-BA52-4B59-86E4-2A8556BAF552}"/>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2 / 6</a:t>
            </a:r>
          </a:p>
        </p:txBody>
      </p:sp>
      <p:sp>
        <p:nvSpPr>
          <p:cNvPr id="5" name="text-10">
            <a:extLst xmlns:a="http://schemas.openxmlformats.org/drawingml/2006/main">
              <a:ext uri="{FF2B5EF4-FFF2-40B4-BE49-F238E27FC236}">
                <a16:creationId xmlns:a16="http://schemas.microsoft.com/office/drawing/2014/main" id="{A18FBD5E-5478-4B7F-9DBA-C4BF149D0C34}"/>
              </a:ext>
            </a:extLst>
          </p:cNvPr>
          <p:cNvSpPr>
            <a:spLocks xmlns:a="http://schemas.openxmlformats.org/drawingml/2006/main" noGrp="1"/>
          </p:cNvSpPr>
          <p:nvPr/>
        </p:nvSpPr>
        <p:spPr>
          <a:xfrm xmlns:a="http://schemas.openxmlformats.org/drawingml/2006/main">
            <a:off x="457200" y="2085975"/>
            <a:ext cx="3333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300" b="1">
                <a:solidFill>
                  <a:srgbClr val="215C4E"/>
                </a:solidFill>
                <a:latin typeface="Helvetica Neue"/>
                <a:ea typeface="Helvetica Neue"/>
                <a:cs typeface="Helvetica Neue"/>
              </a:defRPr>
            </a:defPPr>
          </a:lstStyle>
          <a:p xmlns:a="http://schemas.openxmlformats.org/drawingml/2006/main">
            <a:pPr>
              <a:buNone/>
              <a:defRPr sz="6300" b="1">
                <a:solidFill>
                  <a:srgbClr val="215C4E"/>
                </a:solidFill>
                <a:latin typeface="Helvetica Neue"/>
                <a:ea typeface="Helvetica Neue"/>
                <a:cs typeface="Helvetica Neue"/>
              </a:defRPr>
            </a:pPr>
            <a:r>
              <a:rPr sz="6300" b="1">
                <a:solidFill>
                  <a:srgbClr val="215C4E"/>
                </a:solidFill>
                <a:latin typeface="Helvetica Neue"/>
                <a:ea typeface="Helvetica Neue"/>
                <a:cs typeface="Helvetica Neue"/>
              </a:rPr>
              <a:t>$2B+</a:t>
            </a:r>
          </a:p>
        </p:txBody>
      </p:sp>
      <p:sp>
        <p:nvSpPr>
          <p:cNvPr id="6" name="text-11">
            <a:extLst xmlns:a="http://schemas.openxmlformats.org/drawingml/2006/main">
              <a:ext uri="{FF2B5EF4-FFF2-40B4-BE49-F238E27FC236}">
                <a16:creationId xmlns:a16="http://schemas.microsoft.com/office/drawing/2014/main" id="{B558BE35-ADDA-4C37-9502-CF90A51736D5}"/>
              </a:ext>
            </a:extLst>
          </p:cNvPr>
          <p:cNvSpPr>
            <a:spLocks xmlns:a="http://schemas.openxmlformats.org/drawingml/2006/main" noGrp="1"/>
          </p:cNvSpPr>
          <p:nvPr/>
        </p:nvSpPr>
        <p:spPr>
          <a:xfrm xmlns:a="http://schemas.openxmlformats.org/drawingml/2006/main">
            <a:off x="457200" y="3076575"/>
            <a:ext cx="54292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18352F"/>
                </a:solidFill>
                <a:latin typeface="Helvetica Neue"/>
                <a:ea typeface="Helvetica Neue"/>
                <a:cs typeface="Helvetica Neue"/>
              </a:defRPr>
            </a:defPPr>
          </a:lstStyle>
          <a:p xmlns:a="http://schemas.openxmlformats.org/drawingml/2006/main">
            <a:pPr>
              <a:buNone/>
              <a:defRPr sz="2025" b="1">
                <a:solidFill>
                  <a:srgbClr val="18352F"/>
                </a:solidFill>
                <a:latin typeface="Helvetica Neue"/>
                <a:ea typeface="Helvetica Neue"/>
                <a:cs typeface="Helvetica Neue"/>
              </a:defRPr>
            </a:pPr>
            <a:r>
              <a:rPr sz="2025" b="1">
                <a:solidFill>
                  <a:srgbClr val="18352F"/>
                </a:solidFill>
                <a:latin typeface="Helvetica Neue"/>
                <a:ea typeface="Helvetica Neue"/>
                <a:cs typeface="Helvetica Neue"/>
              </a:rPr>
              <a:t>raised by three agent companies</a:t>
            </a:r>
          </a:p>
        </p:txBody>
      </p:sp>
      <p:sp>
        <p:nvSpPr>
          <p:cNvPr id="7" name="text-12">
            <a:extLst xmlns:a="http://schemas.openxmlformats.org/drawingml/2006/main">
              <a:ext uri="{FF2B5EF4-FFF2-40B4-BE49-F238E27FC236}">
                <a16:creationId xmlns:a16="http://schemas.microsoft.com/office/drawing/2014/main" id="{DFA1584B-1211-4D43-8C6F-CB6C410E96E2}"/>
              </a:ext>
            </a:extLst>
          </p:cNvPr>
          <p:cNvSpPr>
            <a:spLocks xmlns:a="http://schemas.openxmlformats.org/drawingml/2006/main" noGrp="1"/>
          </p:cNvSpPr>
          <p:nvPr/>
        </p:nvSpPr>
        <p:spPr>
          <a:xfrm xmlns:a="http://schemas.openxmlformats.org/drawingml/2006/main">
            <a:off x="457200" y="3552825"/>
            <a:ext cx="7191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606A67"/>
                </a:solidFill>
                <a:latin typeface="Helvetica Neue"/>
                <a:ea typeface="Helvetica Neue"/>
                <a:cs typeface="Helvetica Neue"/>
              </a:defRPr>
            </a:defPPr>
          </a:lstStyle>
          <a:p xmlns:a="http://schemas.openxmlformats.org/drawingml/2006/main">
            <a:pPr>
              <a:buNone/>
              <a:defRPr sz="1725" b="0">
                <a:solidFill>
                  <a:srgbClr val="606A67"/>
                </a:solidFill>
                <a:latin typeface="Helvetica Neue"/>
                <a:ea typeface="Helvetica Neue"/>
                <a:cs typeface="Helvetica Neue"/>
              </a:defRPr>
            </a:pPr>
            <a:r>
              <a:rPr sz="1725" b="0">
                <a:solidFill>
                  <a:srgbClr val="606A67"/>
                </a:solidFill>
                <a:latin typeface="Helvetica Neue"/>
                <a:ea typeface="Helvetica Neue"/>
                <a:cs typeface="Helvetica Neue"/>
              </a:rPr>
              <a:t>Hark: $700M+   |   Instinct: $1.35B   |   Town: $55M</a:t>
            </a:r>
          </a:p>
        </p:txBody>
      </p:sp>
      <p:sp>
        <p:nvSpPr>
          <p:cNvPr id="8" name="text-13">
            <a:extLst xmlns:a="http://schemas.openxmlformats.org/drawingml/2006/main">
              <a:ext uri="{FF2B5EF4-FFF2-40B4-BE49-F238E27FC236}">
                <a16:creationId xmlns:a16="http://schemas.microsoft.com/office/drawing/2014/main" id="{4E369D74-9B94-4847-A281-D2F9186B5B97}"/>
              </a:ext>
            </a:extLst>
          </p:cNvPr>
          <p:cNvSpPr>
            <a:spLocks xmlns:a="http://schemas.openxmlformats.org/drawingml/2006/main" noGrp="1"/>
          </p:cNvSpPr>
          <p:nvPr/>
        </p:nvSpPr>
        <p:spPr>
          <a:xfrm xmlns:a="http://schemas.openxmlformats.org/drawingml/2006/main">
            <a:off x="8477250" y="2152650"/>
            <a:ext cx="314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650" b="1">
                <a:solidFill>
                  <a:srgbClr val="18352F"/>
                </a:solidFill>
                <a:latin typeface="Helvetica Neue"/>
                <a:ea typeface="Helvetica Neue"/>
                <a:cs typeface="Helvetica Neue"/>
              </a:defRPr>
            </a:defPPr>
          </a:lstStyle>
          <a:p xmlns:a="http://schemas.openxmlformats.org/drawingml/2006/main">
            <a:pPr>
              <a:buNone/>
              <a:defRPr sz="4650" b="1">
                <a:solidFill>
                  <a:srgbClr val="18352F"/>
                </a:solidFill>
                <a:latin typeface="Helvetica Neue"/>
                <a:ea typeface="Helvetica Neue"/>
                <a:cs typeface="Helvetica Neue"/>
              </a:defRPr>
            </a:pPr>
            <a:r>
              <a:rPr sz="4650" b="1">
                <a:solidFill>
                  <a:srgbClr val="18352F"/>
                </a:solidFill>
                <a:latin typeface="Helvetica Neue"/>
                <a:ea typeface="Helvetica Neue"/>
                <a:cs typeface="Helvetica Neue"/>
              </a:rPr>
              <a:t>$600B</a:t>
            </a:r>
          </a:p>
        </p:txBody>
      </p:sp>
      <p:sp>
        <p:nvSpPr>
          <p:cNvPr id="9" name="text-14">
            <a:extLst xmlns:a="http://schemas.openxmlformats.org/drawingml/2006/main">
              <a:ext uri="{FF2B5EF4-FFF2-40B4-BE49-F238E27FC236}">
                <a16:creationId xmlns:a16="http://schemas.microsoft.com/office/drawing/2014/main" id="{0EEA9413-D684-493A-82DD-99DF6C3CC1A7}"/>
              </a:ext>
            </a:extLst>
          </p:cNvPr>
          <p:cNvSpPr>
            <a:spLocks xmlns:a="http://schemas.openxmlformats.org/drawingml/2006/main" noGrp="1"/>
          </p:cNvSpPr>
          <p:nvPr/>
        </p:nvSpPr>
        <p:spPr>
          <a:xfrm xmlns:a="http://schemas.openxmlformats.org/drawingml/2006/main">
            <a:off x="8477250" y="2952750"/>
            <a:ext cx="314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606A67"/>
                </a:solidFill>
                <a:latin typeface="Helvetica Neue"/>
                <a:ea typeface="Helvetica Neue"/>
                <a:cs typeface="Helvetica Neue"/>
              </a:defRPr>
            </a:defPPr>
          </a:lstStyle>
          <a:p xmlns:a="http://schemas.openxmlformats.org/drawingml/2006/main">
            <a:pPr>
              <a:buNone/>
              <a:defRPr sz="1875" b="0">
                <a:solidFill>
                  <a:srgbClr val="606A67"/>
                </a:solidFill>
                <a:latin typeface="Helvetica Neue"/>
                <a:ea typeface="Helvetica Neue"/>
                <a:cs typeface="Helvetica Neue"/>
              </a:defRPr>
            </a:pPr>
            <a:r>
              <a:rPr sz="1875" b="0">
                <a:solidFill>
                  <a:srgbClr val="606A67"/>
                </a:solidFill>
                <a:latin typeface="Helvetica Neue"/>
                <a:ea typeface="Helvetica Neue"/>
                <a:cs typeface="Helvetica Neue"/>
              </a:rPr>
              <a:t>home services within a</a:t>
            </a:r>
          </a:p>
          <a:p xmlns:a="http://schemas.openxmlformats.org/drawingml/2006/main">
            <a:pPr>
              <a:buNone/>
              <a:defRPr sz="1875" b="0">
                <a:solidFill>
                  <a:srgbClr val="606A67"/>
                </a:solidFill>
                <a:latin typeface="Helvetica Neue"/>
                <a:ea typeface="Helvetica Neue"/>
                <a:cs typeface="Helvetica Neue"/>
              </a:defRPr>
            </a:pPr>
            <a:r>
              <a:rPr sz="1875" b="0">
                <a:solidFill>
                  <a:srgbClr val="606A67"/>
                </a:solidFill>
                <a:latin typeface="Helvetica Neue"/>
                <a:ea typeface="Helvetica Neue"/>
                <a:cs typeface="Helvetica Neue"/>
              </a:rPr>
              <a:t>$2T local-services market</a:t>
            </a:r>
          </a:p>
        </p:txBody>
      </p:sp>
      <p:sp>
        <p:nvSpPr>
          <p:cNvPr id="10" name="text-15">
            <a:extLst xmlns:a="http://schemas.openxmlformats.org/drawingml/2006/main">
              <a:ext uri="{FF2B5EF4-FFF2-40B4-BE49-F238E27FC236}">
                <a16:creationId xmlns:a16="http://schemas.microsoft.com/office/drawing/2014/main" id="{538B1219-D07C-4EED-B3E0-269192A0EDE5}"/>
              </a:ext>
            </a:extLst>
          </p:cNvPr>
          <p:cNvSpPr>
            <a:spLocks xmlns:a="http://schemas.openxmlformats.org/drawingml/2006/main" noGrp="1"/>
          </p:cNvSpPr>
          <p:nvPr/>
        </p:nvSpPr>
        <p:spPr>
          <a:xfrm xmlns:a="http://schemas.openxmlformats.org/drawingml/2006/main">
            <a:off x="457200" y="4067175"/>
            <a:ext cx="11144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8352F"/>
                </a:solidFill>
                <a:latin typeface="Helvetica Neue"/>
                <a:ea typeface="Helvetica Neue"/>
                <a:cs typeface="Helvetica Neue"/>
              </a:defRPr>
            </a:defPPr>
          </a:lstStyle>
          <a:p xmlns:a="http://schemas.openxmlformats.org/drawingml/2006/main">
            <a:pPr>
              <a:buNone/>
              <a:defRPr sz="2100" b="1">
                <a:solidFill>
                  <a:srgbClr val="18352F"/>
                </a:solidFill>
                <a:latin typeface="Helvetica Neue"/>
                <a:ea typeface="Helvetica Neue"/>
                <a:cs typeface="Helvetica Neue"/>
              </a:defRPr>
            </a:pPr>
            <a:r>
              <a:rPr sz="2100" b="1">
                <a:solidFill>
                  <a:srgbClr val="18352F"/>
                </a:solidFill>
                <a:latin typeface="Helvetica Neue"/>
                <a:ea typeface="Helvetica Neue"/>
                <a:cs typeface="Helvetica Neue"/>
              </a:rPr>
              <a:t>Platforms are opening developer connector ecosystems</a:t>
            </a:r>
          </a:p>
        </p:txBody>
      </p:sp>
      <p:sp>
        <p:nvSpPr>
          <p:cNvPr id="11" name="diagram-16">
            <a:extLst xmlns:a="http://schemas.openxmlformats.org/drawingml/2006/main">
              <a:ext uri="{FF2B5EF4-FFF2-40B4-BE49-F238E27FC236}">
                <a16:creationId xmlns:a16="http://schemas.microsoft.com/office/drawing/2014/main" id="{7B023A1F-26B4-4733-97C5-F489DCF056BC}"/>
              </a:ext>
            </a:extLst>
          </p:cNvPr>
          <p:cNvSpPr>
            <a:spLocks xmlns:a="http://schemas.openxmlformats.org/drawingml/2006/main" noGrp="1"/>
          </p:cNvSpPr>
          <p:nvPr/>
        </p:nvSpPr>
        <p:spPr>
          <a:xfrm xmlns:a="http://schemas.openxmlformats.org/drawingml/2006/main">
            <a:off x="457200" y="4591050"/>
            <a:ext cx="2228850" cy="60960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8352F"/>
                </a:solidFill>
                <a:latin typeface="Helvetica Neue"/>
                <a:ea typeface="Helvetica Neue"/>
                <a:cs typeface="Helvetica Neue"/>
              </a:defRPr>
            </a:defPPr>
          </a:lstStyle>
          <a:p xmlns:a="http://schemas.openxmlformats.org/drawingml/2006/main">
            <a:pPr algn="ctr">
              <a:buNone/>
              <a:defRPr sz="1875" b="0">
                <a:solidFill>
                  <a:srgbClr val="18352F"/>
                </a:solidFill>
                <a:latin typeface="Helvetica Neue"/>
                <a:ea typeface="Helvetica Neue"/>
                <a:cs typeface="Helvetica Neue"/>
              </a:defRPr>
            </a:pPr>
            <a:r>
              <a:rPr sz="1875" b="0">
                <a:solidFill>
                  <a:srgbClr val="18352F"/>
                </a:solidFill>
                <a:latin typeface="Helvetica Neue"/>
                <a:ea typeface="Helvetica Neue"/>
                <a:cs typeface="Helvetica Neue"/>
              </a:rPr>
              <a:t>OpenAI Dots</a:t>
            </a:r>
          </a:p>
        </p:txBody>
      </p:sp>
      <p:sp>
        <p:nvSpPr>
          <p:cNvPr id="12" name="diagram-17">
            <a:extLst xmlns:a="http://schemas.openxmlformats.org/drawingml/2006/main">
              <a:ext uri="{FF2B5EF4-FFF2-40B4-BE49-F238E27FC236}">
                <a16:creationId xmlns:a16="http://schemas.microsoft.com/office/drawing/2014/main" id="{3A5F788A-3CFA-4D71-AA37-549E1754C619}"/>
              </a:ext>
            </a:extLst>
          </p:cNvPr>
          <p:cNvSpPr>
            <a:spLocks xmlns:a="http://schemas.openxmlformats.org/drawingml/2006/main" noGrp="1"/>
          </p:cNvSpPr>
          <p:nvPr/>
        </p:nvSpPr>
        <p:spPr>
          <a:xfrm xmlns:a="http://schemas.openxmlformats.org/drawingml/2006/main">
            <a:off x="2990850" y="4591050"/>
            <a:ext cx="2228850" cy="60960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8352F"/>
                </a:solidFill>
                <a:latin typeface="Helvetica Neue"/>
                <a:ea typeface="Helvetica Neue"/>
                <a:cs typeface="Helvetica Neue"/>
              </a:defRPr>
            </a:defPPr>
          </a:lstStyle>
          <a:p xmlns:a="http://schemas.openxmlformats.org/drawingml/2006/main">
            <a:pPr algn="ctr">
              <a:buNone/>
              <a:defRPr sz="1875" b="0">
                <a:solidFill>
                  <a:srgbClr val="18352F"/>
                </a:solidFill>
                <a:latin typeface="Helvetica Neue"/>
                <a:ea typeface="Helvetica Neue"/>
                <a:cs typeface="Helvetica Neue"/>
              </a:defRPr>
            </a:pPr>
            <a:r>
              <a:rPr sz="1875" b="0">
                <a:solidFill>
                  <a:srgbClr val="18352F"/>
                </a:solidFill>
                <a:latin typeface="Helvetica Neue"/>
                <a:ea typeface="Helvetica Neue"/>
                <a:cs typeface="Helvetica Neue"/>
              </a:rPr>
              <a:t>Meta Muse</a:t>
            </a:r>
          </a:p>
        </p:txBody>
      </p:sp>
      <p:sp>
        <p:nvSpPr>
          <p:cNvPr id="13" name="diagram-18">
            <a:extLst xmlns:a="http://schemas.openxmlformats.org/drawingml/2006/main">
              <a:ext uri="{FF2B5EF4-FFF2-40B4-BE49-F238E27FC236}">
                <a16:creationId xmlns:a16="http://schemas.microsoft.com/office/drawing/2014/main" id="{3BD6DA60-E60B-41BD-A4D1-17835CAD502B}"/>
              </a:ext>
            </a:extLst>
          </p:cNvPr>
          <p:cNvSpPr>
            <a:spLocks xmlns:a="http://schemas.openxmlformats.org/drawingml/2006/main" noGrp="1"/>
          </p:cNvSpPr>
          <p:nvPr/>
        </p:nvSpPr>
        <p:spPr>
          <a:xfrm xmlns:a="http://schemas.openxmlformats.org/drawingml/2006/main">
            <a:off x="5524500" y="4591050"/>
            <a:ext cx="2228850" cy="60960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8352F"/>
                </a:solidFill>
                <a:latin typeface="Helvetica Neue"/>
                <a:ea typeface="Helvetica Neue"/>
                <a:cs typeface="Helvetica Neue"/>
              </a:defRPr>
            </a:defPPr>
          </a:lstStyle>
          <a:p xmlns:a="http://schemas.openxmlformats.org/drawingml/2006/main">
            <a:pPr algn="ctr">
              <a:buNone/>
              <a:defRPr sz="1875" b="0">
                <a:solidFill>
                  <a:srgbClr val="18352F"/>
                </a:solidFill>
                <a:latin typeface="Helvetica Neue"/>
                <a:ea typeface="Helvetica Neue"/>
                <a:cs typeface="Helvetica Neue"/>
              </a:defRPr>
            </a:pPr>
            <a:r>
              <a:rPr sz="1875" b="0">
                <a:solidFill>
                  <a:srgbClr val="18352F"/>
                </a:solidFill>
                <a:latin typeface="Helvetica Neue"/>
                <a:ea typeface="Helvetica Neue"/>
                <a:cs typeface="Helvetica Neue"/>
              </a:rPr>
              <a:t>Claude</a:t>
            </a:r>
          </a:p>
        </p:txBody>
      </p:sp>
      <p:sp>
        <p:nvSpPr>
          <p:cNvPr id="14" name="text-19">
            <a:extLst xmlns:a="http://schemas.openxmlformats.org/drawingml/2006/main">
              <a:ext uri="{FF2B5EF4-FFF2-40B4-BE49-F238E27FC236}">
                <a16:creationId xmlns:a16="http://schemas.microsoft.com/office/drawing/2014/main" id="{1CDB1950-F5C1-44B1-A393-F16BF5B0B9C8}"/>
              </a:ext>
            </a:extLst>
          </p:cNvPr>
          <p:cNvSpPr>
            <a:spLocks xmlns:a="http://schemas.openxmlformats.org/drawingml/2006/main" noGrp="1"/>
          </p:cNvSpPr>
          <p:nvPr/>
        </p:nvSpPr>
        <p:spPr>
          <a:xfrm xmlns:a="http://schemas.openxmlformats.org/drawingml/2006/main">
            <a:off x="8477250" y="4191000"/>
            <a:ext cx="316230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215C4E"/>
                </a:solidFill>
                <a:latin typeface="Helvetica Neue"/>
                <a:ea typeface="Helvetica Neue"/>
                <a:cs typeface="Helvetica Neue"/>
              </a:defRPr>
            </a:defPPr>
          </a:lstStyle>
          <a:p xmlns:a="http://schemas.openxmlformats.org/drawingml/2006/main">
            <a:pPr>
              <a:buNone/>
              <a:defRPr sz="2025" b="1">
                <a:solidFill>
                  <a:srgbClr val="215C4E"/>
                </a:solidFill>
                <a:latin typeface="Helvetica Neue"/>
                <a:ea typeface="Helvetica Neue"/>
                <a:cs typeface="Helvetica Neue"/>
              </a:defRPr>
            </a:pPr>
            <a:r>
              <a:rPr sz="2025" b="1">
                <a:solidFill>
                  <a:srgbClr val="215C4E"/>
                </a:solidFill>
                <a:latin typeface="Helvetica Neue"/>
                <a:ea typeface="Helvetica Neue"/>
                <a:cs typeface="Helvetica Neue"/>
              </a:rPr>
              <a:t>Providers use different</a:t>
            </a:r>
          </a:p>
          <a:p xmlns:a="http://schemas.openxmlformats.org/drawingml/2006/main">
            <a:pPr>
              <a:buNone/>
              <a:defRPr sz="2025" b="1">
                <a:solidFill>
                  <a:srgbClr val="215C4E"/>
                </a:solidFill>
                <a:latin typeface="Helvetica Neue"/>
                <a:ea typeface="Helvetica Neue"/>
                <a:cs typeface="Helvetica Neue"/>
              </a:defRPr>
            </a:pPr>
            <a:r>
              <a:rPr sz="2025" b="1">
                <a:solidFill>
                  <a:srgbClr val="215C4E"/>
                </a:solidFill>
                <a:latin typeface="Helvetica Neue"/>
                <a:ea typeface="Helvetica Neue"/>
                <a:cs typeface="Helvetica Neue"/>
              </a:rPr>
              <a:t>booking systems.</a:t>
            </a:r>
          </a:p>
        </p:txBody>
      </p:sp>
      <p:sp>
        <p:nvSpPr>
          <p:cNvPr id="15" name="text-20">
            <a:extLst xmlns:a="http://schemas.openxmlformats.org/drawingml/2006/main">
              <a:ext uri="{FF2B5EF4-FFF2-40B4-BE49-F238E27FC236}">
                <a16:creationId xmlns:a16="http://schemas.microsoft.com/office/drawing/2014/main" id="{0F2582B5-3E64-4B22-BB6D-0F2400C4945A}"/>
              </a:ext>
            </a:extLst>
          </p:cNvPr>
          <p:cNvSpPr>
            <a:spLocks xmlns:a="http://schemas.openxmlformats.org/drawingml/2006/main" noGrp="1"/>
          </p:cNvSpPr>
          <p:nvPr/>
        </p:nvSpPr>
        <p:spPr>
          <a:xfrm xmlns:a="http://schemas.openxmlformats.org/drawingml/2006/main">
            <a:off x="457200" y="5353050"/>
            <a:ext cx="112776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Uber and DoorDash make booking straightforward.</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Local-service agents still cross websites, calls and business systems</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to get a quote, a slot and a confirmed booking.</a:t>
            </a:r>
          </a:p>
        </p:txBody>
      </p:sp>
    </p:spTree>
    <p:extLst>
      <p:ext uri="{BB962C8B-B14F-4D97-AF65-F5344CB8AC3E}">
        <p14:creationId xmlns:p14="http://schemas.microsoft.com/office/powerpoint/2010/main" val="59618631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1" name="">
            <a:extLst xmlns:a="http://schemas.openxmlformats.org/drawingml/2006/main">
              <a:ext uri="{FF2B5EF4-FFF2-40B4-BE49-F238E27FC236}">
                <a16:creationId xmlns:a16="http://schemas.microsoft.com/office/drawing/2014/main" id="{DC8128B2-848D-46CA-A165-DEE3EBF1BB58}"/>
              </a:ext>
            </a:extLst>
          </p:cNvPr>
          <p:cNvCxnSpPr>
            <a:stCxn xmlns:a="http://schemas.openxmlformats.org/drawingml/2006/main" id="19" idx="3"/>
            <a:endCxn xmlns:a="http://schemas.openxmlformats.org/drawingml/2006/main" id="22" idx="1"/>
          </p:cNvCxnSpPr>
          <p:nvPr/>
        </p:nvCxnSpPr>
        <p:spPr>
          <a:xfrm xmlns:a="http://schemas.openxmlformats.org/drawingml/2006/main">
            <a:off x="8877300" y="4800600"/>
            <a:ext cx="914400" cy="0"/>
          </a:xfrm>
          <a:prstGeom xmlns:a="http://schemas.openxmlformats.org/drawingml/2006/main" prst="straightConnector1">
            <a:avLst/>
          </a:prstGeom>
          <a:ln xmlns:a="http://schemas.openxmlformats.org/drawingml/2006/main" w="19050">
            <a:solidFill>
              <a:srgbClr val="215C4E"/>
            </a:solidFill>
            <a:prstDash val="solid"/>
            <a:headEnd type="arrow" w="sm" len="sm"/>
            <a:tailEnd type="arrow" w="sm" len="sm"/>
          </a:ln>
        </p:spPr>
      </p:cxnSp>
      <p:cxnSp>
        <p:nvCxnSpPr>
          <p:cNvPr id="30" name="">
            <a:extLst xmlns:a="http://schemas.openxmlformats.org/drawingml/2006/main">
              <a:ext uri="{FF2B5EF4-FFF2-40B4-BE49-F238E27FC236}">
                <a16:creationId xmlns:a16="http://schemas.microsoft.com/office/drawing/2014/main" id="{3BC29F07-2D0D-48EA-9488-98E1F4496D7B}"/>
              </a:ext>
            </a:extLst>
          </p:cNvPr>
          <p:cNvCxnSpPr>
            <a:stCxn xmlns:a="http://schemas.openxmlformats.org/drawingml/2006/main" id="13" idx="3"/>
            <a:endCxn xmlns:a="http://schemas.openxmlformats.org/drawingml/2006/main" id="19" idx="1"/>
          </p:cNvCxnSpPr>
          <p:nvPr/>
        </p:nvCxnSpPr>
        <p:spPr>
          <a:xfrm xmlns:a="http://schemas.openxmlformats.org/drawingml/2006/main">
            <a:off x="6134100" y="4057650"/>
            <a:ext cx="704850" cy="742950"/>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9" name="">
            <a:extLst xmlns:a="http://schemas.openxmlformats.org/drawingml/2006/main">
              <a:ext uri="{FF2B5EF4-FFF2-40B4-BE49-F238E27FC236}">
                <a16:creationId xmlns:a16="http://schemas.microsoft.com/office/drawing/2014/main" id="{78CDD096-CF16-448E-BDFE-5C5A0313FB3A}"/>
              </a:ext>
            </a:extLst>
          </p:cNvPr>
          <p:cNvCxnSpPr>
            <a:stCxn xmlns:a="http://schemas.openxmlformats.org/drawingml/2006/main" id="12" idx="3"/>
            <a:endCxn xmlns:a="http://schemas.openxmlformats.org/drawingml/2006/main" id="13" idx="1"/>
          </p:cNvCxnSpPr>
          <p:nvPr/>
        </p:nvCxnSpPr>
        <p:spPr>
          <a:xfrm xmlns:a="http://schemas.openxmlformats.org/drawingml/2006/main" flipV="1">
            <a:off x="2209800" y="4057650"/>
            <a:ext cx="666750" cy="742950"/>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8" name="">
            <a:extLst xmlns:a="http://schemas.openxmlformats.org/drawingml/2006/main">
              <a:ext uri="{FF2B5EF4-FFF2-40B4-BE49-F238E27FC236}">
                <a16:creationId xmlns:a16="http://schemas.microsoft.com/office/drawing/2014/main" id="{8651A1DB-9CB7-4EEA-927D-6990E26ECF84}"/>
              </a:ext>
            </a:extLst>
          </p:cNvPr>
          <p:cNvCxnSpPr>
            <a:stCxn xmlns:a="http://schemas.openxmlformats.org/drawingml/2006/main" id="18" idx="3"/>
            <a:endCxn xmlns:a="http://schemas.openxmlformats.org/drawingml/2006/main" id="21" idx="1"/>
          </p:cNvCxnSpPr>
          <p:nvPr/>
        </p:nvCxnSpPr>
        <p:spPr>
          <a:xfrm xmlns:a="http://schemas.openxmlformats.org/drawingml/2006/main">
            <a:off x="8877300" y="4048125"/>
            <a:ext cx="914400" cy="0"/>
          </a:xfrm>
          <a:prstGeom xmlns:a="http://schemas.openxmlformats.org/drawingml/2006/main" prst="straightConnector1">
            <a:avLst/>
          </a:prstGeom>
          <a:ln xmlns:a="http://schemas.openxmlformats.org/drawingml/2006/main" w="19050">
            <a:solidFill>
              <a:srgbClr val="215C4E"/>
            </a:solidFill>
            <a:prstDash val="solid"/>
            <a:headEnd type="arrow" w="sm" len="sm"/>
            <a:tailEnd type="arrow" w="sm" len="sm"/>
          </a:ln>
        </p:spPr>
      </p:cxnSp>
      <p:cxnSp>
        <p:nvCxnSpPr>
          <p:cNvPr id="27" name="">
            <a:extLst xmlns:a="http://schemas.openxmlformats.org/drawingml/2006/main">
              <a:ext uri="{FF2B5EF4-FFF2-40B4-BE49-F238E27FC236}">
                <a16:creationId xmlns:a16="http://schemas.microsoft.com/office/drawing/2014/main" id="{F28F9AB6-05A8-45E2-BB22-5EF5534695CC}"/>
              </a:ext>
            </a:extLst>
          </p:cNvPr>
          <p:cNvCxnSpPr>
            <a:stCxn xmlns:a="http://schemas.openxmlformats.org/drawingml/2006/main" id="13" idx="3"/>
            <a:endCxn xmlns:a="http://schemas.openxmlformats.org/drawingml/2006/main" id="18" idx="1"/>
          </p:cNvCxnSpPr>
          <p:nvPr/>
        </p:nvCxnSpPr>
        <p:spPr>
          <a:xfrm xmlns:a="http://schemas.openxmlformats.org/drawingml/2006/main" flipV="1">
            <a:off x="6134100" y="4048125"/>
            <a:ext cx="704850" cy="9525"/>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6" name="">
            <a:extLst xmlns:a="http://schemas.openxmlformats.org/drawingml/2006/main">
              <a:ext uri="{FF2B5EF4-FFF2-40B4-BE49-F238E27FC236}">
                <a16:creationId xmlns:a16="http://schemas.microsoft.com/office/drawing/2014/main" id="{BECDA500-E15B-48FA-8686-D9CB57CFC4C2}"/>
              </a:ext>
            </a:extLst>
          </p:cNvPr>
          <p:cNvCxnSpPr>
            <a:stCxn xmlns:a="http://schemas.openxmlformats.org/drawingml/2006/main" id="11" idx="3"/>
            <a:endCxn xmlns:a="http://schemas.openxmlformats.org/drawingml/2006/main" id="13" idx="1"/>
          </p:cNvCxnSpPr>
          <p:nvPr/>
        </p:nvCxnSpPr>
        <p:spPr>
          <a:xfrm xmlns:a="http://schemas.openxmlformats.org/drawingml/2006/main">
            <a:off x="2209800" y="4048125"/>
            <a:ext cx="666750" cy="9525"/>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5" name="">
            <a:extLst xmlns:a="http://schemas.openxmlformats.org/drawingml/2006/main">
              <a:ext uri="{FF2B5EF4-FFF2-40B4-BE49-F238E27FC236}">
                <a16:creationId xmlns:a16="http://schemas.microsoft.com/office/drawing/2014/main" id="{26805CE2-A770-4FD0-82E2-F1B2E20FC029}"/>
              </a:ext>
            </a:extLst>
          </p:cNvPr>
          <p:cNvCxnSpPr>
            <a:stCxn xmlns:a="http://schemas.openxmlformats.org/drawingml/2006/main" id="17" idx="3"/>
            <a:endCxn xmlns:a="http://schemas.openxmlformats.org/drawingml/2006/main" id="20" idx="1"/>
          </p:cNvCxnSpPr>
          <p:nvPr/>
        </p:nvCxnSpPr>
        <p:spPr>
          <a:xfrm xmlns:a="http://schemas.openxmlformats.org/drawingml/2006/main">
            <a:off x="8877300" y="3295650"/>
            <a:ext cx="914400" cy="0"/>
          </a:xfrm>
          <a:prstGeom xmlns:a="http://schemas.openxmlformats.org/drawingml/2006/main" prst="straightConnector1">
            <a:avLst/>
          </a:prstGeom>
          <a:ln xmlns:a="http://schemas.openxmlformats.org/drawingml/2006/main" w="19050">
            <a:solidFill>
              <a:srgbClr val="215C4E"/>
            </a:solidFill>
            <a:prstDash val="solid"/>
            <a:headEnd type="arrow" w="sm" len="sm"/>
            <a:tailEnd type="arrow" w="sm" len="sm"/>
          </a:ln>
        </p:spPr>
      </p:cxnSp>
      <p:cxnSp>
        <p:nvCxnSpPr>
          <p:cNvPr id="24" name="">
            <a:extLst xmlns:a="http://schemas.openxmlformats.org/drawingml/2006/main">
              <a:ext uri="{FF2B5EF4-FFF2-40B4-BE49-F238E27FC236}">
                <a16:creationId xmlns:a16="http://schemas.microsoft.com/office/drawing/2014/main" id="{9FD97322-4C76-4CE1-81A9-C049DD26D0BB}"/>
              </a:ext>
            </a:extLst>
          </p:cNvPr>
          <p:cNvCxnSpPr>
            <a:stCxn xmlns:a="http://schemas.openxmlformats.org/drawingml/2006/main" id="13" idx="3"/>
            <a:endCxn xmlns:a="http://schemas.openxmlformats.org/drawingml/2006/main" id="17" idx="1"/>
          </p:cNvCxnSpPr>
          <p:nvPr/>
        </p:nvCxnSpPr>
        <p:spPr>
          <a:xfrm xmlns:a="http://schemas.openxmlformats.org/drawingml/2006/main" flipV="1">
            <a:off x="6134100" y="3295650"/>
            <a:ext cx="704850" cy="762000"/>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3" name="">
            <a:extLst xmlns:a="http://schemas.openxmlformats.org/drawingml/2006/main">
              <a:ext uri="{FF2B5EF4-FFF2-40B4-BE49-F238E27FC236}">
                <a16:creationId xmlns:a16="http://schemas.microsoft.com/office/drawing/2014/main" id="{FF1FD0BE-AA0E-449D-8524-58F30AFC854C}"/>
              </a:ext>
            </a:extLst>
          </p:cNvPr>
          <p:cNvCxnSpPr>
            <a:stCxn xmlns:a="http://schemas.openxmlformats.org/drawingml/2006/main" id="10" idx="3"/>
            <a:endCxn xmlns:a="http://schemas.openxmlformats.org/drawingml/2006/main" id="13" idx="1"/>
          </p:cNvCxnSpPr>
          <p:nvPr/>
        </p:nvCxnSpPr>
        <p:spPr>
          <a:xfrm xmlns:a="http://schemas.openxmlformats.org/drawingml/2006/main">
            <a:off x="2209800" y="3295650"/>
            <a:ext cx="666750" cy="762000"/>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sp>
        <p:nvSpPr>
          <p:cNvPr id="35" name="text-21">
            <a:extLst xmlns:a="http://schemas.openxmlformats.org/drawingml/2006/main">
              <a:ext uri="{FF2B5EF4-FFF2-40B4-BE49-F238E27FC236}">
                <a16:creationId xmlns:a16="http://schemas.microsoft.com/office/drawing/2014/main" id="{FCA45427-51F2-4B8A-85F1-294F23D802F8}"/>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WHAT WE BUILD</a:t>
            </a:r>
          </a:p>
        </p:txBody>
      </p:sp>
      <p:sp>
        <p:nvSpPr>
          <p:cNvPr id="2" name="text-22">
            <a:extLst xmlns:a="http://schemas.openxmlformats.org/drawingml/2006/main">
              <a:ext uri="{FF2B5EF4-FFF2-40B4-BE49-F238E27FC236}">
                <a16:creationId xmlns:a16="http://schemas.microsoft.com/office/drawing/2014/main" id="{E027C6B1-D345-40DB-AC1C-1D4361DBE61E}"/>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One connection to compare and book</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participating local businesses</a:t>
            </a:r>
          </a:p>
        </p:txBody>
      </p:sp>
      <p:sp>
        <p:nvSpPr>
          <p:cNvPr id="3" name="text-23">
            <a:extLst xmlns:a="http://schemas.openxmlformats.org/drawingml/2006/main">
              <a:ext uri="{FF2B5EF4-FFF2-40B4-BE49-F238E27FC236}">
                <a16:creationId xmlns:a16="http://schemas.microsoft.com/office/drawing/2014/main" id="{A21A23D5-FFC2-4030-8472-1C73F3C22D72}"/>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24">
            <a:extLst xmlns:a="http://schemas.openxmlformats.org/drawingml/2006/main">
              <a:ext uri="{FF2B5EF4-FFF2-40B4-BE49-F238E27FC236}">
                <a16:creationId xmlns:a16="http://schemas.microsoft.com/office/drawing/2014/main" id="{BF2C07B8-BE22-4B64-B8CE-917637A639E0}"/>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3 / 6</a:t>
            </a:r>
          </a:p>
        </p:txBody>
      </p:sp>
      <p:sp>
        <p:nvSpPr>
          <p:cNvPr id="5" name="text-25">
            <a:extLst xmlns:a="http://schemas.openxmlformats.org/drawingml/2006/main">
              <a:ext uri="{FF2B5EF4-FFF2-40B4-BE49-F238E27FC236}">
                <a16:creationId xmlns:a16="http://schemas.microsoft.com/office/drawing/2014/main" id="{B3061C25-8171-40EC-8557-7C75B29FA120}"/>
              </a:ext>
            </a:extLst>
          </p:cNvPr>
          <p:cNvSpPr>
            <a:spLocks xmlns:a="http://schemas.openxmlformats.org/drawingml/2006/main" noGrp="1"/>
          </p:cNvSpPr>
          <p:nvPr/>
        </p:nvSpPr>
        <p:spPr>
          <a:xfrm xmlns:a="http://schemas.openxmlformats.org/drawingml/2006/main">
            <a:off x="457200" y="200025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06A67"/>
                </a:solidFill>
                <a:latin typeface="Helvetica Neue"/>
                <a:ea typeface="Helvetica Neue"/>
                <a:cs typeface="Helvetica Neue"/>
              </a:defRPr>
            </a:defPPr>
          </a:lstStyle>
          <a:p xmlns:a="http://schemas.openxmlformats.org/drawingml/2006/main">
            <a:pPr>
              <a:buNone/>
              <a:defRPr sz="2025" b="0">
                <a:solidFill>
                  <a:srgbClr val="606A67"/>
                </a:solidFill>
                <a:latin typeface="Helvetica Neue"/>
                <a:ea typeface="Helvetica Neue"/>
                <a:cs typeface="Helvetica Neue"/>
              </a:defRPr>
            </a:pPr>
            <a:r>
              <a:rPr sz="2025" b="0">
                <a:solidFill>
                  <a:srgbClr val="606A67"/>
                </a:solidFill>
                <a:latin typeface="Helvetica Neue"/>
                <a:ea typeface="Helvetica Neue"/>
                <a:cs typeface="Helvetica Neue"/>
              </a:rPr>
              <a:t>One authorized business connection serves every connected agent.</a:t>
            </a:r>
          </a:p>
        </p:txBody>
      </p:sp>
      <p:sp>
        <p:nvSpPr>
          <p:cNvPr id="6" name="text-26">
            <a:extLst xmlns:a="http://schemas.openxmlformats.org/drawingml/2006/main">
              <a:ext uri="{FF2B5EF4-FFF2-40B4-BE49-F238E27FC236}">
                <a16:creationId xmlns:a16="http://schemas.microsoft.com/office/drawing/2014/main" id="{BDFE633D-0792-4BBF-844B-6B8AEDB187C4}"/>
              </a:ext>
            </a:extLst>
          </p:cNvPr>
          <p:cNvSpPr>
            <a:spLocks xmlns:a="http://schemas.openxmlformats.org/drawingml/2006/main" noGrp="1"/>
          </p:cNvSpPr>
          <p:nvPr/>
        </p:nvSpPr>
        <p:spPr>
          <a:xfrm xmlns:a="http://schemas.openxmlformats.org/drawingml/2006/main">
            <a:off x="457200" y="2543175"/>
            <a:ext cx="1905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8352F"/>
                </a:solidFill>
                <a:latin typeface="Helvetica Neue"/>
                <a:ea typeface="Helvetica Neue"/>
                <a:cs typeface="Helvetica Neue"/>
              </a:defRPr>
            </a:defPPr>
          </a:lstStyle>
          <a:p xmlns:a="http://schemas.openxmlformats.org/drawingml/2006/main">
            <a:pPr>
              <a:buNone/>
              <a:defRPr sz="1650" b="1">
                <a:solidFill>
                  <a:srgbClr val="18352F"/>
                </a:solidFill>
                <a:latin typeface="Helvetica Neue"/>
                <a:ea typeface="Helvetica Neue"/>
                <a:cs typeface="Helvetica Neue"/>
              </a:defRPr>
            </a:pPr>
            <a:r>
              <a:rPr sz="1650" b="1">
                <a:solidFill>
                  <a:srgbClr val="18352F"/>
                </a:solidFill>
                <a:latin typeface="Helvetica Neue"/>
                <a:ea typeface="Helvetica Neue"/>
                <a:cs typeface="Helvetica Neue"/>
              </a:rPr>
              <a:t>Personal agents</a:t>
            </a:r>
          </a:p>
        </p:txBody>
      </p:sp>
      <p:sp>
        <p:nvSpPr>
          <p:cNvPr id="7" name="text-27">
            <a:extLst xmlns:a="http://schemas.openxmlformats.org/drawingml/2006/main">
              <a:ext uri="{FF2B5EF4-FFF2-40B4-BE49-F238E27FC236}">
                <a16:creationId xmlns:a16="http://schemas.microsoft.com/office/drawing/2014/main" id="{0F73421B-57EC-4B0B-B7E8-49181CDB5C8B}"/>
              </a:ext>
            </a:extLst>
          </p:cNvPr>
          <p:cNvSpPr>
            <a:spLocks xmlns:a="http://schemas.openxmlformats.org/drawingml/2006/main" noGrp="1"/>
          </p:cNvSpPr>
          <p:nvPr/>
        </p:nvSpPr>
        <p:spPr>
          <a:xfrm xmlns:a="http://schemas.openxmlformats.org/drawingml/2006/main">
            <a:off x="2857500" y="2543175"/>
            <a:ext cx="32575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8352F"/>
                </a:solidFill>
                <a:latin typeface="Helvetica Neue"/>
                <a:ea typeface="Helvetica Neue"/>
                <a:cs typeface="Helvetica Neue"/>
              </a:defRPr>
            </a:defPPr>
          </a:lstStyle>
          <a:p xmlns:a="http://schemas.openxmlformats.org/drawingml/2006/main">
            <a:pPr>
              <a:buNone/>
              <a:defRPr sz="1650" b="1">
                <a:solidFill>
                  <a:srgbClr val="18352F"/>
                </a:solidFill>
                <a:latin typeface="Helvetica Neue"/>
                <a:ea typeface="Helvetica Neue"/>
                <a:cs typeface="Helvetica Neue"/>
              </a:defRPr>
            </a:pPr>
            <a:r>
              <a:rPr sz="1650" b="1">
                <a:solidFill>
                  <a:srgbClr val="18352F"/>
                </a:solidFill>
                <a:latin typeface="Helvetica Neue"/>
                <a:ea typeface="Helvetica Neue"/>
                <a:cs typeface="Helvetica Neue"/>
              </a:rPr>
              <a:t>Shared data + actions</a:t>
            </a:r>
          </a:p>
        </p:txBody>
      </p:sp>
      <p:sp>
        <p:nvSpPr>
          <p:cNvPr id="8" name="text-28">
            <a:extLst xmlns:a="http://schemas.openxmlformats.org/drawingml/2006/main">
              <a:ext uri="{FF2B5EF4-FFF2-40B4-BE49-F238E27FC236}">
                <a16:creationId xmlns:a16="http://schemas.microsoft.com/office/drawing/2014/main" id="{4693E4E7-7319-4FB0-9F81-4DB5A1B7E563}"/>
              </a:ext>
            </a:extLst>
          </p:cNvPr>
          <p:cNvSpPr>
            <a:spLocks xmlns:a="http://schemas.openxmlformats.org/drawingml/2006/main" noGrp="1"/>
          </p:cNvSpPr>
          <p:nvPr/>
        </p:nvSpPr>
        <p:spPr>
          <a:xfrm xmlns:a="http://schemas.openxmlformats.org/drawingml/2006/main">
            <a:off x="6819900" y="2543175"/>
            <a:ext cx="2095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8352F"/>
                </a:solidFill>
                <a:latin typeface="Helvetica Neue"/>
                <a:ea typeface="Helvetica Neue"/>
                <a:cs typeface="Helvetica Neue"/>
              </a:defRPr>
            </a:defPPr>
          </a:lstStyle>
          <a:p xmlns:a="http://schemas.openxmlformats.org/drawingml/2006/main">
            <a:pPr>
              <a:buNone/>
              <a:defRPr sz="1650" b="1">
                <a:solidFill>
                  <a:srgbClr val="18352F"/>
                </a:solidFill>
                <a:latin typeface="Helvetica Neue"/>
                <a:ea typeface="Helvetica Neue"/>
                <a:cs typeface="Helvetica Neue"/>
              </a:defRPr>
            </a:pPr>
            <a:r>
              <a:rPr sz="1650" b="1">
                <a:solidFill>
                  <a:srgbClr val="18352F"/>
                </a:solidFill>
                <a:latin typeface="Helvetica Neue"/>
                <a:ea typeface="Helvetica Neue"/>
                <a:cs typeface="Helvetica Neue"/>
              </a:rPr>
              <a:t>Business software</a:t>
            </a:r>
          </a:p>
        </p:txBody>
      </p:sp>
      <p:sp>
        <p:nvSpPr>
          <p:cNvPr id="9" name="text-29">
            <a:extLst xmlns:a="http://schemas.openxmlformats.org/drawingml/2006/main">
              <a:ext uri="{FF2B5EF4-FFF2-40B4-BE49-F238E27FC236}">
                <a16:creationId xmlns:a16="http://schemas.microsoft.com/office/drawing/2014/main" id="{606ECEFB-2FAE-483B-915E-51C7E45DA3C6}"/>
              </a:ext>
            </a:extLst>
          </p:cNvPr>
          <p:cNvSpPr>
            <a:spLocks xmlns:a="http://schemas.openxmlformats.org/drawingml/2006/main" noGrp="1"/>
          </p:cNvSpPr>
          <p:nvPr/>
        </p:nvSpPr>
        <p:spPr>
          <a:xfrm xmlns:a="http://schemas.openxmlformats.org/drawingml/2006/main">
            <a:off x="9772650" y="2543175"/>
            <a:ext cx="19621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8352F"/>
                </a:solidFill>
                <a:latin typeface="Helvetica Neue"/>
                <a:ea typeface="Helvetica Neue"/>
                <a:cs typeface="Helvetica Neue"/>
              </a:defRPr>
            </a:defPPr>
          </a:lstStyle>
          <a:p xmlns:a="http://schemas.openxmlformats.org/drawingml/2006/main">
            <a:pPr>
              <a:buNone/>
              <a:defRPr sz="1650" b="1">
                <a:solidFill>
                  <a:srgbClr val="18352F"/>
                </a:solidFill>
                <a:latin typeface="Helvetica Neue"/>
                <a:ea typeface="Helvetica Neue"/>
                <a:cs typeface="Helvetica Neue"/>
              </a:defRPr>
            </a:pPr>
            <a:r>
              <a:rPr sz="1650" b="1">
                <a:solidFill>
                  <a:srgbClr val="18352F"/>
                </a:solidFill>
                <a:latin typeface="Helvetica Neue"/>
                <a:ea typeface="Helvetica Neue"/>
                <a:cs typeface="Helvetica Neue"/>
              </a:rPr>
              <a:t>Local businesses</a:t>
            </a:r>
          </a:p>
        </p:txBody>
      </p:sp>
      <p:sp>
        <p:nvSpPr>
          <p:cNvPr id="10" name="diagram-30">
            <a:extLst xmlns:a="http://schemas.openxmlformats.org/drawingml/2006/main">
              <a:ext uri="{FF2B5EF4-FFF2-40B4-BE49-F238E27FC236}">
                <a16:creationId xmlns:a16="http://schemas.microsoft.com/office/drawing/2014/main" id="{330E262F-18B4-4C0A-BBF1-09E7E644C253}"/>
              </a:ext>
            </a:extLst>
          </p:cNvPr>
          <p:cNvSpPr>
            <a:spLocks xmlns:a="http://schemas.openxmlformats.org/drawingml/2006/main" noGrp="1"/>
          </p:cNvSpPr>
          <p:nvPr/>
        </p:nvSpPr>
        <p:spPr>
          <a:xfrm xmlns:a="http://schemas.openxmlformats.org/drawingml/2006/main">
            <a:off x="457200" y="3038475"/>
            <a:ext cx="17526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Instinct</a:t>
            </a:r>
          </a:p>
        </p:txBody>
      </p:sp>
      <p:sp>
        <p:nvSpPr>
          <p:cNvPr id="11" name="diagram-31">
            <a:extLst xmlns:a="http://schemas.openxmlformats.org/drawingml/2006/main">
              <a:ext uri="{FF2B5EF4-FFF2-40B4-BE49-F238E27FC236}">
                <a16:creationId xmlns:a16="http://schemas.microsoft.com/office/drawing/2014/main" id="{708D8C9E-3B8C-4D98-AD44-A1796D086838}"/>
              </a:ext>
            </a:extLst>
          </p:cNvPr>
          <p:cNvSpPr>
            <a:spLocks xmlns:a="http://schemas.openxmlformats.org/drawingml/2006/main" noGrp="1"/>
          </p:cNvSpPr>
          <p:nvPr/>
        </p:nvSpPr>
        <p:spPr>
          <a:xfrm xmlns:a="http://schemas.openxmlformats.org/drawingml/2006/main">
            <a:off x="457200" y="3790950"/>
            <a:ext cx="17526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Muse</a:t>
            </a:r>
          </a:p>
        </p:txBody>
      </p:sp>
      <p:sp>
        <p:nvSpPr>
          <p:cNvPr id="12" name="diagram-32">
            <a:extLst xmlns:a="http://schemas.openxmlformats.org/drawingml/2006/main">
              <a:ext uri="{FF2B5EF4-FFF2-40B4-BE49-F238E27FC236}">
                <a16:creationId xmlns:a16="http://schemas.microsoft.com/office/drawing/2014/main" id="{D60CC16D-5ED7-4308-99B5-5B8E32D6903D}"/>
              </a:ext>
            </a:extLst>
          </p:cNvPr>
          <p:cNvSpPr>
            <a:spLocks xmlns:a="http://schemas.openxmlformats.org/drawingml/2006/main" noGrp="1"/>
          </p:cNvSpPr>
          <p:nvPr/>
        </p:nvSpPr>
        <p:spPr>
          <a:xfrm xmlns:a="http://schemas.openxmlformats.org/drawingml/2006/main">
            <a:off x="457200" y="4543425"/>
            <a:ext cx="17526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Other agents</a:t>
            </a:r>
          </a:p>
        </p:txBody>
      </p:sp>
      <p:sp>
        <p:nvSpPr>
          <p:cNvPr id="13" name="diagram-33">
            <a:extLst xmlns:a="http://schemas.openxmlformats.org/drawingml/2006/main">
              <a:ext uri="{FF2B5EF4-FFF2-40B4-BE49-F238E27FC236}">
                <a16:creationId xmlns:a16="http://schemas.microsoft.com/office/drawing/2014/main" id="{B679B302-5900-45D5-A5B8-A0A27AC4DACC}"/>
              </a:ext>
            </a:extLst>
          </p:cNvPr>
          <p:cNvSpPr>
            <a:spLocks xmlns:a="http://schemas.openxmlformats.org/drawingml/2006/main" noGrp="1"/>
          </p:cNvSpPr>
          <p:nvPr/>
        </p:nvSpPr>
        <p:spPr>
          <a:xfrm xmlns:a="http://schemas.openxmlformats.org/drawingml/2006/main">
            <a:off x="2876550" y="2952750"/>
            <a:ext cx="3257550" cy="2209800"/>
          </a:xfrm>
          <a:prstGeom xmlns:a="http://schemas.openxmlformats.org/drawingml/2006/main" prst="rect">
            <a:avLst/>
          </a:prstGeom>
          <a:solidFill xmlns:a="http://schemas.openxmlformats.org/drawingml/2006/main">
            <a:srgbClr val="E5EFEA"/>
          </a:solidFill>
          <a:ln xmlns:a="http://schemas.openxmlformats.org/drawingml/2006/main" w="14288">
            <a:solidFill>
              <a:srgbClr val="215C4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1">
                <a:solidFill>
                  <a:srgbClr val="18352F"/>
                </a:solidFill>
                <a:latin typeface="Helvetica Neue"/>
                <a:ea typeface="Helvetica Neue"/>
                <a:cs typeface="Helvetica Neue"/>
              </a:defRPr>
            </a:defPPr>
          </a:lstStyle>
          <a:p xmlns:a="http://schemas.openxmlformats.org/drawingml/2006/main">
            <a:r>
              <a:t/>
            </a:r>
          </a:p>
        </p:txBody>
      </p:sp>
      <p:sp>
        <p:nvSpPr>
          <p:cNvPr id="14" name="text-34">
            <a:extLst xmlns:a="http://schemas.openxmlformats.org/drawingml/2006/main">
              <a:ext uri="{FF2B5EF4-FFF2-40B4-BE49-F238E27FC236}">
                <a16:creationId xmlns:a16="http://schemas.microsoft.com/office/drawing/2014/main" id="{DD9A4A32-E7E5-4128-8BAF-66FB2FAAF999}"/>
              </a:ext>
            </a:extLst>
          </p:cNvPr>
          <p:cNvSpPr>
            <a:spLocks xmlns:a="http://schemas.openxmlformats.org/drawingml/2006/main" noGrp="1"/>
          </p:cNvSpPr>
          <p:nvPr/>
        </p:nvSpPr>
        <p:spPr>
          <a:xfrm xmlns:a="http://schemas.openxmlformats.org/drawingml/2006/main">
            <a:off x="3067050" y="3095625"/>
            <a:ext cx="28765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550" b="1">
                <a:solidFill>
                  <a:srgbClr val="215C4E"/>
                </a:solidFill>
                <a:latin typeface="Helvetica Neue"/>
                <a:ea typeface="Helvetica Neue"/>
                <a:cs typeface="Helvetica Neue"/>
              </a:defRPr>
            </a:defPPr>
          </a:lstStyle>
          <a:p xmlns:a="http://schemas.openxmlformats.org/drawingml/2006/main">
            <a:pPr>
              <a:buNone/>
              <a:defRPr sz="2550" b="1">
                <a:solidFill>
                  <a:srgbClr val="215C4E"/>
                </a:solidFill>
                <a:latin typeface="Helvetica Neue"/>
                <a:ea typeface="Helvetica Neue"/>
                <a:cs typeface="Helvetica Neue"/>
              </a:defRPr>
            </a:pPr>
            <a:r>
              <a:rPr sz="2550" b="1">
                <a:solidFill>
                  <a:srgbClr val="215C4E"/>
                </a:solidFill>
                <a:latin typeface="Helvetica Neue"/>
                <a:ea typeface="Helvetica Neue"/>
                <a:cs typeface="Helvetica Neue"/>
              </a:rPr>
              <a:t>GoLocal</a:t>
            </a:r>
          </a:p>
        </p:txBody>
      </p:sp>
      <p:sp>
        <p:nvSpPr>
          <p:cNvPr id="15" name="text-35">
            <a:extLst xmlns:a="http://schemas.openxmlformats.org/drawingml/2006/main">
              <a:ext uri="{FF2B5EF4-FFF2-40B4-BE49-F238E27FC236}">
                <a16:creationId xmlns:a16="http://schemas.microsoft.com/office/drawing/2014/main" id="{72C099F3-BD98-4E20-87EA-C1DC9EE1AF18}"/>
              </a:ext>
            </a:extLst>
          </p:cNvPr>
          <p:cNvSpPr>
            <a:spLocks xmlns:a="http://schemas.openxmlformats.org/drawingml/2006/main" noGrp="1"/>
          </p:cNvSpPr>
          <p:nvPr/>
        </p:nvSpPr>
        <p:spPr>
          <a:xfrm xmlns:a="http://schemas.openxmlformats.org/drawingml/2006/main">
            <a:off x="3067050" y="3657600"/>
            <a:ext cx="28765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8352F"/>
                </a:solidFill>
                <a:latin typeface="Helvetica Neue"/>
                <a:ea typeface="Helvetica Neue"/>
                <a:cs typeface="Helvetica Neue"/>
              </a:defRPr>
            </a:defPPr>
          </a:lstStyle>
          <a:p xmlns:a="http://schemas.openxmlformats.org/drawingml/2006/main">
            <a:pPr>
              <a:buNone/>
              <a:defRPr sz="1650" b="0">
                <a:solidFill>
                  <a:srgbClr val="18352F"/>
                </a:solidFill>
                <a:latin typeface="Helvetica Neue"/>
                <a:ea typeface="Helvetica Neue"/>
                <a:cs typeface="Helvetica Neue"/>
              </a:defRPr>
            </a:pPr>
            <a:r>
              <a:rPr sz="1650" b="0">
                <a:solidFill>
                  <a:srgbClr val="18352F"/>
                </a:solidFill>
                <a:latin typeface="Helvetica Neue"/>
                <a:ea typeface="Helvetica Neue"/>
                <a:cs typeface="Helvetica Neue"/>
              </a:rPr>
              <a:t>Services &amp; service areas</a:t>
            </a:r>
          </a:p>
          <a:p xmlns:a="http://schemas.openxmlformats.org/drawingml/2006/main">
            <a:pPr>
              <a:buNone/>
              <a:defRPr sz="1650" b="0">
                <a:solidFill>
                  <a:srgbClr val="18352F"/>
                </a:solidFill>
                <a:latin typeface="Helvetica Neue"/>
                <a:ea typeface="Helvetica Neue"/>
                <a:cs typeface="Helvetica Neue"/>
              </a:defRPr>
            </a:pPr>
            <a:r>
              <a:rPr sz="1650" b="0">
                <a:solidFill>
                  <a:srgbClr val="18352F"/>
                </a:solidFill>
                <a:latin typeface="Helvetica Neue"/>
                <a:ea typeface="Helvetica Neue"/>
                <a:cs typeface="Helvetica Neue"/>
              </a:rPr>
              <a:t>Prices / quote requirements</a:t>
            </a:r>
          </a:p>
          <a:p xmlns:a="http://schemas.openxmlformats.org/drawingml/2006/main">
            <a:pPr>
              <a:buNone/>
              <a:defRPr sz="1650" b="0">
                <a:solidFill>
                  <a:srgbClr val="18352F"/>
                </a:solidFill>
                <a:latin typeface="Helvetica Neue"/>
                <a:ea typeface="Helvetica Neue"/>
                <a:cs typeface="Helvetica Neue"/>
              </a:defRPr>
            </a:pPr>
            <a:r>
              <a:rPr sz="1650" b="0">
                <a:solidFill>
                  <a:srgbClr val="18352F"/>
                </a:solidFill>
                <a:latin typeface="Helvetica Neue"/>
                <a:ea typeface="Helvetica Neue"/>
                <a:cs typeface="Helvetica Neue"/>
              </a:rPr>
              <a:t>Slots &amp; permitted job history</a:t>
            </a:r>
          </a:p>
        </p:txBody>
      </p:sp>
      <p:sp>
        <p:nvSpPr>
          <p:cNvPr id="16" name="text-36">
            <a:extLst xmlns:a="http://schemas.openxmlformats.org/drawingml/2006/main">
              <a:ext uri="{FF2B5EF4-FFF2-40B4-BE49-F238E27FC236}">
                <a16:creationId xmlns:a16="http://schemas.microsoft.com/office/drawing/2014/main" id="{F5F102F3-5926-400F-8BCA-B20407706580}"/>
              </a:ext>
            </a:extLst>
          </p:cNvPr>
          <p:cNvSpPr>
            <a:spLocks xmlns:a="http://schemas.openxmlformats.org/drawingml/2006/main" noGrp="1"/>
          </p:cNvSpPr>
          <p:nvPr/>
        </p:nvSpPr>
        <p:spPr>
          <a:xfrm xmlns:a="http://schemas.openxmlformats.org/drawingml/2006/main">
            <a:off x="3067050" y="4772025"/>
            <a:ext cx="2876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215C4E"/>
                </a:solidFill>
                <a:latin typeface="Helvetica Neue"/>
                <a:ea typeface="Helvetica Neue"/>
                <a:cs typeface="Helvetica Neue"/>
              </a:defRPr>
            </a:defPPr>
          </a:lstStyle>
          <a:p xmlns:a="http://schemas.openxmlformats.org/drawingml/2006/main">
            <a:pPr>
              <a:buNone/>
              <a:defRPr sz="1650" b="1">
                <a:solidFill>
                  <a:srgbClr val="215C4E"/>
                </a:solidFill>
                <a:latin typeface="Helvetica Neue"/>
                <a:ea typeface="Helvetica Neue"/>
                <a:cs typeface="Helvetica Neue"/>
              </a:defRPr>
            </a:pPr>
            <a:r>
              <a:rPr sz="1650" b="1">
                <a:solidFill>
                  <a:srgbClr val="215C4E"/>
                </a:solidFill>
                <a:latin typeface="Helvetica Neue"/>
                <a:ea typeface="Helvetica Neue"/>
                <a:cs typeface="Helvetica Neue"/>
              </a:rPr>
              <a:t>Quote • book • pay • manage</a:t>
            </a:r>
          </a:p>
        </p:txBody>
      </p:sp>
      <p:sp>
        <p:nvSpPr>
          <p:cNvPr id="17" name="diagram-37">
            <a:extLst xmlns:a="http://schemas.openxmlformats.org/drawingml/2006/main">
              <a:ext uri="{FF2B5EF4-FFF2-40B4-BE49-F238E27FC236}">
                <a16:creationId xmlns:a16="http://schemas.microsoft.com/office/drawing/2014/main" id="{0B8CA6E2-D0C9-4CE0-B8AF-C0AC4732D3E7}"/>
              </a:ext>
            </a:extLst>
          </p:cNvPr>
          <p:cNvSpPr>
            <a:spLocks xmlns:a="http://schemas.openxmlformats.org/drawingml/2006/main" noGrp="1"/>
          </p:cNvSpPr>
          <p:nvPr/>
        </p:nvSpPr>
        <p:spPr>
          <a:xfrm xmlns:a="http://schemas.openxmlformats.org/drawingml/2006/main">
            <a:off x="6838950" y="3038475"/>
            <a:ext cx="203835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FSM / CRM A</a:t>
            </a:r>
          </a:p>
        </p:txBody>
      </p:sp>
      <p:sp>
        <p:nvSpPr>
          <p:cNvPr id="18" name="diagram-38">
            <a:extLst xmlns:a="http://schemas.openxmlformats.org/drawingml/2006/main">
              <a:ext uri="{FF2B5EF4-FFF2-40B4-BE49-F238E27FC236}">
                <a16:creationId xmlns:a16="http://schemas.microsoft.com/office/drawing/2014/main" id="{EAA4E67B-CAE5-4DD4-929C-C38232F50687}"/>
              </a:ext>
            </a:extLst>
          </p:cNvPr>
          <p:cNvSpPr>
            <a:spLocks xmlns:a="http://schemas.openxmlformats.org/drawingml/2006/main" noGrp="1"/>
          </p:cNvSpPr>
          <p:nvPr/>
        </p:nvSpPr>
        <p:spPr>
          <a:xfrm xmlns:a="http://schemas.openxmlformats.org/drawingml/2006/main">
            <a:off x="6838950" y="3790950"/>
            <a:ext cx="203835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FSM / CRM B</a:t>
            </a:r>
          </a:p>
        </p:txBody>
      </p:sp>
      <p:sp>
        <p:nvSpPr>
          <p:cNvPr id="19" name="diagram-39">
            <a:extLst xmlns:a="http://schemas.openxmlformats.org/drawingml/2006/main">
              <a:ext uri="{FF2B5EF4-FFF2-40B4-BE49-F238E27FC236}">
                <a16:creationId xmlns:a16="http://schemas.microsoft.com/office/drawing/2014/main" id="{67DE8F79-33EE-418D-9798-0290F5F7789D}"/>
              </a:ext>
            </a:extLst>
          </p:cNvPr>
          <p:cNvSpPr>
            <a:spLocks xmlns:a="http://schemas.openxmlformats.org/drawingml/2006/main" noGrp="1"/>
          </p:cNvSpPr>
          <p:nvPr/>
        </p:nvSpPr>
        <p:spPr>
          <a:xfrm xmlns:a="http://schemas.openxmlformats.org/drawingml/2006/main">
            <a:off x="6838950" y="4543425"/>
            <a:ext cx="203835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Other software</a:t>
            </a:r>
          </a:p>
        </p:txBody>
      </p:sp>
      <p:sp>
        <p:nvSpPr>
          <p:cNvPr id="20" name="diagram-40">
            <a:extLst xmlns:a="http://schemas.openxmlformats.org/drawingml/2006/main">
              <a:ext uri="{FF2B5EF4-FFF2-40B4-BE49-F238E27FC236}">
                <a16:creationId xmlns:a16="http://schemas.microsoft.com/office/drawing/2014/main" id="{BE51CEC0-E858-4618-B90B-AEC7AE5A18A0}"/>
              </a:ext>
            </a:extLst>
          </p:cNvPr>
          <p:cNvSpPr>
            <a:spLocks xmlns:a="http://schemas.openxmlformats.org/drawingml/2006/main" noGrp="1"/>
          </p:cNvSpPr>
          <p:nvPr/>
        </p:nvSpPr>
        <p:spPr>
          <a:xfrm xmlns:a="http://schemas.openxmlformats.org/drawingml/2006/main">
            <a:off x="9791700" y="3038475"/>
            <a:ext cx="19431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Trade shops</a:t>
            </a:r>
          </a:p>
        </p:txBody>
      </p:sp>
      <p:sp>
        <p:nvSpPr>
          <p:cNvPr id="21" name="diagram-41">
            <a:extLst xmlns:a="http://schemas.openxmlformats.org/drawingml/2006/main">
              <a:ext uri="{FF2B5EF4-FFF2-40B4-BE49-F238E27FC236}">
                <a16:creationId xmlns:a16="http://schemas.microsoft.com/office/drawing/2014/main" id="{141F0901-74FC-449F-AC14-A2BCB006C308}"/>
              </a:ext>
            </a:extLst>
          </p:cNvPr>
          <p:cNvSpPr>
            <a:spLocks xmlns:a="http://schemas.openxmlformats.org/drawingml/2006/main" noGrp="1"/>
          </p:cNvSpPr>
          <p:nvPr/>
        </p:nvSpPr>
        <p:spPr>
          <a:xfrm xmlns:a="http://schemas.openxmlformats.org/drawingml/2006/main">
            <a:off x="9791700" y="3790950"/>
            <a:ext cx="19431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Home services</a:t>
            </a:r>
          </a:p>
        </p:txBody>
      </p:sp>
      <p:sp>
        <p:nvSpPr>
          <p:cNvPr id="22" name="diagram-42">
            <a:extLst xmlns:a="http://schemas.openxmlformats.org/drawingml/2006/main">
              <a:ext uri="{FF2B5EF4-FFF2-40B4-BE49-F238E27FC236}">
                <a16:creationId xmlns:a16="http://schemas.microsoft.com/office/drawing/2014/main" id="{2B5183FC-C2A6-4179-9266-CBE98B10AD72}"/>
              </a:ext>
            </a:extLst>
          </p:cNvPr>
          <p:cNvSpPr>
            <a:spLocks xmlns:a="http://schemas.openxmlformats.org/drawingml/2006/main" noGrp="1"/>
          </p:cNvSpPr>
          <p:nvPr/>
        </p:nvSpPr>
        <p:spPr>
          <a:xfrm xmlns:a="http://schemas.openxmlformats.org/drawingml/2006/main">
            <a:off x="9791700" y="4543425"/>
            <a:ext cx="19431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Other providers</a:t>
            </a:r>
          </a:p>
        </p:txBody>
      </p:sp>
      <p:sp>
        <p:nvSpPr>
          <p:cNvPr id="32" name="text-43">
            <a:extLst xmlns:a="http://schemas.openxmlformats.org/drawingml/2006/main">
              <a:ext uri="{FF2B5EF4-FFF2-40B4-BE49-F238E27FC236}">
                <a16:creationId xmlns:a16="http://schemas.microsoft.com/office/drawing/2014/main" id="{2E20CFA4-F21E-49BB-BC25-59DAA09A2349}"/>
              </a:ext>
            </a:extLst>
          </p:cNvPr>
          <p:cNvSpPr>
            <a:spLocks xmlns:a="http://schemas.openxmlformats.org/drawingml/2006/main" noGrp="1"/>
          </p:cNvSpPr>
          <p:nvPr/>
        </p:nvSpPr>
        <p:spPr>
          <a:xfrm xmlns:a="http://schemas.openxmlformats.org/drawingml/2006/main">
            <a:off x="457200" y="5391150"/>
            <a:ext cx="542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606A67"/>
                </a:solidFill>
                <a:latin typeface="Helvetica Neue"/>
                <a:ea typeface="Helvetica Neue"/>
                <a:cs typeface="Helvetica Neue"/>
              </a:defRPr>
            </a:defPPr>
          </a:lstStyle>
          <a:p xmlns:a="http://schemas.openxmlformats.org/drawingml/2006/main">
            <a:pPr>
              <a:buNone/>
              <a:defRPr sz="1875" b="1">
                <a:solidFill>
                  <a:srgbClr val="606A67"/>
                </a:solidFill>
                <a:latin typeface="Helvetica Neue"/>
                <a:ea typeface="Helvetica Neue"/>
                <a:cs typeface="Helvetica Neue"/>
              </a:defRPr>
            </a:pPr>
            <a:r>
              <a:rPr sz="1875" b="1">
                <a:solidFill>
                  <a:srgbClr val="606A67"/>
                </a:solidFill>
                <a:latin typeface="Helvetica Neue"/>
                <a:ea typeface="Helvetica Neue"/>
                <a:cs typeface="Helvetica Neue"/>
              </a:rPr>
              <a:t>Calls: ask providers one at a time</a:t>
            </a:r>
          </a:p>
        </p:txBody>
      </p:sp>
      <p:sp>
        <p:nvSpPr>
          <p:cNvPr id="33" name="text-44">
            <a:extLst xmlns:a="http://schemas.openxmlformats.org/drawingml/2006/main">
              <a:ext uri="{FF2B5EF4-FFF2-40B4-BE49-F238E27FC236}">
                <a16:creationId xmlns:a16="http://schemas.microsoft.com/office/drawing/2014/main" id="{9A4A90DF-C4B6-4A32-8F29-D51114AB27B4}"/>
              </a:ext>
            </a:extLst>
          </p:cNvPr>
          <p:cNvSpPr>
            <a:spLocks xmlns:a="http://schemas.openxmlformats.org/drawingml/2006/main" noGrp="1"/>
          </p:cNvSpPr>
          <p:nvPr/>
        </p:nvSpPr>
        <p:spPr>
          <a:xfrm xmlns:a="http://schemas.openxmlformats.org/drawingml/2006/main">
            <a:off x="6229350" y="5391150"/>
            <a:ext cx="5505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215C4E"/>
                </a:solidFill>
                <a:latin typeface="Helvetica Neue"/>
                <a:ea typeface="Helvetica Neue"/>
                <a:cs typeface="Helvetica Neue"/>
              </a:defRPr>
            </a:defPPr>
          </a:lstStyle>
          <a:p xmlns:a="http://schemas.openxmlformats.org/drawingml/2006/main">
            <a:pPr>
              <a:buNone/>
              <a:defRPr sz="1875" b="1">
                <a:solidFill>
                  <a:srgbClr val="215C4E"/>
                </a:solidFill>
                <a:latin typeface="Helvetica Neue"/>
                <a:ea typeface="Helvetica Neue"/>
                <a:cs typeface="Helvetica Neue"/>
              </a:defRPr>
            </a:pPr>
            <a:r>
              <a:rPr sz="1875" b="1">
                <a:solidFill>
                  <a:srgbClr val="215C4E"/>
                </a:solidFill>
                <a:latin typeface="Helvetica Neue"/>
                <a:ea typeface="Helvetica Neue"/>
                <a:cs typeface="Helvetica Neue"/>
              </a:rPr>
              <a:t>GoLocal: query connected supply at once</a:t>
            </a:r>
          </a:p>
        </p:txBody>
      </p:sp>
      <p:sp>
        <p:nvSpPr>
          <p:cNvPr id="34" name="text-45">
            <a:extLst xmlns:a="http://schemas.openxmlformats.org/drawingml/2006/main">
              <a:ext uri="{FF2B5EF4-FFF2-40B4-BE49-F238E27FC236}">
                <a16:creationId xmlns:a16="http://schemas.microsoft.com/office/drawing/2014/main" id="{C216ED9D-83DC-4BC9-A112-A127BD943AAF}"/>
              </a:ext>
            </a:extLst>
          </p:cNvPr>
          <p:cNvSpPr>
            <a:spLocks xmlns:a="http://schemas.openxmlformats.org/drawingml/2006/main" noGrp="1"/>
          </p:cNvSpPr>
          <p:nvPr/>
        </p:nvSpPr>
        <p:spPr>
          <a:xfrm xmlns:a="http://schemas.openxmlformats.org/drawingml/2006/main">
            <a:off x="457200" y="5905500"/>
            <a:ext cx="11277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606A67"/>
                </a:solidFill>
                <a:latin typeface="Helvetica Neue"/>
                <a:ea typeface="Helvetica Neue"/>
                <a:cs typeface="Helvetica Neue"/>
              </a:defRPr>
            </a:defPPr>
          </a:lstStyle>
          <a:p xmlns:a="http://schemas.openxmlformats.org/drawingml/2006/main">
            <a:pPr>
              <a:buNone/>
              <a:defRPr sz="1350" b="0">
                <a:solidFill>
                  <a:srgbClr val="606A67"/>
                </a:solidFill>
                <a:latin typeface="Helvetica Neue"/>
                <a:ea typeface="Helvetica Neue"/>
                <a:cs typeface="Helvetica Neue"/>
              </a:defRPr>
            </a:pPr>
            <a:r>
              <a:rPr sz="1350" b="0">
                <a:solidFill>
                  <a:srgbClr val="606A67"/>
                </a:solidFill>
                <a:latin typeface="Helvetica Neue"/>
                <a:ea typeface="Helvetica Neue"/>
                <a:cs typeface="Helvetica Neue"/>
              </a:rPr>
              <a:t>Illustrative lookup target: ~15 minutes → under 5 seconds. Not measured; excludes scoping and booking.</a:t>
            </a:r>
          </a:p>
        </p:txBody>
      </p:sp>
    </p:spTree>
    <p:extLst>
      <p:ext uri="{BB962C8B-B14F-4D97-AF65-F5344CB8AC3E}">
        <p14:creationId xmlns:p14="http://schemas.microsoft.com/office/powerpoint/2010/main" val="26245105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D9CAAD90-1DB4-48A0-95DB-2093C8097818}"/>
              </a:ext>
            </a:extLst>
          </p:cNvPr>
          <p:cNvCxnSpPr>
            <a:stCxn xmlns:a="http://schemas.openxmlformats.org/drawingml/2006/main" id="11" idx="3"/>
            <a:endCxn xmlns:a="http://schemas.openxmlformats.org/drawingml/2006/main" id="12" idx="1"/>
          </p:cNvCxnSpPr>
          <p:nvPr/>
        </p:nvCxnSpPr>
        <p:spPr>
          <a:xfrm xmlns:a="http://schemas.openxmlformats.org/drawingml/2006/main">
            <a:off x="7562850" y="5553075"/>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cxnSp>
        <p:nvCxnSpPr>
          <p:cNvPr id="13" name="">
            <a:extLst xmlns:a="http://schemas.openxmlformats.org/drawingml/2006/main">
              <a:ext uri="{FF2B5EF4-FFF2-40B4-BE49-F238E27FC236}">
                <a16:creationId xmlns:a16="http://schemas.microsoft.com/office/drawing/2014/main" id="{B8F81315-766B-44F6-A395-CB5275177C41}"/>
              </a:ext>
            </a:extLst>
          </p:cNvPr>
          <p:cNvCxnSpPr>
            <a:stCxn xmlns:a="http://schemas.openxmlformats.org/drawingml/2006/main" id="10" idx="3"/>
            <a:endCxn xmlns:a="http://schemas.openxmlformats.org/drawingml/2006/main" id="11" idx="1"/>
          </p:cNvCxnSpPr>
          <p:nvPr/>
        </p:nvCxnSpPr>
        <p:spPr>
          <a:xfrm xmlns:a="http://schemas.openxmlformats.org/drawingml/2006/main">
            <a:off x="3409950" y="5553075"/>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sp>
        <p:nvSpPr>
          <p:cNvPr id="16" name="text-46">
            <a:extLst xmlns:a="http://schemas.openxmlformats.org/drawingml/2006/main">
              <a:ext uri="{FF2B5EF4-FFF2-40B4-BE49-F238E27FC236}">
                <a16:creationId xmlns:a16="http://schemas.microsoft.com/office/drawing/2014/main" id="{FAF97EA1-5185-4FAD-A815-F8BCA7E21FB6}"/>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BUSINESS MODEL AND DISTRIBUTION</a:t>
            </a:r>
          </a:p>
        </p:txBody>
      </p:sp>
      <p:sp>
        <p:nvSpPr>
          <p:cNvPr id="2" name="text-47">
            <a:extLst xmlns:a="http://schemas.openxmlformats.org/drawingml/2006/main">
              <a:ext uri="{FF2B5EF4-FFF2-40B4-BE49-F238E27FC236}">
                <a16:creationId xmlns:a16="http://schemas.microsoft.com/office/drawing/2014/main" id="{986E807D-E8C9-46A3-BD96-DA7C069F93FC}"/>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GoLocal earns when a new customer’s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booking becomes a fulfilled job</a:t>
            </a:r>
          </a:p>
        </p:txBody>
      </p:sp>
      <p:sp>
        <p:nvSpPr>
          <p:cNvPr id="3" name="text-48">
            <a:extLst xmlns:a="http://schemas.openxmlformats.org/drawingml/2006/main">
              <a:ext uri="{FF2B5EF4-FFF2-40B4-BE49-F238E27FC236}">
                <a16:creationId xmlns:a16="http://schemas.microsoft.com/office/drawing/2014/main" id="{6289C454-CBAB-4CBF-8D37-F1EECD795938}"/>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49">
            <a:extLst xmlns:a="http://schemas.openxmlformats.org/drawingml/2006/main">
              <a:ext uri="{FF2B5EF4-FFF2-40B4-BE49-F238E27FC236}">
                <a16:creationId xmlns:a16="http://schemas.microsoft.com/office/drawing/2014/main" id="{A6583BE2-0D25-4356-AFE1-085B280C44EF}"/>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4 / 6</a:t>
            </a:r>
          </a:p>
        </p:txBody>
      </p:sp>
      <p:sp>
        <p:nvSpPr>
          <p:cNvPr id="5" name="text-50">
            <a:extLst xmlns:a="http://schemas.openxmlformats.org/drawingml/2006/main">
              <a:ext uri="{FF2B5EF4-FFF2-40B4-BE49-F238E27FC236}">
                <a16:creationId xmlns:a16="http://schemas.microsoft.com/office/drawing/2014/main" id="{9F6F9698-B980-4A5C-81A7-C0E01B460FDC}"/>
              </a:ext>
            </a:extLst>
          </p:cNvPr>
          <p:cNvSpPr>
            <a:spLocks xmlns:a="http://schemas.openxmlformats.org/drawingml/2006/main" noGrp="1"/>
          </p:cNvSpPr>
          <p:nvPr/>
        </p:nvSpPr>
        <p:spPr>
          <a:xfrm xmlns:a="http://schemas.openxmlformats.org/drawingml/2006/main">
            <a:off x="457200" y="2057400"/>
            <a:ext cx="112776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18352F"/>
                </a:solidFill>
                <a:latin typeface="Helvetica Neue"/>
                <a:ea typeface="Helvetica Neue"/>
                <a:cs typeface="Helvetica Neue"/>
              </a:defRPr>
            </a:defPPr>
          </a:lstStyle>
          <a:p xmlns:a="http://schemas.openxmlformats.org/drawingml/2006/main">
            <a:pPr>
              <a:buNone/>
              <a:defRPr sz="2100" b="0">
                <a:solidFill>
                  <a:srgbClr val="18352F"/>
                </a:solidFill>
                <a:latin typeface="Helvetica Neue"/>
                <a:ea typeface="Helvetica Neue"/>
                <a:cs typeface="Helvetica Neue"/>
              </a:defRPr>
            </a:pPr>
            <a:r>
              <a:rPr sz="2100" b="0">
                <a:solidFill>
                  <a:srgbClr val="18352F"/>
                </a:solidFill>
                <a:latin typeface="Helvetica Neue"/>
                <a:ea typeface="Helvetica Neue"/>
                <a:cs typeface="Helvetica Neue"/>
              </a:rPr>
              <a:t>Proposed: the supplier pays a success fee. GoLocal shares an agreed</a:t>
            </a:r>
          </a:p>
          <a:p xmlns:a="http://schemas.openxmlformats.org/drawingml/2006/main">
            <a:pPr>
              <a:buNone/>
              <a:defRPr sz="2100" b="0">
                <a:solidFill>
                  <a:srgbClr val="18352F"/>
                </a:solidFill>
                <a:latin typeface="Helvetica Neue"/>
                <a:ea typeface="Helvetica Neue"/>
                <a:cs typeface="Helvetica Neue"/>
              </a:defRPr>
            </a:pPr>
            <a:r>
              <a:rPr sz="2100" b="0">
                <a:solidFill>
                  <a:srgbClr val="18352F"/>
                </a:solidFill>
                <a:latin typeface="Helvetica Neue"/>
                <a:ea typeface="Helvetica Neue"/>
                <a:cs typeface="Helvetica Neue"/>
              </a:rPr>
              <a:t>portion with the partner that brings the customer.</a:t>
            </a:r>
          </a:p>
        </p:txBody>
      </p:sp>
      <p:sp>
        <p:nvSpPr>
          <p:cNvPr id="6" name="text-51">
            <a:extLst xmlns:a="http://schemas.openxmlformats.org/drawingml/2006/main">
              <a:ext uri="{FF2B5EF4-FFF2-40B4-BE49-F238E27FC236}">
                <a16:creationId xmlns:a16="http://schemas.microsoft.com/office/drawing/2014/main" id="{8FB99042-26B6-494E-A35C-300EC7E87DC1}"/>
              </a:ext>
            </a:extLst>
          </p:cNvPr>
          <p:cNvSpPr>
            <a:spLocks xmlns:a="http://schemas.openxmlformats.org/drawingml/2006/main" noGrp="1"/>
          </p:cNvSpPr>
          <p:nvPr/>
        </p:nvSpPr>
        <p:spPr>
          <a:xfrm xmlns:a="http://schemas.openxmlformats.org/drawingml/2006/main">
            <a:off x="457200" y="3219450"/>
            <a:ext cx="5143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215C4E"/>
                </a:solidFill>
                <a:latin typeface="Helvetica Neue"/>
                <a:ea typeface="Helvetica Neue"/>
                <a:cs typeface="Helvetica Neue"/>
              </a:defRPr>
            </a:defPPr>
          </a:lstStyle>
          <a:p xmlns:a="http://schemas.openxmlformats.org/drawingml/2006/main">
            <a:pPr>
              <a:buNone/>
              <a:defRPr sz="2325" b="1">
                <a:solidFill>
                  <a:srgbClr val="215C4E"/>
                </a:solidFill>
                <a:latin typeface="Helvetica Neue"/>
                <a:ea typeface="Helvetica Neue"/>
                <a:cs typeface="Helvetica Neue"/>
              </a:defRPr>
            </a:pPr>
            <a:r>
              <a:rPr sz="2325" b="1">
                <a:solidFill>
                  <a:srgbClr val="215C4E"/>
                </a:solidFill>
                <a:latin typeface="Helvetica Neue"/>
                <a:ea typeface="Helvetica Neue"/>
                <a:cs typeface="Helvetica Neue"/>
              </a:rPr>
              <a:t>Direct agent partnership</a:t>
            </a:r>
          </a:p>
        </p:txBody>
      </p:sp>
      <p:sp>
        <p:nvSpPr>
          <p:cNvPr id="7" name="text-52">
            <a:extLst xmlns:a="http://schemas.openxmlformats.org/drawingml/2006/main">
              <a:ext uri="{FF2B5EF4-FFF2-40B4-BE49-F238E27FC236}">
                <a16:creationId xmlns:a16="http://schemas.microsoft.com/office/drawing/2014/main" id="{BF0F34B1-09AA-4179-A4DC-F6AB936E7E85}"/>
              </a:ext>
            </a:extLst>
          </p:cNvPr>
          <p:cNvSpPr>
            <a:spLocks xmlns:a="http://schemas.openxmlformats.org/drawingml/2006/main" noGrp="1"/>
          </p:cNvSpPr>
          <p:nvPr/>
        </p:nvSpPr>
        <p:spPr>
          <a:xfrm xmlns:a="http://schemas.openxmlformats.org/drawingml/2006/main">
            <a:off x="457200" y="3762375"/>
            <a:ext cx="521970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An agent platform routes relevant requests</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to GoLocal as an integrated booking tool.</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A partnership still needs to be secured.</a:t>
            </a:r>
          </a:p>
        </p:txBody>
      </p:sp>
      <p:sp>
        <p:nvSpPr>
          <p:cNvPr id="8" name="text-53">
            <a:extLst xmlns:a="http://schemas.openxmlformats.org/drawingml/2006/main">
              <a:ext uri="{FF2B5EF4-FFF2-40B4-BE49-F238E27FC236}">
                <a16:creationId xmlns:a16="http://schemas.microsoft.com/office/drawing/2014/main" id="{9FF6C1A3-46F7-417E-8C2E-B22EE566CD0E}"/>
              </a:ext>
            </a:extLst>
          </p:cNvPr>
          <p:cNvSpPr>
            <a:spLocks xmlns:a="http://schemas.openxmlformats.org/drawingml/2006/main" noGrp="1"/>
          </p:cNvSpPr>
          <p:nvPr/>
        </p:nvSpPr>
        <p:spPr>
          <a:xfrm xmlns:a="http://schemas.openxmlformats.org/drawingml/2006/main">
            <a:off x="6610350" y="3219450"/>
            <a:ext cx="51244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215C4E"/>
                </a:solidFill>
                <a:latin typeface="Helvetica Neue"/>
                <a:ea typeface="Helvetica Neue"/>
                <a:cs typeface="Helvetica Neue"/>
              </a:defRPr>
            </a:defPPr>
          </a:lstStyle>
          <a:p xmlns:a="http://schemas.openxmlformats.org/drawingml/2006/main">
            <a:pPr>
              <a:buNone/>
              <a:defRPr sz="2325" b="1">
                <a:solidFill>
                  <a:srgbClr val="215C4E"/>
                </a:solidFill>
                <a:latin typeface="Helvetica Neue"/>
                <a:ea typeface="Helvetica Neue"/>
                <a:cs typeface="Helvetica Neue"/>
              </a:defRPr>
            </a:pPr>
            <a:r>
              <a:rPr sz="2325" b="1">
                <a:solidFill>
                  <a:srgbClr val="215C4E"/>
                </a:solidFill>
                <a:latin typeface="Helvetica Neue"/>
                <a:ea typeface="Helvetica Neue"/>
                <a:cs typeface="Helvetica Neue"/>
              </a:rPr>
              <a:t>User-added connector</a:t>
            </a:r>
          </a:p>
        </p:txBody>
      </p:sp>
      <p:sp>
        <p:nvSpPr>
          <p:cNvPr id="9" name="text-54">
            <a:extLst xmlns:a="http://schemas.openxmlformats.org/drawingml/2006/main">
              <a:ext uri="{FF2B5EF4-FFF2-40B4-BE49-F238E27FC236}">
                <a16:creationId xmlns:a16="http://schemas.microsoft.com/office/drawing/2014/main" id="{BFDA3310-7D24-444A-A254-2440C190AB06}"/>
              </a:ext>
            </a:extLst>
          </p:cNvPr>
          <p:cNvSpPr>
            <a:spLocks xmlns:a="http://schemas.openxmlformats.org/drawingml/2006/main" noGrp="1"/>
          </p:cNvSpPr>
          <p:nvPr/>
        </p:nvSpPr>
        <p:spPr>
          <a:xfrm xmlns:a="http://schemas.openxmlformats.org/drawingml/2006/main">
            <a:off x="6610350" y="3762375"/>
            <a:ext cx="51244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Reach an audience with an urgent need.</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Help them add GoLocal to their agent.</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Installation requires customer acquisition.</a:t>
            </a:r>
          </a:p>
        </p:txBody>
      </p:sp>
      <p:sp>
        <p:nvSpPr>
          <p:cNvPr id="10" name="diagram-55">
            <a:extLst xmlns:a="http://schemas.openxmlformats.org/drawingml/2006/main">
              <a:ext uri="{FF2B5EF4-FFF2-40B4-BE49-F238E27FC236}">
                <a16:creationId xmlns:a16="http://schemas.microsoft.com/office/drawing/2014/main" id="{F61C9BFD-0E3D-4A6B-88F5-113305726798}"/>
              </a:ext>
            </a:extLst>
          </p:cNvPr>
          <p:cNvSpPr>
            <a:spLocks xmlns:a="http://schemas.openxmlformats.org/drawingml/2006/main" noGrp="1"/>
          </p:cNvSpPr>
          <p:nvPr/>
        </p:nvSpPr>
        <p:spPr>
          <a:xfrm xmlns:a="http://schemas.openxmlformats.org/drawingml/2006/main">
            <a:off x="457200" y="5238750"/>
            <a:ext cx="295275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Approved connector</a:t>
            </a:r>
          </a:p>
        </p:txBody>
      </p:sp>
      <p:sp>
        <p:nvSpPr>
          <p:cNvPr id="11" name="diagram-56">
            <a:extLst xmlns:a="http://schemas.openxmlformats.org/drawingml/2006/main">
              <a:ext uri="{FF2B5EF4-FFF2-40B4-BE49-F238E27FC236}">
                <a16:creationId xmlns:a16="http://schemas.microsoft.com/office/drawing/2014/main" id="{4CB77984-AA3C-4084-A02D-C45BA0C60B64}"/>
              </a:ext>
            </a:extLst>
          </p:cNvPr>
          <p:cNvSpPr>
            <a:spLocks xmlns:a="http://schemas.openxmlformats.org/drawingml/2006/main" noGrp="1"/>
          </p:cNvSpPr>
          <p:nvPr/>
        </p:nvSpPr>
        <p:spPr>
          <a:xfrm xmlns:a="http://schemas.openxmlformats.org/drawingml/2006/main">
            <a:off x="4610100" y="5238750"/>
            <a:ext cx="2952750" cy="628650"/>
          </a:xfrm>
          <a:prstGeom xmlns:a="http://schemas.openxmlformats.org/drawingml/2006/main" prst="rect">
            <a:avLst/>
          </a:prstGeom>
          <a:solidFill xmlns:a="http://schemas.openxmlformats.org/drawingml/2006/main">
            <a:srgbClr val="E5EFEA"/>
          </a:solidFill>
          <a:ln xmlns:a="http://schemas.openxmlformats.org/drawingml/2006/main" w="14288">
            <a:solidFill>
              <a:srgbClr val="215C4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1">
                <a:solidFill>
                  <a:srgbClr val="18352F"/>
                </a:solidFill>
                <a:latin typeface="Helvetica Neue"/>
                <a:ea typeface="Helvetica Neue"/>
                <a:cs typeface="Helvetica Neue"/>
              </a:defRPr>
            </a:defPPr>
          </a:lstStyle>
          <a:p xmlns:a="http://schemas.openxmlformats.org/drawingml/2006/main">
            <a:pPr algn="ctr">
              <a:buNone/>
              <a:defRPr sz="1725" b="1">
                <a:solidFill>
                  <a:srgbClr val="18352F"/>
                </a:solidFill>
                <a:latin typeface="Helvetica Neue"/>
                <a:ea typeface="Helvetica Neue"/>
                <a:cs typeface="Helvetica Neue"/>
              </a:defRPr>
            </a:pPr>
            <a:r>
              <a:rPr sz="1725" b="1">
                <a:solidFill>
                  <a:srgbClr val="18352F"/>
                </a:solidFill>
                <a:latin typeface="Helvetica Neue"/>
                <a:ea typeface="Helvetica Neue"/>
                <a:cs typeface="Helvetica Neue"/>
              </a:rPr>
              <a:t>Useful completed tasks</a:t>
            </a:r>
          </a:p>
        </p:txBody>
      </p:sp>
      <p:sp>
        <p:nvSpPr>
          <p:cNvPr id="12" name="diagram-57">
            <a:extLst xmlns:a="http://schemas.openxmlformats.org/drawingml/2006/main">
              <a:ext uri="{FF2B5EF4-FFF2-40B4-BE49-F238E27FC236}">
                <a16:creationId xmlns:a16="http://schemas.microsoft.com/office/drawing/2014/main" id="{06C078AC-1C88-45B8-8F3E-3F165DD5E3E9}"/>
              </a:ext>
            </a:extLst>
          </p:cNvPr>
          <p:cNvSpPr>
            <a:spLocks xmlns:a="http://schemas.openxmlformats.org/drawingml/2006/main" noGrp="1"/>
          </p:cNvSpPr>
          <p:nvPr/>
        </p:nvSpPr>
        <p:spPr>
          <a:xfrm xmlns:a="http://schemas.openxmlformats.org/drawingml/2006/main">
            <a:off x="8763000" y="5238750"/>
            <a:ext cx="297180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Broader discovery</a:t>
            </a:r>
          </a:p>
        </p:txBody>
      </p:sp>
      <p:sp>
        <p:nvSpPr>
          <p:cNvPr id="15" name="text-58">
            <a:extLst xmlns:a="http://schemas.openxmlformats.org/drawingml/2006/main">
              <a:ext uri="{FF2B5EF4-FFF2-40B4-BE49-F238E27FC236}">
                <a16:creationId xmlns:a16="http://schemas.microsoft.com/office/drawing/2014/main" id="{FEB59C90-5538-4FE2-AE16-DAF0E9468CB4}"/>
              </a:ext>
            </a:extLst>
          </p:cNvPr>
          <p:cNvSpPr>
            <a:spLocks xmlns:a="http://schemas.openxmlformats.org/drawingml/2006/main" noGrp="1"/>
          </p:cNvSpPr>
          <p:nvPr/>
        </p:nvSpPr>
        <p:spPr>
          <a:xfrm xmlns:a="http://schemas.openxmlformats.org/drawingml/2006/main">
            <a:off x="457200" y="6048375"/>
            <a:ext cx="11277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Strong utility can support recommendations; placement is platform-dependent. Fees and routes remain open.</a:t>
            </a:r>
          </a:p>
        </p:txBody>
      </p:sp>
    </p:spTree>
    <p:extLst>
      <p:ext uri="{BB962C8B-B14F-4D97-AF65-F5344CB8AC3E}">
        <p14:creationId xmlns:p14="http://schemas.microsoft.com/office/powerpoint/2010/main" val="11376674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6348BA82-F99D-40CD-B056-3C8C89031F55}"/>
              </a:ext>
            </a:extLst>
          </p:cNvPr>
          <p:cNvCxnSpPr>
            <a:stCxn xmlns:a="http://schemas.openxmlformats.org/drawingml/2006/main" id="12" idx="3"/>
            <a:endCxn xmlns:a="http://schemas.openxmlformats.org/drawingml/2006/main" id="13" idx="1"/>
          </p:cNvCxnSpPr>
          <p:nvPr/>
        </p:nvCxnSpPr>
        <p:spPr>
          <a:xfrm xmlns:a="http://schemas.openxmlformats.org/drawingml/2006/main">
            <a:off x="7562850" y="5715000"/>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cxnSp>
        <p:nvCxnSpPr>
          <p:cNvPr id="14" name="">
            <a:extLst xmlns:a="http://schemas.openxmlformats.org/drawingml/2006/main">
              <a:ext uri="{FF2B5EF4-FFF2-40B4-BE49-F238E27FC236}">
                <a16:creationId xmlns:a16="http://schemas.microsoft.com/office/drawing/2014/main" id="{99605E95-B980-4ED1-8C74-D4E6B17DBEB5}"/>
              </a:ext>
            </a:extLst>
          </p:cNvPr>
          <p:cNvCxnSpPr>
            <a:stCxn xmlns:a="http://schemas.openxmlformats.org/drawingml/2006/main" id="11" idx="3"/>
            <a:endCxn xmlns:a="http://schemas.openxmlformats.org/drawingml/2006/main" id="12" idx="1"/>
          </p:cNvCxnSpPr>
          <p:nvPr/>
        </p:nvCxnSpPr>
        <p:spPr>
          <a:xfrm xmlns:a="http://schemas.openxmlformats.org/drawingml/2006/main">
            <a:off x="3409950" y="5715000"/>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sp>
        <p:nvSpPr>
          <p:cNvPr id="17" name="text-59">
            <a:extLst xmlns:a="http://schemas.openxmlformats.org/drawingml/2006/main">
              <a:ext uri="{FF2B5EF4-FFF2-40B4-BE49-F238E27FC236}">
                <a16:creationId xmlns:a16="http://schemas.microsoft.com/office/drawing/2014/main" id="{6C34ADF3-169D-4A05-BCD4-61CCD74EA736}"/>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WHAT IS COMING TOGETHER</a:t>
            </a:r>
          </a:p>
        </p:txBody>
      </p:sp>
      <p:sp>
        <p:nvSpPr>
          <p:cNvPr id="2" name="text-60">
            <a:extLst xmlns:a="http://schemas.openxmlformats.org/drawingml/2006/main">
              <a:ext uri="{FF2B5EF4-FFF2-40B4-BE49-F238E27FC236}">
                <a16:creationId xmlns:a16="http://schemas.microsoft.com/office/drawing/2014/main" id="{D5789F55-3702-445A-BA82-5ECE56D15EB6}"/>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Partners have agreed to open access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to the first local businesses</a:t>
            </a:r>
          </a:p>
        </p:txBody>
      </p:sp>
      <p:sp>
        <p:nvSpPr>
          <p:cNvPr id="3" name="text-61">
            <a:extLst xmlns:a="http://schemas.openxmlformats.org/drawingml/2006/main">
              <a:ext uri="{FF2B5EF4-FFF2-40B4-BE49-F238E27FC236}">
                <a16:creationId xmlns:a16="http://schemas.microsoft.com/office/drawing/2014/main" id="{D5F41982-2B1F-48D2-9BC5-C6B31883C8C5}"/>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62">
            <a:extLst xmlns:a="http://schemas.openxmlformats.org/drawingml/2006/main">
              <a:ext uri="{FF2B5EF4-FFF2-40B4-BE49-F238E27FC236}">
                <a16:creationId xmlns:a16="http://schemas.microsoft.com/office/drawing/2014/main" id="{69E35C39-A9AF-493E-A026-B3538F6E2089}"/>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5 / 6</a:t>
            </a:r>
          </a:p>
        </p:txBody>
      </p:sp>
      <p:sp>
        <p:nvSpPr>
          <p:cNvPr id="5" name="text-63">
            <a:extLst xmlns:a="http://schemas.openxmlformats.org/drawingml/2006/main">
              <a:ext uri="{FF2B5EF4-FFF2-40B4-BE49-F238E27FC236}">
                <a16:creationId xmlns:a16="http://schemas.microsoft.com/office/drawing/2014/main" id="{B0F0A4F7-81E5-4CC9-B48D-0551345426A1}"/>
              </a:ext>
            </a:extLst>
          </p:cNvPr>
          <p:cNvSpPr>
            <a:spLocks xmlns:a="http://schemas.openxmlformats.org/drawingml/2006/main" noGrp="1"/>
          </p:cNvSpPr>
          <p:nvPr/>
        </p:nvSpPr>
        <p:spPr>
          <a:xfrm xmlns:a="http://schemas.openxmlformats.org/drawingml/2006/main">
            <a:off x="457200" y="2200275"/>
            <a:ext cx="5143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450" b="1">
                <a:solidFill>
                  <a:srgbClr val="215C4E"/>
                </a:solidFill>
                <a:latin typeface="Helvetica Neue"/>
                <a:ea typeface="Helvetica Neue"/>
                <a:cs typeface="Helvetica Neue"/>
              </a:defRPr>
            </a:defPPr>
          </a:lstStyle>
          <a:p xmlns:a="http://schemas.openxmlformats.org/drawingml/2006/main">
            <a:pPr>
              <a:buNone/>
              <a:defRPr sz="6450" b="1">
                <a:solidFill>
                  <a:srgbClr val="215C4E"/>
                </a:solidFill>
                <a:latin typeface="Helvetica Neue"/>
                <a:ea typeface="Helvetica Neue"/>
                <a:cs typeface="Helvetica Neue"/>
              </a:defRPr>
            </a:pPr>
            <a:r>
              <a:rPr sz="6450" b="1">
                <a:solidFill>
                  <a:srgbClr val="215C4E"/>
                </a:solidFill>
                <a:latin typeface="Helvetica Neue"/>
                <a:ea typeface="Helvetica Neue"/>
                <a:cs typeface="Helvetica Neue"/>
              </a:rPr>
              <a:t>100+</a:t>
            </a:r>
          </a:p>
        </p:txBody>
      </p:sp>
      <p:sp>
        <p:nvSpPr>
          <p:cNvPr id="6" name="text-64">
            <a:extLst xmlns:a="http://schemas.openxmlformats.org/drawingml/2006/main">
              <a:ext uri="{FF2B5EF4-FFF2-40B4-BE49-F238E27FC236}">
                <a16:creationId xmlns:a16="http://schemas.microsoft.com/office/drawing/2014/main" id="{7D9DB117-0EB1-4258-AC2D-9D7CE0682847}"/>
              </a:ext>
            </a:extLst>
          </p:cNvPr>
          <p:cNvSpPr>
            <a:spLocks xmlns:a="http://schemas.openxmlformats.org/drawingml/2006/main" noGrp="1"/>
          </p:cNvSpPr>
          <p:nvPr/>
        </p:nvSpPr>
        <p:spPr>
          <a:xfrm xmlns:a="http://schemas.openxmlformats.org/drawingml/2006/main">
            <a:off x="457200" y="3314700"/>
            <a:ext cx="52578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8352F"/>
                </a:solidFill>
                <a:latin typeface="Helvetica Neue"/>
                <a:ea typeface="Helvetica Neue"/>
                <a:cs typeface="Helvetica Neue"/>
              </a:defRPr>
            </a:defPPr>
          </a:lstStyle>
          <a:p xmlns:a="http://schemas.openxmlformats.org/drawingml/2006/main">
            <a:pPr>
              <a:buNone/>
              <a:defRPr sz="2175" b="1">
                <a:solidFill>
                  <a:srgbClr val="18352F"/>
                </a:solidFill>
                <a:latin typeface="Helvetica Neue"/>
                <a:ea typeface="Helvetica Neue"/>
                <a:cs typeface="Helvetica Neue"/>
              </a:defRPr>
            </a:pPr>
            <a:r>
              <a:rPr sz="2175" b="1">
                <a:solidFill>
                  <a:srgbClr val="18352F"/>
                </a:solidFill>
                <a:latin typeface="Helvetica Neue"/>
                <a:ea typeface="Helvetica Neue"/>
                <a:cs typeface="Helvetica Neue"/>
              </a:rPr>
              <a:t>trade shops served by Cactus AI</a:t>
            </a:r>
          </a:p>
        </p:txBody>
      </p:sp>
      <p:sp>
        <p:nvSpPr>
          <p:cNvPr id="7" name="text-65">
            <a:extLst xmlns:a="http://schemas.openxmlformats.org/drawingml/2006/main">
              <a:ext uri="{FF2B5EF4-FFF2-40B4-BE49-F238E27FC236}">
                <a16:creationId xmlns:a16="http://schemas.microsoft.com/office/drawing/2014/main" id="{EADB5E66-F13E-416F-80A5-2CEE283FB9A2}"/>
              </a:ext>
            </a:extLst>
          </p:cNvPr>
          <p:cNvSpPr>
            <a:spLocks xmlns:a="http://schemas.openxmlformats.org/drawingml/2006/main" noGrp="1"/>
          </p:cNvSpPr>
          <p:nvPr/>
        </p:nvSpPr>
        <p:spPr>
          <a:xfrm xmlns:a="http://schemas.openxmlformats.org/drawingml/2006/main">
            <a:off x="457200" y="3952875"/>
            <a:ext cx="53149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Salt Lake City and Dallas.</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Cactus agreed to introduce shops and</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provide booking access through its customers.</a:t>
            </a:r>
          </a:p>
        </p:txBody>
      </p:sp>
      <p:sp>
        <p:nvSpPr>
          <p:cNvPr id="8" name="text-66">
            <a:extLst xmlns:a="http://schemas.openxmlformats.org/drawingml/2006/main">
              <a:ext uri="{FF2B5EF4-FFF2-40B4-BE49-F238E27FC236}">
                <a16:creationId xmlns:a16="http://schemas.microsoft.com/office/drawing/2014/main" id="{D63476D8-94BB-4F0D-90F9-DDE17F6F0F77}"/>
              </a:ext>
            </a:extLst>
          </p:cNvPr>
          <p:cNvSpPr>
            <a:spLocks xmlns:a="http://schemas.openxmlformats.org/drawingml/2006/main" noGrp="1"/>
          </p:cNvSpPr>
          <p:nvPr/>
        </p:nvSpPr>
        <p:spPr>
          <a:xfrm xmlns:a="http://schemas.openxmlformats.org/drawingml/2006/main">
            <a:off x="6705600" y="2200275"/>
            <a:ext cx="5029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450" b="1">
                <a:solidFill>
                  <a:srgbClr val="215C4E"/>
                </a:solidFill>
                <a:latin typeface="Helvetica Neue"/>
                <a:ea typeface="Helvetica Neue"/>
                <a:cs typeface="Helvetica Neue"/>
              </a:defRPr>
            </a:defPPr>
          </a:lstStyle>
          <a:p xmlns:a="http://schemas.openxmlformats.org/drawingml/2006/main">
            <a:pPr>
              <a:buNone/>
              <a:defRPr sz="6450" b="1">
                <a:solidFill>
                  <a:srgbClr val="215C4E"/>
                </a:solidFill>
                <a:latin typeface="Helvetica Neue"/>
                <a:ea typeface="Helvetica Neue"/>
                <a:cs typeface="Helvetica Neue"/>
              </a:defRPr>
            </a:pPr>
            <a:r>
              <a:rPr sz="6450" b="1">
                <a:solidFill>
                  <a:srgbClr val="215C4E"/>
                </a:solidFill>
                <a:latin typeface="Helvetica Neue"/>
                <a:ea typeface="Helvetica Neue"/>
                <a:cs typeface="Helvetica Neue"/>
              </a:rPr>
              <a:t>20</a:t>
            </a:r>
          </a:p>
        </p:txBody>
      </p:sp>
      <p:sp>
        <p:nvSpPr>
          <p:cNvPr id="9" name="text-67">
            <a:extLst xmlns:a="http://schemas.openxmlformats.org/drawingml/2006/main">
              <a:ext uri="{FF2B5EF4-FFF2-40B4-BE49-F238E27FC236}">
                <a16:creationId xmlns:a16="http://schemas.microsoft.com/office/drawing/2014/main" id="{C0D80327-9B38-4FE7-A9DA-16263A2A9906}"/>
              </a:ext>
            </a:extLst>
          </p:cNvPr>
          <p:cNvSpPr>
            <a:spLocks xmlns:a="http://schemas.openxmlformats.org/drawingml/2006/main" noGrp="1"/>
          </p:cNvSpPr>
          <p:nvPr/>
        </p:nvSpPr>
        <p:spPr>
          <a:xfrm xmlns:a="http://schemas.openxmlformats.org/drawingml/2006/main">
            <a:off x="6705600" y="3314700"/>
            <a:ext cx="50292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8352F"/>
                </a:solidFill>
                <a:latin typeface="Helvetica Neue"/>
                <a:ea typeface="Helvetica Neue"/>
                <a:cs typeface="Helvetica Neue"/>
              </a:defRPr>
            </a:defPPr>
          </a:lstStyle>
          <a:p xmlns:a="http://schemas.openxmlformats.org/drawingml/2006/main">
            <a:pPr>
              <a:buNone/>
              <a:defRPr sz="2175" b="1">
                <a:solidFill>
                  <a:srgbClr val="18352F"/>
                </a:solidFill>
                <a:latin typeface="Helvetica Neue"/>
                <a:ea typeface="Helvetica Neue"/>
                <a:cs typeface="Helvetica Neue"/>
              </a:defRPr>
            </a:pPr>
            <a:r>
              <a:rPr sz="2175" b="1">
                <a:solidFill>
                  <a:srgbClr val="18352F"/>
                </a:solidFill>
                <a:latin typeface="Helvetica Neue"/>
                <a:ea typeface="Helvetica Neue"/>
                <a:cs typeface="Helvetica Neue"/>
              </a:rPr>
              <a:t>clients committed for onboarding</a:t>
            </a:r>
          </a:p>
        </p:txBody>
      </p:sp>
      <p:sp>
        <p:nvSpPr>
          <p:cNvPr id="10" name="text-68">
            <a:extLst xmlns:a="http://schemas.openxmlformats.org/drawingml/2006/main">
              <a:ext uri="{FF2B5EF4-FFF2-40B4-BE49-F238E27FC236}">
                <a16:creationId xmlns:a16="http://schemas.microsoft.com/office/drawing/2014/main" id="{67843AFD-5C57-4D1D-B9A4-2A8A40011766}"/>
              </a:ext>
            </a:extLst>
          </p:cNvPr>
          <p:cNvSpPr>
            <a:spLocks xmlns:a="http://schemas.openxmlformats.org/drawingml/2006/main" noGrp="1"/>
          </p:cNvSpPr>
          <p:nvPr/>
        </p:nvSpPr>
        <p:spPr>
          <a:xfrm xmlns:a="http://schemas.openxmlformats.org/drawingml/2006/main">
            <a:off x="6705600" y="3952875"/>
            <a:ext cx="50292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A separate back-office management</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company agreed to onboard its clients.</a:t>
            </a:r>
          </a:p>
        </p:txBody>
      </p:sp>
      <p:sp>
        <p:nvSpPr>
          <p:cNvPr id="11" name="diagram-69">
            <a:extLst xmlns:a="http://schemas.openxmlformats.org/drawingml/2006/main">
              <a:ext uri="{FF2B5EF4-FFF2-40B4-BE49-F238E27FC236}">
                <a16:creationId xmlns:a16="http://schemas.microsoft.com/office/drawing/2014/main" id="{282C9521-8CC6-497E-9744-DEB837B39F9D}"/>
              </a:ext>
            </a:extLst>
          </p:cNvPr>
          <p:cNvSpPr>
            <a:spLocks xmlns:a="http://schemas.openxmlformats.org/drawingml/2006/main" noGrp="1"/>
          </p:cNvSpPr>
          <p:nvPr/>
        </p:nvSpPr>
        <p:spPr>
          <a:xfrm xmlns:a="http://schemas.openxmlformats.org/drawingml/2006/main">
            <a:off x="457200" y="5400675"/>
            <a:ext cx="295275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One trade + one city</a:t>
            </a:r>
          </a:p>
        </p:txBody>
      </p:sp>
      <p:sp>
        <p:nvSpPr>
          <p:cNvPr id="12" name="diagram-70">
            <a:extLst xmlns:a="http://schemas.openxmlformats.org/drawingml/2006/main">
              <a:ext uri="{FF2B5EF4-FFF2-40B4-BE49-F238E27FC236}">
                <a16:creationId xmlns:a16="http://schemas.microsoft.com/office/drawing/2014/main" id="{F13CB1E7-AFA8-4BAD-824E-01440A0A4405}"/>
              </a:ext>
            </a:extLst>
          </p:cNvPr>
          <p:cNvSpPr>
            <a:spLocks xmlns:a="http://schemas.openxmlformats.org/drawingml/2006/main" noGrp="1"/>
          </p:cNvSpPr>
          <p:nvPr/>
        </p:nvSpPr>
        <p:spPr>
          <a:xfrm xmlns:a="http://schemas.openxmlformats.org/drawingml/2006/main">
            <a:off x="4610100" y="5400675"/>
            <a:ext cx="295275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Connect authorized supply</a:t>
            </a:r>
          </a:p>
        </p:txBody>
      </p:sp>
      <p:sp>
        <p:nvSpPr>
          <p:cNvPr id="13" name="diagram-71">
            <a:extLst xmlns:a="http://schemas.openxmlformats.org/drawingml/2006/main">
              <a:ext uri="{FF2B5EF4-FFF2-40B4-BE49-F238E27FC236}">
                <a16:creationId xmlns:a16="http://schemas.microsoft.com/office/drawing/2014/main" id="{6BA886AE-3DFD-418A-B499-2854C6C5D314}"/>
              </a:ext>
            </a:extLst>
          </p:cNvPr>
          <p:cNvSpPr>
            <a:spLocks xmlns:a="http://schemas.openxmlformats.org/drawingml/2006/main" noGrp="1"/>
          </p:cNvSpPr>
          <p:nvPr/>
        </p:nvSpPr>
        <p:spPr>
          <a:xfrm xmlns:a="http://schemas.openxmlformats.org/drawingml/2006/main">
            <a:off x="8763000" y="5400675"/>
            <a:ext cx="2971800" cy="628650"/>
          </a:xfrm>
          <a:prstGeom xmlns:a="http://schemas.openxmlformats.org/drawingml/2006/main" prst="rect">
            <a:avLst/>
          </a:prstGeom>
          <a:solidFill xmlns:a="http://schemas.openxmlformats.org/drawingml/2006/main">
            <a:srgbClr val="E5EFEA"/>
          </a:solidFill>
          <a:ln xmlns:a="http://schemas.openxmlformats.org/drawingml/2006/main" w="14288">
            <a:solidFill>
              <a:srgbClr val="215C4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1">
                <a:solidFill>
                  <a:srgbClr val="18352F"/>
                </a:solidFill>
                <a:latin typeface="Helvetica Neue"/>
                <a:ea typeface="Helvetica Neue"/>
                <a:cs typeface="Helvetica Neue"/>
              </a:defRPr>
            </a:defPPr>
          </a:lstStyle>
          <a:p xmlns:a="http://schemas.openxmlformats.org/drawingml/2006/main">
            <a:pPr algn="ctr">
              <a:buNone/>
              <a:defRPr sz="1725" b="1">
                <a:solidFill>
                  <a:srgbClr val="18352F"/>
                </a:solidFill>
                <a:latin typeface="Helvetica Neue"/>
                <a:ea typeface="Helvetica Neue"/>
                <a:cs typeface="Helvetica Neue"/>
              </a:defRPr>
            </a:pPr>
            <a:r>
              <a:rPr sz="1725" b="1">
                <a:solidFill>
                  <a:srgbClr val="18352F"/>
                </a:solidFill>
                <a:latin typeface="Helvetica Neue"/>
                <a:ea typeface="Helvetica Neue"/>
                <a:cs typeface="Helvetica Neue"/>
              </a:rPr>
              <a:t>Route and fulfill real jobs</a:t>
            </a:r>
          </a:p>
        </p:txBody>
      </p:sp>
      <p:sp>
        <p:nvSpPr>
          <p:cNvPr id="16" name="text-72">
            <a:extLst xmlns:a="http://schemas.openxmlformats.org/drawingml/2006/main">
              <a:ext uri="{FF2B5EF4-FFF2-40B4-BE49-F238E27FC236}">
                <a16:creationId xmlns:a16="http://schemas.microsoft.com/office/drawing/2014/main" id="{0EE416B1-FE77-4C2A-8F86-E24588D5FFF1}"/>
              </a:ext>
            </a:extLst>
          </p:cNvPr>
          <p:cNvSpPr>
            <a:spLocks xmlns:a="http://schemas.openxmlformats.org/drawingml/2006/main" noGrp="1"/>
          </p:cNvSpPr>
          <p:nvPr/>
        </p:nvSpPr>
        <p:spPr>
          <a:xfrm xmlns:a="http://schemas.openxmlformats.org/drawingml/2006/main">
            <a:off x="457200" y="6143625"/>
            <a:ext cx="11277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Founder-reported commitments. These are not live GoLocal merchants, integrations, bookings or revenue.</a:t>
            </a:r>
          </a:p>
        </p:txBody>
      </p:sp>
    </p:spTree>
    <p:extLst>
      <p:ext uri="{BB962C8B-B14F-4D97-AF65-F5344CB8AC3E}">
        <p14:creationId xmlns:p14="http://schemas.microsoft.com/office/powerpoint/2010/main" val="2290536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73">
            <a:extLst xmlns:a="http://schemas.openxmlformats.org/drawingml/2006/main">
              <a:ext uri="{FF2B5EF4-FFF2-40B4-BE49-F238E27FC236}">
                <a16:creationId xmlns:a16="http://schemas.microsoft.com/office/drawing/2014/main" id="{193E3AA9-CC38-422D-86F1-245BC458BC63}"/>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THE TEAM</a:t>
            </a:r>
          </a:p>
        </p:txBody>
      </p:sp>
      <p:sp>
        <p:nvSpPr>
          <p:cNvPr id="2" name="text-74">
            <a:extLst xmlns:a="http://schemas.openxmlformats.org/drawingml/2006/main">
              <a:ext uri="{FF2B5EF4-FFF2-40B4-BE49-F238E27FC236}">
                <a16:creationId xmlns:a16="http://schemas.microsoft.com/office/drawing/2014/main" id="{A4D7B818-4EFE-41E3-83A9-BBBBB4CF6310}"/>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A decade building local services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with engineering for the agent era</a:t>
            </a:r>
          </a:p>
        </p:txBody>
      </p:sp>
      <p:sp>
        <p:nvSpPr>
          <p:cNvPr id="3" name="text-75">
            <a:extLst xmlns:a="http://schemas.openxmlformats.org/drawingml/2006/main">
              <a:ext uri="{FF2B5EF4-FFF2-40B4-BE49-F238E27FC236}">
                <a16:creationId xmlns:a16="http://schemas.microsoft.com/office/drawing/2014/main" id="{C0B22EE5-87A5-4832-806B-F793567523AC}"/>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76">
            <a:extLst xmlns:a="http://schemas.openxmlformats.org/drawingml/2006/main">
              <a:ext uri="{FF2B5EF4-FFF2-40B4-BE49-F238E27FC236}">
                <a16:creationId xmlns:a16="http://schemas.microsoft.com/office/drawing/2014/main" id="{46802664-2631-4FAC-8F83-9CBB0216FDEC}"/>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6 / 6</a:t>
            </a:r>
          </a:p>
        </p:txBody>
      </p:sp>
      <p:sp>
        <p:nvSpPr>
          <p:cNvPr id="5" name="text-77">
            <a:extLst xmlns:a="http://schemas.openxmlformats.org/drawingml/2006/main">
              <a:ext uri="{FF2B5EF4-FFF2-40B4-BE49-F238E27FC236}">
                <a16:creationId xmlns:a16="http://schemas.microsoft.com/office/drawing/2014/main" id="{9F7A37BA-D5A3-4327-86B0-45F182885220}"/>
              </a:ext>
            </a:extLst>
          </p:cNvPr>
          <p:cNvSpPr>
            <a:spLocks xmlns:a="http://schemas.openxmlformats.org/drawingml/2006/main" noGrp="1"/>
          </p:cNvSpPr>
          <p:nvPr/>
        </p:nvSpPr>
        <p:spPr>
          <a:xfrm xmlns:a="http://schemas.openxmlformats.org/drawingml/2006/main">
            <a:off x="457200" y="2495550"/>
            <a:ext cx="5257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75" b="1">
                <a:solidFill>
                  <a:srgbClr val="18352F"/>
                </a:solidFill>
                <a:latin typeface="Helvetica Neue"/>
                <a:ea typeface="Helvetica Neue"/>
                <a:cs typeface="Helvetica Neue"/>
              </a:defRPr>
            </a:defPPr>
          </a:lstStyle>
          <a:p xmlns:a="http://schemas.openxmlformats.org/drawingml/2006/main">
            <a:pPr>
              <a:buNone/>
              <a:defRPr sz="3375" b="1">
                <a:solidFill>
                  <a:srgbClr val="18352F"/>
                </a:solidFill>
                <a:latin typeface="Helvetica Neue"/>
                <a:ea typeface="Helvetica Neue"/>
                <a:cs typeface="Helvetica Neue"/>
              </a:defRPr>
            </a:pPr>
            <a:r>
              <a:rPr sz="3375" b="1">
                <a:solidFill>
                  <a:srgbClr val="18352F"/>
                </a:solidFill>
                <a:latin typeface="Helvetica Neue"/>
                <a:ea typeface="Helvetica Neue"/>
                <a:cs typeface="Helvetica Neue"/>
              </a:rPr>
              <a:t>Pulkit Walia</a:t>
            </a:r>
          </a:p>
        </p:txBody>
      </p:sp>
      <p:sp>
        <p:nvSpPr>
          <p:cNvPr id="6" name="text-78">
            <a:extLst xmlns:a="http://schemas.openxmlformats.org/drawingml/2006/main">
              <a:ext uri="{FF2B5EF4-FFF2-40B4-BE49-F238E27FC236}">
                <a16:creationId xmlns:a16="http://schemas.microsoft.com/office/drawing/2014/main" id="{48BDBC75-E4FC-4F45-AE12-CDE93165359D}"/>
              </a:ext>
            </a:extLst>
          </p:cNvPr>
          <p:cNvSpPr>
            <a:spLocks xmlns:a="http://schemas.openxmlformats.org/drawingml/2006/main" noGrp="1"/>
          </p:cNvSpPr>
          <p:nvPr/>
        </p:nvSpPr>
        <p:spPr>
          <a:xfrm xmlns:a="http://schemas.openxmlformats.org/drawingml/2006/main">
            <a:off x="457200" y="3257550"/>
            <a:ext cx="52578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215C4E"/>
                </a:solidFill>
                <a:latin typeface="Helvetica Neue"/>
                <a:ea typeface="Helvetica Neue"/>
                <a:cs typeface="Helvetica Neue"/>
              </a:defRPr>
            </a:defPPr>
          </a:lstStyle>
          <a:p xmlns:a="http://schemas.openxmlformats.org/drawingml/2006/main">
            <a:pPr>
              <a:buNone/>
              <a:defRPr sz="1950" b="1">
                <a:solidFill>
                  <a:srgbClr val="215C4E"/>
                </a:solidFill>
                <a:latin typeface="Helvetica Neue"/>
                <a:ea typeface="Helvetica Neue"/>
                <a:cs typeface="Helvetica Neue"/>
              </a:defRPr>
            </a:pPr>
            <a:r>
              <a:rPr sz="1950" b="1">
                <a:solidFill>
                  <a:srgbClr val="215C4E"/>
                </a:solidFill>
                <a:latin typeface="Helvetica Neue"/>
                <a:ea typeface="Helvetica Neue"/>
                <a:cs typeface="Helvetica Neue"/>
              </a:rPr>
              <a:t>Founder  |  HBS MBA</a:t>
            </a:r>
          </a:p>
        </p:txBody>
      </p:sp>
      <p:sp>
        <p:nvSpPr>
          <p:cNvPr id="7" name="text-79">
            <a:extLst xmlns:a="http://schemas.openxmlformats.org/drawingml/2006/main">
              <a:ext uri="{FF2B5EF4-FFF2-40B4-BE49-F238E27FC236}">
                <a16:creationId xmlns:a16="http://schemas.microsoft.com/office/drawing/2014/main" id="{1C53ADBC-849C-43DE-8822-56954A5FB517}"/>
              </a:ext>
            </a:extLst>
          </p:cNvPr>
          <p:cNvSpPr>
            <a:spLocks xmlns:a="http://schemas.openxmlformats.org/drawingml/2006/main" noGrp="1"/>
          </p:cNvSpPr>
          <p:nvPr/>
        </p:nvSpPr>
        <p:spPr>
          <a:xfrm xmlns:a="http://schemas.openxmlformats.org/drawingml/2006/main">
            <a:off x="457200" y="3905250"/>
            <a:ext cx="5324475" cy="1228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18352F"/>
                </a:solidFill>
                <a:latin typeface="Helvetica Neue"/>
                <a:ea typeface="Helvetica Neue"/>
                <a:cs typeface="Helvetica Neue"/>
              </a:defRPr>
            </a:defPPr>
          </a:lstStyle>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Urban Company founding team.</a:t>
            </a:r>
          </a:p>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Spent a decade building local services</a:t>
            </a:r>
          </a:p>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in Asia, from zero to a $3B IPO.</a:t>
            </a:r>
          </a:p>
        </p:txBody>
      </p:sp>
      <p:sp>
        <p:nvSpPr>
          <p:cNvPr id="8" name="text-80">
            <a:extLst xmlns:a="http://schemas.openxmlformats.org/drawingml/2006/main">
              <a:ext uri="{FF2B5EF4-FFF2-40B4-BE49-F238E27FC236}">
                <a16:creationId xmlns:a16="http://schemas.microsoft.com/office/drawing/2014/main" id="{DC18D097-F98D-4B67-8A31-CAB61F7BDBD2}"/>
              </a:ext>
            </a:extLst>
          </p:cNvPr>
          <p:cNvSpPr>
            <a:spLocks xmlns:a="http://schemas.openxmlformats.org/drawingml/2006/main" noGrp="1"/>
          </p:cNvSpPr>
          <p:nvPr/>
        </p:nvSpPr>
        <p:spPr>
          <a:xfrm xmlns:a="http://schemas.openxmlformats.org/drawingml/2006/main">
            <a:off x="6705600" y="2495550"/>
            <a:ext cx="5029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75" b="1">
                <a:solidFill>
                  <a:srgbClr val="18352F"/>
                </a:solidFill>
                <a:latin typeface="Helvetica Neue"/>
                <a:ea typeface="Helvetica Neue"/>
                <a:cs typeface="Helvetica Neue"/>
              </a:defRPr>
            </a:defPPr>
          </a:lstStyle>
          <a:p xmlns:a="http://schemas.openxmlformats.org/drawingml/2006/main">
            <a:pPr>
              <a:buNone/>
              <a:defRPr sz="3375" b="1">
                <a:solidFill>
                  <a:srgbClr val="18352F"/>
                </a:solidFill>
                <a:latin typeface="Helvetica Neue"/>
                <a:ea typeface="Helvetica Neue"/>
                <a:cs typeface="Helvetica Neue"/>
              </a:defRPr>
            </a:pPr>
            <a:r>
              <a:rPr sz="3375" b="1">
                <a:solidFill>
                  <a:srgbClr val="18352F"/>
                </a:solidFill>
                <a:latin typeface="Helvetica Neue"/>
                <a:ea typeface="Helvetica Neue"/>
                <a:cs typeface="Helvetica Neue"/>
              </a:rPr>
              <a:t>Rohit Jain</a:t>
            </a:r>
          </a:p>
        </p:txBody>
      </p:sp>
      <p:sp>
        <p:nvSpPr>
          <p:cNvPr id="9" name="text-81">
            <a:extLst xmlns:a="http://schemas.openxmlformats.org/drawingml/2006/main">
              <a:ext uri="{FF2B5EF4-FFF2-40B4-BE49-F238E27FC236}">
                <a16:creationId xmlns:a16="http://schemas.microsoft.com/office/drawing/2014/main" id="{60B3F3AE-546A-4EA6-8A0B-E888AD8408F0}"/>
              </a:ext>
            </a:extLst>
          </p:cNvPr>
          <p:cNvSpPr>
            <a:spLocks xmlns:a="http://schemas.openxmlformats.org/drawingml/2006/main" noGrp="1"/>
          </p:cNvSpPr>
          <p:nvPr/>
        </p:nvSpPr>
        <p:spPr>
          <a:xfrm xmlns:a="http://schemas.openxmlformats.org/drawingml/2006/main">
            <a:off x="6705600" y="3257550"/>
            <a:ext cx="50292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215C4E"/>
                </a:solidFill>
                <a:latin typeface="Helvetica Neue"/>
                <a:ea typeface="Helvetica Neue"/>
                <a:cs typeface="Helvetica Neue"/>
              </a:defRPr>
            </a:defPPr>
          </a:lstStyle>
          <a:p xmlns:a="http://schemas.openxmlformats.org/drawingml/2006/main">
            <a:pPr>
              <a:buNone/>
              <a:defRPr sz="1950" b="1">
                <a:solidFill>
                  <a:srgbClr val="215C4E"/>
                </a:solidFill>
                <a:latin typeface="Helvetica Neue"/>
                <a:ea typeface="Helvetica Neue"/>
                <a:cs typeface="Helvetica Neue"/>
              </a:defRPr>
            </a:pPr>
            <a:r>
              <a:rPr sz="1950" b="1">
                <a:solidFill>
                  <a:srgbClr val="215C4E"/>
                </a:solidFill>
                <a:latin typeface="Helvetica Neue"/>
                <a:ea typeface="Helvetica Neue"/>
                <a:cs typeface="Helvetica Neue"/>
              </a:rPr>
              <a:t>Engineering</a:t>
            </a:r>
          </a:p>
        </p:txBody>
      </p:sp>
      <p:sp>
        <p:nvSpPr>
          <p:cNvPr id="10" name="text-82">
            <a:extLst xmlns:a="http://schemas.openxmlformats.org/drawingml/2006/main">
              <a:ext uri="{FF2B5EF4-FFF2-40B4-BE49-F238E27FC236}">
                <a16:creationId xmlns:a16="http://schemas.microsoft.com/office/drawing/2014/main" id="{D123F4C0-EC91-472F-9AB5-06A4EA9E21A7}"/>
              </a:ext>
            </a:extLst>
          </p:cNvPr>
          <p:cNvSpPr>
            <a:spLocks xmlns:a="http://schemas.openxmlformats.org/drawingml/2006/main" noGrp="1"/>
          </p:cNvSpPr>
          <p:nvPr/>
        </p:nvSpPr>
        <p:spPr>
          <a:xfrm xmlns:a="http://schemas.openxmlformats.org/drawingml/2006/main">
            <a:off x="6705600" y="3905250"/>
            <a:ext cx="5029200" cy="1552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8352F"/>
                </a:solidFill>
                <a:latin typeface="Helvetica Neue"/>
                <a:ea typeface="Helvetica Neue"/>
                <a:cs typeface="Helvetica Neue"/>
              </a:defRPr>
            </a:defPPr>
          </a:lstStyle>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Backend engineer with experience</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at Amazon and Square.</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Built production-grade MCP products.</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Teaches system design.</a:t>
            </a:r>
          </a:p>
        </p:txBody>
      </p:sp>
      <p:sp>
        <p:nvSpPr>
          <p:cNvPr id="11" name="text-83">
            <a:extLst xmlns:a="http://schemas.openxmlformats.org/drawingml/2006/main">
              <a:ext uri="{FF2B5EF4-FFF2-40B4-BE49-F238E27FC236}">
                <a16:creationId xmlns:a16="http://schemas.microsoft.com/office/drawing/2014/main" id="{D58FA155-1176-4FBC-9490-0409753FE20F}"/>
              </a:ext>
            </a:extLst>
          </p:cNvPr>
          <p:cNvSpPr>
            <a:spLocks xmlns:a="http://schemas.openxmlformats.org/drawingml/2006/main" noGrp="1"/>
          </p:cNvSpPr>
          <p:nvPr/>
        </p:nvSpPr>
        <p:spPr>
          <a:xfrm xmlns:a="http://schemas.openxmlformats.org/drawingml/2006/main">
            <a:off x="457200" y="5857875"/>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215C4E"/>
                </a:solidFill>
                <a:latin typeface="Helvetica Neue"/>
                <a:ea typeface="Helvetica Neue"/>
                <a:cs typeface="Helvetica Neue"/>
              </a:defRPr>
            </a:defPPr>
          </a:lstStyle>
          <a:p xmlns:a="http://schemas.openxmlformats.org/drawingml/2006/main">
            <a:pPr>
              <a:buNone/>
              <a:defRPr sz="2100" b="1">
                <a:solidFill>
                  <a:srgbClr val="215C4E"/>
                </a:solidFill>
                <a:latin typeface="Helvetica Neue"/>
                <a:ea typeface="Helvetica Neue"/>
                <a:cs typeface="Helvetica Neue"/>
              </a:defRPr>
            </a:pPr>
            <a:r>
              <a:rPr sz="2100" b="1">
                <a:solidFill>
                  <a:srgbClr val="215C4E"/>
                </a:solidFill>
                <a:latin typeface="Helvetica Neue"/>
                <a:ea typeface="Helvetica Neue"/>
                <a:cs typeface="Helvetica Neue"/>
              </a:rPr>
              <a:t>GoLocal: the shared data and booking layer for home services.</a:t>
            </a:r>
          </a:p>
        </p:txBody>
      </p:sp>
    </p:spTree>
    <p:extLst>
      <p:ext uri="{BB962C8B-B14F-4D97-AF65-F5344CB8AC3E}">
        <p14:creationId xmlns:p14="http://schemas.microsoft.com/office/powerpoint/2010/main" val="12030623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2026-10-10T22:54:16.0390000Z</dcterms:created>
  <dcterms:modified xsi:type="dcterms:W3CDTF">2026-10-10T22:54:16.0400000Z</dcterms:modified>
</coreProperties>
</file>