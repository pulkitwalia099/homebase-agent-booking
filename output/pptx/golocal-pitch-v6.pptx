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8fb7f5a74ca4635" /><Relationship Type="http://schemas.openxmlformats.org/officeDocument/2006/relationships/extended-properties" Target="/docProps/app.xml" Id="R35203e3b394b4621" /><Relationship Type="http://schemas.openxmlformats.org/officeDocument/2006/relationships/officeDocument" Target="/ppt/presentation.xml" Id="Rb100a6e06cf8461f" /></Relationships>
</file>

<file path=ppt/presentation.xml><?xml version="1.0" encoding="utf-8"?>
<p:presentation xmlns:p="http://schemas.openxmlformats.org/presentationml/2006/main">
  <p:sldMasterIdLst>
    <p:sldMasterId xmlns:r="http://schemas.openxmlformats.org/officeDocument/2006/relationships" id="2147483648" r:id="Rf81343aea7894839"/>
  </p:sldMasterIdLst>
  <p:notesMasterIdLst>
    <p:notesMasterId xmlns:r="http://schemas.openxmlformats.org/officeDocument/2006/relationships" r:id="R1587872edf864d27"/>
  </p:notesMasterIdLst>
  <p:sldIdLst>
    <p:sldId xmlns:r="http://schemas.openxmlformats.org/officeDocument/2006/relationships" id="256" r:id="Rb8357aa7ef0b4173"/>
    <p:sldId xmlns:r="http://schemas.openxmlformats.org/officeDocument/2006/relationships" id="257" r:id="Rd5bb61eb16234046"/>
    <p:sldId xmlns:r="http://schemas.openxmlformats.org/officeDocument/2006/relationships" id="258" r:id="R5be722f582404cc4"/>
    <p:sldId xmlns:r="http://schemas.openxmlformats.org/officeDocument/2006/relationships" id="259" r:id="R225b085a24c3488f"/>
    <p:sldId xmlns:r="http://schemas.openxmlformats.org/officeDocument/2006/relationships" id="260" r:id="R3e1de42fbdaa40d7"/>
    <p:sldId xmlns:r="http://schemas.openxmlformats.org/officeDocument/2006/relationships" id="261" r:id="Rbc212d30d27045c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51ed076e6174250" /><Relationship Type="http://schemas.openxmlformats.org/officeDocument/2006/relationships/slideMaster" Target="/ppt/slideMasters/slideMaster1.xml" Id="Rf81343aea7894839" /><Relationship Type="http://schemas.openxmlformats.org/officeDocument/2006/relationships/notesMaster" Target="/ppt/notesMasters/notesMaster1.xml" Id="R1587872edf864d27" /><Relationship Type="http://schemas.openxmlformats.org/officeDocument/2006/relationships/presProps" Target="/ppt/presProps.xml" Id="R40d2769122bb4155" /><Relationship Type="http://schemas.openxmlformats.org/officeDocument/2006/relationships/tableStyles" Target="/ppt/tableStyles.xml" Id="Rdc9714dec70840d9" /><Relationship Type="http://schemas.openxmlformats.org/officeDocument/2006/relationships/slide" Target="/ppt/slides/slide1.xml" Id="Rb8357aa7ef0b4173" /><Relationship Type="http://schemas.openxmlformats.org/officeDocument/2006/relationships/slide" Target="/ppt/slides/slide2.xml" Id="Rd5bb61eb16234046" /><Relationship Type="http://schemas.openxmlformats.org/officeDocument/2006/relationships/slide" Target="/ppt/slides/slide3.xml" Id="R5be722f582404cc4" /><Relationship Type="http://schemas.openxmlformats.org/officeDocument/2006/relationships/slide" Target="/ppt/slides/slide4.xml" Id="R225b085a24c3488f" /><Relationship Type="http://schemas.openxmlformats.org/officeDocument/2006/relationships/slide" Target="/ppt/slides/slide5.xml" Id="R3e1de42fbdaa40d7" /><Relationship Type="http://schemas.openxmlformats.org/officeDocument/2006/relationships/slide" Target="/ppt/slides/slide6.xml" Id="Rbc212d30d27045c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d354692e07d4e8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11f5886fa444cb6" /><Relationship Type="http://schemas.openxmlformats.org/officeDocument/2006/relationships/notesMaster" Target="/ppt/notesMasters/notesMaster1.xml" Id="R3b5649d573e14675" /></Relationships>
</file>

<file path=ppt/notesSlides/_rels/notesSlide2.xml.rels>&#65279;<?xml version="1.0" encoding="utf-8"?><Relationships xmlns="http://schemas.openxmlformats.org/package/2006/relationships"><Relationship Type="http://schemas.openxmlformats.org/officeDocument/2006/relationships/slide" Target="/ppt/slides/slide2.xml" Id="R67850250a8154c92" /><Relationship Type="http://schemas.openxmlformats.org/officeDocument/2006/relationships/notesMaster" Target="/ppt/notesMasters/notesMaster1.xml" Id="R59d81c03c922427d" /></Relationships>
</file>

<file path=ppt/notesSlides/_rels/notesSlide3.xml.rels>&#65279;<?xml version="1.0" encoding="utf-8"?><Relationships xmlns="http://schemas.openxmlformats.org/package/2006/relationships"><Relationship Type="http://schemas.openxmlformats.org/officeDocument/2006/relationships/slide" Target="/ppt/slides/slide3.xml" Id="Rc7ce1c704d81443c" /><Relationship Type="http://schemas.openxmlformats.org/officeDocument/2006/relationships/notesMaster" Target="/ppt/notesMasters/notesMaster1.xml" Id="R1e9d410256a04845" /></Relationships>
</file>

<file path=ppt/notesSlides/_rels/notesSlide4.xml.rels>&#65279;<?xml version="1.0" encoding="utf-8"?><Relationships xmlns="http://schemas.openxmlformats.org/package/2006/relationships"><Relationship Type="http://schemas.openxmlformats.org/officeDocument/2006/relationships/slide" Target="/ppt/slides/slide4.xml" Id="R9f05776f73f54aac" /><Relationship Type="http://schemas.openxmlformats.org/officeDocument/2006/relationships/notesMaster" Target="/ppt/notesMasters/notesMaster1.xml" Id="Rb39637c7f5734b2c" /></Relationships>
</file>

<file path=ppt/notesSlides/_rels/notesSlide5.xml.rels>&#65279;<?xml version="1.0" encoding="utf-8"?><Relationships xmlns="http://schemas.openxmlformats.org/package/2006/relationships"><Relationship Type="http://schemas.openxmlformats.org/officeDocument/2006/relationships/slide" Target="/ppt/slides/slide5.xml" Id="Rb61839d0235a45e3" /><Relationship Type="http://schemas.openxmlformats.org/officeDocument/2006/relationships/notesMaster" Target="/ppt/notesMasters/notesMaster1.xml" Id="Rf900e211494e482d" /></Relationships>
</file>

<file path=ppt/notesSlides/_rels/notesSlide6.xml.rels>&#65279;<?xml version="1.0" encoding="utf-8"?><Relationships xmlns="http://schemas.openxmlformats.org/package/2006/relationships"><Relationship Type="http://schemas.openxmlformats.org/officeDocument/2006/relationships/slide" Target="/ppt/slides/slide6.xml" Id="R03261318994e4ed4" /><Relationship Type="http://schemas.openxmlformats.org/officeDocument/2006/relationships/notesMaster" Target="/ppt/notesMasters/notesMaster1.xml" Id="R4a43f24c5e3d4d4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Founder-requested era correction and green/red workflow matrix. Dates: Maps 2010–2020, AI chatbots 2020–2025, personal AI agents 2026+. These are illustrative channel eras, not invention dates. Green shows what each platform adds to discovery or delegation. Red shows typical external work remaining across fragmented providers. An agent can perform calls and browse websites, but task delegation does not itself provide structured quotes, live schedules, booking and payments. Some marketplaces and businesses already transact digitally. This does not claim all local bookings are unsolved or that agents cannot book. Complex scoping may require provider input; business authorization is required. No quantified mass-adoption claim added. AI + tools is a simplified description of action capabilities. Craigslist history: https://www.craigslist.org/about/mission_and_history ; Google Maps retrospective: https://blog.google/products-and-platforms/products/maps/look-back-15-years-mapping-world/ .</a:t>
            </a:r>
          </a:p>
          <a:p xmlns:a="http://schemas.openxmlformats.org/drawingml/2006/main">
            <a:r>
              <a:t>Market evidence from project chat “Estimate Homebase local services TAM”, October 10 2026, and resources/local-services-tam-2026-10-10.md. Approximately $1.2T in annual U.S. spending across selected categories: home improvement and repair around $600B (Harvard, 2023 actual / 2025 projected total owner and rental stock); auto maintenance and repair $283.802B (BEA 2025); personal care and clothing services $239.558B (BEA 2025); child day care $65.546955B (Census 2024 revenue). Indicative sum $1.1889T with rounded home baseline, or $1.1969T with $608B home projection, rounded to $1.2T. This supports approximately $1.2T rather than a measured $1.2T+ lower bound. Mixed years and measures; includes home materials and DIY. Underlying spending is not bookable volume or GoLocal fee revenue. Sources: https://www.jchs.harvard.edu/blog/bigger-market-more-players-what-20-years-data-reveal-about-remodeling-industry ; https://www.jchs.harvard.edu/sites/default/files/reports/files/Harvard_JCHS_Improving_Americas_Housing_2025.pdf ; https://fred.stlouisfed.org/release/tables?eid=44183&amp;rid=53 ; https://fred.stlouisfed.org/series/AIES6244RCT00US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Hark &gt;$700M Series A: https://hark.com/articles/hark-announces-usd700-million-fundraising-round ; Instinct $1B Series C: https://www.businesswire.com/news/home/20260928153437/en/ ; earlier reported Instinct cumulative $350M: https://techcrunch.com/2026/08/26/viral-ai-startup-instinct-has-raised-350-million-at-a-2-5-billion-valuation/ ; Town $55M Series A: https://www.town.com/press/series-a . Selected-company total &gt;$2.105B; not an exhaustive market aggregate. Excludes unverified Wajo funding and general AI-lab financing that cannot be allocated to Muse/Dots.</a:t>
            </a:r>
          </a:p>
          <a:p xmlns:a="http://schemas.openxmlformats.org/drawingml/2006/main">
            <a:r>
              <a:t>Muse platform guidelines: https://muse.ai/platform/docs . OpenAI plugin guidelines: https://developers.openai.com/plugins/plugin-guidelines and Dots supported installed/enabled plugins: https://learn.chatgpt.com/docs/dots/computers-and-apps . Claude directory versus custom: https://claude.com/docs/connectors/building/directory-vs-custom . Review, compatibility, account availability and permissions vary. Platforms support developer connectors; GoLocal is not approved or integrated yet.</a:t>
            </a:r>
          </a:p>
          <a:p xmlns:a="http://schemas.openxmlformats.org/drawingml/2006/main">
            <a:r>
              <a:t>Primary connector documentation accessed October 10 2026. Company-name shapes are editable logo positions for later design, not partnership logos. The shift of local discovery into many agents is the investment thesis, not a quantified share shift. Funding does not establish local-service request volume. Founder-sourced market figures ($2T local services, $600B home services) preserved from business-thesis.md; geography, year and methodology not supplied. Home services is a subset and the figures must not be added. They describe underlying services spending, not addressable GoLocal fee revenue. Existing competition includes https://updater.com/ ; claim concerns fragmentation and intended participating coverage, not no middleware anywhere. Agent platforms may have both consumer and business workflows; funding is company-level.</a:t>
            </a:r>
          </a:p>
          <a:p xmlns:a="http://schemas.openxmlformats.org/drawingml/2006/main">
            <a:r>
              <a:t>October 10 market update supersedes the old unsourced $2T line: Market evidence from project chat “Estimate Homebase local services TAM”, October 10 2026, and resources/local-services-tam-2026-10-10.md. Approximately $1.2T in annual U.S. spending across selected categories: home improvement and repair around $600B (Harvard, 2023 actual / 2025 projected total owner and rental stock); auto maintenance and repair $283.802B (BEA 2025); personal care and clothing services $239.558B (BEA 2025); child day care $65.546955B (Census 2024 revenue). Indicative sum $1.1889T with rounded home baseline, or $1.1969T with $608B home projection, rounded to $1.2T. This supports approximately $1.2T rather than a measured $1.2T+ lower bound. Mixed years and measures; includes home materials and DIY. Underlying spending is not bookable volume or GoLocal fee revenue. Sources: https://www.jchs.harvard.edu/blog/bigger-market-more-players-what-20-years-data-reveal-about-remodeling-industry ; https://www.jchs.harvard.edu/sites/default/files/reports/files/Harvard_JCHS_Improving_Americas_Housing_2025.pdf ; https://fred.stlouisfed.org/release/tables?eid=44183&amp;rid=53 ; https://fred.stlouisfed.org/series/AIES6244RCT00US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architecture. FSM = field service management; CRM = customer relationship management. System labels are generic integration targets, not signed vendors or live integrations. GoLocal recruits suitable participating supply, obtains merchant authorization, connects permitted business software and standardizes the data/action interface for agents. Existing systems remain authoritative for schedules, quotes and job status. Transaction history is exposed only where supported, authorized and appropriate. One integration per business provides access to the agents actually connected to GoLocal, not every agent in the market. APIs can compare participating providers without contacting each sequentially, but asynchronous availability, complex scope or provider acceptance can still require follow-up. The founder supplied ~15 minutes of calls to 3-4 providers versus an under-5-second API lookup as an illustration; it is not a measured benchmark, speed guarantee or full-booking latency. Quote, payment and management capabilities are proposed; payment collection can use approved external checkout and is separate from GoLocal success-fee monetization. Discovery must also prioritize fit, availability, consent and service coverage, not merely lowest price. GoLocal has no claimed live bookings.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proposal, not signed pricing, revenue projections or validated unit economics. Supplier pays for a fulfilled job from a new customer; proposed partner share is not agreed. New-customer acquisition and serving an existing customer are separate hypotheses. Payment processing itself is not assumed to be the monetization model. Direct agent-platform routing requires a secured partnership; supplier partner Cactus is not that demand partner. A marketplace/directory connector still needs user discovery and consent. One prompt may start installation on supported platforms; permissions, review and custom integration requirements vary. These are routes under exploration, not exclusive or finalized. Muse platform guidelines: https://muse.ai/platform/docs . OpenAI plugin guidelines: https://developers.openai.com/plugins/plugin-guidelines and Dots supported installed/enabled plugins: https://learn.chatgpt.com/docs/dots/computers-and-apps . Claude directory versus custom: https://claude.com/docs/connectors/building/directory-vs-custom . Review, compatibility, account availability and permissions vary. Platforms support developer connectors; GoLocal is not approved or integrated yet.</a:t>
            </a:r>
          </a:p>
          <a:p xmlns:a="http://schemas.openxmlformats.org/drawingml/2006/main">
            <a:r>
              <a:t>Muse separates approved connector discovery from editorial featuring and guarantees neither ranking nor traffic. OpenAI says strong utility/satisfaction may support enhanced placement or proactive suggestions. Claude directory listings are eligible for Suggested Connectors; custom connectors are not. Transaction history alone is not a published universal ranking mechanism. Early presence can help learn and prove utility; there is no guaranteed first-mover distribution advantage. Important tests: who installs/routes requests, how many requests finish, whether suppliers pay, and contribution after acquisition, integration and support costs.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reports October 10 2026: Cactus AI (YC) serves 100+ mid-market trade shops in Salt Lake City and Dallas and agreed to introductions and booking access through its existing customers. Separate back-office management company agreed to onboard its 20 clients. Counts are not unique live GoLocal customers and are not summed. No active integration, request-routing partner, production booking, paid continuation or revenue established. Positive interviews and partnership calls reported without a count or attributable testimonials. Public Cactus identity: https://www.ycombinator.com/companies/oncactus ; public profile does not prove the private commitment. Initial trade and city to be selected from eligible requests and partner access, not assumed Boston cleaning. Next tasks include getting merchant-specific authorization and an actual customer demand channel. Team should show the product completes permitted scoped actions rather than only serving listings.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Pulkit founder-supplied: Urban Company founding team member, decade building Asia local services, helped scale company zero to $3B IPO. Company milestone, not personal wealth. HBS MBA student. Profile https://www.linkedin.com/in/pulkitwalia/ . Rohit is shown as Engineering as supplied, not an inferred CTO/cofounder title; role commitment unspecified. Founder reports production-grade MCP products and system-design teaching. Engineering employer context: https://laoh.ai/ links to supplied https://www.linkedin.com/in/rohit-jain-343437187/ . Relevant fit is operational experience building local services plus backend and transaction systems. Connector, demand and unit-economics proof is still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550060c5a0540f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9b8d93180014bf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94954c3af4141f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5efea5751d944d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0d8aaec9287455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f4790c15fd1405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DEA33C-04CC-4142-BE91-C830BDD080A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5F36821-6108-4999-8623-899E645C5C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3E9C23-F88E-4B26-9ED1-FF13C3B3F9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877624-7B75-4ABB-9549-98AB4E404E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582531E-58F9-4E97-BEE2-A5AF64392B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E7F64E-40F6-4EAB-88FF-C6221C1BD3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2CB5DF-9F2E-44B8-9CE9-7A995A3B05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FBAF9DD-0EFA-424A-B9BC-62623C9B06D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3F0720-9661-4BC8-BA55-1F49ED7D6A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2CA2249-D475-4C73-BF2C-30661840F5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c4d236bd7474205" /><Relationship Type="http://schemas.openxmlformats.org/officeDocument/2006/relationships/slideLayout" Target="/ppt/slideLayouts/slideLayout1.xml" Id="R32bb68723f194984" /><Relationship Type="http://schemas.openxmlformats.org/officeDocument/2006/relationships/slideLayout" Target="/ppt/slideLayouts/slideLayout2.xml" Id="R8ea5740a1d0f40cb" /><Relationship Type="http://schemas.openxmlformats.org/officeDocument/2006/relationships/slideLayout" Target="/ppt/slideLayouts/slideLayout3.xml" Id="Rd5efe9af36cf4acd" /><Relationship Type="http://schemas.openxmlformats.org/officeDocument/2006/relationships/slideLayout" Target="/ppt/slideLayouts/slideLayout4.xml" Id="R8a706670fed540bb" /><Relationship Type="http://schemas.openxmlformats.org/officeDocument/2006/relationships/slideLayout" Target="/ppt/slideLayouts/slideLayout5.xml" Id="R15f2c36336e94075" /><Relationship Type="http://schemas.openxmlformats.org/officeDocument/2006/relationships/slideLayout" Target="/ppt/slideLayouts/slideLayout6.xml" Id="Rff2e68e142ce41e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2bb68723f194984"/>
    <p:sldLayoutId xmlns:r="http://schemas.openxmlformats.org/officeDocument/2006/relationships" id="2147483650" r:id="R8ea5740a1d0f40cb"/>
    <p:sldLayoutId xmlns:r="http://schemas.openxmlformats.org/officeDocument/2006/relationships" id="2147483651" r:id="Rd5efe9af36cf4acd"/>
    <p:sldLayoutId xmlns:r="http://schemas.openxmlformats.org/officeDocument/2006/relationships" id="2147483652" r:id="R8a706670fed540bb"/>
    <p:sldLayoutId xmlns:r="http://schemas.openxmlformats.org/officeDocument/2006/relationships" id="2147483653" r:id="R15f2c36336e94075"/>
    <p:sldLayoutId xmlns:r="http://schemas.openxmlformats.org/officeDocument/2006/relationships" id="2147483654" r:id="Rff2e68e142ce41e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a163c94f99b4894" /><Relationship Type="http://schemas.openxmlformats.org/officeDocument/2006/relationships/notesSlide" Target="/ppt/notesSlides/notesSlide1.xml" Id="R08d7d3f5425b479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73d03f32d334214" /><Relationship Type="http://schemas.openxmlformats.org/officeDocument/2006/relationships/notesSlide" Target="/ppt/notesSlides/notesSlide2.xml" Id="Rf5928ec71a3a49a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8b4e49742b54f19" /><Relationship Type="http://schemas.openxmlformats.org/officeDocument/2006/relationships/notesSlide" Target="/ppt/notesSlides/notesSlide3.xml" Id="Rd1c3387ef48149d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a88aa0d53c14142" /><Relationship Type="http://schemas.openxmlformats.org/officeDocument/2006/relationships/notesSlide" Target="/ppt/notesSlides/notesSlide4.xml" Id="R9d7e9bfd9ba648f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d3a51f5a4da42c7" /><Relationship Type="http://schemas.openxmlformats.org/officeDocument/2006/relationships/notesSlide" Target="/ppt/notesSlides/notesSlide5.xml" Id="R8e74967eee7543c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57197b11dc34037" /><Relationship Type="http://schemas.openxmlformats.org/officeDocument/2006/relationships/notesSlide" Target="/ppt/notesSlides/notesSlide6.xml" Id="R4e981df72a6e4a89" /></Relationships>
</file>

<file path=ppt/slides/slide1.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10" name="market-opening-0">
            <a:extLst xmlns:a="http://schemas.openxmlformats.org/drawingml/2006/main">
              <a:ext uri="{FF2B5EF4-FFF2-40B4-BE49-F238E27FC236}">
                <a16:creationId xmlns:a16="http://schemas.microsoft.com/office/drawing/2014/main" id="{54C3B808-8726-43FE-9F78-1DA6B195F7F9}"/>
              </a:ext>
            </a:extLst>
          </p:cNvPr>
          <p:cNvSpPr>
            <a:spLocks xmlns:a="http://schemas.openxmlformats.org/drawingml/2006/main" noGrp="1"/>
          </p:cNvSpPr>
          <p:nvPr/>
        </p:nvSpPr>
        <p:spPr>
          <a:xfrm xmlns:a="http://schemas.openxmlformats.org/drawingml/2006/main">
            <a:off x="495300" y="400050"/>
            <a:ext cx="11201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900" b="1">
                <a:solidFill>
                  <a:srgbClr val="193C32"/>
                </a:solidFill>
                <a:latin typeface="Helvetica Neue"/>
                <a:ea typeface="Helvetica Neue"/>
                <a:cs typeface="Helvetica Neue"/>
              </a:defRPr>
            </a:defPPr>
          </a:lstStyle>
          <a:p xmlns:a="http://schemas.openxmlformats.org/drawingml/2006/main">
            <a:pPr>
              <a:defRPr sz="3900" b="1">
                <a:solidFill>
                  <a:srgbClr val="193C32"/>
                </a:solidFill>
                <a:latin typeface="Helvetica Neue"/>
                <a:ea typeface="Helvetica Neue"/>
                <a:cs typeface="Helvetica Neue"/>
              </a:defRPr>
            </a:pPr>
            <a:r>
              <a:rPr sz="3900" b="1">
                <a:solidFill>
                  <a:srgbClr val="193C32"/>
                </a:solidFill>
                <a:latin typeface="Helvetica Neue"/>
                <a:ea typeface="Helvetica Neue"/>
                <a:cs typeface="Helvetica Neue"/>
              </a:rPr>
              <a:t>≈$1.2T U.S. local-services opportunity</a:t>
            </a:r>
          </a:p>
        </p:txBody>
      </p:sp>
      <p:sp>
        <p:nvSpPr>
          <p:cNvPr id="2" name="market-opening-1">
            <a:extLst xmlns:a="http://schemas.openxmlformats.org/drawingml/2006/main">
              <a:ext uri="{FF2B5EF4-FFF2-40B4-BE49-F238E27FC236}">
                <a16:creationId xmlns:a16="http://schemas.microsoft.com/office/drawing/2014/main" id="{655E5041-557C-4773-BFA1-3306CCD4E011}"/>
              </a:ext>
            </a:extLst>
          </p:cNvPr>
          <p:cNvSpPr>
            <a:spLocks xmlns:a="http://schemas.openxmlformats.org/drawingml/2006/main" noGrp="1"/>
          </p:cNvSpPr>
          <p:nvPr/>
        </p:nvSpPr>
        <p:spPr>
          <a:xfrm xmlns:a="http://schemas.openxmlformats.org/drawingml/2006/main">
            <a:off x="495300" y="1266825"/>
            <a:ext cx="11201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0">
                <a:solidFill>
                  <a:srgbClr val="65746C"/>
                </a:solidFill>
                <a:latin typeface="Helvetica Neue"/>
                <a:ea typeface="Helvetica Neue"/>
                <a:cs typeface="Helvetica Neue"/>
              </a:defRPr>
            </a:defPPr>
          </a:lstStyle>
          <a:p xmlns:a="http://schemas.openxmlformats.org/drawingml/2006/main">
            <a:pPr>
              <a:defRPr sz="2250" b="0">
                <a:solidFill>
                  <a:srgbClr val="65746C"/>
                </a:solidFill>
                <a:latin typeface="Helvetica Neue"/>
                <a:ea typeface="Helvetica Neue"/>
                <a:cs typeface="Helvetica Neue"/>
              </a:defRPr>
            </a:pPr>
            <a:r>
              <a:rPr sz="2250" b="0">
                <a:solidFill>
                  <a:srgbClr val="65746C"/>
                </a:solidFill>
                <a:latin typeface="Helvetica Neue"/>
                <a:ea typeface="Helvetica Neue"/>
                <a:cs typeface="Helvetica Neue"/>
              </a:rPr>
              <a:t>Personal agents can take on the task. The transaction is still fragmented.</a:t>
            </a:r>
          </a:p>
        </p:txBody>
      </p:sp>
      <p:sp>
        <p:nvSpPr>
          <p:cNvPr id="3" name="market-opening-2">
            <a:extLst xmlns:a="http://schemas.openxmlformats.org/drawingml/2006/main">
              <a:ext uri="{FF2B5EF4-FFF2-40B4-BE49-F238E27FC236}">
                <a16:creationId xmlns:a16="http://schemas.microsoft.com/office/drawing/2014/main" id="{C191CD90-D0AC-4180-8BBB-9A247E8D8091}"/>
              </a:ext>
            </a:extLst>
          </p:cNvPr>
          <p:cNvSpPr>
            <a:spLocks xmlns:a="http://schemas.openxmlformats.org/drawingml/2006/main" noGrp="1"/>
          </p:cNvSpPr>
          <p:nvPr/>
        </p:nvSpPr>
        <p:spPr>
          <a:xfrm xmlns:a="http://schemas.openxmlformats.org/drawingml/2006/main">
            <a:off x="495300" y="1781175"/>
            <a:ext cx="3952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1">
                <a:solidFill>
                  <a:srgbClr val="236C4E"/>
                </a:solidFill>
                <a:latin typeface="Helvetica Neue"/>
                <a:ea typeface="Helvetica Neue"/>
                <a:cs typeface="Helvetica Neue"/>
              </a:defRPr>
            </a:defPPr>
          </a:lstStyle>
          <a:p xmlns:a="http://schemas.openxmlformats.org/drawingml/2006/main">
            <a:pPr>
              <a:defRPr sz="1500" b="1">
                <a:solidFill>
                  <a:srgbClr val="236C4E"/>
                </a:solidFill>
                <a:latin typeface="Helvetica Neue"/>
                <a:ea typeface="Helvetica Neue"/>
                <a:cs typeface="Helvetica Neue"/>
              </a:defRPr>
            </a:pPr>
            <a:r>
              <a:rPr sz="1500" b="1">
                <a:solidFill>
                  <a:srgbClr val="236C4E"/>
                </a:solidFill>
                <a:latin typeface="Helvetica Neue"/>
                <a:ea typeface="Helvetica Neue"/>
                <a:cs typeface="Helvetica Neue"/>
              </a:rPr>
              <a:t>Green: platform unlock</a:t>
            </a:r>
          </a:p>
        </p:txBody>
      </p:sp>
      <p:sp>
        <p:nvSpPr>
          <p:cNvPr id="4" name="market-opening-3">
            <a:extLst xmlns:a="http://schemas.openxmlformats.org/drawingml/2006/main">
              <a:ext uri="{FF2B5EF4-FFF2-40B4-BE49-F238E27FC236}">
                <a16:creationId xmlns:a16="http://schemas.microsoft.com/office/drawing/2014/main" id="{600254C4-E947-4FA3-99D7-511F32AB00E6}"/>
              </a:ext>
            </a:extLst>
          </p:cNvPr>
          <p:cNvSpPr>
            <a:spLocks xmlns:a="http://schemas.openxmlformats.org/drawingml/2006/main" noGrp="1"/>
          </p:cNvSpPr>
          <p:nvPr/>
        </p:nvSpPr>
        <p:spPr>
          <a:xfrm xmlns:a="http://schemas.openxmlformats.org/drawingml/2006/main">
            <a:off x="4953000" y="1781175"/>
            <a:ext cx="674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1">
                <a:solidFill>
                  <a:srgbClr val="9D514B"/>
                </a:solidFill>
                <a:latin typeface="Helvetica Neue"/>
                <a:ea typeface="Helvetica Neue"/>
                <a:cs typeface="Helvetica Neue"/>
              </a:defRPr>
            </a:defPPr>
          </a:lstStyle>
          <a:p xmlns:a="http://schemas.openxmlformats.org/drawingml/2006/main">
            <a:pPr>
              <a:defRPr sz="1500" b="1">
                <a:solidFill>
                  <a:srgbClr val="9D514B"/>
                </a:solidFill>
                <a:latin typeface="Helvetica Neue"/>
                <a:ea typeface="Helvetica Neue"/>
                <a:cs typeface="Helvetica Neue"/>
              </a:defRPr>
            </a:pPr>
            <a:r>
              <a:rPr sz="1500" b="1">
                <a:solidFill>
                  <a:srgbClr val="9D514B"/>
                </a:solidFill>
                <a:latin typeface="Helvetica Neue"/>
                <a:ea typeface="Helvetica Neue"/>
                <a:cs typeface="Helvetica Neue"/>
              </a:rPr>
              <a:t>Red: external work still required</a:t>
            </a:r>
          </a:p>
        </p:txBody>
      </p:sp>
      <p:graphicFrame>
        <p:nvGraphicFramePr>
          <p:cNvPr id="5" name="">
            <a:extLst xmlns:a="http://schemas.openxmlformats.org/drawingml/2006/main">
              <a:ext uri="{FF2B5EF4-FFF2-40B4-BE49-F238E27FC236}">
                <a16:creationId xmlns:a16="http://schemas.microsoft.com/office/drawing/2014/main" id="{3DFCCA20-FCA4-4500-B008-7C480715D522}"/>
              </a:ext>
            </a:extLst>
          </p:cNvPr>
          <p:cNvGraphicFramePr/>
          <p:nvPr/>
        </p:nvGraphicFramePr>
        <p:xfrm>
          <a:off xmlns:a="http://schemas.openxmlformats.org/drawingml/2006/main" x="495300" y="2143125"/>
          <a:ext xmlns:a="http://schemas.openxmlformats.org/drawingml/2006/main" cx="11201400" cy="3219450"/>
        </p:xfrm>
        <a:graphic xmlns:a="http://schemas.openxmlformats.org/drawingml/2006/main">
          <a:graphicData uri="http://schemas.openxmlformats.org/drawingml/2006/table">
            <a:tbl>
              <a:tblPr firstRow="0" firstCol="0" bandRow="0"/>
              <a:tblGrid>
                <a:gridCol w="2105025"/>
                <a:gridCol w="1819275"/>
                <a:gridCol w="1819275"/>
                <a:gridCol w="1819275"/>
                <a:gridCol w="1819275"/>
                <a:gridCol w="1819275"/>
              </a:tblGrid>
              <a:tr h="285750">
                <a:tc>
                  <a:txBody>
                    <a:bodyPr wrap="square">
                      <a:noAutofit/>
                    </a:bodyPr>
                    <a:lstStyle/>
                    <a:p>
                      <a:r>
                        <a:rPr sz="1575" b="1">
                          <a:solidFill>
                            <a:srgbClr val="65746C"/>
                          </a:solidFill>
                          <a:latin typeface="Helvetica Neue"/>
                          <a:ea typeface="Helvetica Neue"/>
                          <a:cs typeface="Helvetica Neue"/>
                        </a:rPr>
                        <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575" b="0">
                          <a:solidFill>
                            <a:srgbClr val="65746C"/>
                          </a:solidFill>
                          <a:latin typeface="Helvetica Neue"/>
                          <a:ea typeface="Helvetica Neue"/>
                          <a:cs typeface="Helvetica Neue"/>
                        </a:rPr>
                        <a:t>Pre-2000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575" b="0">
                          <a:solidFill>
                            <a:srgbClr val="65746C"/>
                          </a:solidFill>
                          <a:latin typeface="Helvetica Neue"/>
                          <a:ea typeface="Helvetica Neue"/>
                          <a:cs typeface="Helvetica Neue"/>
                        </a:rPr>
                        <a:t>2000–2010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575" b="0">
                          <a:solidFill>
                            <a:srgbClr val="65746C"/>
                          </a:solidFill>
                          <a:latin typeface="Helvetica Neue"/>
                          <a:ea typeface="Helvetica Neue"/>
                          <a:cs typeface="Helvetica Neue"/>
                        </a:rPr>
                        <a:t>2010–2020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575" b="0">
                          <a:solidFill>
                            <a:srgbClr val="65746C"/>
                          </a:solidFill>
                          <a:latin typeface="Helvetica Neue"/>
                          <a:ea typeface="Helvetica Neue"/>
                          <a:cs typeface="Helvetica Neue"/>
                        </a:rPr>
                        <a:t>2020–2025</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575" b="0">
                          <a:solidFill>
                            <a:srgbClr val="65746C"/>
                          </a:solidFill>
                          <a:latin typeface="Helvetica Neue"/>
                          <a:ea typeface="Helvetica Neue"/>
                          <a:cs typeface="Helvetica Neue"/>
                        </a:rPr>
                        <a:t>2026+</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r>
              <a:tr h="361950">
                <a:tc>
                  <a:txBody>
                    <a:bodyPr wrap="square">
                      <a:noAutofit/>
                    </a:bodyPr>
                    <a:lstStyle/>
                    <a:p>
                      <a:pPr algn="l"/>
                      <a:r>
                        <a:rPr sz="1650" b="1">
                          <a:solidFill>
                            <a:srgbClr val="65746C"/>
                          </a:solidFill>
                          <a:latin typeface="Helvetica Neue"/>
                          <a:ea typeface="Helvetica Neue"/>
                          <a:cs typeface="Helvetica Neue"/>
                        </a:rPr>
                        <a:t>Technology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575" b="0">
                          <a:solidFill>
                            <a:srgbClr val="193C32"/>
                          </a:solidFill>
                          <a:latin typeface="Helvetica Neue"/>
                          <a:ea typeface="Helvetica Neue"/>
                          <a:cs typeface="Helvetica Neue"/>
                        </a:rPr>
                        <a:t>Telephones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575" b="0">
                          <a:solidFill>
                            <a:srgbClr val="193C32"/>
                          </a:solidFill>
                          <a:latin typeface="Helvetica Neue"/>
                          <a:ea typeface="Helvetica Neue"/>
                          <a:cs typeface="Helvetica Neue"/>
                        </a:rPr>
                        <a:t>Internet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575" b="0">
                          <a:solidFill>
                            <a:srgbClr val="193C32"/>
                          </a:solidFill>
                          <a:latin typeface="Helvetica Neue"/>
                          <a:ea typeface="Helvetica Neue"/>
                          <a:cs typeface="Helvetica Neue"/>
                        </a:rPr>
                        <a:t>Mobile + GPS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575" b="0">
                          <a:solidFill>
                            <a:srgbClr val="193C32"/>
                          </a:solidFill>
                          <a:latin typeface="Helvetica Neue"/>
                          <a:ea typeface="Helvetica Neue"/>
                          <a:cs typeface="Helvetica Neue"/>
                        </a:rPr>
                        <a:t>LLMs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575" b="0">
                          <a:solidFill>
                            <a:srgbClr val="193C32"/>
                          </a:solidFill>
                          <a:latin typeface="Helvetica Neue"/>
                          <a:ea typeface="Helvetica Neue"/>
                          <a:cs typeface="Helvetica Neue"/>
                        </a:rPr>
                        <a:t>AI + tools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r>
              <a:tr h="590550">
                <a:tc>
                  <a:txBody>
                    <a:bodyPr wrap="square">
                      <a:noAutofit/>
                    </a:bodyPr>
                    <a:lstStyle/>
                    <a:p>
                      <a:pPr algn="l"/>
                      <a:r>
                        <a:rPr sz="1650" b="1">
                          <a:solidFill>
                            <a:srgbClr val="65746C"/>
                          </a:solidFill>
                          <a:latin typeface="Helvetica Neue"/>
                          <a:ea typeface="Helvetica Neue"/>
                          <a:cs typeface="Helvetica Neue"/>
                        </a:rPr>
                        <a:t>Platform</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725" b="1">
                          <a:solidFill>
                            <a:srgbClr val="193C32"/>
                          </a:solidFill>
                          <a:latin typeface="Helvetica Neue"/>
                          <a:ea typeface="Helvetica Neue"/>
                          <a:cs typeface="Helvetica Neue"/>
                        </a:rPr>
                        <a:t>Yellow Pages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725" b="1">
                          <a:solidFill>
                            <a:srgbClr val="193C32"/>
                          </a:solidFill>
                          <a:latin typeface="Helvetica Neue"/>
                          <a:ea typeface="Helvetica Neue"/>
                          <a:cs typeface="Helvetica Neue"/>
                        </a:rPr>
                        <a:t>Google /</a:t>
                      </a:r>
                    </a:p>
                    <a:p>
                      <a:pPr algn="ctr"/>
                      <a:r>
                        <a:rPr sz="1725" b="1">
                          <a:solidFill>
                            <a:srgbClr val="193C32"/>
                          </a:solidFill>
                          <a:latin typeface="Helvetica Neue"/>
                          <a:ea typeface="Helvetica Neue"/>
                          <a:cs typeface="Helvetica Neue"/>
                        </a:rPr>
                        <a:t>Craigslist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725" b="1">
                          <a:solidFill>
                            <a:srgbClr val="193C32"/>
                          </a:solidFill>
                          <a:latin typeface="Helvetica Neue"/>
                          <a:ea typeface="Helvetica Neue"/>
                          <a:cs typeface="Helvetica Neue"/>
                        </a:rPr>
                        <a:t>Google Maps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725" b="1">
                          <a:solidFill>
                            <a:srgbClr val="193C32"/>
                          </a:solidFill>
                          <a:latin typeface="Helvetica Neue"/>
                          <a:ea typeface="Helvetica Neue"/>
                          <a:cs typeface="Helvetica Neue"/>
                        </a:rPr>
                        <a:t>AI chatbots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725" b="1">
                          <a:solidFill>
                            <a:srgbClr val="FFFFFF"/>
                          </a:solidFill>
                          <a:latin typeface="Helvetica Neue"/>
                          <a:ea typeface="Helvetica Neue"/>
                          <a:cs typeface="Helvetica Neue"/>
                        </a:rPr>
                        <a:t>Personal AI</a:t>
                      </a:r>
                    </a:p>
                    <a:p>
                      <a:pPr algn="ctr"/>
                      <a:r>
                        <a:rPr sz="1725" b="1">
                          <a:solidFill>
                            <a:srgbClr val="FFFFFF"/>
                          </a:solidFill>
                          <a:latin typeface="Helvetica Neue"/>
                          <a:ea typeface="Helvetica Neue"/>
                          <a:cs typeface="Helvetica Neue"/>
                        </a:rPr>
                        <a:t>agents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r>
              <a:tr h="638175">
                <a:tc>
                  <a:txBody>
                    <a:bodyPr wrap="square">
                      <a:noAutofit/>
                    </a:bodyPr>
                    <a:lstStyle/>
                    <a:p>
                      <a:pPr algn="l"/>
                      <a:r>
                        <a:rPr sz="1650" b="1">
                          <a:solidFill>
                            <a:srgbClr val="236C4E"/>
                          </a:solidFill>
                          <a:latin typeface="Helvetica Neue"/>
                          <a:ea typeface="Helvetica Neue"/>
                          <a:cs typeface="Helvetica Neue"/>
                        </a:rPr>
                        <a:t>Platform unlock</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650" b="0">
                          <a:solidFill>
                            <a:srgbClr val="236C4E"/>
                          </a:solidFill>
                          <a:latin typeface="Helvetica Neue"/>
                          <a:ea typeface="Helvetica Neue"/>
                          <a:cs typeface="Helvetica Neue"/>
                        </a:rPr>
                        <a:t>Find &amp; call</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r>
                        <a:rPr sz="1650" b="0">
                          <a:solidFill>
                            <a:srgbClr val="236C4E"/>
                          </a:solidFill>
                          <a:latin typeface="Helvetica Neue"/>
                          <a:ea typeface="Helvetica Neue"/>
                          <a:cs typeface="Helvetica Neue"/>
                        </a:rPr>
                        <a:t>Search &amp;</a:t>
                      </a:r>
                    </a:p>
                    <a:p>
                      <a:pPr algn="ctr"/>
                      <a:r>
                        <a:rPr sz="1650" b="0">
                          <a:solidFill>
                            <a:srgbClr val="236C4E"/>
                          </a:solidFill>
                          <a:latin typeface="Helvetica Neue"/>
                          <a:ea typeface="Helvetica Neue"/>
                          <a:cs typeface="Helvetica Neue"/>
                        </a:rPr>
                        <a:t>compare</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r>
                        <a:rPr sz="1650" b="0">
                          <a:solidFill>
                            <a:srgbClr val="236C4E"/>
                          </a:solidFill>
                          <a:latin typeface="Helvetica Neue"/>
                          <a:ea typeface="Helvetica Neue"/>
                          <a:cs typeface="Helvetica Neue"/>
                        </a:rPr>
                        <a:t>Nearby results</a:t>
                      </a:r>
                    </a:p>
                    <a:p>
                      <a:pPr algn="ctr"/>
                      <a:r>
                        <a:rPr sz="1650" b="0">
                          <a:solidFill>
                            <a:srgbClr val="236C4E"/>
                          </a:solidFill>
                          <a:latin typeface="Helvetica Neue"/>
                          <a:ea typeface="Helvetica Neue"/>
                          <a:cs typeface="Helvetica Neue"/>
                        </a:rPr>
                        <a:t>&amp; reviews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r>
                        <a:rPr sz="1650" b="0">
                          <a:solidFill>
                            <a:srgbClr val="236C4E"/>
                          </a:solidFill>
                          <a:latin typeface="Helvetica Neue"/>
                          <a:ea typeface="Helvetica Neue"/>
                          <a:cs typeface="Helvetica Neue"/>
                        </a:rPr>
                        <a:t>Describe needs</a:t>
                      </a:r>
                    </a:p>
                    <a:p>
                      <a:pPr algn="ctr"/>
                      <a:r>
                        <a:rPr sz="1650" b="0">
                          <a:solidFill>
                            <a:srgbClr val="236C4E"/>
                          </a:solidFill>
                          <a:latin typeface="Helvetica Neue"/>
                          <a:ea typeface="Helvetica Neue"/>
                          <a:cs typeface="Helvetica Neue"/>
                        </a:rPr>
                        <a:t>&amp; get answers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r>
                        <a:rPr sz="1650" b="1">
                          <a:solidFill>
                            <a:srgbClr val="236C4E"/>
                          </a:solidFill>
                          <a:latin typeface="Helvetica Neue"/>
                          <a:ea typeface="Helvetica Neue"/>
                          <a:cs typeface="Helvetica Neue"/>
                        </a:rPr>
                        <a:t>Delegate</a:t>
                      </a:r>
                    </a:p>
                    <a:p>
                      <a:pPr algn="ctr"/>
                      <a:r>
                        <a:rPr sz="1650" b="1">
                          <a:solidFill>
                            <a:srgbClr val="236C4E"/>
                          </a:solidFill>
                          <a:latin typeface="Helvetica Neue"/>
                          <a:ea typeface="Helvetica Neue"/>
                          <a:cs typeface="Helvetica Neue"/>
                        </a:rPr>
                        <a:t>tasks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447675">
                <a:tc>
                  <a:txBody>
                    <a:bodyPr wrap="square">
                      <a:noAutofit/>
                    </a:bodyPr>
                    <a:lstStyle/>
                    <a:p>
                      <a:pPr algn="l"/>
                      <a:r>
                        <a:rPr sz="1650" b="1">
                          <a:solidFill>
                            <a:srgbClr val="9D514B"/>
                          </a:solidFill>
                          <a:latin typeface="Helvetica Neue"/>
                          <a:ea typeface="Helvetica Neue"/>
                          <a:cs typeface="Helvetica Neue"/>
                        </a:rPr>
                        <a:t>Scope &amp; quote</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575" b="0">
                          <a:solidFill>
                            <a:srgbClr val="9D514B"/>
                          </a:solidFill>
                          <a:latin typeface="Helvetica Neue"/>
                          <a:ea typeface="Helvetica Neue"/>
                          <a:cs typeface="Helvetica Neue"/>
                        </a:rPr>
                        <a:t>Call</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r>
                        <a:rPr sz="1575" b="0">
                          <a:solidFill>
                            <a:srgbClr val="9D514B"/>
                          </a:solidFill>
                          <a:latin typeface="Helvetica Neue"/>
                          <a:ea typeface="Helvetica Neue"/>
                          <a:cs typeface="Helvetica Neue"/>
                        </a:rPr>
                        <a:t>Calls / forms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r>
                        <a:rPr sz="1575" b="0">
                          <a:solidFill>
                            <a:srgbClr val="9D514B"/>
                          </a:solidFill>
                          <a:latin typeface="Helvetica Neue"/>
                          <a:ea typeface="Helvetica Neue"/>
                          <a:cs typeface="Helvetica Neue"/>
                        </a:rPr>
                        <a:t>Calls / forms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r>
                        <a:rPr sz="1575" b="0">
                          <a:solidFill>
                            <a:srgbClr val="9D514B"/>
                          </a:solidFill>
                          <a:latin typeface="Helvetica Neue"/>
                          <a:ea typeface="Helvetica Neue"/>
                          <a:cs typeface="Helvetica Neue"/>
                        </a:rPr>
                        <a:t>Calls / forms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r>
                        <a:rPr sz="1575" b="0">
                          <a:solidFill>
                            <a:srgbClr val="9D514B"/>
                          </a:solidFill>
                          <a:latin typeface="Helvetica Neue"/>
                          <a:ea typeface="Helvetica Neue"/>
                          <a:cs typeface="Helvetica Neue"/>
                        </a:rPr>
                        <a:t>Agent calls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r>
              <a:tr h="447675">
                <a:tc>
                  <a:txBody>
                    <a:bodyPr wrap="square">
                      <a:noAutofit/>
                    </a:bodyPr>
                    <a:lstStyle/>
                    <a:p>
                      <a:pPr algn="l"/>
                      <a:r>
                        <a:rPr sz="1650" b="1">
                          <a:solidFill>
                            <a:srgbClr val="9D514B"/>
                          </a:solidFill>
                          <a:latin typeface="Helvetica Neue"/>
                          <a:ea typeface="Helvetica Neue"/>
                          <a:cs typeface="Helvetica Neue"/>
                        </a:rPr>
                        <a:t>Live availability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575" b="0">
                          <a:solidFill>
                            <a:srgbClr val="9D514B"/>
                          </a:solidFill>
                          <a:latin typeface="Helvetica Neue"/>
                          <a:ea typeface="Helvetica Neue"/>
                          <a:cs typeface="Helvetica Neue"/>
                        </a:rPr>
                        <a:t>Call</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r>
                        <a:rPr sz="1575" b="0">
                          <a:solidFill>
                            <a:srgbClr val="9D514B"/>
                          </a:solidFill>
                          <a:latin typeface="Helvetica Neue"/>
                          <a:ea typeface="Helvetica Neue"/>
                          <a:cs typeface="Helvetica Neue"/>
                        </a:rPr>
                        <a:t>Calls / sites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r>
                        <a:rPr sz="1575" b="0">
                          <a:solidFill>
                            <a:srgbClr val="9D514B"/>
                          </a:solidFill>
                          <a:latin typeface="Helvetica Neue"/>
                          <a:ea typeface="Helvetica Neue"/>
                          <a:cs typeface="Helvetica Neue"/>
                        </a:rPr>
                        <a:t>Calls / sites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r>
                        <a:rPr sz="1575" b="0">
                          <a:solidFill>
                            <a:srgbClr val="9D514B"/>
                          </a:solidFill>
                          <a:latin typeface="Helvetica Neue"/>
                          <a:ea typeface="Helvetica Neue"/>
                          <a:cs typeface="Helvetica Neue"/>
                        </a:rPr>
                        <a:t>Calls / sites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r>
                        <a:rPr sz="1575" b="0">
                          <a:solidFill>
                            <a:srgbClr val="9D514B"/>
                          </a:solidFill>
                          <a:latin typeface="Helvetica Neue"/>
                          <a:ea typeface="Helvetica Neue"/>
                          <a:cs typeface="Helvetica Neue"/>
                        </a:rPr>
                        <a:t>Sites / calls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r>
              <a:tr h="447675">
                <a:tc>
                  <a:txBody>
                    <a:bodyPr wrap="square">
                      <a:noAutofit/>
                    </a:bodyPr>
                    <a:lstStyle/>
                    <a:p>
                      <a:pPr algn="l"/>
                      <a:r>
                        <a:rPr sz="1650" b="1">
                          <a:solidFill>
                            <a:srgbClr val="9D514B"/>
                          </a:solidFill>
                          <a:latin typeface="Helvetica Neue"/>
                          <a:ea typeface="Helvetica Neue"/>
                          <a:cs typeface="Helvetica Neue"/>
                        </a:rPr>
                        <a:t>Book &amp; pay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575" b="0">
                          <a:solidFill>
                            <a:srgbClr val="9D514B"/>
                          </a:solidFill>
                          <a:latin typeface="Helvetica Neue"/>
                          <a:ea typeface="Helvetica Neue"/>
                          <a:cs typeface="Helvetica Neue"/>
                        </a:rPr>
                        <a:t>Call / in person</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r>
                        <a:rPr sz="1575" b="0">
                          <a:solidFill>
                            <a:srgbClr val="9D514B"/>
                          </a:solidFill>
                          <a:latin typeface="Helvetica Neue"/>
                          <a:ea typeface="Helvetica Neue"/>
                          <a:cs typeface="Helvetica Neue"/>
                        </a:rPr>
                        <a:t>Separate</a:t>
                      </a:r>
                    </a:p>
                    <a:p>
                      <a:pPr algn="ctr"/>
                      <a:r>
                        <a:rPr sz="1575" b="0">
                          <a:solidFill>
                            <a:srgbClr val="9D514B"/>
                          </a:solidFill>
                          <a:latin typeface="Helvetica Neue"/>
                          <a:ea typeface="Helvetica Neue"/>
                          <a:cs typeface="Helvetica Neue"/>
                        </a:rPr>
                        <a:t>checkout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r>
                        <a:rPr sz="1575" b="0">
                          <a:solidFill>
                            <a:srgbClr val="9D514B"/>
                          </a:solidFill>
                          <a:latin typeface="Helvetica Neue"/>
                          <a:ea typeface="Helvetica Neue"/>
                          <a:cs typeface="Helvetica Neue"/>
                        </a:rPr>
                        <a:t>Separate</a:t>
                      </a:r>
                    </a:p>
                    <a:p>
                      <a:pPr algn="ctr"/>
                      <a:r>
                        <a:rPr sz="1575" b="0">
                          <a:solidFill>
                            <a:srgbClr val="9D514B"/>
                          </a:solidFill>
                          <a:latin typeface="Helvetica Neue"/>
                          <a:ea typeface="Helvetica Neue"/>
                          <a:cs typeface="Helvetica Neue"/>
                        </a:rPr>
                        <a:t>checkout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r>
                        <a:rPr sz="1575" b="0">
                          <a:solidFill>
                            <a:srgbClr val="9D514B"/>
                          </a:solidFill>
                          <a:latin typeface="Helvetica Neue"/>
                          <a:ea typeface="Helvetica Neue"/>
                          <a:cs typeface="Helvetica Neue"/>
                        </a:rPr>
                        <a:t>Separate</a:t>
                      </a:r>
                    </a:p>
                    <a:p>
                      <a:pPr algn="ctr"/>
                      <a:r>
                        <a:rPr sz="1575" b="0">
                          <a:solidFill>
                            <a:srgbClr val="9D514B"/>
                          </a:solidFill>
                          <a:latin typeface="Helvetica Neue"/>
                          <a:ea typeface="Helvetica Neue"/>
                          <a:cs typeface="Helvetica Neue"/>
                        </a:rPr>
                        <a:t>checkout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r>
                        <a:rPr sz="1575" b="0">
                          <a:solidFill>
                            <a:srgbClr val="9D514B"/>
                          </a:solidFill>
                          <a:latin typeface="Helvetica Neue"/>
                          <a:ea typeface="Helvetica Neue"/>
                          <a:cs typeface="Helvetica Neue"/>
                        </a:rPr>
                        <a:t>Sites / calls /</a:t>
                      </a:r>
                    </a:p>
                    <a:p>
                      <a:pPr algn="ctr"/>
                      <a:r>
                        <a:rPr sz="1575" b="0">
                          <a:solidFill>
                            <a:srgbClr val="9D514B"/>
                          </a:solidFill>
                          <a:latin typeface="Helvetica Neue"/>
                          <a:ea typeface="Helvetica Neue"/>
                          <a:cs typeface="Helvetica Neue"/>
                        </a:rPr>
                        <a:t>checkout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r>
            </a:tbl>
          </a:graphicData>
        </a:graphic>
      </p:graphicFrame>
      <p:sp>
        <p:nvSpPr>
          <p:cNvPr id="6" name="market-opening-4">
            <a:extLst xmlns:a="http://schemas.openxmlformats.org/drawingml/2006/main">
              <a:ext uri="{FF2B5EF4-FFF2-40B4-BE49-F238E27FC236}">
                <a16:creationId xmlns:a16="http://schemas.microsoft.com/office/drawing/2014/main" id="{9FE5D765-0DA7-4F82-90F7-371D887AB4BD}"/>
              </a:ext>
            </a:extLst>
          </p:cNvPr>
          <p:cNvSpPr>
            <a:spLocks xmlns:a="http://schemas.openxmlformats.org/drawingml/2006/main" noGrp="1"/>
          </p:cNvSpPr>
          <p:nvPr/>
        </p:nvSpPr>
        <p:spPr>
          <a:xfrm xmlns:a="http://schemas.openxmlformats.org/drawingml/2006/main">
            <a:off x="495300" y="5648325"/>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193C32"/>
                </a:solidFill>
                <a:latin typeface="Helvetica Neue"/>
                <a:ea typeface="Helvetica Neue"/>
                <a:cs typeface="Helvetica Neue"/>
              </a:defRPr>
            </a:defPPr>
          </a:lstStyle>
          <a:p xmlns:a="http://schemas.openxmlformats.org/drawingml/2006/main">
            <a:pPr>
              <a:defRPr sz="2250" b="1">
                <a:solidFill>
                  <a:srgbClr val="193C32"/>
                </a:solidFill>
                <a:latin typeface="Helvetica Neue"/>
                <a:ea typeface="Helvetica Neue"/>
                <a:cs typeface="Helvetica Neue"/>
              </a:defRPr>
            </a:pPr>
            <a:r>
              <a:rPr sz="2250" b="1">
                <a:solidFill>
                  <a:srgbClr val="193C32"/>
                </a:solidFill>
                <a:latin typeface="Helvetica Neue"/>
                <a:ea typeface="Helvetica Neue"/>
                <a:cs typeface="Helvetica Neue"/>
              </a:rPr>
              <a:t>Delegating the task still leaves calls, waiting and separate checkouts.</a:t>
            </a:r>
          </a:p>
        </p:txBody>
      </p:sp>
      <p:sp>
        <p:nvSpPr>
          <p:cNvPr id="7" name="market-opening-5">
            <a:extLst xmlns:a="http://schemas.openxmlformats.org/drawingml/2006/main">
              <a:ext uri="{FF2B5EF4-FFF2-40B4-BE49-F238E27FC236}">
                <a16:creationId xmlns:a16="http://schemas.microsoft.com/office/drawing/2014/main" id="{6ABA9331-B23F-4404-A5B5-0BC9BBB4AD70}"/>
              </a:ext>
            </a:extLst>
          </p:cNvPr>
          <p:cNvSpPr>
            <a:spLocks xmlns:a="http://schemas.openxmlformats.org/drawingml/2006/main" noGrp="1"/>
          </p:cNvSpPr>
          <p:nvPr/>
        </p:nvSpPr>
        <p:spPr>
          <a:xfrm xmlns:a="http://schemas.openxmlformats.org/drawingml/2006/main">
            <a:off x="495300" y="6105525"/>
            <a:ext cx="1120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93C32"/>
                </a:solidFill>
                <a:latin typeface="Helvetica Neue"/>
                <a:ea typeface="Helvetica Neue"/>
                <a:cs typeface="Helvetica Neue"/>
              </a:defRPr>
            </a:defPPr>
          </a:lstStyle>
          <a:p xmlns:a="http://schemas.openxmlformats.org/drawingml/2006/main">
            <a:pP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Agents need structured business data and a reliable way to transact.</a:t>
            </a:r>
          </a:p>
        </p:txBody>
      </p:sp>
      <p:sp>
        <p:nvSpPr>
          <p:cNvPr id="8" name="market-opening-6">
            <a:extLst xmlns:a="http://schemas.openxmlformats.org/drawingml/2006/main">
              <a:ext uri="{FF2B5EF4-FFF2-40B4-BE49-F238E27FC236}">
                <a16:creationId xmlns:a16="http://schemas.microsoft.com/office/drawing/2014/main" id="{4750FF47-2406-4A85-9FDA-77A3F30B3A89}"/>
              </a:ext>
            </a:extLst>
          </p:cNvPr>
          <p:cNvSpPr>
            <a:spLocks xmlns:a="http://schemas.openxmlformats.org/drawingml/2006/main" noGrp="1"/>
          </p:cNvSpPr>
          <p:nvPr/>
        </p:nvSpPr>
        <p:spPr>
          <a:xfrm xmlns:a="http://schemas.openxmlformats.org/drawingml/2006/main">
            <a:off x="495300" y="6572250"/>
            <a:ext cx="1044892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Indicative annual spending, mixed 2023–25 sources, including materials. Eras and workflows are illustrative.</a:t>
            </a:r>
          </a:p>
        </p:txBody>
      </p:sp>
      <p:sp>
        <p:nvSpPr>
          <p:cNvPr id="9" name="market-opening-7">
            <a:extLst xmlns:a="http://schemas.openxmlformats.org/drawingml/2006/main">
              <a:ext uri="{FF2B5EF4-FFF2-40B4-BE49-F238E27FC236}">
                <a16:creationId xmlns:a16="http://schemas.microsoft.com/office/drawing/2014/main" id="{43EEB73B-74B9-46A7-944E-95FB34703C3B}"/>
              </a:ext>
            </a:extLst>
          </p:cNvPr>
          <p:cNvSpPr>
            <a:spLocks xmlns:a="http://schemas.openxmlformats.org/drawingml/2006/main" noGrp="1"/>
          </p:cNvSpPr>
          <p:nvPr/>
        </p:nvSpPr>
        <p:spPr>
          <a:xfrm xmlns:a="http://schemas.openxmlformats.org/drawingml/2006/main">
            <a:off x="11049000" y="65722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1 / 6</a:t>
            </a:r>
          </a:p>
        </p:txBody>
      </p:sp>
    </p:spTree>
    <p:extLst>
      <p:ext uri="{BB962C8B-B14F-4D97-AF65-F5344CB8AC3E}">
        <p14:creationId xmlns:p14="http://schemas.microsoft.com/office/powerpoint/2010/main" val="45764591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6">
            <a:extLst xmlns:a="http://schemas.openxmlformats.org/drawingml/2006/main">
              <a:ext uri="{FF2B5EF4-FFF2-40B4-BE49-F238E27FC236}">
                <a16:creationId xmlns:a16="http://schemas.microsoft.com/office/drawing/2014/main" id="{14D0AA0C-B632-4D00-ADB8-EE89FC9B3CE6}"/>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WHY NOW</a:t>
            </a:r>
          </a:p>
        </p:txBody>
      </p:sp>
      <p:sp>
        <p:nvSpPr>
          <p:cNvPr id="2" name="text-7">
            <a:extLst xmlns:a="http://schemas.openxmlformats.org/drawingml/2006/main">
              <a:ext uri="{FF2B5EF4-FFF2-40B4-BE49-F238E27FC236}">
                <a16:creationId xmlns:a16="http://schemas.microsoft.com/office/drawing/2014/main" id="{348A0129-E7D1-4B51-BB7A-95C91244852F}"/>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Billions are backing personal agents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and a new way to find local services</a:t>
            </a:r>
          </a:p>
        </p:txBody>
      </p:sp>
      <p:sp>
        <p:nvSpPr>
          <p:cNvPr id="3" name="text-8">
            <a:extLst xmlns:a="http://schemas.openxmlformats.org/drawingml/2006/main">
              <a:ext uri="{FF2B5EF4-FFF2-40B4-BE49-F238E27FC236}">
                <a16:creationId xmlns:a16="http://schemas.microsoft.com/office/drawing/2014/main" id="{9105B53C-19A4-4FB5-9741-A407FBB09429}"/>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9">
            <a:extLst xmlns:a="http://schemas.openxmlformats.org/drawingml/2006/main">
              <a:ext uri="{FF2B5EF4-FFF2-40B4-BE49-F238E27FC236}">
                <a16:creationId xmlns:a16="http://schemas.microsoft.com/office/drawing/2014/main" id="{5E3A0F35-BA52-4B59-86E4-2A8556BAF552}"/>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2 / 6</a:t>
            </a:r>
          </a:p>
        </p:txBody>
      </p:sp>
      <p:sp>
        <p:nvSpPr>
          <p:cNvPr id="5" name="text-10">
            <a:extLst xmlns:a="http://schemas.openxmlformats.org/drawingml/2006/main">
              <a:ext uri="{FF2B5EF4-FFF2-40B4-BE49-F238E27FC236}">
                <a16:creationId xmlns:a16="http://schemas.microsoft.com/office/drawing/2014/main" id="{A18FBD5E-5478-4B7F-9DBA-C4BF149D0C34}"/>
              </a:ext>
            </a:extLst>
          </p:cNvPr>
          <p:cNvSpPr>
            <a:spLocks xmlns:a="http://schemas.openxmlformats.org/drawingml/2006/main" noGrp="1"/>
          </p:cNvSpPr>
          <p:nvPr/>
        </p:nvSpPr>
        <p:spPr>
          <a:xfrm xmlns:a="http://schemas.openxmlformats.org/drawingml/2006/main">
            <a:off x="457200" y="2085975"/>
            <a:ext cx="3333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300" b="1">
                <a:solidFill>
                  <a:srgbClr val="215C4E"/>
                </a:solidFill>
                <a:latin typeface="Helvetica Neue"/>
                <a:ea typeface="Helvetica Neue"/>
                <a:cs typeface="Helvetica Neue"/>
              </a:defRPr>
            </a:defPPr>
          </a:lstStyle>
          <a:p xmlns:a="http://schemas.openxmlformats.org/drawingml/2006/main">
            <a:pPr>
              <a:buNone/>
              <a:defRPr sz="6300" b="1">
                <a:solidFill>
                  <a:srgbClr val="215C4E"/>
                </a:solidFill>
                <a:latin typeface="Helvetica Neue"/>
                <a:ea typeface="Helvetica Neue"/>
                <a:cs typeface="Helvetica Neue"/>
              </a:defRPr>
            </a:pPr>
            <a:r>
              <a:rPr sz="6300" b="1">
                <a:solidFill>
                  <a:srgbClr val="215C4E"/>
                </a:solidFill>
                <a:latin typeface="Helvetica Neue"/>
                <a:ea typeface="Helvetica Neue"/>
                <a:cs typeface="Helvetica Neue"/>
              </a:rPr>
              <a:t>$2B+</a:t>
            </a:r>
          </a:p>
        </p:txBody>
      </p:sp>
      <p:sp>
        <p:nvSpPr>
          <p:cNvPr id="6" name="text-11">
            <a:extLst xmlns:a="http://schemas.openxmlformats.org/drawingml/2006/main">
              <a:ext uri="{FF2B5EF4-FFF2-40B4-BE49-F238E27FC236}">
                <a16:creationId xmlns:a16="http://schemas.microsoft.com/office/drawing/2014/main" id="{B558BE35-ADDA-4C37-9502-CF90A51736D5}"/>
              </a:ext>
            </a:extLst>
          </p:cNvPr>
          <p:cNvSpPr>
            <a:spLocks xmlns:a="http://schemas.openxmlformats.org/drawingml/2006/main" noGrp="1"/>
          </p:cNvSpPr>
          <p:nvPr/>
        </p:nvSpPr>
        <p:spPr>
          <a:xfrm xmlns:a="http://schemas.openxmlformats.org/drawingml/2006/main">
            <a:off x="457200" y="3076575"/>
            <a:ext cx="54292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18352F"/>
                </a:solidFill>
                <a:latin typeface="Helvetica Neue"/>
                <a:ea typeface="Helvetica Neue"/>
                <a:cs typeface="Helvetica Neue"/>
              </a:defRPr>
            </a:defPPr>
          </a:lstStyle>
          <a:p xmlns:a="http://schemas.openxmlformats.org/drawingml/2006/main">
            <a:pPr>
              <a:buNone/>
              <a:defRPr sz="2025" b="1">
                <a:solidFill>
                  <a:srgbClr val="18352F"/>
                </a:solidFill>
                <a:latin typeface="Helvetica Neue"/>
                <a:ea typeface="Helvetica Neue"/>
                <a:cs typeface="Helvetica Neue"/>
              </a:defRPr>
            </a:pPr>
            <a:r>
              <a:rPr sz="2025" b="1">
                <a:solidFill>
                  <a:srgbClr val="18352F"/>
                </a:solidFill>
                <a:latin typeface="Helvetica Neue"/>
                <a:ea typeface="Helvetica Neue"/>
                <a:cs typeface="Helvetica Neue"/>
              </a:rPr>
              <a:t>raised by three agent companies</a:t>
            </a:r>
          </a:p>
        </p:txBody>
      </p:sp>
      <p:sp>
        <p:nvSpPr>
          <p:cNvPr id="7" name="text-12">
            <a:extLst xmlns:a="http://schemas.openxmlformats.org/drawingml/2006/main">
              <a:ext uri="{FF2B5EF4-FFF2-40B4-BE49-F238E27FC236}">
                <a16:creationId xmlns:a16="http://schemas.microsoft.com/office/drawing/2014/main" id="{DFA1584B-1211-4D43-8C6F-CB6C410E96E2}"/>
              </a:ext>
            </a:extLst>
          </p:cNvPr>
          <p:cNvSpPr>
            <a:spLocks xmlns:a="http://schemas.openxmlformats.org/drawingml/2006/main" noGrp="1"/>
          </p:cNvSpPr>
          <p:nvPr/>
        </p:nvSpPr>
        <p:spPr>
          <a:xfrm xmlns:a="http://schemas.openxmlformats.org/drawingml/2006/main">
            <a:off x="457200" y="3552825"/>
            <a:ext cx="7191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606A67"/>
                </a:solidFill>
                <a:latin typeface="Helvetica Neue"/>
                <a:ea typeface="Helvetica Neue"/>
                <a:cs typeface="Helvetica Neue"/>
              </a:defRPr>
            </a:defPPr>
          </a:lstStyle>
          <a:p xmlns:a="http://schemas.openxmlformats.org/drawingml/2006/main">
            <a:pPr>
              <a:buNone/>
              <a:defRPr sz="1725" b="0">
                <a:solidFill>
                  <a:srgbClr val="606A67"/>
                </a:solidFill>
                <a:latin typeface="Helvetica Neue"/>
                <a:ea typeface="Helvetica Neue"/>
                <a:cs typeface="Helvetica Neue"/>
              </a:defRPr>
            </a:pPr>
            <a:r>
              <a:rPr sz="1725" b="0">
                <a:solidFill>
                  <a:srgbClr val="606A67"/>
                </a:solidFill>
                <a:latin typeface="Helvetica Neue"/>
                <a:ea typeface="Helvetica Neue"/>
                <a:cs typeface="Helvetica Neue"/>
              </a:rPr>
              <a:t>Hark: $700M+   |   Instinct: $1.35B   |   Town: $55M</a:t>
            </a:r>
          </a:p>
        </p:txBody>
      </p:sp>
      <p:sp>
        <p:nvSpPr>
          <p:cNvPr id="8" name="text-13">
            <a:extLst xmlns:a="http://schemas.openxmlformats.org/drawingml/2006/main">
              <a:ext uri="{FF2B5EF4-FFF2-40B4-BE49-F238E27FC236}">
                <a16:creationId xmlns:a16="http://schemas.microsoft.com/office/drawing/2014/main" id="{4E369D74-9B94-4847-A281-D2F9186B5B97}"/>
              </a:ext>
            </a:extLst>
          </p:cNvPr>
          <p:cNvSpPr>
            <a:spLocks xmlns:a="http://schemas.openxmlformats.org/drawingml/2006/main" noGrp="1"/>
          </p:cNvSpPr>
          <p:nvPr/>
        </p:nvSpPr>
        <p:spPr>
          <a:xfrm xmlns:a="http://schemas.openxmlformats.org/drawingml/2006/main">
            <a:off x="8477250" y="2152650"/>
            <a:ext cx="314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650" b="1">
                <a:solidFill>
                  <a:srgbClr val="18352F"/>
                </a:solidFill>
                <a:latin typeface="Helvetica Neue"/>
                <a:ea typeface="Helvetica Neue"/>
                <a:cs typeface="Helvetica Neue"/>
              </a:defRPr>
            </a:defPPr>
          </a:lstStyle>
          <a:p xmlns:a="http://schemas.openxmlformats.org/drawingml/2006/main">
            <a:pPr>
              <a:buNone/>
              <a:defRPr sz="4650" b="1">
                <a:solidFill>
                  <a:srgbClr val="18352F"/>
                </a:solidFill>
                <a:latin typeface="Helvetica Neue"/>
                <a:ea typeface="Helvetica Neue"/>
                <a:cs typeface="Helvetica Neue"/>
              </a:defRPr>
            </a:pPr>
            <a:r>
              <a:rPr sz="4650" b="1">
                <a:solidFill>
                  <a:srgbClr val="18352F"/>
                </a:solidFill>
                <a:latin typeface="Helvetica Neue"/>
                <a:ea typeface="Helvetica Neue"/>
                <a:cs typeface="Helvetica Neue"/>
              </a:rPr>
              <a:t>≈$1.2T</a:t>
            </a:r>
          </a:p>
        </p:txBody>
      </p:sp>
      <p:sp>
        <p:nvSpPr>
          <p:cNvPr id="9" name="text-14">
            <a:extLst xmlns:a="http://schemas.openxmlformats.org/drawingml/2006/main">
              <a:ext uri="{FF2B5EF4-FFF2-40B4-BE49-F238E27FC236}">
                <a16:creationId xmlns:a16="http://schemas.microsoft.com/office/drawing/2014/main" id="{0EEA9413-D684-493A-82DD-99DF6C3CC1A7}"/>
              </a:ext>
            </a:extLst>
          </p:cNvPr>
          <p:cNvSpPr>
            <a:spLocks xmlns:a="http://schemas.openxmlformats.org/drawingml/2006/main" noGrp="1"/>
          </p:cNvSpPr>
          <p:nvPr/>
        </p:nvSpPr>
        <p:spPr>
          <a:xfrm xmlns:a="http://schemas.openxmlformats.org/drawingml/2006/main">
            <a:off x="8477250" y="2952750"/>
            <a:ext cx="314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606A67"/>
                </a:solidFill>
                <a:latin typeface="Helvetica Neue"/>
                <a:ea typeface="Helvetica Neue"/>
                <a:cs typeface="Helvetica Neue"/>
              </a:defRPr>
            </a:defPPr>
          </a:lstStyle>
          <a:p xmlns:a="http://schemas.openxmlformats.org/drawingml/2006/main">
            <a:pPr>
              <a:buNone/>
              <a:defRPr sz="1875" b="0">
                <a:solidFill>
                  <a:srgbClr val="606A67"/>
                </a:solidFill>
                <a:latin typeface="Helvetica Neue"/>
                <a:ea typeface="Helvetica Neue"/>
                <a:cs typeface="Helvetica Neue"/>
              </a:defRPr>
            </a:pPr>
            <a:r>
              <a:rPr sz="1875" b="0">
                <a:solidFill>
                  <a:srgbClr val="606A67"/>
                </a:solidFill>
                <a:latin typeface="Helvetica Neue"/>
                <a:ea typeface="Helvetica Neue"/>
                <a:cs typeface="Helvetica Neue"/>
              </a:rPr>
              <a:t>annual U.S. spending in</a:t>
            </a:r>
          </a:p>
          <a:p xmlns:a="http://schemas.openxmlformats.org/drawingml/2006/main">
            <a:pPr>
              <a:buNone/>
              <a:defRPr sz="1875" b="0">
                <a:solidFill>
                  <a:srgbClr val="606A67"/>
                </a:solidFill>
                <a:latin typeface="Helvetica Neue"/>
                <a:ea typeface="Helvetica Neue"/>
                <a:cs typeface="Helvetica Neue"/>
              </a:defRPr>
            </a:pPr>
            <a:r>
              <a:rPr sz="1875" b="0">
                <a:solidFill>
                  <a:srgbClr val="606A67"/>
                </a:solidFill>
                <a:latin typeface="Helvetica Neue"/>
                <a:ea typeface="Helvetica Neue"/>
                <a:cs typeface="Helvetica Neue"/>
              </a:rPr>
              <a:t>selected local services</a:t>
            </a:r>
          </a:p>
        </p:txBody>
      </p:sp>
      <p:sp>
        <p:nvSpPr>
          <p:cNvPr id="10" name="text-15">
            <a:extLst xmlns:a="http://schemas.openxmlformats.org/drawingml/2006/main">
              <a:ext uri="{FF2B5EF4-FFF2-40B4-BE49-F238E27FC236}">
                <a16:creationId xmlns:a16="http://schemas.microsoft.com/office/drawing/2014/main" id="{538B1219-D07C-4EED-B3E0-269192A0EDE5}"/>
              </a:ext>
            </a:extLst>
          </p:cNvPr>
          <p:cNvSpPr>
            <a:spLocks xmlns:a="http://schemas.openxmlformats.org/drawingml/2006/main" noGrp="1"/>
          </p:cNvSpPr>
          <p:nvPr/>
        </p:nvSpPr>
        <p:spPr>
          <a:xfrm xmlns:a="http://schemas.openxmlformats.org/drawingml/2006/main">
            <a:off x="457200" y="4067175"/>
            <a:ext cx="11144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8352F"/>
                </a:solidFill>
                <a:latin typeface="Helvetica Neue"/>
                <a:ea typeface="Helvetica Neue"/>
                <a:cs typeface="Helvetica Neue"/>
              </a:defRPr>
            </a:defPPr>
          </a:lstStyle>
          <a:p xmlns:a="http://schemas.openxmlformats.org/drawingml/2006/main">
            <a:pPr>
              <a:buNone/>
              <a:defRPr sz="2100" b="1">
                <a:solidFill>
                  <a:srgbClr val="18352F"/>
                </a:solidFill>
                <a:latin typeface="Helvetica Neue"/>
                <a:ea typeface="Helvetica Neue"/>
                <a:cs typeface="Helvetica Neue"/>
              </a:defRPr>
            </a:pPr>
            <a:r>
              <a:rPr sz="2100" b="1">
                <a:solidFill>
                  <a:srgbClr val="18352F"/>
                </a:solidFill>
                <a:latin typeface="Helvetica Neue"/>
                <a:ea typeface="Helvetica Neue"/>
                <a:cs typeface="Helvetica Neue"/>
              </a:rPr>
              <a:t>Platforms are opening developer connector ecosystems</a:t>
            </a:r>
          </a:p>
        </p:txBody>
      </p:sp>
      <p:sp>
        <p:nvSpPr>
          <p:cNvPr id="11" name="diagram-16">
            <a:extLst xmlns:a="http://schemas.openxmlformats.org/drawingml/2006/main">
              <a:ext uri="{FF2B5EF4-FFF2-40B4-BE49-F238E27FC236}">
                <a16:creationId xmlns:a16="http://schemas.microsoft.com/office/drawing/2014/main" id="{7B023A1F-26B4-4733-97C5-F489DCF056BC}"/>
              </a:ext>
            </a:extLst>
          </p:cNvPr>
          <p:cNvSpPr>
            <a:spLocks xmlns:a="http://schemas.openxmlformats.org/drawingml/2006/main" noGrp="1"/>
          </p:cNvSpPr>
          <p:nvPr/>
        </p:nvSpPr>
        <p:spPr>
          <a:xfrm xmlns:a="http://schemas.openxmlformats.org/drawingml/2006/main">
            <a:off x="457200" y="4591050"/>
            <a:ext cx="2228850" cy="60960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8352F"/>
                </a:solidFill>
                <a:latin typeface="Helvetica Neue"/>
                <a:ea typeface="Helvetica Neue"/>
                <a:cs typeface="Helvetica Neue"/>
              </a:defRPr>
            </a:defPPr>
          </a:lstStyle>
          <a:p xmlns:a="http://schemas.openxmlformats.org/drawingml/2006/main">
            <a:pPr algn="ctr">
              <a:buNone/>
              <a:defRPr sz="1875" b="0">
                <a:solidFill>
                  <a:srgbClr val="18352F"/>
                </a:solidFill>
                <a:latin typeface="Helvetica Neue"/>
                <a:ea typeface="Helvetica Neue"/>
                <a:cs typeface="Helvetica Neue"/>
              </a:defRPr>
            </a:pPr>
            <a:r>
              <a:rPr sz="1875" b="0">
                <a:solidFill>
                  <a:srgbClr val="18352F"/>
                </a:solidFill>
                <a:latin typeface="Helvetica Neue"/>
                <a:ea typeface="Helvetica Neue"/>
                <a:cs typeface="Helvetica Neue"/>
              </a:rPr>
              <a:t>OpenAI Dots</a:t>
            </a:r>
          </a:p>
        </p:txBody>
      </p:sp>
      <p:sp>
        <p:nvSpPr>
          <p:cNvPr id="12" name="diagram-17">
            <a:extLst xmlns:a="http://schemas.openxmlformats.org/drawingml/2006/main">
              <a:ext uri="{FF2B5EF4-FFF2-40B4-BE49-F238E27FC236}">
                <a16:creationId xmlns:a16="http://schemas.microsoft.com/office/drawing/2014/main" id="{3A5F788A-3CFA-4D71-AA37-549E1754C619}"/>
              </a:ext>
            </a:extLst>
          </p:cNvPr>
          <p:cNvSpPr>
            <a:spLocks xmlns:a="http://schemas.openxmlformats.org/drawingml/2006/main" noGrp="1"/>
          </p:cNvSpPr>
          <p:nvPr/>
        </p:nvSpPr>
        <p:spPr>
          <a:xfrm xmlns:a="http://schemas.openxmlformats.org/drawingml/2006/main">
            <a:off x="2990850" y="4591050"/>
            <a:ext cx="2228850" cy="60960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8352F"/>
                </a:solidFill>
                <a:latin typeface="Helvetica Neue"/>
                <a:ea typeface="Helvetica Neue"/>
                <a:cs typeface="Helvetica Neue"/>
              </a:defRPr>
            </a:defPPr>
          </a:lstStyle>
          <a:p xmlns:a="http://schemas.openxmlformats.org/drawingml/2006/main">
            <a:pPr algn="ctr">
              <a:buNone/>
              <a:defRPr sz="1875" b="0">
                <a:solidFill>
                  <a:srgbClr val="18352F"/>
                </a:solidFill>
                <a:latin typeface="Helvetica Neue"/>
                <a:ea typeface="Helvetica Neue"/>
                <a:cs typeface="Helvetica Neue"/>
              </a:defRPr>
            </a:pPr>
            <a:r>
              <a:rPr sz="1875" b="0">
                <a:solidFill>
                  <a:srgbClr val="18352F"/>
                </a:solidFill>
                <a:latin typeface="Helvetica Neue"/>
                <a:ea typeface="Helvetica Neue"/>
                <a:cs typeface="Helvetica Neue"/>
              </a:rPr>
              <a:t>Meta Muse</a:t>
            </a:r>
          </a:p>
        </p:txBody>
      </p:sp>
      <p:sp>
        <p:nvSpPr>
          <p:cNvPr id="13" name="diagram-18">
            <a:extLst xmlns:a="http://schemas.openxmlformats.org/drawingml/2006/main">
              <a:ext uri="{FF2B5EF4-FFF2-40B4-BE49-F238E27FC236}">
                <a16:creationId xmlns:a16="http://schemas.microsoft.com/office/drawing/2014/main" id="{3BD6DA60-E60B-41BD-A4D1-17835CAD502B}"/>
              </a:ext>
            </a:extLst>
          </p:cNvPr>
          <p:cNvSpPr>
            <a:spLocks xmlns:a="http://schemas.openxmlformats.org/drawingml/2006/main" noGrp="1"/>
          </p:cNvSpPr>
          <p:nvPr/>
        </p:nvSpPr>
        <p:spPr>
          <a:xfrm xmlns:a="http://schemas.openxmlformats.org/drawingml/2006/main">
            <a:off x="5524500" y="4591050"/>
            <a:ext cx="2228850" cy="60960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8352F"/>
                </a:solidFill>
                <a:latin typeface="Helvetica Neue"/>
                <a:ea typeface="Helvetica Neue"/>
                <a:cs typeface="Helvetica Neue"/>
              </a:defRPr>
            </a:defPPr>
          </a:lstStyle>
          <a:p xmlns:a="http://schemas.openxmlformats.org/drawingml/2006/main">
            <a:pPr algn="ctr">
              <a:buNone/>
              <a:defRPr sz="1875" b="0">
                <a:solidFill>
                  <a:srgbClr val="18352F"/>
                </a:solidFill>
                <a:latin typeface="Helvetica Neue"/>
                <a:ea typeface="Helvetica Neue"/>
                <a:cs typeface="Helvetica Neue"/>
              </a:defRPr>
            </a:pPr>
            <a:r>
              <a:rPr sz="1875" b="0">
                <a:solidFill>
                  <a:srgbClr val="18352F"/>
                </a:solidFill>
                <a:latin typeface="Helvetica Neue"/>
                <a:ea typeface="Helvetica Neue"/>
                <a:cs typeface="Helvetica Neue"/>
              </a:rPr>
              <a:t>Claude</a:t>
            </a:r>
          </a:p>
        </p:txBody>
      </p:sp>
      <p:sp>
        <p:nvSpPr>
          <p:cNvPr id="14" name="text-19">
            <a:extLst xmlns:a="http://schemas.openxmlformats.org/drawingml/2006/main">
              <a:ext uri="{FF2B5EF4-FFF2-40B4-BE49-F238E27FC236}">
                <a16:creationId xmlns:a16="http://schemas.microsoft.com/office/drawing/2014/main" id="{1CDB1950-F5C1-44B1-A393-F16BF5B0B9C8}"/>
              </a:ext>
            </a:extLst>
          </p:cNvPr>
          <p:cNvSpPr>
            <a:spLocks xmlns:a="http://schemas.openxmlformats.org/drawingml/2006/main" noGrp="1"/>
          </p:cNvSpPr>
          <p:nvPr/>
        </p:nvSpPr>
        <p:spPr>
          <a:xfrm xmlns:a="http://schemas.openxmlformats.org/drawingml/2006/main">
            <a:off x="8477250" y="4191000"/>
            <a:ext cx="316230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215C4E"/>
                </a:solidFill>
                <a:latin typeface="Helvetica Neue"/>
                <a:ea typeface="Helvetica Neue"/>
                <a:cs typeface="Helvetica Neue"/>
              </a:defRPr>
            </a:defPPr>
          </a:lstStyle>
          <a:p xmlns:a="http://schemas.openxmlformats.org/drawingml/2006/main">
            <a:pPr>
              <a:buNone/>
              <a:defRPr sz="2025" b="1">
                <a:solidFill>
                  <a:srgbClr val="215C4E"/>
                </a:solidFill>
                <a:latin typeface="Helvetica Neue"/>
                <a:ea typeface="Helvetica Neue"/>
                <a:cs typeface="Helvetica Neue"/>
              </a:defRPr>
            </a:pPr>
            <a:r>
              <a:rPr sz="2025" b="1">
                <a:solidFill>
                  <a:srgbClr val="215C4E"/>
                </a:solidFill>
                <a:latin typeface="Helvetica Neue"/>
                <a:ea typeface="Helvetica Neue"/>
                <a:cs typeface="Helvetica Neue"/>
              </a:rPr>
              <a:t>Providers use different</a:t>
            </a:r>
          </a:p>
          <a:p xmlns:a="http://schemas.openxmlformats.org/drawingml/2006/main">
            <a:pPr>
              <a:buNone/>
              <a:defRPr sz="2025" b="1">
                <a:solidFill>
                  <a:srgbClr val="215C4E"/>
                </a:solidFill>
                <a:latin typeface="Helvetica Neue"/>
                <a:ea typeface="Helvetica Neue"/>
                <a:cs typeface="Helvetica Neue"/>
              </a:defRPr>
            </a:pPr>
            <a:r>
              <a:rPr sz="2025" b="1">
                <a:solidFill>
                  <a:srgbClr val="215C4E"/>
                </a:solidFill>
                <a:latin typeface="Helvetica Neue"/>
                <a:ea typeface="Helvetica Neue"/>
                <a:cs typeface="Helvetica Neue"/>
              </a:rPr>
              <a:t>booking systems.</a:t>
            </a:r>
          </a:p>
        </p:txBody>
      </p:sp>
      <p:sp>
        <p:nvSpPr>
          <p:cNvPr id="15" name="text-20">
            <a:extLst xmlns:a="http://schemas.openxmlformats.org/drawingml/2006/main">
              <a:ext uri="{FF2B5EF4-FFF2-40B4-BE49-F238E27FC236}">
                <a16:creationId xmlns:a16="http://schemas.microsoft.com/office/drawing/2014/main" id="{0F2582B5-3E64-4B22-BB6D-0F2400C4945A}"/>
              </a:ext>
            </a:extLst>
          </p:cNvPr>
          <p:cNvSpPr>
            <a:spLocks xmlns:a="http://schemas.openxmlformats.org/drawingml/2006/main" noGrp="1"/>
          </p:cNvSpPr>
          <p:nvPr/>
        </p:nvSpPr>
        <p:spPr>
          <a:xfrm xmlns:a="http://schemas.openxmlformats.org/drawingml/2006/main">
            <a:off x="457200" y="5353050"/>
            <a:ext cx="112776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Uber and DoorDash make booking straightforward.</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Local-service agents still cross websites, calls and business systems</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to get a quote, a slot and a confirmed booking.</a:t>
            </a:r>
          </a:p>
        </p:txBody>
      </p:sp>
    </p:spTree>
    <p:extLst>
      <p:ext uri="{BB962C8B-B14F-4D97-AF65-F5344CB8AC3E}">
        <p14:creationId xmlns:p14="http://schemas.microsoft.com/office/powerpoint/2010/main" val="59618631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1" name="">
            <a:extLst xmlns:a="http://schemas.openxmlformats.org/drawingml/2006/main">
              <a:ext uri="{FF2B5EF4-FFF2-40B4-BE49-F238E27FC236}">
                <a16:creationId xmlns:a16="http://schemas.microsoft.com/office/drawing/2014/main" id="{21FC0F36-E64D-4C83-97F8-44BE0622A609}"/>
              </a:ext>
            </a:extLst>
          </p:cNvPr>
          <p:cNvCxnSpPr>
            <a:stCxn xmlns:a="http://schemas.openxmlformats.org/drawingml/2006/main" id="19" idx="3"/>
            <a:endCxn xmlns:a="http://schemas.openxmlformats.org/drawingml/2006/main" id="22" idx="1"/>
          </p:cNvCxnSpPr>
          <p:nvPr/>
        </p:nvCxnSpPr>
        <p:spPr>
          <a:xfrm xmlns:a="http://schemas.openxmlformats.org/drawingml/2006/main">
            <a:off x="8877300" y="4800600"/>
            <a:ext cx="914400" cy="0"/>
          </a:xfrm>
          <a:prstGeom xmlns:a="http://schemas.openxmlformats.org/drawingml/2006/main" prst="straightConnector1">
            <a:avLst/>
          </a:prstGeom>
          <a:ln xmlns:a="http://schemas.openxmlformats.org/drawingml/2006/main" w="19050">
            <a:solidFill>
              <a:srgbClr val="215C4E"/>
            </a:solidFill>
            <a:prstDash val="solid"/>
            <a:headEnd type="arrow" w="sm" len="sm"/>
            <a:tailEnd type="arrow" w="sm" len="sm"/>
          </a:ln>
        </p:spPr>
      </p:cxnSp>
      <p:cxnSp>
        <p:nvCxnSpPr>
          <p:cNvPr id="30" name="">
            <a:extLst xmlns:a="http://schemas.openxmlformats.org/drawingml/2006/main">
              <a:ext uri="{FF2B5EF4-FFF2-40B4-BE49-F238E27FC236}">
                <a16:creationId xmlns:a16="http://schemas.microsoft.com/office/drawing/2014/main" id="{6E76EFF5-CD5A-4AB3-9702-D2ABCCD3AF89}"/>
              </a:ext>
            </a:extLst>
          </p:cNvPr>
          <p:cNvCxnSpPr>
            <a:stCxn xmlns:a="http://schemas.openxmlformats.org/drawingml/2006/main" id="13" idx="3"/>
            <a:endCxn xmlns:a="http://schemas.openxmlformats.org/drawingml/2006/main" id="19" idx="1"/>
          </p:cNvCxnSpPr>
          <p:nvPr/>
        </p:nvCxnSpPr>
        <p:spPr>
          <a:xfrm xmlns:a="http://schemas.openxmlformats.org/drawingml/2006/main">
            <a:off x="6134100" y="4057650"/>
            <a:ext cx="704850" cy="742950"/>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9" name="">
            <a:extLst xmlns:a="http://schemas.openxmlformats.org/drawingml/2006/main">
              <a:ext uri="{FF2B5EF4-FFF2-40B4-BE49-F238E27FC236}">
                <a16:creationId xmlns:a16="http://schemas.microsoft.com/office/drawing/2014/main" id="{2D91F051-8A44-4242-9B66-928FFFCEE57D}"/>
              </a:ext>
            </a:extLst>
          </p:cNvPr>
          <p:cNvCxnSpPr>
            <a:stCxn xmlns:a="http://schemas.openxmlformats.org/drawingml/2006/main" id="12" idx="3"/>
            <a:endCxn xmlns:a="http://schemas.openxmlformats.org/drawingml/2006/main" id="13" idx="1"/>
          </p:cNvCxnSpPr>
          <p:nvPr/>
        </p:nvCxnSpPr>
        <p:spPr>
          <a:xfrm xmlns:a="http://schemas.openxmlformats.org/drawingml/2006/main" flipV="1">
            <a:off x="2209800" y="4057650"/>
            <a:ext cx="666750" cy="742950"/>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8" name="">
            <a:extLst xmlns:a="http://schemas.openxmlformats.org/drawingml/2006/main">
              <a:ext uri="{FF2B5EF4-FFF2-40B4-BE49-F238E27FC236}">
                <a16:creationId xmlns:a16="http://schemas.microsoft.com/office/drawing/2014/main" id="{A89D5F24-B6FB-42E2-8615-76720B6FB5CA}"/>
              </a:ext>
            </a:extLst>
          </p:cNvPr>
          <p:cNvCxnSpPr>
            <a:stCxn xmlns:a="http://schemas.openxmlformats.org/drawingml/2006/main" id="18" idx="3"/>
            <a:endCxn xmlns:a="http://schemas.openxmlformats.org/drawingml/2006/main" id="21" idx="1"/>
          </p:cNvCxnSpPr>
          <p:nvPr/>
        </p:nvCxnSpPr>
        <p:spPr>
          <a:xfrm xmlns:a="http://schemas.openxmlformats.org/drawingml/2006/main">
            <a:off x="8877300" y="4048125"/>
            <a:ext cx="914400" cy="0"/>
          </a:xfrm>
          <a:prstGeom xmlns:a="http://schemas.openxmlformats.org/drawingml/2006/main" prst="straightConnector1">
            <a:avLst/>
          </a:prstGeom>
          <a:ln xmlns:a="http://schemas.openxmlformats.org/drawingml/2006/main" w="19050">
            <a:solidFill>
              <a:srgbClr val="215C4E"/>
            </a:solidFill>
            <a:prstDash val="solid"/>
            <a:headEnd type="arrow" w="sm" len="sm"/>
            <a:tailEnd type="arrow" w="sm" len="sm"/>
          </a:ln>
        </p:spPr>
      </p:cxnSp>
      <p:cxnSp>
        <p:nvCxnSpPr>
          <p:cNvPr id="27" name="">
            <a:extLst xmlns:a="http://schemas.openxmlformats.org/drawingml/2006/main">
              <a:ext uri="{FF2B5EF4-FFF2-40B4-BE49-F238E27FC236}">
                <a16:creationId xmlns:a16="http://schemas.microsoft.com/office/drawing/2014/main" id="{6AAD5783-20FB-4AA8-82BF-78DCE26E29D9}"/>
              </a:ext>
            </a:extLst>
          </p:cNvPr>
          <p:cNvCxnSpPr>
            <a:stCxn xmlns:a="http://schemas.openxmlformats.org/drawingml/2006/main" id="13" idx="3"/>
            <a:endCxn xmlns:a="http://schemas.openxmlformats.org/drawingml/2006/main" id="18" idx="1"/>
          </p:cNvCxnSpPr>
          <p:nvPr/>
        </p:nvCxnSpPr>
        <p:spPr>
          <a:xfrm xmlns:a="http://schemas.openxmlformats.org/drawingml/2006/main" flipV="1">
            <a:off x="6134100" y="4048125"/>
            <a:ext cx="704850" cy="9525"/>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6" name="">
            <a:extLst xmlns:a="http://schemas.openxmlformats.org/drawingml/2006/main">
              <a:ext uri="{FF2B5EF4-FFF2-40B4-BE49-F238E27FC236}">
                <a16:creationId xmlns:a16="http://schemas.microsoft.com/office/drawing/2014/main" id="{5DF6ED2E-ACA8-4696-A17C-BF87D12E336C}"/>
              </a:ext>
            </a:extLst>
          </p:cNvPr>
          <p:cNvCxnSpPr>
            <a:stCxn xmlns:a="http://schemas.openxmlformats.org/drawingml/2006/main" id="11" idx="3"/>
            <a:endCxn xmlns:a="http://schemas.openxmlformats.org/drawingml/2006/main" id="13" idx="1"/>
          </p:cNvCxnSpPr>
          <p:nvPr/>
        </p:nvCxnSpPr>
        <p:spPr>
          <a:xfrm xmlns:a="http://schemas.openxmlformats.org/drawingml/2006/main">
            <a:off x="2209800" y="4048125"/>
            <a:ext cx="666750" cy="9525"/>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5" name="">
            <a:extLst xmlns:a="http://schemas.openxmlformats.org/drawingml/2006/main">
              <a:ext uri="{FF2B5EF4-FFF2-40B4-BE49-F238E27FC236}">
                <a16:creationId xmlns:a16="http://schemas.microsoft.com/office/drawing/2014/main" id="{735F8CA0-FF94-43FB-957B-310BDB33EF39}"/>
              </a:ext>
            </a:extLst>
          </p:cNvPr>
          <p:cNvCxnSpPr>
            <a:stCxn xmlns:a="http://schemas.openxmlformats.org/drawingml/2006/main" id="17" idx="3"/>
            <a:endCxn xmlns:a="http://schemas.openxmlformats.org/drawingml/2006/main" id="20" idx="1"/>
          </p:cNvCxnSpPr>
          <p:nvPr/>
        </p:nvCxnSpPr>
        <p:spPr>
          <a:xfrm xmlns:a="http://schemas.openxmlformats.org/drawingml/2006/main">
            <a:off x="8877300" y="3295650"/>
            <a:ext cx="914400" cy="0"/>
          </a:xfrm>
          <a:prstGeom xmlns:a="http://schemas.openxmlformats.org/drawingml/2006/main" prst="straightConnector1">
            <a:avLst/>
          </a:prstGeom>
          <a:ln xmlns:a="http://schemas.openxmlformats.org/drawingml/2006/main" w="19050">
            <a:solidFill>
              <a:srgbClr val="215C4E"/>
            </a:solidFill>
            <a:prstDash val="solid"/>
            <a:headEnd type="arrow" w="sm" len="sm"/>
            <a:tailEnd type="arrow" w="sm" len="sm"/>
          </a:ln>
        </p:spPr>
      </p:cxnSp>
      <p:cxnSp>
        <p:nvCxnSpPr>
          <p:cNvPr id="24" name="">
            <a:extLst xmlns:a="http://schemas.openxmlformats.org/drawingml/2006/main">
              <a:ext uri="{FF2B5EF4-FFF2-40B4-BE49-F238E27FC236}">
                <a16:creationId xmlns:a16="http://schemas.microsoft.com/office/drawing/2014/main" id="{675F6B16-EDB3-455D-A066-C9F9AC55698B}"/>
              </a:ext>
            </a:extLst>
          </p:cNvPr>
          <p:cNvCxnSpPr>
            <a:stCxn xmlns:a="http://schemas.openxmlformats.org/drawingml/2006/main" id="13" idx="3"/>
            <a:endCxn xmlns:a="http://schemas.openxmlformats.org/drawingml/2006/main" id="17" idx="1"/>
          </p:cNvCxnSpPr>
          <p:nvPr/>
        </p:nvCxnSpPr>
        <p:spPr>
          <a:xfrm xmlns:a="http://schemas.openxmlformats.org/drawingml/2006/main" flipV="1">
            <a:off x="6134100" y="3295650"/>
            <a:ext cx="704850" cy="762000"/>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3" name="">
            <a:extLst xmlns:a="http://schemas.openxmlformats.org/drawingml/2006/main">
              <a:ext uri="{FF2B5EF4-FFF2-40B4-BE49-F238E27FC236}">
                <a16:creationId xmlns:a16="http://schemas.microsoft.com/office/drawing/2014/main" id="{A4F71028-A4F0-402E-BF5B-A691C6EA93D4}"/>
              </a:ext>
            </a:extLst>
          </p:cNvPr>
          <p:cNvCxnSpPr>
            <a:stCxn xmlns:a="http://schemas.openxmlformats.org/drawingml/2006/main" id="10" idx="3"/>
            <a:endCxn xmlns:a="http://schemas.openxmlformats.org/drawingml/2006/main" id="13" idx="1"/>
          </p:cNvCxnSpPr>
          <p:nvPr/>
        </p:nvCxnSpPr>
        <p:spPr>
          <a:xfrm xmlns:a="http://schemas.openxmlformats.org/drawingml/2006/main">
            <a:off x="2209800" y="3295650"/>
            <a:ext cx="666750" cy="762000"/>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sp>
        <p:nvSpPr>
          <p:cNvPr id="35" name="text-21">
            <a:extLst xmlns:a="http://schemas.openxmlformats.org/drawingml/2006/main">
              <a:ext uri="{FF2B5EF4-FFF2-40B4-BE49-F238E27FC236}">
                <a16:creationId xmlns:a16="http://schemas.microsoft.com/office/drawing/2014/main" id="{FCA45427-51F2-4B8A-85F1-294F23D802F8}"/>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WHAT WE BUILD</a:t>
            </a:r>
          </a:p>
        </p:txBody>
      </p:sp>
      <p:sp>
        <p:nvSpPr>
          <p:cNvPr id="2" name="text-22">
            <a:extLst xmlns:a="http://schemas.openxmlformats.org/drawingml/2006/main">
              <a:ext uri="{FF2B5EF4-FFF2-40B4-BE49-F238E27FC236}">
                <a16:creationId xmlns:a16="http://schemas.microsoft.com/office/drawing/2014/main" id="{E027C6B1-D345-40DB-AC1C-1D4361DBE61E}"/>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One connection to compare and book</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participating local businesses</a:t>
            </a:r>
          </a:p>
        </p:txBody>
      </p:sp>
      <p:sp>
        <p:nvSpPr>
          <p:cNvPr id="3" name="text-23">
            <a:extLst xmlns:a="http://schemas.openxmlformats.org/drawingml/2006/main">
              <a:ext uri="{FF2B5EF4-FFF2-40B4-BE49-F238E27FC236}">
                <a16:creationId xmlns:a16="http://schemas.microsoft.com/office/drawing/2014/main" id="{A21A23D5-FFC2-4030-8472-1C73F3C22D72}"/>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24">
            <a:extLst xmlns:a="http://schemas.openxmlformats.org/drawingml/2006/main">
              <a:ext uri="{FF2B5EF4-FFF2-40B4-BE49-F238E27FC236}">
                <a16:creationId xmlns:a16="http://schemas.microsoft.com/office/drawing/2014/main" id="{BF2C07B8-BE22-4B64-B8CE-917637A639E0}"/>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3 / 6</a:t>
            </a:r>
          </a:p>
        </p:txBody>
      </p:sp>
      <p:sp>
        <p:nvSpPr>
          <p:cNvPr id="5" name="text-25">
            <a:extLst xmlns:a="http://schemas.openxmlformats.org/drawingml/2006/main">
              <a:ext uri="{FF2B5EF4-FFF2-40B4-BE49-F238E27FC236}">
                <a16:creationId xmlns:a16="http://schemas.microsoft.com/office/drawing/2014/main" id="{B3061C25-8171-40EC-8557-7C75B29FA120}"/>
              </a:ext>
            </a:extLst>
          </p:cNvPr>
          <p:cNvSpPr>
            <a:spLocks xmlns:a="http://schemas.openxmlformats.org/drawingml/2006/main" noGrp="1"/>
          </p:cNvSpPr>
          <p:nvPr/>
        </p:nvSpPr>
        <p:spPr>
          <a:xfrm xmlns:a="http://schemas.openxmlformats.org/drawingml/2006/main">
            <a:off x="457200" y="200025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06A67"/>
                </a:solidFill>
                <a:latin typeface="Helvetica Neue"/>
                <a:ea typeface="Helvetica Neue"/>
                <a:cs typeface="Helvetica Neue"/>
              </a:defRPr>
            </a:defPPr>
          </a:lstStyle>
          <a:p xmlns:a="http://schemas.openxmlformats.org/drawingml/2006/main">
            <a:pPr>
              <a:buNone/>
              <a:defRPr sz="2025" b="0">
                <a:solidFill>
                  <a:srgbClr val="606A67"/>
                </a:solidFill>
                <a:latin typeface="Helvetica Neue"/>
                <a:ea typeface="Helvetica Neue"/>
                <a:cs typeface="Helvetica Neue"/>
              </a:defRPr>
            </a:pPr>
            <a:r>
              <a:rPr sz="2025" b="0">
                <a:solidFill>
                  <a:srgbClr val="606A67"/>
                </a:solidFill>
                <a:latin typeface="Helvetica Neue"/>
                <a:ea typeface="Helvetica Neue"/>
                <a:cs typeface="Helvetica Neue"/>
              </a:rPr>
              <a:t>One authorized business connection serves every connected agent.</a:t>
            </a:r>
          </a:p>
        </p:txBody>
      </p:sp>
      <p:sp>
        <p:nvSpPr>
          <p:cNvPr id="6" name="text-26">
            <a:extLst xmlns:a="http://schemas.openxmlformats.org/drawingml/2006/main">
              <a:ext uri="{FF2B5EF4-FFF2-40B4-BE49-F238E27FC236}">
                <a16:creationId xmlns:a16="http://schemas.microsoft.com/office/drawing/2014/main" id="{BDFE633D-0792-4BBF-844B-6B8AEDB187C4}"/>
              </a:ext>
            </a:extLst>
          </p:cNvPr>
          <p:cNvSpPr>
            <a:spLocks xmlns:a="http://schemas.openxmlformats.org/drawingml/2006/main" noGrp="1"/>
          </p:cNvSpPr>
          <p:nvPr/>
        </p:nvSpPr>
        <p:spPr>
          <a:xfrm xmlns:a="http://schemas.openxmlformats.org/drawingml/2006/main">
            <a:off x="457200" y="2543175"/>
            <a:ext cx="1905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8352F"/>
                </a:solidFill>
                <a:latin typeface="Helvetica Neue"/>
                <a:ea typeface="Helvetica Neue"/>
                <a:cs typeface="Helvetica Neue"/>
              </a:defRPr>
            </a:defPPr>
          </a:lstStyle>
          <a:p xmlns:a="http://schemas.openxmlformats.org/drawingml/2006/main">
            <a:pPr>
              <a:buNone/>
              <a:defRPr sz="1650" b="1">
                <a:solidFill>
                  <a:srgbClr val="18352F"/>
                </a:solidFill>
                <a:latin typeface="Helvetica Neue"/>
                <a:ea typeface="Helvetica Neue"/>
                <a:cs typeface="Helvetica Neue"/>
              </a:defRPr>
            </a:pPr>
            <a:r>
              <a:rPr sz="1650" b="1">
                <a:solidFill>
                  <a:srgbClr val="18352F"/>
                </a:solidFill>
                <a:latin typeface="Helvetica Neue"/>
                <a:ea typeface="Helvetica Neue"/>
                <a:cs typeface="Helvetica Neue"/>
              </a:rPr>
              <a:t>Personal agents</a:t>
            </a:r>
          </a:p>
        </p:txBody>
      </p:sp>
      <p:sp>
        <p:nvSpPr>
          <p:cNvPr id="7" name="text-27">
            <a:extLst xmlns:a="http://schemas.openxmlformats.org/drawingml/2006/main">
              <a:ext uri="{FF2B5EF4-FFF2-40B4-BE49-F238E27FC236}">
                <a16:creationId xmlns:a16="http://schemas.microsoft.com/office/drawing/2014/main" id="{0F73421B-57EC-4B0B-B7E8-49181CDB5C8B}"/>
              </a:ext>
            </a:extLst>
          </p:cNvPr>
          <p:cNvSpPr>
            <a:spLocks xmlns:a="http://schemas.openxmlformats.org/drawingml/2006/main" noGrp="1"/>
          </p:cNvSpPr>
          <p:nvPr/>
        </p:nvSpPr>
        <p:spPr>
          <a:xfrm xmlns:a="http://schemas.openxmlformats.org/drawingml/2006/main">
            <a:off x="2857500" y="2543175"/>
            <a:ext cx="32575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8352F"/>
                </a:solidFill>
                <a:latin typeface="Helvetica Neue"/>
                <a:ea typeface="Helvetica Neue"/>
                <a:cs typeface="Helvetica Neue"/>
              </a:defRPr>
            </a:defPPr>
          </a:lstStyle>
          <a:p xmlns:a="http://schemas.openxmlformats.org/drawingml/2006/main">
            <a:pPr>
              <a:buNone/>
              <a:defRPr sz="1650" b="1">
                <a:solidFill>
                  <a:srgbClr val="18352F"/>
                </a:solidFill>
                <a:latin typeface="Helvetica Neue"/>
                <a:ea typeface="Helvetica Neue"/>
                <a:cs typeface="Helvetica Neue"/>
              </a:defRPr>
            </a:pPr>
            <a:r>
              <a:rPr sz="1650" b="1">
                <a:solidFill>
                  <a:srgbClr val="18352F"/>
                </a:solidFill>
                <a:latin typeface="Helvetica Neue"/>
                <a:ea typeface="Helvetica Neue"/>
                <a:cs typeface="Helvetica Neue"/>
              </a:rPr>
              <a:t>Shared data + actions</a:t>
            </a:r>
          </a:p>
        </p:txBody>
      </p:sp>
      <p:sp>
        <p:nvSpPr>
          <p:cNvPr id="8" name="text-28">
            <a:extLst xmlns:a="http://schemas.openxmlformats.org/drawingml/2006/main">
              <a:ext uri="{FF2B5EF4-FFF2-40B4-BE49-F238E27FC236}">
                <a16:creationId xmlns:a16="http://schemas.microsoft.com/office/drawing/2014/main" id="{4693E4E7-7319-4FB0-9F81-4DB5A1B7E563}"/>
              </a:ext>
            </a:extLst>
          </p:cNvPr>
          <p:cNvSpPr>
            <a:spLocks xmlns:a="http://schemas.openxmlformats.org/drawingml/2006/main" noGrp="1"/>
          </p:cNvSpPr>
          <p:nvPr/>
        </p:nvSpPr>
        <p:spPr>
          <a:xfrm xmlns:a="http://schemas.openxmlformats.org/drawingml/2006/main">
            <a:off x="6819900" y="2543175"/>
            <a:ext cx="2095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8352F"/>
                </a:solidFill>
                <a:latin typeface="Helvetica Neue"/>
                <a:ea typeface="Helvetica Neue"/>
                <a:cs typeface="Helvetica Neue"/>
              </a:defRPr>
            </a:defPPr>
          </a:lstStyle>
          <a:p xmlns:a="http://schemas.openxmlformats.org/drawingml/2006/main">
            <a:pPr>
              <a:buNone/>
              <a:defRPr sz="1650" b="1">
                <a:solidFill>
                  <a:srgbClr val="18352F"/>
                </a:solidFill>
                <a:latin typeface="Helvetica Neue"/>
                <a:ea typeface="Helvetica Neue"/>
                <a:cs typeface="Helvetica Neue"/>
              </a:defRPr>
            </a:pPr>
            <a:r>
              <a:rPr sz="1650" b="1">
                <a:solidFill>
                  <a:srgbClr val="18352F"/>
                </a:solidFill>
                <a:latin typeface="Helvetica Neue"/>
                <a:ea typeface="Helvetica Neue"/>
                <a:cs typeface="Helvetica Neue"/>
              </a:rPr>
              <a:t>Business software</a:t>
            </a:r>
          </a:p>
        </p:txBody>
      </p:sp>
      <p:sp>
        <p:nvSpPr>
          <p:cNvPr id="9" name="text-29">
            <a:extLst xmlns:a="http://schemas.openxmlformats.org/drawingml/2006/main">
              <a:ext uri="{FF2B5EF4-FFF2-40B4-BE49-F238E27FC236}">
                <a16:creationId xmlns:a16="http://schemas.microsoft.com/office/drawing/2014/main" id="{606ECEFB-2FAE-483B-915E-51C7E45DA3C6}"/>
              </a:ext>
            </a:extLst>
          </p:cNvPr>
          <p:cNvSpPr>
            <a:spLocks xmlns:a="http://schemas.openxmlformats.org/drawingml/2006/main" noGrp="1"/>
          </p:cNvSpPr>
          <p:nvPr/>
        </p:nvSpPr>
        <p:spPr>
          <a:xfrm xmlns:a="http://schemas.openxmlformats.org/drawingml/2006/main">
            <a:off x="9772650" y="2543175"/>
            <a:ext cx="19621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8352F"/>
                </a:solidFill>
                <a:latin typeface="Helvetica Neue"/>
                <a:ea typeface="Helvetica Neue"/>
                <a:cs typeface="Helvetica Neue"/>
              </a:defRPr>
            </a:defPPr>
          </a:lstStyle>
          <a:p xmlns:a="http://schemas.openxmlformats.org/drawingml/2006/main">
            <a:pPr>
              <a:buNone/>
              <a:defRPr sz="1650" b="1">
                <a:solidFill>
                  <a:srgbClr val="18352F"/>
                </a:solidFill>
                <a:latin typeface="Helvetica Neue"/>
                <a:ea typeface="Helvetica Neue"/>
                <a:cs typeface="Helvetica Neue"/>
              </a:defRPr>
            </a:pPr>
            <a:r>
              <a:rPr sz="1650" b="1">
                <a:solidFill>
                  <a:srgbClr val="18352F"/>
                </a:solidFill>
                <a:latin typeface="Helvetica Neue"/>
                <a:ea typeface="Helvetica Neue"/>
                <a:cs typeface="Helvetica Neue"/>
              </a:rPr>
              <a:t>Local businesses</a:t>
            </a:r>
          </a:p>
        </p:txBody>
      </p:sp>
      <p:sp>
        <p:nvSpPr>
          <p:cNvPr id="10" name="diagram-30">
            <a:extLst xmlns:a="http://schemas.openxmlformats.org/drawingml/2006/main">
              <a:ext uri="{FF2B5EF4-FFF2-40B4-BE49-F238E27FC236}">
                <a16:creationId xmlns:a16="http://schemas.microsoft.com/office/drawing/2014/main" id="{330E262F-18B4-4C0A-BBF1-09E7E644C253}"/>
              </a:ext>
            </a:extLst>
          </p:cNvPr>
          <p:cNvSpPr>
            <a:spLocks xmlns:a="http://schemas.openxmlformats.org/drawingml/2006/main" noGrp="1"/>
          </p:cNvSpPr>
          <p:nvPr/>
        </p:nvSpPr>
        <p:spPr>
          <a:xfrm xmlns:a="http://schemas.openxmlformats.org/drawingml/2006/main">
            <a:off x="457200" y="3038475"/>
            <a:ext cx="17526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Instinct</a:t>
            </a:r>
          </a:p>
        </p:txBody>
      </p:sp>
      <p:sp>
        <p:nvSpPr>
          <p:cNvPr id="11" name="diagram-31">
            <a:extLst xmlns:a="http://schemas.openxmlformats.org/drawingml/2006/main">
              <a:ext uri="{FF2B5EF4-FFF2-40B4-BE49-F238E27FC236}">
                <a16:creationId xmlns:a16="http://schemas.microsoft.com/office/drawing/2014/main" id="{708D8C9E-3B8C-4D98-AD44-A1796D086838}"/>
              </a:ext>
            </a:extLst>
          </p:cNvPr>
          <p:cNvSpPr>
            <a:spLocks xmlns:a="http://schemas.openxmlformats.org/drawingml/2006/main" noGrp="1"/>
          </p:cNvSpPr>
          <p:nvPr/>
        </p:nvSpPr>
        <p:spPr>
          <a:xfrm xmlns:a="http://schemas.openxmlformats.org/drawingml/2006/main">
            <a:off x="457200" y="3790950"/>
            <a:ext cx="17526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Muse</a:t>
            </a:r>
          </a:p>
        </p:txBody>
      </p:sp>
      <p:sp>
        <p:nvSpPr>
          <p:cNvPr id="12" name="diagram-32">
            <a:extLst xmlns:a="http://schemas.openxmlformats.org/drawingml/2006/main">
              <a:ext uri="{FF2B5EF4-FFF2-40B4-BE49-F238E27FC236}">
                <a16:creationId xmlns:a16="http://schemas.microsoft.com/office/drawing/2014/main" id="{D60CC16D-5ED7-4308-99B5-5B8E32D6903D}"/>
              </a:ext>
            </a:extLst>
          </p:cNvPr>
          <p:cNvSpPr>
            <a:spLocks xmlns:a="http://schemas.openxmlformats.org/drawingml/2006/main" noGrp="1"/>
          </p:cNvSpPr>
          <p:nvPr/>
        </p:nvSpPr>
        <p:spPr>
          <a:xfrm xmlns:a="http://schemas.openxmlformats.org/drawingml/2006/main">
            <a:off x="457200" y="4543425"/>
            <a:ext cx="17526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Other agents</a:t>
            </a:r>
          </a:p>
        </p:txBody>
      </p:sp>
      <p:sp>
        <p:nvSpPr>
          <p:cNvPr id="13" name="diagram-33">
            <a:extLst xmlns:a="http://schemas.openxmlformats.org/drawingml/2006/main">
              <a:ext uri="{FF2B5EF4-FFF2-40B4-BE49-F238E27FC236}">
                <a16:creationId xmlns:a16="http://schemas.microsoft.com/office/drawing/2014/main" id="{B679B302-5900-45D5-A5B8-A0A27AC4DACC}"/>
              </a:ext>
            </a:extLst>
          </p:cNvPr>
          <p:cNvSpPr>
            <a:spLocks xmlns:a="http://schemas.openxmlformats.org/drawingml/2006/main" noGrp="1"/>
          </p:cNvSpPr>
          <p:nvPr/>
        </p:nvSpPr>
        <p:spPr>
          <a:xfrm xmlns:a="http://schemas.openxmlformats.org/drawingml/2006/main">
            <a:off x="2876550" y="2952750"/>
            <a:ext cx="3257550" cy="2209800"/>
          </a:xfrm>
          <a:prstGeom xmlns:a="http://schemas.openxmlformats.org/drawingml/2006/main" prst="rect">
            <a:avLst/>
          </a:prstGeom>
          <a:solidFill xmlns:a="http://schemas.openxmlformats.org/drawingml/2006/main">
            <a:srgbClr val="E5EFEA"/>
          </a:solidFill>
          <a:ln xmlns:a="http://schemas.openxmlformats.org/drawingml/2006/main" w="14288">
            <a:solidFill>
              <a:srgbClr val="215C4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1">
                <a:solidFill>
                  <a:srgbClr val="18352F"/>
                </a:solidFill>
                <a:latin typeface="Helvetica Neue"/>
                <a:ea typeface="Helvetica Neue"/>
                <a:cs typeface="Helvetica Neue"/>
              </a:defRPr>
            </a:defPPr>
          </a:lstStyle>
          <a:p xmlns:a="http://schemas.openxmlformats.org/drawingml/2006/main">
            <a:r>
              <a:t/>
            </a:r>
          </a:p>
        </p:txBody>
      </p:sp>
      <p:sp>
        <p:nvSpPr>
          <p:cNvPr id="14" name="text-34">
            <a:extLst xmlns:a="http://schemas.openxmlformats.org/drawingml/2006/main">
              <a:ext uri="{FF2B5EF4-FFF2-40B4-BE49-F238E27FC236}">
                <a16:creationId xmlns:a16="http://schemas.microsoft.com/office/drawing/2014/main" id="{DD9A4A32-E7E5-4128-8BAF-66FB2FAAF999}"/>
              </a:ext>
            </a:extLst>
          </p:cNvPr>
          <p:cNvSpPr>
            <a:spLocks xmlns:a="http://schemas.openxmlformats.org/drawingml/2006/main" noGrp="1"/>
          </p:cNvSpPr>
          <p:nvPr/>
        </p:nvSpPr>
        <p:spPr>
          <a:xfrm xmlns:a="http://schemas.openxmlformats.org/drawingml/2006/main">
            <a:off x="3067050" y="3095625"/>
            <a:ext cx="28765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550" b="1">
                <a:solidFill>
                  <a:srgbClr val="215C4E"/>
                </a:solidFill>
                <a:latin typeface="Helvetica Neue"/>
                <a:ea typeface="Helvetica Neue"/>
                <a:cs typeface="Helvetica Neue"/>
              </a:defRPr>
            </a:defPPr>
          </a:lstStyle>
          <a:p xmlns:a="http://schemas.openxmlformats.org/drawingml/2006/main">
            <a:pPr>
              <a:buNone/>
              <a:defRPr sz="2550" b="1">
                <a:solidFill>
                  <a:srgbClr val="215C4E"/>
                </a:solidFill>
                <a:latin typeface="Helvetica Neue"/>
                <a:ea typeface="Helvetica Neue"/>
                <a:cs typeface="Helvetica Neue"/>
              </a:defRPr>
            </a:pPr>
            <a:r>
              <a:rPr sz="2550" b="1">
                <a:solidFill>
                  <a:srgbClr val="215C4E"/>
                </a:solidFill>
                <a:latin typeface="Helvetica Neue"/>
                <a:ea typeface="Helvetica Neue"/>
                <a:cs typeface="Helvetica Neue"/>
              </a:rPr>
              <a:t>GoLocal</a:t>
            </a:r>
          </a:p>
        </p:txBody>
      </p:sp>
      <p:sp>
        <p:nvSpPr>
          <p:cNvPr id="15" name="text-35">
            <a:extLst xmlns:a="http://schemas.openxmlformats.org/drawingml/2006/main">
              <a:ext uri="{FF2B5EF4-FFF2-40B4-BE49-F238E27FC236}">
                <a16:creationId xmlns:a16="http://schemas.microsoft.com/office/drawing/2014/main" id="{72C099F3-BD98-4E20-87EA-C1DC9EE1AF18}"/>
              </a:ext>
            </a:extLst>
          </p:cNvPr>
          <p:cNvSpPr>
            <a:spLocks xmlns:a="http://schemas.openxmlformats.org/drawingml/2006/main" noGrp="1"/>
          </p:cNvSpPr>
          <p:nvPr/>
        </p:nvSpPr>
        <p:spPr>
          <a:xfrm xmlns:a="http://schemas.openxmlformats.org/drawingml/2006/main">
            <a:off x="3067050" y="3657600"/>
            <a:ext cx="28765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8352F"/>
                </a:solidFill>
                <a:latin typeface="Helvetica Neue"/>
                <a:ea typeface="Helvetica Neue"/>
                <a:cs typeface="Helvetica Neue"/>
              </a:defRPr>
            </a:defPPr>
          </a:lstStyle>
          <a:p xmlns:a="http://schemas.openxmlformats.org/drawingml/2006/main">
            <a:pPr>
              <a:buNone/>
              <a:defRPr sz="1650" b="0">
                <a:solidFill>
                  <a:srgbClr val="18352F"/>
                </a:solidFill>
                <a:latin typeface="Helvetica Neue"/>
                <a:ea typeface="Helvetica Neue"/>
                <a:cs typeface="Helvetica Neue"/>
              </a:defRPr>
            </a:pPr>
            <a:r>
              <a:rPr sz="1650" b="0">
                <a:solidFill>
                  <a:srgbClr val="18352F"/>
                </a:solidFill>
                <a:latin typeface="Helvetica Neue"/>
                <a:ea typeface="Helvetica Neue"/>
                <a:cs typeface="Helvetica Neue"/>
              </a:rPr>
              <a:t>Services &amp; service areas</a:t>
            </a:r>
          </a:p>
          <a:p xmlns:a="http://schemas.openxmlformats.org/drawingml/2006/main">
            <a:pPr>
              <a:buNone/>
              <a:defRPr sz="1650" b="0">
                <a:solidFill>
                  <a:srgbClr val="18352F"/>
                </a:solidFill>
                <a:latin typeface="Helvetica Neue"/>
                <a:ea typeface="Helvetica Neue"/>
                <a:cs typeface="Helvetica Neue"/>
              </a:defRPr>
            </a:pPr>
            <a:r>
              <a:rPr sz="1650" b="0">
                <a:solidFill>
                  <a:srgbClr val="18352F"/>
                </a:solidFill>
                <a:latin typeface="Helvetica Neue"/>
                <a:ea typeface="Helvetica Neue"/>
                <a:cs typeface="Helvetica Neue"/>
              </a:rPr>
              <a:t>Prices / quote requirements</a:t>
            </a:r>
          </a:p>
          <a:p xmlns:a="http://schemas.openxmlformats.org/drawingml/2006/main">
            <a:pPr>
              <a:buNone/>
              <a:defRPr sz="1650" b="0">
                <a:solidFill>
                  <a:srgbClr val="18352F"/>
                </a:solidFill>
                <a:latin typeface="Helvetica Neue"/>
                <a:ea typeface="Helvetica Neue"/>
                <a:cs typeface="Helvetica Neue"/>
              </a:defRPr>
            </a:pPr>
            <a:r>
              <a:rPr sz="1650" b="0">
                <a:solidFill>
                  <a:srgbClr val="18352F"/>
                </a:solidFill>
                <a:latin typeface="Helvetica Neue"/>
                <a:ea typeface="Helvetica Neue"/>
                <a:cs typeface="Helvetica Neue"/>
              </a:rPr>
              <a:t>Slots &amp; permitted job history</a:t>
            </a:r>
          </a:p>
        </p:txBody>
      </p:sp>
      <p:sp>
        <p:nvSpPr>
          <p:cNvPr id="16" name="text-36">
            <a:extLst xmlns:a="http://schemas.openxmlformats.org/drawingml/2006/main">
              <a:ext uri="{FF2B5EF4-FFF2-40B4-BE49-F238E27FC236}">
                <a16:creationId xmlns:a16="http://schemas.microsoft.com/office/drawing/2014/main" id="{F5F102F3-5926-400F-8BCA-B20407706580}"/>
              </a:ext>
            </a:extLst>
          </p:cNvPr>
          <p:cNvSpPr>
            <a:spLocks xmlns:a="http://schemas.openxmlformats.org/drawingml/2006/main" noGrp="1"/>
          </p:cNvSpPr>
          <p:nvPr/>
        </p:nvSpPr>
        <p:spPr>
          <a:xfrm xmlns:a="http://schemas.openxmlformats.org/drawingml/2006/main">
            <a:off x="3067050" y="4772025"/>
            <a:ext cx="2876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215C4E"/>
                </a:solidFill>
                <a:latin typeface="Helvetica Neue"/>
                <a:ea typeface="Helvetica Neue"/>
                <a:cs typeface="Helvetica Neue"/>
              </a:defRPr>
            </a:defPPr>
          </a:lstStyle>
          <a:p xmlns:a="http://schemas.openxmlformats.org/drawingml/2006/main">
            <a:pPr>
              <a:buNone/>
              <a:defRPr sz="1650" b="1">
                <a:solidFill>
                  <a:srgbClr val="215C4E"/>
                </a:solidFill>
                <a:latin typeface="Helvetica Neue"/>
                <a:ea typeface="Helvetica Neue"/>
                <a:cs typeface="Helvetica Neue"/>
              </a:defRPr>
            </a:pPr>
            <a:r>
              <a:rPr sz="1650" b="1">
                <a:solidFill>
                  <a:srgbClr val="215C4E"/>
                </a:solidFill>
                <a:latin typeface="Helvetica Neue"/>
                <a:ea typeface="Helvetica Neue"/>
                <a:cs typeface="Helvetica Neue"/>
              </a:rPr>
              <a:t>Quote • book • pay • manage</a:t>
            </a:r>
          </a:p>
        </p:txBody>
      </p:sp>
      <p:sp>
        <p:nvSpPr>
          <p:cNvPr id="17" name="diagram-37">
            <a:extLst xmlns:a="http://schemas.openxmlformats.org/drawingml/2006/main">
              <a:ext uri="{FF2B5EF4-FFF2-40B4-BE49-F238E27FC236}">
                <a16:creationId xmlns:a16="http://schemas.microsoft.com/office/drawing/2014/main" id="{0B8CA6E2-D0C9-4CE0-B8AF-C0AC4732D3E7}"/>
              </a:ext>
            </a:extLst>
          </p:cNvPr>
          <p:cNvSpPr>
            <a:spLocks xmlns:a="http://schemas.openxmlformats.org/drawingml/2006/main" noGrp="1"/>
          </p:cNvSpPr>
          <p:nvPr/>
        </p:nvSpPr>
        <p:spPr>
          <a:xfrm xmlns:a="http://schemas.openxmlformats.org/drawingml/2006/main">
            <a:off x="6838950" y="3038475"/>
            <a:ext cx="203835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FSM / CRM A</a:t>
            </a:r>
          </a:p>
        </p:txBody>
      </p:sp>
      <p:sp>
        <p:nvSpPr>
          <p:cNvPr id="18" name="diagram-38">
            <a:extLst xmlns:a="http://schemas.openxmlformats.org/drawingml/2006/main">
              <a:ext uri="{FF2B5EF4-FFF2-40B4-BE49-F238E27FC236}">
                <a16:creationId xmlns:a16="http://schemas.microsoft.com/office/drawing/2014/main" id="{EAA4E67B-CAE5-4DD4-929C-C38232F50687}"/>
              </a:ext>
            </a:extLst>
          </p:cNvPr>
          <p:cNvSpPr>
            <a:spLocks xmlns:a="http://schemas.openxmlformats.org/drawingml/2006/main" noGrp="1"/>
          </p:cNvSpPr>
          <p:nvPr/>
        </p:nvSpPr>
        <p:spPr>
          <a:xfrm xmlns:a="http://schemas.openxmlformats.org/drawingml/2006/main">
            <a:off x="6838950" y="3790950"/>
            <a:ext cx="203835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FSM / CRM B</a:t>
            </a:r>
          </a:p>
        </p:txBody>
      </p:sp>
      <p:sp>
        <p:nvSpPr>
          <p:cNvPr id="19" name="diagram-39">
            <a:extLst xmlns:a="http://schemas.openxmlformats.org/drawingml/2006/main">
              <a:ext uri="{FF2B5EF4-FFF2-40B4-BE49-F238E27FC236}">
                <a16:creationId xmlns:a16="http://schemas.microsoft.com/office/drawing/2014/main" id="{67DE8F79-33EE-418D-9798-0290F5F7789D}"/>
              </a:ext>
            </a:extLst>
          </p:cNvPr>
          <p:cNvSpPr>
            <a:spLocks xmlns:a="http://schemas.openxmlformats.org/drawingml/2006/main" noGrp="1"/>
          </p:cNvSpPr>
          <p:nvPr/>
        </p:nvSpPr>
        <p:spPr>
          <a:xfrm xmlns:a="http://schemas.openxmlformats.org/drawingml/2006/main">
            <a:off x="6838950" y="4543425"/>
            <a:ext cx="203835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Other software</a:t>
            </a:r>
          </a:p>
        </p:txBody>
      </p:sp>
      <p:sp>
        <p:nvSpPr>
          <p:cNvPr id="20" name="diagram-40">
            <a:extLst xmlns:a="http://schemas.openxmlformats.org/drawingml/2006/main">
              <a:ext uri="{FF2B5EF4-FFF2-40B4-BE49-F238E27FC236}">
                <a16:creationId xmlns:a16="http://schemas.microsoft.com/office/drawing/2014/main" id="{BE51CEC0-E858-4618-B90B-AEC7AE5A18A0}"/>
              </a:ext>
            </a:extLst>
          </p:cNvPr>
          <p:cNvSpPr>
            <a:spLocks xmlns:a="http://schemas.openxmlformats.org/drawingml/2006/main" noGrp="1"/>
          </p:cNvSpPr>
          <p:nvPr/>
        </p:nvSpPr>
        <p:spPr>
          <a:xfrm xmlns:a="http://schemas.openxmlformats.org/drawingml/2006/main">
            <a:off x="9791700" y="3038475"/>
            <a:ext cx="19431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Trade shops</a:t>
            </a:r>
          </a:p>
        </p:txBody>
      </p:sp>
      <p:sp>
        <p:nvSpPr>
          <p:cNvPr id="21" name="diagram-41">
            <a:extLst xmlns:a="http://schemas.openxmlformats.org/drawingml/2006/main">
              <a:ext uri="{FF2B5EF4-FFF2-40B4-BE49-F238E27FC236}">
                <a16:creationId xmlns:a16="http://schemas.microsoft.com/office/drawing/2014/main" id="{141F0901-74FC-449F-AC14-A2BCB006C308}"/>
              </a:ext>
            </a:extLst>
          </p:cNvPr>
          <p:cNvSpPr>
            <a:spLocks xmlns:a="http://schemas.openxmlformats.org/drawingml/2006/main" noGrp="1"/>
          </p:cNvSpPr>
          <p:nvPr/>
        </p:nvSpPr>
        <p:spPr>
          <a:xfrm xmlns:a="http://schemas.openxmlformats.org/drawingml/2006/main">
            <a:off x="9791700" y="3790950"/>
            <a:ext cx="19431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Home services</a:t>
            </a:r>
          </a:p>
        </p:txBody>
      </p:sp>
      <p:sp>
        <p:nvSpPr>
          <p:cNvPr id="22" name="diagram-42">
            <a:extLst xmlns:a="http://schemas.openxmlformats.org/drawingml/2006/main">
              <a:ext uri="{FF2B5EF4-FFF2-40B4-BE49-F238E27FC236}">
                <a16:creationId xmlns:a16="http://schemas.microsoft.com/office/drawing/2014/main" id="{2B5183FC-C2A6-4179-9266-CBE98B10AD72}"/>
              </a:ext>
            </a:extLst>
          </p:cNvPr>
          <p:cNvSpPr>
            <a:spLocks xmlns:a="http://schemas.openxmlformats.org/drawingml/2006/main" noGrp="1"/>
          </p:cNvSpPr>
          <p:nvPr/>
        </p:nvSpPr>
        <p:spPr>
          <a:xfrm xmlns:a="http://schemas.openxmlformats.org/drawingml/2006/main">
            <a:off x="9791700" y="4543425"/>
            <a:ext cx="19431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Other providers</a:t>
            </a:r>
          </a:p>
        </p:txBody>
      </p:sp>
      <p:sp>
        <p:nvSpPr>
          <p:cNvPr id="32" name="text-43">
            <a:extLst xmlns:a="http://schemas.openxmlformats.org/drawingml/2006/main">
              <a:ext uri="{FF2B5EF4-FFF2-40B4-BE49-F238E27FC236}">
                <a16:creationId xmlns:a16="http://schemas.microsoft.com/office/drawing/2014/main" id="{2E20CFA4-F21E-49BB-BC25-59DAA09A2349}"/>
              </a:ext>
            </a:extLst>
          </p:cNvPr>
          <p:cNvSpPr>
            <a:spLocks xmlns:a="http://schemas.openxmlformats.org/drawingml/2006/main" noGrp="1"/>
          </p:cNvSpPr>
          <p:nvPr/>
        </p:nvSpPr>
        <p:spPr>
          <a:xfrm xmlns:a="http://schemas.openxmlformats.org/drawingml/2006/main">
            <a:off x="457200" y="5391150"/>
            <a:ext cx="542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606A67"/>
                </a:solidFill>
                <a:latin typeface="Helvetica Neue"/>
                <a:ea typeface="Helvetica Neue"/>
                <a:cs typeface="Helvetica Neue"/>
              </a:defRPr>
            </a:defPPr>
          </a:lstStyle>
          <a:p xmlns:a="http://schemas.openxmlformats.org/drawingml/2006/main">
            <a:pPr>
              <a:buNone/>
              <a:defRPr sz="1875" b="1">
                <a:solidFill>
                  <a:srgbClr val="606A67"/>
                </a:solidFill>
                <a:latin typeface="Helvetica Neue"/>
                <a:ea typeface="Helvetica Neue"/>
                <a:cs typeface="Helvetica Neue"/>
              </a:defRPr>
            </a:pPr>
            <a:r>
              <a:rPr sz="1875" b="1">
                <a:solidFill>
                  <a:srgbClr val="606A67"/>
                </a:solidFill>
                <a:latin typeface="Helvetica Neue"/>
                <a:ea typeface="Helvetica Neue"/>
                <a:cs typeface="Helvetica Neue"/>
              </a:rPr>
              <a:t>Calls: ask providers one at a time</a:t>
            </a:r>
          </a:p>
        </p:txBody>
      </p:sp>
      <p:sp>
        <p:nvSpPr>
          <p:cNvPr id="33" name="text-44">
            <a:extLst xmlns:a="http://schemas.openxmlformats.org/drawingml/2006/main">
              <a:ext uri="{FF2B5EF4-FFF2-40B4-BE49-F238E27FC236}">
                <a16:creationId xmlns:a16="http://schemas.microsoft.com/office/drawing/2014/main" id="{9A4A90DF-C4B6-4A32-8F29-D51114AB27B4}"/>
              </a:ext>
            </a:extLst>
          </p:cNvPr>
          <p:cNvSpPr>
            <a:spLocks xmlns:a="http://schemas.openxmlformats.org/drawingml/2006/main" noGrp="1"/>
          </p:cNvSpPr>
          <p:nvPr/>
        </p:nvSpPr>
        <p:spPr>
          <a:xfrm xmlns:a="http://schemas.openxmlformats.org/drawingml/2006/main">
            <a:off x="6229350" y="5391150"/>
            <a:ext cx="5505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215C4E"/>
                </a:solidFill>
                <a:latin typeface="Helvetica Neue"/>
                <a:ea typeface="Helvetica Neue"/>
                <a:cs typeface="Helvetica Neue"/>
              </a:defRPr>
            </a:defPPr>
          </a:lstStyle>
          <a:p xmlns:a="http://schemas.openxmlformats.org/drawingml/2006/main">
            <a:pPr>
              <a:buNone/>
              <a:defRPr sz="1875" b="1">
                <a:solidFill>
                  <a:srgbClr val="215C4E"/>
                </a:solidFill>
                <a:latin typeface="Helvetica Neue"/>
                <a:ea typeface="Helvetica Neue"/>
                <a:cs typeface="Helvetica Neue"/>
              </a:defRPr>
            </a:pPr>
            <a:r>
              <a:rPr sz="1875" b="1">
                <a:solidFill>
                  <a:srgbClr val="215C4E"/>
                </a:solidFill>
                <a:latin typeface="Helvetica Neue"/>
                <a:ea typeface="Helvetica Neue"/>
                <a:cs typeface="Helvetica Neue"/>
              </a:rPr>
              <a:t>GoLocal: query connected supply at once</a:t>
            </a:r>
          </a:p>
        </p:txBody>
      </p:sp>
      <p:sp>
        <p:nvSpPr>
          <p:cNvPr id="34" name="text-45">
            <a:extLst xmlns:a="http://schemas.openxmlformats.org/drawingml/2006/main">
              <a:ext uri="{FF2B5EF4-FFF2-40B4-BE49-F238E27FC236}">
                <a16:creationId xmlns:a16="http://schemas.microsoft.com/office/drawing/2014/main" id="{C216ED9D-83DC-4BC9-A112-A127BD943AAF}"/>
              </a:ext>
            </a:extLst>
          </p:cNvPr>
          <p:cNvSpPr>
            <a:spLocks xmlns:a="http://schemas.openxmlformats.org/drawingml/2006/main" noGrp="1"/>
          </p:cNvSpPr>
          <p:nvPr/>
        </p:nvSpPr>
        <p:spPr>
          <a:xfrm xmlns:a="http://schemas.openxmlformats.org/drawingml/2006/main">
            <a:off x="457200" y="5905500"/>
            <a:ext cx="11277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606A67"/>
                </a:solidFill>
                <a:latin typeface="Helvetica Neue"/>
                <a:ea typeface="Helvetica Neue"/>
                <a:cs typeface="Helvetica Neue"/>
              </a:defRPr>
            </a:defPPr>
          </a:lstStyle>
          <a:p xmlns:a="http://schemas.openxmlformats.org/drawingml/2006/main">
            <a:pPr>
              <a:buNone/>
              <a:defRPr sz="1350" b="0">
                <a:solidFill>
                  <a:srgbClr val="606A67"/>
                </a:solidFill>
                <a:latin typeface="Helvetica Neue"/>
                <a:ea typeface="Helvetica Neue"/>
                <a:cs typeface="Helvetica Neue"/>
              </a:defRPr>
            </a:pPr>
            <a:r>
              <a:rPr sz="1350" b="0">
                <a:solidFill>
                  <a:srgbClr val="606A67"/>
                </a:solidFill>
                <a:latin typeface="Helvetica Neue"/>
                <a:ea typeface="Helvetica Neue"/>
                <a:cs typeface="Helvetica Neue"/>
              </a:rPr>
              <a:t>Illustrative lookup target: ~15 minutes → under 5 seconds. Not measured; excludes scoping and booking.</a:t>
            </a:r>
          </a:p>
        </p:txBody>
      </p:sp>
    </p:spTree>
    <p:extLst>
      <p:ext uri="{BB962C8B-B14F-4D97-AF65-F5344CB8AC3E}">
        <p14:creationId xmlns:p14="http://schemas.microsoft.com/office/powerpoint/2010/main" val="26245105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BC397815-B70F-4DA6-9B2A-D23EABC5FD65}"/>
              </a:ext>
            </a:extLst>
          </p:cNvPr>
          <p:cNvCxnSpPr>
            <a:stCxn xmlns:a="http://schemas.openxmlformats.org/drawingml/2006/main" id="11" idx="3"/>
            <a:endCxn xmlns:a="http://schemas.openxmlformats.org/drawingml/2006/main" id="12" idx="1"/>
          </p:cNvCxnSpPr>
          <p:nvPr/>
        </p:nvCxnSpPr>
        <p:spPr>
          <a:xfrm xmlns:a="http://schemas.openxmlformats.org/drawingml/2006/main">
            <a:off x="7562850" y="5553075"/>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cxnSp>
        <p:nvCxnSpPr>
          <p:cNvPr id="13" name="">
            <a:extLst xmlns:a="http://schemas.openxmlformats.org/drawingml/2006/main">
              <a:ext uri="{FF2B5EF4-FFF2-40B4-BE49-F238E27FC236}">
                <a16:creationId xmlns:a16="http://schemas.microsoft.com/office/drawing/2014/main" id="{5E95FB9D-62DB-4120-9977-A957A9A6CFE6}"/>
              </a:ext>
            </a:extLst>
          </p:cNvPr>
          <p:cNvCxnSpPr>
            <a:stCxn xmlns:a="http://schemas.openxmlformats.org/drawingml/2006/main" id="10" idx="3"/>
            <a:endCxn xmlns:a="http://schemas.openxmlformats.org/drawingml/2006/main" id="11" idx="1"/>
          </p:cNvCxnSpPr>
          <p:nvPr/>
        </p:nvCxnSpPr>
        <p:spPr>
          <a:xfrm xmlns:a="http://schemas.openxmlformats.org/drawingml/2006/main">
            <a:off x="3409950" y="5553075"/>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sp>
        <p:nvSpPr>
          <p:cNvPr id="16" name="text-46">
            <a:extLst xmlns:a="http://schemas.openxmlformats.org/drawingml/2006/main">
              <a:ext uri="{FF2B5EF4-FFF2-40B4-BE49-F238E27FC236}">
                <a16:creationId xmlns:a16="http://schemas.microsoft.com/office/drawing/2014/main" id="{FAF97EA1-5185-4FAD-A815-F8BCA7E21FB6}"/>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BUSINESS MODEL AND DISTRIBUTION</a:t>
            </a:r>
          </a:p>
        </p:txBody>
      </p:sp>
      <p:sp>
        <p:nvSpPr>
          <p:cNvPr id="2" name="text-47">
            <a:extLst xmlns:a="http://schemas.openxmlformats.org/drawingml/2006/main">
              <a:ext uri="{FF2B5EF4-FFF2-40B4-BE49-F238E27FC236}">
                <a16:creationId xmlns:a16="http://schemas.microsoft.com/office/drawing/2014/main" id="{986E807D-E8C9-46A3-BD96-DA7C069F93FC}"/>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GoLocal earns when a new customer’s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booking becomes a fulfilled job</a:t>
            </a:r>
          </a:p>
        </p:txBody>
      </p:sp>
      <p:sp>
        <p:nvSpPr>
          <p:cNvPr id="3" name="text-48">
            <a:extLst xmlns:a="http://schemas.openxmlformats.org/drawingml/2006/main">
              <a:ext uri="{FF2B5EF4-FFF2-40B4-BE49-F238E27FC236}">
                <a16:creationId xmlns:a16="http://schemas.microsoft.com/office/drawing/2014/main" id="{6289C454-CBAB-4CBF-8D37-F1EECD795938}"/>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49">
            <a:extLst xmlns:a="http://schemas.openxmlformats.org/drawingml/2006/main">
              <a:ext uri="{FF2B5EF4-FFF2-40B4-BE49-F238E27FC236}">
                <a16:creationId xmlns:a16="http://schemas.microsoft.com/office/drawing/2014/main" id="{A6583BE2-0D25-4356-AFE1-085B280C44EF}"/>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4 / 6</a:t>
            </a:r>
          </a:p>
        </p:txBody>
      </p:sp>
      <p:sp>
        <p:nvSpPr>
          <p:cNvPr id="5" name="text-50">
            <a:extLst xmlns:a="http://schemas.openxmlformats.org/drawingml/2006/main">
              <a:ext uri="{FF2B5EF4-FFF2-40B4-BE49-F238E27FC236}">
                <a16:creationId xmlns:a16="http://schemas.microsoft.com/office/drawing/2014/main" id="{9F6F9698-B980-4A5C-81A7-C0E01B460FDC}"/>
              </a:ext>
            </a:extLst>
          </p:cNvPr>
          <p:cNvSpPr>
            <a:spLocks xmlns:a="http://schemas.openxmlformats.org/drawingml/2006/main" noGrp="1"/>
          </p:cNvSpPr>
          <p:nvPr/>
        </p:nvSpPr>
        <p:spPr>
          <a:xfrm xmlns:a="http://schemas.openxmlformats.org/drawingml/2006/main">
            <a:off x="457200" y="2057400"/>
            <a:ext cx="112776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18352F"/>
                </a:solidFill>
                <a:latin typeface="Helvetica Neue"/>
                <a:ea typeface="Helvetica Neue"/>
                <a:cs typeface="Helvetica Neue"/>
              </a:defRPr>
            </a:defPPr>
          </a:lstStyle>
          <a:p xmlns:a="http://schemas.openxmlformats.org/drawingml/2006/main">
            <a:pPr>
              <a:buNone/>
              <a:defRPr sz="2100" b="0">
                <a:solidFill>
                  <a:srgbClr val="18352F"/>
                </a:solidFill>
                <a:latin typeface="Helvetica Neue"/>
                <a:ea typeface="Helvetica Neue"/>
                <a:cs typeface="Helvetica Neue"/>
              </a:defRPr>
            </a:pPr>
            <a:r>
              <a:rPr sz="2100" b="0">
                <a:solidFill>
                  <a:srgbClr val="18352F"/>
                </a:solidFill>
                <a:latin typeface="Helvetica Neue"/>
                <a:ea typeface="Helvetica Neue"/>
                <a:cs typeface="Helvetica Neue"/>
              </a:rPr>
              <a:t>Proposed: the supplier pays a success fee. GoLocal shares an agreed</a:t>
            </a:r>
          </a:p>
          <a:p xmlns:a="http://schemas.openxmlformats.org/drawingml/2006/main">
            <a:pPr>
              <a:buNone/>
              <a:defRPr sz="2100" b="0">
                <a:solidFill>
                  <a:srgbClr val="18352F"/>
                </a:solidFill>
                <a:latin typeface="Helvetica Neue"/>
                <a:ea typeface="Helvetica Neue"/>
                <a:cs typeface="Helvetica Neue"/>
              </a:defRPr>
            </a:pPr>
            <a:r>
              <a:rPr sz="2100" b="0">
                <a:solidFill>
                  <a:srgbClr val="18352F"/>
                </a:solidFill>
                <a:latin typeface="Helvetica Neue"/>
                <a:ea typeface="Helvetica Neue"/>
                <a:cs typeface="Helvetica Neue"/>
              </a:rPr>
              <a:t>portion with the partner that brings the customer.</a:t>
            </a:r>
          </a:p>
        </p:txBody>
      </p:sp>
      <p:sp>
        <p:nvSpPr>
          <p:cNvPr id="6" name="text-51">
            <a:extLst xmlns:a="http://schemas.openxmlformats.org/drawingml/2006/main">
              <a:ext uri="{FF2B5EF4-FFF2-40B4-BE49-F238E27FC236}">
                <a16:creationId xmlns:a16="http://schemas.microsoft.com/office/drawing/2014/main" id="{8FB99042-26B6-494E-A35C-300EC7E87DC1}"/>
              </a:ext>
            </a:extLst>
          </p:cNvPr>
          <p:cNvSpPr>
            <a:spLocks xmlns:a="http://schemas.openxmlformats.org/drawingml/2006/main" noGrp="1"/>
          </p:cNvSpPr>
          <p:nvPr/>
        </p:nvSpPr>
        <p:spPr>
          <a:xfrm xmlns:a="http://schemas.openxmlformats.org/drawingml/2006/main">
            <a:off x="457200" y="3219450"/>
            <a:ext cx="5143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215C4E"/>
                </a:solidFill>
                <a:latin typeface="Helvetica Neue"/>
                <a:ea typeface="Helvetica Neue"/>
                <a:cs typeface="Helvetica Neue"/>
              </a:defRPr>
            </a:defPPr>
          </a:lstStyle>
          <a:p xmlns:a="http://schemas.openxmlformats.org/drawingml/2006/main">
            <a:pPr>
              <a:buNone/>
              <a:defRPr sz="2325" b="1">
                <a:solidFill>
                  <a:srgbClr val="215C4E"/>
                </a:solidFill>
                <a:latin typeface="Helvetica Neue"/>
                <a:ea typeface="Helvetica Neue"/>
                <a:cs typeface="Helvetica Neue"/>
              </a:defRPr>
            </a:pPr>
            <a:r>
              <a:rPr sz="2325" b="1">
                <a:solidFill>
                  <a:srgbClr val="215C4E"/>
                </a:solidFill>
                <a:latin typeface="Helvetica Neue"/>
                <a:ea typeface="Helvetica Neue"/>
                <a:cs typeface="Helvetica Neue"/>
              </a:rPr>
              <a:t>Direct agent partnership</a:t>
            </a:r>
          </a:p>
        </p:txBody>
      </p:sp>
      <p:sp>
        <p:nvSpPr>
          <p:cNvPr id="7" name="text-52">
            <a:extLst xmlns:a="http://schemas.openxmlformats.org/drawingml/2006/main">
              <a:ext uri="{FF2B5EF4-FFF2-40B4-BE49-F238E27FC236}">
                <a16:creationId xmlns:a16="http://schemas.microsoft.com/office/drawing/2014/main" id="{BF0F34B1-09AA-4179-A4DC-F6AB936E7E85}"/>
              </a:ext>
            </a:extLst>
          </p:cNvPr>
          <p:cNvSpPr>
            <a:spLocks xmlns:a="http://schemas.openxmlformats.org/drawingml/2006/main" noGrp="1"/>
          </p:cNvSpPr>
          <p:nvPr/>
        </p:nvSpPr>
        <p:spPr>
          <a:xfrm xmlns:a="http://schemas.openxmlformats.org/drawingml/2006/main">
            <a:off x="457200" y="3762375"/>
            <a:ext cx="521970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An agent platform routes relevant requests</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to GoLocal as an integrated booking tool.</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A partnership still needs to be secured.</a:t>
            </a:r>
          </a:p>
        </p:txBody>
      </p:sp>
      <p:sp>
        <p:nvSpPr>
          <p:cNvPr id="8" name="text-53">
            <a:extLst xmlns:a="http://schemas.openxmlformats.org/drawingml/2006/main">
              <a:ext uri="{FF2B5EF4-FFF2-40B4-BE49-F238E27FC236}">
                <a16:creationId xmlns:a16="http://schemas.microsoft.com/office/drawing/2014/main" id="{9FF6C1A3-46F7-417E-8C2E-B22EE566CD0E}"/>
              </a:ext>
            </a:extLst>
          </p:cNvPr>
          <p:cNvSpPr>
            <a:spLocks xmlns:a="http://schemas.openxmlformats.org/drawingml/2006/main" noGrp="1"/>
          </p:cNvSpPr>
          <p:nvPr/>
        </p:nvSpPr>
        <p:spPr>
          <a:xfrm xmlns:a="http://schemas.openxmlformats.org/drawingml/2006/main">
            <a:off x="6610350" y="3219450"/>
            <a:ext cx="51244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215C4E"/>
                </a:solidFill>
                <a:latin typeface="Helvetica Neue"/>
                <a:ea typeface="Helvetica Neue"/>
                <a:cs typeface="Helvetica Neue"/>
              </a:defRPr>
            </a:defPPr>
          </a:lstStyle>
          <a:p xmlns:a="http://schemas.openxmlformats.org/drawingml/2006/main">
            <a:pPr>
              <a:buNone/>
              <a:defRPr sz="2325" b="1">
                <a:solidFill>
                  <a:srgbClr val="215C4E"/>
                </a:solidFill>
                <a:latin typeface="Helvetica Neue"/>
                <a:ea typeface="Helvetica Neue"/>
                <a:cs typeface="Helvetica Neue"/>
              </a:defRPr>
            </a:pPr>
            <a:r>
              <a:rPr sz="2325" b="1">
                <a:solidFill>
                  <a:srgbClr val="215C4E"/>
                </a:solidFill>
                <a:latin typeface="Helvetica Neue"/>
                <a:ea typeface="Helvetica Neue"/>
                <a:cs typeface="Helvetica Neue"/>
              </a:rPr>
              <a:t>User-added connector</a:t>
            </a:r>
          </a:p>
        </p:txBody>
      </p:sp>
      <p:sp>
        <p:nvSpPr>
          <p:cNvPr id="9" name="text-54">
            <a:extLst xmlns:a="http://schemas.openxmlformats.org/drawingml/2006/main">
              <a:ext uri="{FF2B5EF4-FFF2-40B4-BE49-F238E27FC236}">
                <a16:creationId xmlns:a16="http://schemas.microsoft.com/office/drawing/2014/main" id="{BFDA3310-7D24-444A-A254-2440C190AB06}"/>
              </a:ext>
            </a:extLst>
          </p:cNvPr>
          <p:cNvSpPr>
            <a:spLocks xmlns:a="http://schemas.openxmlformats.org/drawingml/2006/main" noGrp="1"/>
          </p:cNvSpPr>
          <p:nvPr/>
        </p:nvSpPr>
        <p:spPr>
          <a:xfrm xmlns:a="http://schemas.openxmlformats.org/drawingml/2006/main">
            <a:off x="6610350" y="3762375"/>
            <a:ext cx="51244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Reach an audience with an urgent need.</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Help them add GoLocal to their agent.</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Installation requires customer acquisition.</a:t>
            </a:r>
          </a:p>
        </p:txBody>
      </p:sp>
      <p:sp>
        <p:nvSpPr>
          <p:cNvPr id="10" name="diagram-55">
            <a:extLst xmlns:a="http://schemas.openxmlformats.org/drawingml/2006/main">
              <a:ext uri="{FF2B5EF4-FFF2-40B4-BE49-F238E27FC236}">
                <a16:creationId xmlns:a16="http://schemas.microsoft.com/office/drawing/2014/main" id="{F61C9BFD-0E3D-4A6B-88F5-113305726798}"/>
              </a:ext>
            </a:extLst>
          </p:cNvPr>
          <p:cNvSpPr>
            <a:spLocks xmlns:a="http://schemas.openxmlformats.org/drawingml/2006/main" noGrp="1"/>
          </p:cNvSpPr>
          <p:nvPr/>
        </p:nvSpPr>
        <p:spPr>
          <a:xfrm xmlns:a="http://schemas.openxmlformats.org/drawingml/2006/main">
            <a:off x="457200" y="5238750"/>
            <a:ext cx="295275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Approved connector</a:t>
            </a:r>
          </a:p>
        </p:txBody>
      </p:sp>
      <p:sp>
        <p:nvSpPr>
          <p:cNvPr id="11" name="diagram-56">
            <a:extLst xmlns:a="http://schemas.openxmlformats.org/drawingml/2006/main">
              <a:ext uri="{FF2B5EF4-FFF2-40B4-BE49-F238E27FC236}">
                <a16:creationId xmlns:a16="http://schemas.microsoft.com/office/drawing/2014/main" id="{4CB77984-AA3C-4084-A02D-C45BA0C60B64}"/>
              </a:ext>
            </a:extLst>
          </p:cNvPr>
          <p:cNvSpPr>
            <a:spLocks xmlns:a="http://schemas.openxmlformats.org/drawingml/2006/main" noGrp="1"/>
          </p:cNvSpPr>
          <p:nvPr/>
        </p:nvSpPr>
        <p:spPr>
          <a:xfrm xmlns:a="http://schemas.openxmlformats.org/drawingml/2006/main">
            <a:off x="4610100" y="5238750"/>
            <a:ext cx="2952750" cy="628650"/>
          </a:xfrm>
          <a:prstGeom xmlns:a="http://schemas.openxmlformats.org/drawingml/2006/main" prst="rect">
            <a:avLst/>
          </a:prstGeom>
          <a:solidFill xmlns:a="http://schemas.openxmlformats.org/drawingml/2006/main">
            <a:srgbClr val="E5EFEA"/>
          </a:solidFill>
          <a:ln xmlns:a="http://schemas.openxmlformats.org/drawingml/2006/main" w="14288">
            <a:solidFill>
              <a:srgbClr val="215C4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1">
                <a:solidFill>
                  <a:srgbClr val="18352F"/>
                </a:solidFill>
                <a:latin typeface="Helvetica Neue"/>
                <a:ea typeface="Helvetica Neue"/>
                <a:cs typeface="Helvetica Neue"/>
              </a:defRPr>
            </a:defPPr>
          </a:lstStyle>
          <a:p xmlns:a="http://schemas.openxmlformats.org/drawingml/2006/main">
            <a:pPr algn="ctr">
              <a:buNone/>
              <a:defRPr sz="1725" b="1">
                <a:solidFill>
                  <a:srgbClr val="18352F"/>
                </a:solidFill>
                <a:latin typeface="Helvetica Neue"/>
                <a:ea typeface="Helvetica Neue"/>
                <a:cs typeface="Helvetica Neue"/>
              </a:defRPr>
            </a:pPr>
            <a:r>
              <a:rPr sz="1725" b="1">
                <a:solidFill>
                  <a:srgbClr val="18352F"/>
                </a:solidFill>
                <a:latin typeface="Helvetica Neue"/>
                <a:ea typeface="Helvetica Neue"/>
                <a:cs typeface="Helvetica Neue"/>
              </a:rPr>
              <a:t>Useful completed tasks</a:t>
            </a:r>
          </a:p>
        </p:txBody>
      </p:sp>
      <p:sp>
        <p:nvSpPr>
          <p:cNvPr id="12" name="diagram-57">
            <a:extLst xmlns:a="http://schemas.openxmlformats.org/drawingml/2006/main">
              <a:ext uri="{FF2B5EF4-FFF2-40B4-BE49-F238E27FC236}">
                <a16:creationId xmlns:a16="http://schemas.microsoft.com/office/drawing/2014/main" id="{06C078AC-1C88-45B8-8F3E-3F165DD5E3E9}"/>
              </a:ext>
            </a:extLst>
          </p:cNvPr>
          <p:cNvSpPr>
            <a:spLocks xmlns:a="http://schemas.openxmlformats.org/drawingml/2006/main" noGrp="1"/>
          </p:cNvSpPr>
          <p:nvPr/>
        </p:nvSpPr>
        <p:spPr>
          <a:xfrm xmlns:a="http://schemas.openxmlformats.org/drawingml/2006/main">
            <a:off x="8763000" y="5238750"/>
            <a:ext cx="297180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Broader discovery</a:t>
            </a:r>
          </a:p>
        </p:txBody>
      </p:sp>
      <p:sp>
        <p:nvSpPr>
          <p:cNvPr id="15" name="text-58">
            <a:extLst xmlns:a="http://schemas.openxmlformats.org/drawingml/2006/main">
              <a:ext uri="{FF2B5EF4-FFF2-40B4-BE49-F238E27FC236}">
                <a16:creationId xmlns:a16="http://schemas.microsoft.com/office/drawing/2014/main" id="{FEB59C90-5538-4FE2-AE16-DAF0E9468CB4}"/>
              </a:ext>
            </a:extLst>
          </p:cNvPr>
          <p:cNvSpPr>
            <a:spLocks xmlns:a="http://schemas.openxmlformats.org/drawingml/2006/main" noGrp="1"/>
          </p:cNvSpPr>
          <p:nvPr/>
        </p:nvSpPr>
        <p:spPr>
          <a:xfrm xmlns:a="http://schemas.openxmlformats.org/drawingml/2006/main">
            <a:off x="457200" y="6048375"/>
            <a:ext cx="11277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Strong utility can support recommendations; placement is platform-dependent. Fees and routes remain open.</a:t>
            </a:r>
          </a:p>
        </p:txBody>
      </p:sp>
    </p:spTree>
    <p:extLst>
      <p:ext uri="{BB962C8B-B14F-4D97-AF65-F5344CB8AC3E}">
        <p14:creationId xmlns:p14="http://schemas.microsoft.com/office/powerpoint/2010/main" val="11376674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1D16EB50-6420-4456-B840-F0FBC578BA19}"/>
              </a:ext>
            </a:extLst>
          </p:cNvPr>
          <p:cNvCxnSpPr>
            <a:stCxn xmlns:a="http://schemas.openxmlformats.org/drawingml/2006/main" id="12" idx="3"/>
            <a:endCxn xmlns:a="http://schemas.openxmlformats.org/drawingml/2006/main" id="13" idx="1"/>
          </p:cNvCxnSpPr>
          <p:nvPr/>
        </p:nvCxnSpPr>
        <p:spPr>
          <a:xfrm xmlns:a="http://schemas.openxmlformats.org/drawingml/2006/main">
            <a:off x="7562850" y="5715000"/>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cxnSp>
        <p:nvCxnSpPr>
          <p:cNvPr id="14" name="">
            <a:extLst xmlns:a="http://schemas.openxmlformats.org/drawingml/2006/main">
              <a:ext uri="{FF2B5EF4-FFF2-40B4-BE49-F238E27FC236}">
                <a16:creationId xmlns:a16="http://schemas.microsoft.com/office/drawing/2014/main" id="{9D0E1366-BB22-4C89-BB99-631F6502C1C2}"/>
              </a:ext>
            </a:extLst>
          </p:cNvPr>
          <p:cNvCxnSpPr>
            <a:stCxn xmlns:a="http://schemas.openxmlformats.org/drawingml/2006/main" id="11" idx="3"/>
            <a:endCxn xmlns:a="http://schemas.openxmlformats.org/drawingml/2006/main" id="12" idx="1"/>
          </p:cNvCxnSpPr>
          <p:nvPr/>
        </p:nvCxnSpPr>
        <p:spPr>
          <a:xfrm xmlns:a="http://schemas.openxmlformats.org/drawingml/2006/main">
            <a:off x="3409950" y="5715000"/>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sp>
        <p:nvSpPr>
          <p:cNvPr id="17" name="text-59">
            <a:extLst xmlns:a="http://schemas.openxmlformats.org/drawingml/2006/main">
              <a:ext uri="{FF2B5EF4-FFF2-40B4-BE49-F238E27FC236}">
                <a16:creationId xmlns:a16="http://schemas.microsoft.com/office/drawing/2014/main" id="{6C34ADF3-169D-4A05-BCD4-61CCD74EA736}"/>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WHAT IS COMING TOGETHER</a:t>
            </a:r>
          </a:p>
        </p:txBody>
      </p:sp>
      <p:sp>
        <p:nvSpPr>
          <p:cNvPr id="2" name="text-60">
            <a:extLst xmlns:a="http://schemas.openxmlformats.org/drawingml/2006/main">
              <a:ext uri="{FF2B5EF4-FFF2-40B4-BE49-F238E27FC236}">
                <a16:creationId xmlns:a16="http://schemas.microsoft.com/office/drawing/2014/main" id="{D5789F55-3702-445A-BA82-5ECE56D15EB6}"/>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Partners have agreed to open access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to the first local businesses</a:t>
            </a:r>
          </a:p>
        </p:txBody>
      </p:sp>
      <p:sp>
        <p:nvSpPr>
          <p:cNvPr id="3" name="text-61">
            <a:extLst xmlns:a="http://schemas.openxmlformats.org/drawingml/2006/main">
              <a:ext uri="{FF2B5EF4-FFF2-40B4-BE49-F238E27FC236}">
                <a16:creationId xmlns:a16="http://schemas.microsoft.com/office/drawing/2014/main" id="{D5F41982-2B1F-48D2-9BC5-C6B31883C8C5}"/>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62">
            <a:extLst xmlns:a="http://schemas.openxmlformats.org/drawingml/2006/main">
              <a:ext uri="{FF2B5EF4-FFF2-40B4-BE49-F238E27FC236}">
                <a16:creationId xmlns:a16="http://schemas.microsoft.com/office/drawing/2014/main" id="{69E35C39-A9AF-493E-A026-B3538F6E2089}"/>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5 / 6</a:t>
            </a:r>
          </a:p>
        </p:txBody>
      </p:sp>
      <p:sp>
        <p:nvSpPr>
          <p:cNvPr id="5" name="text-63">
            <a:extLst xmlns:a="http://schemas.openxmlformats.org/drawingml/2006/main">
              <a:ext uri="{FF2B5EF4-FFF2-40B4-BE49-F238E27FC236}">
                <a16:creationId xmlns:a16="http://schemas.microsoft.com/office/drawing/2014/main" id="{B0F0A4F7-81E5-4CC9-B48D-0551345426A1}"/>
              </a:ext>
            </a:extLst>
          </p:cNvPr>
          <p:cNvSpPr>
            <a:spLocks xmlns:a="http://schemas.openxmlformats.org/drawingml/2006/main" noGrp="1"/>
          </p:cNvSpPr>
          <p:nvPr/>
        </p:nvSpPr>
        <p:spPr>
          <a:xfrm xmlns:a="http://schemas.openxmlformats.org/drawingml/2006/main">
            <a:off x="457200" y="2200275"/>
            <a:ext cx="5143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450" b="1">
                <a:solidFill>
                  <a:srgbClr val="215C4E"/>
                </a:solidFill>
                <a:latin typeface="Helvetica Neue"/>
                <a:ea typeface="Helvetica Neue"/>
                <a:cs typeface="Helvetica Neue"/>
              </a:defRPr>
            </a:defPPr>
          </a:lstStyle>
          <a:p xmlns:a="http://schemas.openxmlformats.org/drawingml/2006/main">
            <a:pPr>
              <a:buNone/>
              <a:defRPr sz="6450" b="1">
                <a:solidFill>
                  <a:srgbClr val="215C4E"/>
                </a:solidFill>
                <a:latin typeface="Helvetica Neue"/>
                <a:ea typeface="Helvetica Neue"/>
                <a:cs typeface="Helvetica Neue"/>
              </a:defRPr>
            </a:pPr>
            <a:r>
              <a:rPr sz="6450" b="1">
                <a:solidFill>
                  <a:srgbClr val="215C4E"/>
                </a:solidFill>
                <a:latin typeface="Helvetica Neue"/>
                <a:ea typeface="Helvetica Neue"/>
                <a:cs typeface="Helvetica Neue"/>
              </a:rPr>
              <a:t>100+</a:t>
            </a:r>
          </a:p>
        </p:txBody>
      </p:sp>
      <p:sp>
        <p:nvSpPr>
          <p:cNvPr id="6" name="text-64">
            <a:extLst xmlns:a="http://schemas.openxmlformats.org/drawingml/2006/main">
              <a:ext uri="{FF2B5EF4-FFF2-40B4-BE49-F238E27FC236}">
                <a16:creationId xmlns:a16="http://schemas.microsoft.com/office/drawing/2014/main" id="{7D9DB117-0EB1-4258-AC2D-9D7CE0682847}"/>
              </a:ext>
            </a:extLst>
          </p:cNvPr>
          <p:cNvSpPr>
            <a:spLocks xmlns:a="http://schemas.openxmlformats.org/drawingml/2006/main" noGrp="1"/>
          </p:cNvSpPr>
          <p:nvPr/>
        </p:nvSpPr>
        <p:spPr>
          <a:xfrm xmlns:a="http://schemas.openxmlformats.org/drawingml/2006/main">
            <a:off x="457200" y="3314700"/>
            <a:ext cx="52578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8352F"/>
                </a:solidFill>
                <a:latin typeface="Helvetica Neue"/>
                <a:ea typeface="Helvetica Neue"/>
                <a:cs typeface="Helvetica Neue"/>
              </a:defRPr>
            </a:defPPr>
          </a:lstStyle>
          <a:p xmlns:a="http://schemas.openxmlformats.org/drawingml/2006/main">
            <a:pPr>
              <a:buNone/>
              <a:defRPr sz="2175" b="1">
                <a:solidFill>
                  <a:srgbClr val="18352F"/>
                </a:solidFill>
                <a:latin typeface="Helvetica Neue"/>
                <a:ea typeface="Helvetica Neue"/>
                <a:cs typeface="Helvetica Neue"/>
              </a:defRPr>
            </a:pPr>
            <a:r>
              <a:rPr sz="2175" b="1">
                <a:solidFill>
                  <a:srgbClr val="18352F"/>
                </a:solidFill>
                <a:latin typeface="Helvetica Neue"/>
                <a:ea typeface="Helvetica Neue"/>
                <a:cs typeface="Helvetica Neue"/>
              </a:rPr>
              <a:t>trade shops served by Cactus AI</a:t>
            </a:r>
          </a:p>
        </p:txBody>
      </p:sp>
      <p:sp>
        <p:nvSpPr>
          <p:cNvPr id="7" name="text-65">
            <a:extLst xmlns:a="http://schemas.openxmlformats.org/drawingml/2006/main">
              <a:ext uri="{FF2B5EF4-FFF2-40B4-BE49-F238E27FC236}">
                <a16:creationId xmlns:a16="http://schemas.microsoft.com/office/drawing/2014/main" id="{EADB5E66-F13E-416F-80A5-2CEE283FB9A2}"/>
              </a:ext>
            </a:extLst>
          </p:cNvPr>
          <p:cNvSpPr>
            <a:spLocks xmlns:a="http://schemas.openxmlformats.org/drawingml/2006/main" noGrp="1"/>
          </p:cNvSpPr>
          <p:nvPr/>
        </p:nvSpPr>
        <p:spPr>
          <a:xfrm xmlns:a="http://schemas.openxmlformats.org/drawingml/2006/main">
            <a:off x="457200" y="3952875"/>
            <a:ext cx="53149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Salt Lake City and Dallas.</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Cactus agreed to introduce shops and</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provide booking access through its customers.</a:t>
            </a:r>
          </a:p>
        </p:txBody>
      </p:sp>
      <p:sp>
        <p:nvSpPr>
          <p:cNvPr id="8" name="text-66">
            <a:extLst xmlns:a="http://schemas.openxmlformats.org/drawingml/2006/main">
              <a:ext uri="{FF2B5EF4-FFF2-40B4-BE49-F238E27FC236}">
                <a16:creationId xmlns:a16="http://schemas.microsoft.com/office/drawing/2014/main" id="{D63476D8-94BB-4F0D-90F9-DDE17F6F0F77}"/>
              </a:ext>
            </a:extLst>
          </p:cNvPr>
          <p:cNvSpPr>
            <a:spLocks xmlns:a="http://schemas.openxmlformats.org/drawingml/2006/main" noGrp="1"/>
          </p:cNvSpPr>
          <p:nvPr/>
        </p:nvSpPr>
        <p:spPr>
          <a:xfrm xmlns:a="http://schemas.openxmlformats.org/drawingml/2006/main">
            <a:off x="6705600" y="2200275"/>
            <a:ext cx="5029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450" b="1">
                <a:solidFill>
                  <a:srgbClr val="215C4E"/>
                </a:solidFill>
                <a:latin typeface="Helvetica Neue"/>
                <a:ea typeface="Helvetica Neue"/>
                <a:cs typeface="Helvetica Neue"/>
              </a:defRPr>
            </a:defPPr>
          </a:lstStyle>
          <a:p xmlns:a="http://schemas.openxmlformats.org/drawingml/2006/main">
            <a:pPr>
              <a:buNone/>
              <a:defRPr sz="6450" b="1">
                <a:solidFill>
                  <a:srgbClr val="215C4E"/>
                </a:solidFill>
                <a:latin typeface="Helvetica Neue"/>
                <a:ea typeface="Helvetica Neue"/>
                <a:cs typeface="Helvetica Neue"/>
              </a:defRPr>
            </a:pPr>
            <a:r>
              <a:rPr sz="6450" b="1">
                <a:solidFill>
                  <a:srgbClr val="215C4E"/>
                </a:solidFill>
                <a:latin typeface="Helvetica Neue"/>
                <a:ea typeface="Helvetica Neue"/>
                <a:cs typeface="Helvetica Neue"/>
              </a:rPr>
              <a:t>20</a:t>
            </a:r>
          </a:p>
        </p:txBody>
      </p:sp>
      <p:sp>
        <p:nvSpPr>
          <p:cNvPr id="9" name="text-67">
            <a:extLst xmlns:a="http://schemas.openxmlformats.org/drawingml/2006/main">
              <a:ext uri="{FF2B5EF4-FFF2-40B4-BE49-F238E27FC236}">
                <a16:creationId xmlns:a16="http://schemas.microsoft.com/office/drawing/2014/main" id="{C0D80327-9B38-4FE7-A9DA-16263A2A9906}"/>
              </a:ext>
            </a:extLst>
          </p:cNvPr>
          <p:cNvSpPr>
            <a:spLocks xmlns:a="http://schemas.openxmlformats.org/drawingml/2006/main" noGrp="1"/>
          </p:cNvSpPr>
          <p:nvPr/>
        </p:nvSpPr>
        <p:spPr>
          <a:xfrm xmlns:a="http://schemas.openxmlformats.org/drawingml/2006/main">
            <a:off x="6705600" y="3314700"/>
            <a:ext cx="5029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8352F"/>
                </a:solidFill>
                <a:latin typeface="Helvetica Neue"/>
                <a:ea typeface="Helvetica Neue"/>
                <a:cs typeface="Helvetica Neue"/>
              </a:defRPr>
            </a:defPPr>
          </a:lstStyle>
          <a:p xmlns:a="http://schemas.openxmlformats.org/drawingml/2006/main">
            <a:pPr>
              <a:buNone/>
              <a:defRPr sz="2175" b="1">
                <a:solidFill>
                  <a:srgbClr val="18352F"/>
                </a:solidFill>
                <a:latin typeface="Helvetica Neue"/>
                <a:ea typeface="Helvetica Neue"/>
                <a:cs typeface="Helvetica Neue"/>
              </a:defRPr>
            </a:pPr>
            <a:r>
              <a:rPr sz="2175" b="1">
                <a:solidFill>
                  <a:srgbClr val="18352F"/>
                </a:solidFill>
                <a:latin typeface="Helvetica Neue"/>
                <a:ea typeface="Helvetica Neue"/>
                <a:cs typeface="Helvetica Neue"/>
              </a:rPr>
              <a:t>clients committed for onboarding</a:t>
            </a:r>
          </a:p>
        </p:txBody>
      </p:sp>
      <p:sp>
        <p:nvSpPr>
          <p:cNvPr id="10" name="text-68">
            <a:extLst xmlns:a="http://schemas.openxmlformats.org/drawingml/2006/main">
              <a:ext uri="{FF2B5EF4-FFF2-40B4-BE49-F238E27FC236}">
                <a16:creationId xmlns:a16="http://schemas.microsoft.com/office/drawing/2014/main" id="{67843AFD-5C57-4D1D-B9A4-2A8A40011766}"/>
              </a:ext>
            </a:extLst>
          </p:cNvPr>
          <p:cNvSpPr>
            <a:spLocks xmlns:a="http://schemas.openxmlformats.org/drawingml/2006/main" noGrp="1"/>
          </p:cNvSpPr>
          <p:nvPr/>
        </p:nvSpPr>
        <p:spPr>
          <a:xfrm xmlns:a="http://schemas.openxmlformats.org/drawingml/2006/main">
            <a:off x="6705600" y="3952875"/>
            <a:ext cx="50292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A separate back-office management</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company agreed to onboard its clients.</a:t>
            </a:r>
          </a:p>
        </p:txBody>
      </p:sp>
      <p:sp>
        <p:nvSpPr>
          <p:cNvPr id="11" name="diagram-69">
            <a:extLst xmlns:a="http://schemas.openxmlformats.org/drawingml/2006/main">
              <a:ext uri="{FF2B5EF4-FFF2-40B4-BE49-F238E27FC236}">
                <a16:creationId xmlns:a16="http://schemas.microsoft.com/office/drawing/2014/main" id="{282C9521-8CC6-497E-9744-DEB837B39F9D}"/>
              </a:ext>
            </a:extLst>
          </p:cNvPr>
          <p:cNvSpPr>
            <a:spLocks xmlns:a="http://schemas.openxmlformats.org/drawingml/2006/main" noGrp="1"/>
          </p:cNvSpPr>
          <p:nvPr/>
        </p:nvSpPr>
        <p:spPr>
          <a:xfrm xmlns:a="http://schemas.openxmlformats.org/drawingml/2006/main">
            <a:off x="457200" y="5400675"/>
            <a:ext cx="295275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One trade + one city</a:t>
            </a:r>
          </a:p>
        </p:txBody>
      </p:sp>
      <p:sp>
        <p:nvSpPr>
          <p:cNvPr id="12" name="diagram-70">
            <a:extLst xmlns:a="http://schemas.openxmlformats.org/drawingml/2006/main">
              <a:ext uri="{FF2B5EF4-FFF2-40B4-BE49-F238E27FC236}">
                <a16:creationId xmlns:a16="http://schemas.microsoft.com/office/drawing/2014/main" id="{F13CB1E7-AFA8-4BAD-824E-01440A0A4405}"/>
              </a:ext>
            </a:extLst>
          </p:cNvPr>
          <p:cNvSpPr>
            <a:spLocks xmlns:a="http://schemas.openxmlformats.org/drawingml/2006/main" noGrp="1"/>
          </p:cNvSpPr>
          <p:nvPr/>
        </p:nvSpPr>
        <p:spPr>
          <a:xfrm xmlns:a="http://schemas.openxmlformats.org/drawingml/2006/main">
            <a:off x="4610100" y="5400675"/>
            <a:ext cx="295275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Connect authorized supply</a:t>
            </a:r>
          </a:p>
        </p:txBody>
      </p:sp>
      <p:sp>
        <p:nvSpPr>
          <p:cNvPr id="13" name="diagram-71">
            <a:extLst xmlns:a="http://schemas.openxmlformats.org/drawingml/2006/main">
              <a:ext uri="{FF2B5EF4-FFF2-40B4-BE49-F238E27FC236}">
                <a16:creationId xmlns:a16="http://schemas.microsoft.com/office/drawing/2014/main" id="{6BA886AE-3DFD-418A-B499-2854C6C5D314}"/>
              </a:ext>
            </a:extLst>
          </p:cNvPr>
          <p:cNvSpPr>
            <a:spLocks xmlns:a="http://schemas.openxmlformats.org/drawingml/2006/main" noGrp="1"/>
          </p:cNvSpPr>
          <p:nvPr/>
        </p:nvSpPr>
        <p:spPr>
          <a:xfrm xmlns:a="http://schemas.openxmlformats.org/drawingml/2006/main">
            <a:off x="8763000" y="5400675"/>
            <a:ext cx="2971800" cy="628650"/>
          </a:xfrm>
          <a:prstGeom xmlns:a="http://schemas.openxmlformats.org/drawingml/2006/main" prst="rect">
            <a:avLst/>
          </a:prstGeom>
          <a:solidFill xmlns:a="http://schemas.openxmlformats.org/drawingml/2006/main">
            <a:srgbClr val="E5EFEA"/>
          </a:solidFill>
          <a:ln xmlns:a="http://schemas.openxmlformats.org/drawingml/2006/main" w="14288">
            <a:solidFill>
              <a:srgbClr val="215C4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1">
                <a:solidFill>
                  <a:srgbClr val="18352F"/>
                </a:solidFill>
                <a:latin typeface="Helvetica Neue"/>
                <a:ea typeface="Helvetica Neue"/>
                <a:cs typeface="Helvetica Neue"/>
              </a:defRPr>
            </a:defPPr>
          </a:lstStyle>
          <a:p xmlns:a="http://schemas.openxmlformats.org/drawingml/2006/main">
            <a:pPr algn="ctr">
              <a:buNone/>
              <a:defRPr sz="1725" b="1">
                <a:solidFill>
                  <a:srgbClr val="18352F"/>
                </a:solidFill>
                <a:latin typeface="Helvetica Neue"/>
                <a:ea typeface="Helvetica Neue"/>
                <a:cs typeface="Helvetica Neue"/>
              </a:defRPr>
            </a:pPr>
            <a:r>
              <a:rPr sz="1725" b="1">
                <a:solidFill>
                  <a:srgbClr val="18352F"/>
                </a:solidFill>
                <a:latin typeface="Helvetica Neue"/>
                <a:ea typeface="Helvetica Neue"/>
                <a:cs typeface="Helvetica Neue"/>
              </a:rPr>
              <a:t>Route and fulfill real jobs</a:t>
            </a:r>
          </a:p>
        </p:txBody>
      </p:sp>
      <p:sp>
        <p:nvSpPr>
          <p:cNvPr id="16" name="text-72">
            <a:extLst xmlns:a="http://schemas.openxmlformats.org/drawingml/2006/main">
              <a:ext uri="{FF2B5EF4-FFF2-40B4-BE49-F238E27FC236}">
                <a16:creationId xmlns:a16="http://schemas.microsoft.com/office/drawing/2014/main" id="{0EE416B1-FE77-4C2A-8F86-E24588D5FFF1}"/>
              </a:ext>
            </a:extLst>
          </p:cNvPr>
          <p:cNvSpPr>
            <a:spLocks xmlns:a="http://schemas.openxmlformats.org/drawingml/2006/main" noGrp="1"/>
          </p:cNvSpPr>
          <p:nvPr/>
        </p:nvSpPr>
        <p:spPr>
          <a:xfrm xmlns:a="http://schemas.openxmlformats.org/drawingml/2006/main">
            <a:off x="457200" y="6143625"/>
            <a:ext cx="11277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Founder-reported commitments. These are not live GoLocal merchants, integrations, bookings or revenue.</a:t>
            </a:r>
          </a:p>
        </p:txBody>
      </p:sp>
    </p:spTree>
    <p:extLst>
      <p:ext uri="{BB962C8B-B14F-4D97-AF65-F5344CB8AC3E}">
        <p14:creationId xmlns:p14="http://schemas.microsoft.com/office/powerpoint/2010/main" val="2290536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73">
            <a:extLst xmlns:a="http://schemas.openxmlformats.org/drawingml/2006/main">
              <a:ext uri="{FF2B5EF4-FFF2-40B4-BE49-F238E27FC236}">
                <a16:creationId xmlns:a16="http://schemas.microsoft.com/office/drawing/2014/main" id="{193E3AA9-CC38-422D-86F1-245BC458BC63}"/>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THE TEAM</a:t>
            </a:r>
          </a:p>
        </p:txBody>
      </p:sp>
      <p:sp>
        <p:nvSpPr>
          <p:cNvPr id="2" name="text-74">
            <a:extLst xmlns:a="http://schemas.openxmlformats.org/drawingml/2006/main">
              <a:ext uri="{FF2B5EF4-FFF2-40B4-BE49-F238E27FC236}">
                <a16:creationId xmlns:a16="http://schemas.microsoft.com/office/drawing/2014/main" id="{A4D7B818-4EFE-41E3-83A9-BBBBB4CF6310}"/>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A decade building local services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with engineering for the agent era</a:t>
            </a:r>
          </a:p>
        </p:txBody>
      </p:sp>
      <p:sp>
        <p:nvSpPr>
          <p:cNvPr id="3" name="text-75">
            <a:extLst xmlns:a="http://schemas.openxmlformats.org/drawingml/2006/main">
              <a:ext uri="{FF2B5EF4-FFF2-40B4-BE49-F238E27FC236}">
                <a16:creationId xmlns:a16="http://schemas.microsoft.com/office/drawing/2014/main" id="{C0B22EE5-87A5-4832-806B-F793567523AC}"/>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76">
            <a:extLst xmlns:a="http://schemas.openxmlformats.org/drawingml/2006/main">
              <a:ext uri="{FF2B5EF4-FFF2-40B4-BE49-F238E27FC236}">
                <a16:creationId xmlns:a16="http://schemas.microsoft.com/office/drawing/2014/main" id="{46802664-2631-4FAC-8F83-9CBB0216FDEC}"/>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6 / 6</a:t>
            </a:r>
          </a:p>
        </p:txBody>
      </p:sp>
      <p:sp>
        <p:nvSpPr>
          <p:cNvPr id="5" name="text-77">
            <a:extLst xmlns:a="http://schemas.openxmlformats.org/drawingml/2006/main">
              <a:ext uri="{FF2B5EF4-FFF2-40B4-BE49-F238E27FC236}">
                <a16:creationId xmlns:a16="http://schemas.microsoft.com/office/drawing/2014/main" id="{9F7A37BA-D5A3-4327-86B0-45F182885220}"/>
              </a:ext>
            </a:extLst>
          </p:cNvPr>
          <p:cNvSpPr>
            <a:spLocks xmlns:a="http://schemas.openxmlformats.org/drawingml/2006/main" noGrp="1"/>
          </p:cNvSpPr>
          <p:nvPr/>
        </p:nvSpPr>
        <p:spPr>
          <a:xfrm xmlns:a="http://schemas.openxmlformats.org/drawingml/2006/main">
            <a:off x="457200" y="2495550"/>
            <a:ext cx="5257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a:solidFill>
                  <a:srgbClr val="18352F"/>
                </a:solidFill>
                <a:latin typeface="Helvetica Neue"/>
                <a:ea typeface="Helvetica Neue"/>
                <a:cs typeface="Helvetica Neue"/>
              </a:defRPr>
            </a:defPPr>
          </a:lstStyle>
          <a:p xmlns:a="http://schemas.openxmlformats.org/drawingml/2006/main">
            <a:pPr>
              <a:buNone/>
              <a:defRPr sz="3375" b="1">
                <a:solidFill>
                  <a:srgbClr val="18352F"/>
                </a:solidFill>
                <a:latin typeface="Helvetica Neue"/>
                <a:ea typeface="Helvetica Neue"/>
                <a:cs typeface="Helvetica Neue"/>
              </a:defRPr>
            </a:pPr>
            <a:r>
              <a:rPr sz="3375" b="1">
                <a:solidFill>
                  <a:srgbClr val="18352F"/>
                </a:solidFill>
                <a:latin typeface="Helvetica Neue"/>
                <a:ea typeface="Helvetica Neue"/>
                <a:cs typeface="Helvetica Neue"/>
              </a:rPr>
              <a:t>Pulkit Walia</a:t>
            </a:r>
          </a:p>
        </p:txBody>
      </p:sp>
      <p:sp>
        <p:nvSpPr>
          <p:cNvPr id="6" name="text-78">
            <a:extLst xmlns:a="http://schemas.openxmlformats.org/drawingml/2006/main">
              <a:ext uri="{FF2B5EF4-FFF2-40B4-BE49-F238E27FC236}">
                <a16:creationId xmlns:a16="http://schemas.microsoft.com/office/drawing/2014/main" id="{48BDBC75-E4FC-4F45-AE12-CDE93165359D}"/>
              </a:ext>
            </a:extLst>
          </p:cNvPr>
          <p:cNvSpPr>
            <a:spLocks xmlns:a="http://schemas.openxmlformats.org/drawingml/2006/main" noGrp="1"/>
          </p:cNvSpPr>
          <p:nvPr/>
        </p:nvSpPr>
        <p:spPr>
          <a:xfrm xmlns:a="http://schemas.openxmlformats.org/drawingml/2006/main">
            <a:off x="457200" y="3257550"/>
            <a:ext cx="52578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215C4E"/>
                </a:solidFill>
                <a:latin typeface="Helvetica Neue"/>
                <a:ea typeface="Helvetica Neue"/>
                <a:cs typeface="Helvetica Neue"/>
              </a:defRPr>
            </a:defPPr>
          </a:lstStyle>
          <a:p xmlns:a="http://schemas.openxmlformats.org/drawingml/2006/main">
            <a:pPr>
              <a:buNone/>
              <a:defRPr sz="1950" b="1">
                <a:solidFill>
                  <a:srgbClr val="215C4E"/>
                </a:solidFill>
                <a:latin typeface="Helvetica Neue"/>
                <a:ea typeface="Helvetica Neue"/>
                <a:cs typeface="Helvetica Neue"/>
              </a:defRPr>
            </a:pPr>
            <a:r>
              <a:rPr sz="1950" b="1">
                <a:solidFill>
                  <a:srgbClr val="215C4E"/>
                </a:solidFill>
                <a:latin typeface="Helvetica Neue"/>
                <a:ea typeface="Helvetica Neue"/>
                <a:cs typeface="Helvetica Neue"/>
              </a:rPr>
              <a:t>Founder  |  HBS MBA</a:t>
            </a:r>
          </a:p>
        </p:txBody>
      </p:sp>
      <p:sp>
        <p:nvSpPr>
          <p:cNvPr id="7" name="text-79">
            <a:extLst xmlns:a="http://schemas.openxmlformats.org/drawingml/2006/main">
              <a:ext uri="{FF2B5EF4-FFF2-40B4-BE49-F238E27FC236}">
                <a16:creationId xmlns:a16="http://schemas.microsoft.com/office/drawing/2014/main" id="{1C53ADBC-849C-43DE-8822-56954A5FB517}"/>
              </a:ext>
            </a:extLst>
          </p:cNvPr>
          <p:cNvSpPr>
            <a:spLocks xmlns:a="http://schemas.openxmlformats.org/drawingml/2006/main" noGrp="1"/>
          </p:cNvSpPr>
          <p:nvPr/>
        </p:nvSpPr>
        <p:spPr>
          <a:xfrm xmlns:a="http://schemas.openxmlformats.org/drawingml/2006/main">
            <a:off x="457200" y="3905250"/>
            <a:ext cx="5324475"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18352F"/>
                </a:solidFill>
                <a:latin typeface="Helvetica Neue"/>
                <a:ea typeface="Helvetica Neue"/>
                <a:cs typeface="Helvetica Neue"/>
              </a:defRPr>
            </a:defPPr>
          </a:lstStyle>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Urban Company founding team.</a:t>
            </a:r>
          </a:p>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Spent a decade building local services</a:t>
            </a:r>
          </a:p>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in Asia, from zero to a $3B IPO.</a:t>
            </a:r>
          </a:p>
        </p:txBody>
      </p:sp>
      <p:sp>
        <p:nvSpPr>
          <p:cNvPr id="8" name="text-80">
            <a:extLst xmlns:a="http://schemas.openxmlformats.org/drawingml/2006/main">
              <a:ext uri="{FF2B5EF4-FFF2-40B4-BE49-F238E27FC236}">
                <a16:creationId xmlns:a16="http://schemas.microsoft.com/office/drawing/2014/main" id="{DC18D097-F98D-4B67-8A31-CAB61F7BDBD2}"/>
              </a:ext>
            </a:extLst>
          </p:cNvPr>
          <p:cNvSpPr>
            <a:spLocks xmlns:a="http://schemas.openxmlformats.org/drawingml/2006/main" noGrp="1"/>
          </p:cNvSpPr>
          <p:nvPr/>
        </p:nvSpPr>
        <p:spPr>
          <a:xfrm xmlns:a="http://schemas.openxmlformats.org/drawingml/2006/main">
            <a:off x="6705600" y="2495550"/>
            <a:ext cx="5029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a:solidFill>
                  <a:srgbClr val="18352F"/>
                </a:solidFill>
                <a:latin typeface="Helvetica Neue"/>
                <a:ea typeface="Helvetica Neue"/>
                <a:cs typeface="Helvetica Neue"/>
              </a:defRPr>
            </a:defPPr>
          </a:lstStyle>
          <a:p xmlns:a="http://schemas.openxmlformats.org/drawingml/2006/main">
            <a:pPr>
              <a:buNone/>
              <a:defRPr sz="3375" b="1">
                <a:solidFill>
                  <a:srgbClr val="18352F"/>
                </a:solidFill>
                <a:latin typeface="Helvetica Neue"/>
                <a:ea typeface="Helvetica Neue"/>
                <a:cs typeface="Helvetica Neue"/>
              </a:defRPr>
            </a:pPr>
            <a:r>
              <a:rPr sz="3375" b="1">
                <a:solidFill>
                  <a:srgbClr val="18352F"/>
                </a:solidFill>
                <a:latin typeface="Helvetica Neue"/>
                <a:ea typeface="Helvetica Neue"/>
                <a:cs typeface="Helvetica Neue"/>
              </a:rPr>
              <a:t>Rohit Jain</a:t>
            </a:r>
          </a:p>
        </p:txBody>
      </p:sp>
      <p:sp>
        <p:nvSpPr>
          <p:cNvPr id="9" name="text-81">
            <a:extLst xmlns:a="http://schemas.openxmlformats.org/drawingml/2006/main">
              <a:ext uri="{FF2B5EF4-FFF2-40B4-BE49-F238E27FC236}">
                <a16:creationId xmlns:a16="http://schemas.microsoft.com/office/drawing/2014/main" id="{60B3F3AE-546A-4EA6-8A0B-E888AD8408F0}"/>
              </a:ext>
            </a:extLst>
          </p:cNvPr>
          <p:cNvSpPr>
            <a:spLocks xmlns:a="http://schemas.openxmlformats.org/drawingml/2006/main" noGrp="1"/>
          </p:cNvSpPr>
          <p:nvPr/>
        </p:nvSpPr>
        <p:spPr>
          <a:xfrm xmlns:a="http://schemas.openxmlformats.org/drawingml/2006/main">
            <a:off x="6705600" y="3257550"/>
            <a:ext cx="50292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215C4E"/>
                </a:solidFill>
                <a:latin typeface="Helvetica Neue"/>
                <a:ea typeface="Helvetica Neue"/>
                <a:cs typeface="Helvetica Neue"/>
              </a:defRPr>
            </a:defPPr>
          </a:lstStyle>
          <a:p xmlns:a="http://schemas.openxmlformats.org/drawingml/2006/main">
            <a:pPr>
              <a:buNone/>
              <a:defRPr sz="1950" b="1">
                <a:solidFill>
                  <a:srgbClr val="215C4E"/>
                </a:solidFill>
                <a:latin typeface="Helvetica Neue"/>
                <a:ea typeface="Helvetica Neue"/>
                <a:cs typeface="Helvetica Neue"/>
              </a:defRPr>
            </a:pPr>
            <a:r>
              <a:rPr sz="1950" b="1">
                <a:solidFill>
                  <a:srgbClr val="215C4E"/>
                </a:solidFill>
                <a:latin typeface="Helvetica Neue"/>
                <a:ea typeface="Helvetica Neue"/>
                <a:cs typeface="Helvetica Neue"/>
              </a:rPr>
              <a:t>Engineering</a:t>
            </a:r>
          </a:p>
        </p:txBody>
      </p:sp>
      <p:sp>
        <p:nvSpPr>
          <p:cNvPr id="10" name="text-82">
            <a:extLst xmlns:a="http://schemas.openxmlformats.org/drawingml/2006/main">
              <a:ext uri="{FF2B5EF4-FFF2-40B4-BE49-F238E27FC236}">
                <a16:creationId xmlns:a16="http://schemas.microsoft.com/office/drawing/2014/main" id="{D123F4C0-EC91-472F-9AB5-06A4EA9E21A7}"/>
              </a:ext>
            </a:extLst>
          </p:cNvPr>
          <p:cNvSpPr>
            <a:spLocks xmlns:a="http://schemas.openxmlformats.org/drawingml/2006/main" noGrp="1"/>
          </p:cNvSpPr>
          <p:nvPr/>
        </p:nvSpPr>
        <p:spPr>
          <a:xfrm xmlns:a="http://schemas.openxmlformats.org/drawingml/2006/main">
            <a:off x="6705600" y="3905250"/>
            <a:ext cx="5029200" cy="1552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8352F"/>
                </a:solidFill>
                <a:latin typeface="Helvetica Neue"/>
                <a:ea typeface="Helvetica Neue"/>
                <a:cs typeface="Helvetica Neue"/>
              </a:defRPr>
            </a:defPPr>
          </a:lstStyle>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Backend engineer with experience</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at Amazon and Square.</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Built production-grade MCP products.</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Teaches system design.</a:t>
            </a:r>
          </a:p>
        </p:txBody>
      </p:sp>
      <p:sp>
        <p:nvSpPr>
          <p:cNvPr id="11" name="text-83">
            <a:extLst xmlns:a="http://schemas.openxmlformats.org/drawingml/2006/main">
              <a:ext uri="{FF2B5EF4-FFF2-40B4-BE49-F238E27FC236}">
                <a16:creationId xmlns:a16="http://schemas.microsoft.com/office/drawing/2014/main" id="{D58FA155-1176-4FBC-9490-0409753FE20F}"/>
              </a:ext>
            </a:extLst>
          </p:cNvPr>
          <p:cNvSpPr>
            <a:spLocks xmlns:a="http://schemas.openxmlformats.org/drawingml/2006/main" noGrp="1"/>
          </p:cNvSpPr>
          <p:nvPr/>
        </p:nvSpPr>
        <p:spPr>
          <a:xfrm xmlns:a="http://schemas.openxmlformats.org/drawingml/2006/main">
            <a:off x="457200" y="5857875"/>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215C4E"/>
                </a:solidFill>
                <a:latin typeface="Helvetica Neue"/>
                <a:ea typeface="Helvetica Neue"/>
                <a:cs typeface="Helvetica Neue"/>
              </a:defRPr>
            </a:defPPr>
          </a:lstStyle>
          <a:p xmlns:a="http://schemas.openxmlformats.org/drawingml/2006/main">
            <a:pPr>
              <a:buNone/>
              <a:defRPr sz="2100" b="1">
                <a:solidFill>
                  <a:srgbClr val="215C4E"/>
                </a:solidFill>
                <a:latin typeface="Helvetica Neue"/>
                <a:ea typeface="Helvetica Neue"/>
                <a:cs typeface="Helvetica Neue"/>
              </a:defRPr>
            </a:pPr>
            <a:r>
              <a:rPr sz="2100" b="1">
                <a:solidFill>
                  <a:srgbClr val="215C4E"/>
                </a:solidFill>
                <a:latin typeface="Helvetica Neue"/>
                <a:ea typeface="Helvetica Neue"/>
                <a:cs typeface="Helvetica Neue"/>
              </a:rPr>
              <a:t>GoLocal: the shared data and booking layer for home services.</a:t>
            </a:r>
          </a:p>
        </p:txBody>
      </p:sp>
    </p:spTree>
    <p:extLst>
      <p:ext uri="{BB962C8B-B14F-4D97-AF65-F5344CB8AC3E}">
        <p14:creationId xmlns:p14="http://schemas.microsoft.com/office/powerpoint/2010/main" val="12030623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2026-10-10T23:21:35.1870000Z</dcterms:created>
  <dcterms:modified xsi:type="dcterms:W3CDTF">2026-10-10T23:21:35.1870000Z</dcterms:modified>
</coreProperties>
</file>