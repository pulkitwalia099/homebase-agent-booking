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1213841ab6455c" /><Relationship Type="http://schemas.openxmlformats.org/officeDocument/2006/relationships/extended-properties" Target="/docProps/app.xml" Id="Re0decc626fd84d24" /><Relationship Type="http://schemas.openxmlformats.org/officeDocument/2006/relationships/officeDocument" Target="/ppt/presentation.xml" Id="R2b810b77e35f432a" /></Relationships>
</file>

<file path=ppt/presentation.xml><?xml version="1.0" encoding="utf-8"?>
<p:presentation xmlns:p="http://schemas.openxmlformats.org/presentationml/2006/main">
  <p:sldMasterIdLst>
    <p:sldMasterId xmlns:r="http://schemas.openxmlformats.org/officeDocument/2006/relationships" id="2147483648" r:id="Rd959b2791cdb4d39"/>
  </p:sldMasterIdLst>
  <p:notesMasterIdLst>
    <p:notesMasterId xmlns:r="http://schemas.openxmlformats.org/officeDocument/2006/relationships" r:id="R1cffd2dd9d0f4fa0"/>
  </p:notesMasterIdLst>
  <p:sldIdLst>
    <p:sldId xmlns:r="http://schemas.openxmlformats.org/officeDocument/2006/relationships" id="256" r:id="R5f48b53dcc164227"/>
    <p:sldId xmlns:r="http://schemas.openxmlformats.org/officeDocument/2006/relationships" id="257" r:id="Re5578e4465f8450a"/>
    <p:sldId xmlns:r="http://schemas.openxmlformats.org/officeDocument/2006/relationships" id="258" r:id="R202aee5c9f7a4c58"/>
    <p:sldId xmlns:r="http://schemas.openxmlformats.org/officeDocument/2006/relationships" id="259" r:id="Reec2c56bcf084c52"/>
    <p:sldId xmlns:r="http://schemas.openxmlformats.org/officeDocument/2006/relationships" id="260" r:id="Raf2dd773bfe1449f"/>
    <p:sldId xmlns:r="http://schemas.openxmlformats.org/officeDocument/2006/relationships" id="261" r:id="R837256a07d4145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c4acf580dd4c38" /><Relationship Type="http://schemas.openxmlformats.org/officeDocument/2006/relationships/slideMaster" Target="/ppt/slideMasters/slideMaster1.xml" Id="Rd959b2791cdb4d39" /><Relationship Type="http://schemas.openxmlformats.org/officeDocument/2006/relationships/notesMaster" Target="/ppt/notesMasters/notesMaster1.xml" Id="R1cffd2dd9d0f4fa0" /><Relationship Type="http://schemas.openxmlformats.org/officeDocument/2006/relationships/presProps" Target="/ppt/presProps.xml" Id="Rd770d703070343e0" /><Relationship Type="http://schemas.openxmlformats.org/officeDocument/2006/relationships/tableStyles" Target="/ppt/tableStyles.xml" Id="Rcd88a081300a448b" /><Relationship Type="http://schemas.openxmlformats.org/officeDocument/2006/relationships/slide" Target="/ppt/slides/slide1.xml" Id="R5f48b53dcc164227" /><Relationship Type="http://schemas.openxmlformats.org/officeDocument/2006/relationships/slide" Target="/ppt/slides/slide2.xml" Id="Re5578e4465f8450a" /><Relationship Type="http://schemas.openxmlformats.org/officeDocument/2006/relationships/slide" Target="/ppt/slides/slide3.xml" Id="R202aee5c9f7a4c58" /><Relationship Type="http://schemas.openxmlformats.org/officeDocument/2006/relationships/slide" Target="/ppt/slides/slide4.xml" Id="Reec2c56bcf084c52" /><Relationship Type="http://schemas.openxmlformats.org/officeDocument/2006/relationships/slide" Target="/ppt/slides/slide5.xml" Id="Raf2dd773bfe1449f" /><Relationship Type="http://schemas.openxmlformats.org/officeDocument/2006/relationships/slide" Target="/ppt/slides/slide6.xml" Id="R837256a07d4145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7e9cadaeb844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8a140dae40484f" /><Relationship Type="http://schemas.openxmlformats.org/officeDocument/2006/relationships/notesMaster" Target="/ppt/notesMasters/notesMaster1.xml" Id="Ra2758f1eb1f644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97815d09fa484c" /><Relationship Type="http://schemas.openxmlformats.org/officeDocument/2006/relationships/notesMaster" Target="/ppt/notesMasters/notesMaster1.xml" Id="R974bd8dbc59344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6ce0d02f134ead" /><Relationship Type="http://schemas.openxmlformats.org/officeDocument/2006/relationships/notesMaster" Target="/ppt/notesMasters/notesMaster1.xml" Id="R0959f695c57f4c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d59f1e685c44f9" /><Relationship Type="http://schemas.openxmlformats.org/officeDocument/2006/relationships/notesMaster" Target="/ppt/notesMasters/notesMaster1.xml" Id="R34f297b16ee946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b52461d5f64445" /><Relationship Type="http://schemas.openxmlformats.org/officeDocument/2006/relationships/notesMaster" Target="/ppt/notesMasters/notesMaster1.xml" Id="R113169d081e040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e6c2ab4fd44cea" /><Relationship Type="http://schemas.openxmlformats.org/officeDocument/2006/relationships/notesMaster" Target="/ppt/notesMasters/notesMaster1.xml" Id="Rfa56483bd4bd47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Hark &gt;$700M Series A: https://hark.com/articles/hark-announces-usd700-million-fundraising-round ; Instinct $1B Series C: https://www.businesswire.com/news/home/20260928153437/en/ ; earlier reported Instinct cumulative $350M: https://techcrunch.com/2026/08/26/viral-ai-startup-instinct-has-raised-350-million-at-a-2-5-billion-valuation/ ; Town $55M Series A: https://www.town.com/press/series-a . Selected-company total &gt;$2.105B; not an exhaustive market aggregate. Excludes unverified Wajo funding and general AI-lab financing that cannot be allocated to Muse/Dots.</a:t>
            </a:r>
          </a:p>
          <a:p xmlns:a="http://schemas.openxmlformats.org/drawingml/2006/main">
            <a:r>
              <a:t>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Primary connector documentation accessed October 10 2026. Company-name shapes are editable logo positions for later design, not partnership logos. The shift of local discovery into many agents is the investment thesis, not a quantified share shift. Funding does not establish local-service request volume. Founder-sourced market figures ($2T local services, $600B home services) preserved from business-thesis.md; geography, year and methodology not supplied. Home services is a subset and the figures must not be added. They describe underlying services spending, not addressable GoLocal fee revenue. Existing competition includes https://updater.com/ ; claim concerns fragmentation and intended participating coverage, not no middleware anywhere. Agent platforms may have both consumer and business workflows; funding is company-level.</a:t>
            </a:r>
          </a:p>
          <a:p xmlns:a="http://schemas.openxmlformats.org/drawingml/2006/main">
            <a:r>
              <a:t>October 10 market update supersedes the old unsourced $2T line: 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architecture. FSM = field service management; CRM = customer relationship management. System labels are generic integration targets, not signed vendors or live integrations. GoLocal recruits suitable participating supply, obtains merchant authorization, connects permitted business software and standardizes the data/action interface for agents. Existing systems remain authoritative for schedules, quotes and job status. Transaction history is exposed only where supported, authorized and appropriate. One integration per business provides access to the agents actually connected to GoLocal, not every agent in the market. APIs can compare participating providers without contacting each sequentially, but asynchronous availability, complex scope or provider acceptance can still require follow-up. The founder supplied ~15 minutes of calls to 3-4 providers versus an under-5-second API lookup as an illustration; it is not a measured benchmark, speed guarantee or full-booking latency. Quote, payment and management capabilities are proposed; payment collection can use approved external checkout and is separate from GoLocal success-fee monetization. Discovery must also prioritize fit, availability, consent and service coverage, not merely lowest price. GoLocal has no claimed live bookings.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proposal, not signed pricing, revenue projections or validated unit economics. Supplier pays for a fulfilled job from a new customer; proposed partner share is not agreed. New-customer acquisition and serving an existing customer are separate hypotheses. Payment processing itself is not assumed to be the monetization model. Direct agent-platform routing requires a secured partnership; supplier partner Cactus is not that demand partner. A marketplace/directory connector still needs user discovery and consent. One prompt may start installation on supported platforms; permissions, review and custom integration requirements vary. These are routes under exploration, not exclusive or finalized. Muse platform guidelines: https://muse.ai/platform/docs . OpenAI plugin guidelines: https://developers.openai.com/plugins/plugin-guidelines and Dots supported installed/enabled plugins: https://learn.chatgpt.com/docs/dots/computers-and-apps . Claude directory versus custom: https://claude.com/docs/connectors/building/directory-vs-custom . Review, compatibility, account availability and permissions vary. Platforms support developer connectors; GoLocal is not approved or integrated yet.</a:t>
            </a:r>
          </a:p>
          <a:p xmlns:a="http://schemas.openxmlformats.org/drawingml/2006/main">
            <a:r>
              <a:t>Muse separates approved connector discovery from editorial featuring and guarantees neither ranking nor traffic. OpenAI says strong utility/satisfaction may support enhanced placement or proactive suggestions. Claude directory listings are eligible for Suggested Connectors; custom connectors are not. Transaction history alone is not a published universal ranking mechanism. Early presence can help learn and prove utility; there is no guaranteed first-mover distribution advantage. Important tests: who installs/routes requests, how many requests finish, whether suppliers pay, and contribution after acquisition, integration and support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17c88413194b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34877798cb46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b0123c71284b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622479c25146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6412f157e24e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ee7d0fad245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140696aba6453f" /><Relationship Type="http://schemas.openxmlformats.org/officeDocument/2006/relationships/slideLayout" Target="/ppt/slideLayouts/slideLayout1.xml" Id="R957324d71290448b" /><Relationship Type="http://schemas.openxmlformats.org/officeDocument/2006/relationships/slideLayout" Target="/ppt/slideLayouts/slideLayout2.xml" Id="R08252f92a7a74ee1" /><Relationship Type="http://schemas.openxmlformats.org/officeDocument/2006/relationships/slideLayout" Target="/ppt/slideLayouts/slideLayout3.xml" Id="Reb3a2b648bb74ae4" /><Relationship Type="http://schemas.openxmlformats.org/officeDocument/2006/relationships/slideLayout" Target="/ppt/slideLayouts/slideLayout4.xml" Id="Rf1e872f924724a24" /><Relationship Type="http://schemas.openxmlformats.org/officeDocument/2006/relationships/slideLayout" Target="/ppt/slideLayouts/slideLayout5.xml" Id="Raa646ce1a14c4889" /><Relationship Type="http://schemas.openxmlformats.org/officeDocument/2006/relationships/slideLayout" Target="/ppt/slideLayouts/slideLayout6.xml" Id="Rbdcaf15d5ff34a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7324d71290448b"/>
    <p:sldLayoutId xmlns:r="http://schemas.openxmlformats.org/officeDocument/2006/relationships" id="2147483650" r:id="R08252f92a7a74ee1"/>
    <p:sldLayoutId xmlns:r="http://schemas.openxmlformats.org/officeDocument/2006/relationships" id="2147483651" r:id="Reb3a2b648bb74ae4"/>
    <p:sldLayoutId xmlns:r="http://schemas.openxmlformats.org/officeDocument/2006/relationships" id="2147483652" r:id="Rf1e872f924724a24"/>
    <p:sldLayoutId xmlns:r="http://schemas.openxmlformats.org/officeDocument/2006/relationships" id="2147483653" r:id="Raa646ce1a14c4889"/>
    <p:sldLayoutId xmlns:r="http://schemas.openxmlformats.org/officeDocument/2006/relationships" id="2147483654" r:id="Rbdcaf15d5ff34a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8523d77d4c441e" /><Relationship Type="http://schemas.openxmlformats.org/officeDocument/2006/relationships/notesSlide" Target="/ppt/notesSlides/notesSlide1.xml" Id="R3723a7053b1b4b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a2231596d24fc5" /><Relationship Type="http://schemas.openxmlformats.org/officeDocument/2006/relationships/notesSlide" Target="/ppt/notesSlides/notesSlide2.xml" Id="R948c88f6db014e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2c2137793264d57" /><Relationship Type="http://schemas.openxmlformats.org/officeDocument/2006/relationships/notesSlide" Target="/ppt/notesSlides/notesSlide3.xml" Id="R0d8e416fd8c848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5e39dc3b41483a" /><Relationship Type="http://schemas.openxmlformats.org/officeDocument/2006/relationships/notesSlide" Target="/ppt/notesSlides/notesSlide4.xml" Id="R98f843e9f19543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4e18155e5b44ef" /><Relationship Type="http://schemas.openxmlformats.org/officeDocument/2006/relationships/notesSlide" Target="/ppt/notesSlides/notesSlide5.xml" Id="R56a8cc6273a34e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b22ca2ae89453f" /><Relationship Type="http://schemas.openxmlformats.org/officeDocument/2006/relationships/notesSlide" Target="/ppt/notesSlides/notesSlide6.xml" Id="R1b5524ae99634cf4"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≈$1.2T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sp>
        <p:nvSpPr>
          <p:cNvPr id="3" name="market-opening-2">
            <a:extLst xmlns:a="http://schemas.openxmlformats.org/drawingml/2006/main">
              <a:ext uri="{FF2B5EF4-FFF2-40B4-BE49-F238E27FC236}">
                <a16:creationId xmlns:a16="http://schemas.microsoft.com/office/drawing/2014/main" id="{BBC1A74F-C740-4A6C-ADD0-C901E679395B}"/>
              </a:ext>
            </a:extLst>
          </p:cNvPr>
          <p:cNvSpPr>
            <a:spLocks xmlns:a="http://schemas.openxmlformats.org/drawingml/2006/main" noGrp="1"/>
          </p:cNvSpPr>
          <p:nvPr/>
        </p:nvSpPr>
        <p:spPr>
          <a:xfrm xmlns:a="http://schemas.openxmlformats.org/drawingml/2006/main">
            <a:off x="495300" y="16192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236C4E"/>
                </a:solidFill>
                <a:latin typeface="Helvetica Neue"/>
                <a:ea typeface="Helvetica Neue"/>
                <a:cs typeface="Helvetica Neue"/>
              </a:defRPr>
            </a:defPPr>
          </a:lstStyle>
          <a:p xmlns:a="http://schemas.openxmlformats.org/drawingml/2006/main">
            <a:pPr>
              <a:defRPr sz="1575" b="1">
                <a:solidFill>
                  <a:srgbClr val="236C4E"/>
                </a:solidFill>
                <a:latin typeface="Helvetica Neue"/>
                <a:ea typeface="Helvetica Neue"/>
                <a:cs typeface="Helvetica Neue"/>
              </a:defRPr>
            </a:pPr>
            <a:r>
              <a:rPr sz="1575" b="1">
                <a:solidFill>
                  <a:srgbClr val="236C4E"/>
                </a:solidFill>
                <a:latin typeface="Helvetica Neue"/>
                <a:ea typeface="Helvetica Neue"/>
                <a:cs typeface="Helvetica Neue"/>
              </a:rPr>
              <a:t>✓  Platform unlock</a:t>
            </a:r>
          </a:p>
        </p:txBody>
      </p:sp>
      <p:sp>
        <p:nvSpPr>
          <p:cNvPr id="4" name="market-opening-3">
            <a:extLst xmlns:a="http://schemas.openxmlformats.org/drawingml/2006/main">
              <a:ext uri="{FF2B5EF4-FFF2-40B4-BE49-F238E27FC236}">
                <a16:creationId xmlns:a16="http://schemas.microsoft.com/office/drawing/2014/main" id="{5C435049-E243-403F-9F98-AB1A03ACE3E1}"/>
              </a:ext>
            </a:extLst>
          </p:cNvPr>
          <p:cNvSpPr>
            <a:spLocks xmlns:a="http://schemas.openxmlformats.org/drawingml/2006/main" noGrp="1"/>
          </p:cNvSpPr>
          <p:nvPr/>
        </p:nvSpPr>
        <p:spPr>
          <a:xfrm xmlns:a="http://schemas.openxmlformats.org/drawingml/2006/main">
            <a:off x="4953000" y="1619250"/>
            <a:ext cx="674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9D514B"/>
                </a:solidFill>
                <a:latin typeface="Helvetica Neue"/>
                <a:ea typeface="Helvetica Neue"/>
                <a:cs typeface="Helvetica Neue"/>
              </a:defRPr>
            </a:defPPr>
          </a:lstStyle>
          <a:p xmlns:a="http://schemas.openxmlformats.org/drawingml/2006/main">
            <a:pPr>
              <a:defRPr sz="1575" b="1">
                <a:solidFill>
                  <a:srgbClr val="9D514B"/>
                </a:solidFill>
                <a:latin typeface="Helvetica Neue"/>
                <a:ea typeface="Helvetica Neue"/>
                <a:cs typeface="Helvetica Neue"/>
              </a:defRPr>
            </a:pPr>
            <a:r>
              <a:rPr sz="1575" b="1">
                <a:solidFill>
                  <a:srgbClr val="9D514B"/>
                </a:solidFill>
                <a:latin typeface="Helvetica Neue"/>
                <a:ea typeface="Helvetica Neue"/>
                <a:cs typeface="Helvetica Neue"/>
              </a:rPr>
              <a:t>—  Still manual / external</a:t>
            </a:r>
          </a:p>
        </p:txBody>
      </p:sp>
      <p:graphicFrame>
        <p:nvGraphicFramePr>
          <p:cNvPr id="5" name="">
            <a:extLst xmlns:a="http://schemas.openxmlformats.org/drawingml/2006/main">
              <a:ext uri="{FF2B5EF4-FFF2-40B4-BE49-F238E27FC236}">
                <a16:creationId xmlns:a16="http://schemas.microsoft.com/office/drawing/2014/main" id="{478F8DD3-7451-456A-86B4-72BBF50B63D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Google /</a:t>
                      </a:r>
                    </a:p>
                    <a:p>
                      <a:pPr algn="ct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725" b="1">
                          <a:solidFill>
                            <a:srgbClr val="FFFFFF"/>
                          </a:solidFill>
                          <a:latin typeface="Helvetica Neue"/>
                          <a:ea typeface="Helvetica Neue"/>
                          <a:cs typeface="Helvetica Neue"/>
                        </a:rPr>
                        <a:t>Personal AI</a:t>
                      </a:r>
                    </a:p>
                    <a:p>
                      <a:pPr algn="ct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6" name="market-opening-4">
            <a:extLst xmlns:a="http://schemas.openxmlformats.org/drawingml/2006/main">
              <a:ext uri="{FF2B5EF4-FFF2-40B4-BE49-F238E27FC236}">
                <a16:creationId xmlns:a16="http://schemas.microsoft.com/office/drawing/2014/main" id="{447CBE00-A7B1-48EC-8D73-AF2348902D16}"/>
              </a:ext>
            </a:extLst>
          </p:cNvPr>
          <p:cNvSpPr>
            <a:spLocks xmlns:a="http://schemas.openxmlformats.org/drawingml/2006/main" noGrp="1"/>
          </p:cNvSpPr>
          <p:nvPr/>
        </p:nvSpPr>
        <p:spPr>
          <a:xfrm xmlns:a="http://schemas.openxmlformats.org/drawingml/2006/main">
            <a:off x="495300" y="6019800"/>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still rely on calls and websites to turn a request into a completed booking.</a:t>
            </a:r>
          </a:p>
        </p:txBody>
      </p:sp>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6">
            <a:extLst xmlns:a="http://schemas.openxmlformats.org/drawingml/2006/main">
              <a:ext uri="{FF2B5EF4-FFF2-40B4-BE49-F238E27FC236}">
                <a16:creationId xmlns:a16="http://schemas.microsoft.com/office/drawing/2014/main" id="{14D0AA0C-B632-4D00-ADB8-EE89FC9B3CE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WHY NOW</a:t>
            </a:r>
          </a:p>
        </p:txBody>
      </p:sp>
      <p:sp>
        <p:nvSpPr>
          <p:cNvPr id="2" name="text-7">
            <a:extLst xmlns:a="http://schemas.openxmlformats.org/drawingml/2006/main">
              <a:ext uri="{FF2B5EF4-FFF2-40B4-BE49-F238E27FC236}">
                <a16:creationId xmlns:a16="http://schemas.microsoft.com/office/drawing/2014/main" id="{348A0129-E7D1-4B51-BB7A-95C91244852F}"/>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Billions are backing personal agents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and a new way to find local services</a:t>
            </a:r>
          </a:p>
        </p:txBody>
      </p:sp>
      <p:sp>
        <p:nvSpPr>
          <p:cNvPr id="3" name="text-8">
            <a:extLst xmlns:a="http://schemas.openxmlformats.org/drawingml/2006/main">
              <a:ext uri="{FF2B5EF4-FFF2-40B4-BE49-F238E27FC236}">
                <a16:creationId xmlns:a16="http://schemas.microsoft.com/office/drawing/2014/main" id="{9105B53C-19A4-4FB5-9741-A407FBB09429}"/>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9">
            <a:extLst xmlns:a="http://schemas.openxmlformats.org/drawingml/2006/main">
              <a:ext uri="{FF2B5EF4-FFF2-40B4-BE49-F238E27FC236}">
                <a16:creationId xmlns:a16="http://schemas.microsoft.com/office/drawing/2014/main" id="{5E3A0F35-BA52-4B59-86E4-2A8556BAF552}"/>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2 / 6</a:t>
            </a:r>
          </a:p>
        </p:txBody>
      </p:sp>
      <p:sp>
        <p:nvSpPr>
          <p:cNvPr id="5" name="text-10">
            <a:extLst xmlns:a="http://schemas.openxmlformats.org/drawingml/2006/main">
              <a:ext uri="{FF2B5EF4-FFF2-40B4-BE49-F238E27FC236}">
                <a16:creationId xmlns:a16="http://schemas.microsoft.com/office/drawing/2014/main" id="{A18FBD5E-5478-4B7F-9DBA-C4BF149D0C34}"/>
              </a:ext>
            </a:extLst>
          </p:cNvPr>
          <p:cNvSpPr>
            <a:spLocks xmlns:a="http://schemas.openxmlformats.org/drawingml/2006/main" noGrp="1"/>
          </p:cNvSpPr>
          <p:nvPr/>
        </p:nvSpPr>
        <p:spPr>
          <a:xfrm xmlns:a="http://schemas.openxmlformats.org/drawingml/2006/main">
            <a:off x="457200" y="2085975"/>
            <a:ext cx="3333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300" b="1">
                <a:solidFill>
                  <a:srgbClr val="215C4E"/>
                </a:solidFill>
                <a:latin typeface="Helvetica Neue"/>
                <a:ea typeface="Helvetica Neue"/>
                <a:cs typeface="Helvetica Neue"/>
              </a:defRPr>
            </a:defPPr>
          </a:lstStyle>
          <a:p xmlns:a="http://schemas.openxmlformats.org/drawingml/2006/main">
            <a:pPr>
              <a:buNone/>
              <a:defRPr sz="6300" b="1">
                <a:solidFill>
                  <a:srgbClr val="215C4E"/>
                </a:solidFill>
                <a:latin typeface="Helvetica Neue"/>
                <a:ea typeface="Helvetica Neue"/>
                <a:cs typeface="Helvetica Neue"/>
              </a:defRPr>
            </a:pPr>
            <a:r>
              <a:rPr sz="6300" b="1">
                <a:solidFill>
                  <a:srgbClr val="215C4E"/>
                </a:solidFill>
                <a:latin typeface="Helvetica Neue"/>
                <a:ea typeface="Helvetica Neue"/>
                <a:cs typeface="Helvetica Neue"/>
              </a:rPr>
              <a:t>$2B+</a:t>
            </a:r>
          </a:p>
        </p:txBody>
      </p:sp>
      <p:sp>
        <p:nvSpPr>
          <p:cNvPr id="6" name="text-11">
            <a:extLst xmlns:a="http://schemas.openxmlformats.org/drawingml/2006/main">
              <a:ext uri="{FF2B5EF4-FFF2-40B4-BE49-F238E27FC236}">
                <a16:creationId xmlns:a16="http://schemas.microsoft.com/office/drawing/2014/main" id="{B558BE35-ADDA-4C37-9502-CF90A51736D5}"/>
              </a:ext>
            </a:extLst>
          </p:cNvPr>
          <p:cNvSpPr>
            <a:spLocks xmlns:a="http://schemas.openxmlformats.org/drawingml/2006/main" noGrp="1"/>
          </p:cNvSpPr>
          <p:nvPr/>
        </p:nvSpPr>
        <p:spPr>
          <a:xfrm xmlns:a="http://schemas.openxmlformats.org/drawingml/2006/main">
            <a:off x="457200" y="3076575"/>
            <a:ext cx="5429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8352F"/>
                </a:solidFill>
                <a:latin typeface="Helvetica Neue"/>
                <a:ea typeface="Helvetica Neue"/>
                <a:cs typeface="Helvetica Neue"/>
              </a:defRPr>
            </a:defPPr>
          </a:lstStyle>
          <a:p xmlns:a="http://schemas.openxmlformats.org/drawingml/2006/main">
            <a:pPr>
              <a:buNone/>
              <a:defRPr sz="2025" b="1">
                <a:solidFill>
                  <a:srgbClr val="18352F"/>
                </a:solidFill>
                <a:latin typeface="Helvetica Neue"/>
                <a:ea typeface="Helvetica Neue"/>
                <a:cs typeface="Helvetica Neue"/>
              </a:defRPr>
            </a:pPr>
            <a:r>
              <a:rPr sz="2025" b="1">
                <a:solidFill>
                  <a:srgbClr val="18352F"/>
                </a:solidFill>
                <a:latin typeface="Helvetica Neue"/>
                <a:ea typeface="Helvetica Neue"/>
                <a:cs typeface="Helvetica Neue"/>
              </a:rPr>
              <a:t>raised by three agent companies</a:t>
            </a:r>
          </a:p>
        </p:txBody>
      </p:sp>
      <p:sp>
        <p:nvSpPr>
          <p:cNvPr id="7" name="text-12">
            <a:extLst xmlns:a="http://schemas.openxmlformats.org/drawingml/2006/main">
              <a:ext uri="{FF2B5EF4-FFF2-40B4-BE49-F238E27FC236}">
                <a16:creationId xmlns:a16="http://schemas.microsoft.com/office/drawing/2014/main" id="{DFA1584B-1211-4D43-8C6F-CB6C410E96E2}"/>
              </a:ext>
            </a:extLst>
          </p:cNvPr>
          <p:cNvSpPr>
            <a:spLocks xmlns:a="http://schemas.openxmlformats.org/drawingml/2006/main" noGrp="1"/>
          </p:cNvSpPr>
          <p:nvPr/>
        </p:nvSpPr>
        <p:spPr>
          <a:xfrm xmlns:a="http://schemas.openxmlformats.org/drawingml/2006/main">
            <a:off x="457200" y="3552825"/>
            <a:ext cx="719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606A67"/>
                </a:solidFill>
                <a:latin typeface="Helvetica Neue"/>
                <a:ea typeface="Helvetica Neue"/>
                <a:cs typeface="Helvetica Neue"/>
              </a:defRPr>
            </a:defPPr>
          </a:lstStyle>
          <a:p xmlns:a="http://schemas.openxmlformats.org/drawingml/2006/main">
            <a:pPr>
              <a:buNone/>
              <a:defRPr sz="1725" b="0">
                <a:solidFill>
                  <a:srgbClr val="606A67"/>
                </a:solidFill>
                <a:latin typeface="Helvetica Neue"/>
                <a:ea typeface="Helvetica Neue"/>
                <a:cs typeface="Helvetica Neue"/>
              </a:defRPr>
            </a:pPr>
            <a:r>
              <a:rPr sz="1725" b="0">
                <a:solidFill>
                  <a:srgbClr val="606A67"/>
                </a:solidFill>
                <a:latin typeface="Helvetica Neue"/>
                <a:ea typeface="Helvetica Neue"/>
                <a:cs typeface="Helvetica Neue"/>
              </a:rPr>
              <a:t>Hark: $700M+   |   Instinct: $1.35B   |   Town: $55M</a:t>
            </a:r>
          </a:p>
        </p:txBody>
      </p:sp>
      <p:sp>
        <p:nvSpPr>
          <p:cNvPr id="8" name="text-13">
            <a:extLst xmlns:a="http://schemas.openxmlformats.org/drawingml/2006/main">
              <a:ext uri="{FF2B5EF4-FFF2-40B4-BE49-F238E27FC236}">
                <a16:creationId xmlns:a16="http://schemas.microsoft.com/office/drawing/2014/main" id="{4E369D74-9B94-4847-A281-D2F9186B5B97}"/>
              </a:ext>
            </a:extLst>
          </p:cNvPr>
          <p:cNvSpPr>
            <a:spLocks xmlns:a="http://schemas.openxmlformats.org/drawingml/2006/main" noGrp="1"/>
          </p:cNvSpPr>
          <p:nvPr/>
        </p:nvSpPr>
        <p:spPr>
          <a:xfrm xmlns:a="http://schemas.openxmlformats.org/drawingml/2006/main">
            <a:off x="8477250" y="21526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18352F"/>
                </a:solidFill>
                <a:latin typeface="Helvetica Neue"/>
                <a:ea typeface="Helvetica Neue"/>
                <a:cs typeface="Helvetica Neue"/>
              </a:defRPr>
            </a:defPPr>
          </a:lstStyle>
          <a:p xmlns:a="http://schemas.openxmlformats.org/drawingml/2006/main">
            <a:pPr>
              <a:buNone/>
              <a:defRPr sz="4650" b="1">
                <a:solidFill>
                  <a:srgbClr val="18352F"/>
                </a:solidFill>
                <a:latin typeface="Helvetica Neue"/>
                <a:ea typeface="Helvetica Neue"/>
                <a:cs typeface="Helvetica Neue"/>
              </a:defRPr>
            </a:pPr>
            <a:r>
              <a:rPr sz="4650" b="1">
                <a:solidFill>
                  <a:srgbClr val="18352F"/>
                </a:solidFill>
                <a:latin typeface="Helvetica Neue"/>
                <a:ea typeface="Helvetica Neue"/>
                <a:cs typeface="Helvetica Neue"/>
              </a:rPr>
              <a:t>≈$1.2T</a:t>
            </a:r>
          </a:p>
        </p:txBody>
      </p:sp>
      <p:sp>
        <p:nvSpPr>
          <p:cNvPr id="9" name="text-14">
            <a:extLst xmlns:a="http://schemas.openxmlformats.org/drawingml/2006/main">
              <a:ext uri="{FF2B5EF4-FFF2-40B4-BE49-F238E27FC236}">
                <a16:creationId xmlns:a16="http://schemas.microsoft.com/office/drawing/2014/main" id="{0EEA9413-D684-493A-82DD-99DF6C3CC1A7}"/>
              </a:ext>
            </a:extLst>
          </p:cNvPr>
          <p:cNvSpPr>
            <a:spLocks xmlns:a="http://schemas.openxmlformats.org/drawingml/2006/main" noGrp="1"/>
          </p:cNvSpPr>
          <p:nvPr/>
        </p:nvSpPr>
        <p:spPr>
          <a:xfrm xmlns:a="http://schemas.openxmlformats.org/drawingml/2006/main">
            <a:off x="8477250" y="29527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606A67"/>
                </a:solidFill>
                <a:latin typeface="Helvetica Neue"/>
                <a:ea typeface="Helvetica Neue"/>
                <a:cs typeface="Helvetica Neue"/>
              </a:defRPr>
            </a:defPPr>
          </a:lstStyle>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annual U.S. spending in</a:t>
            </a:r>
          </a:p>
          <a:p xmlns:a="http://schemas.openxmlformats.org/drawingml/2006/main">
            <a:pPr>
              <a:buNone/>
              <a:defRPr sz="1875" b="0">
                <a:solidFill>
                  <a:srgbClr val="606A67"/>
                </a:solidFill>
                <a:latin typeface="Helvetica Neue"/>
                <a:ea typeface="Helvetica Neue"/>
                <a:cs typeface="Helvetica Neue"/>
              </a:defRPr>
            </a:pPr>
            <a:r>
              <a:rPr sz="1875" b="0">
                <a:solidFill>
                  <a:srgbClr val="606A67"/>
                </a:solidFill>
                <a:latin typeface="Helvetica Neue"/>
                <a:ea typeface="Helvetica Neue"/>
                <a:cs typeface="Helvetica Neue"/>
              </a:rPr>
              <a:t>selected local services</a:t>
            </a:r>
          </a:p>
        </p:txBody>
      </p:sp>
      <p:sp>
        <p:nvSpPr>
          <p:cNvPr id="10" name="text-15">
            <a:extLst xmlns:a="http://schemas.openxmlformats.org/drawingml/2006/main">
              <a:ext uri="{FF2B5EF4-FFF2-40B4-BE49-F238E27FC236}">
                <a16:creationId xmlns:a16="http://schemas.microsoft.com/office/drawing/2014/main" id="{538B1219-D07C-4EED-B3E0-269192A0EDE5}"/>
              </a:ext>
            </a:extLst>
          </p:cNvPr>
          <p:cNvSpPr>
            <a:spLocks xmlns:a="http://schemas.openxmlformats.org/drawingml/2006/main" noGrp="1"/>
          </p:cNvSpPr>
          <p:nvPr/>
        </p:nvSpPr>
        <p:spPr>
          <a:xfrm xmlns:a="http://schemas.openxmlformats.org/drawingml/2006/main">
            <a:off x="457200" y="4067175"/>
            <a:ext cx="1114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8352F"/>
                </a:solidFill>
                <a:latin typeface="Helvetica Neue"/>
                <a:ea typeface="Helvetica Neue"/>
                <a:cs typeface="Helvetica Neue"/>
              </a:defRPr>
            </a:defPPr>
          </a:lstStyle>
          <a:p xmlns:a="http://schemas.openxmlformats.org/drawingml/2006/main">
            <a:pPr>
              <a:buNone/>
              <a:defRPr sz="2100" b="1">
                <a:solidFill>
                  <a:srgbClr val="18352F"/>
                </a:solidFill>
                <a:latin typeface="Helvetica Neue"/>
                <a:ea typeface="Helvetica Neue"/>
                <a:cs typeface="Helvetica Neue"/>
              </a:defRPr>
            </a:pPr>
            <a:r>
              <a:rPr sz="2100" b="1">
                <a:solidFill>
                  <a:srgbClr val="18352F"/>
                </a:solidFill>
                <a:latin typeface="Helvetica Neue"/>
                <a:ea typeface="Helvetica Neue"/>
                <a:cs typeface="Helvetica Neue"/>
              </a:rPr>
              <a:t>Platforms are opening developer connector ecosystems</a:t>
            </a:r>
          </a:p>
        </p:txBody>
      </p:sp>
      <p:sp>
        <p:nvSpPr>
          <p:cNvPr id="11" name="diagram-16">
            <a:extLst xmlns:a="http://schemas.openxmlformats.org/drawingml/2006/main">
              <a:ext uri="{FF2B5EF4-FFF2-40B4-BE49-F238E27FC236}">
                <a16:creationId xmlns:a16="http://schemas.microsoft.com/office/drawing/2014/main" id="{7B023A1F-26B4-4733-97C5-F489DCF056BC}"/>
              </a:ext>
            </a:extLst>
          </p:cNvPr>
          <p:cNvSpPr>
            <a:spLocks xmlns:a="http://schemas.openxmlformats.org/drawingml/2006/main" noGrp="1"/>
          </p:cNvSpPr>
          <p:nvPr/>
        </p:nvSpPr>
        <p:spPr>
          <a:xfrm xmlns:a="http://schemas.openxmlformats.org/drawingml/2006/main">
            <a:off x="4572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OpenAI Dots</a:t>
            </a:r>
          </a:p>
        </p:txBody>
      </p:sp>
      <p:sp>
        <p:nvSpPr>
          <p:cNvPr id="12" name="diagram-17">
            <a:extLst xmlns:a="http://schemas.openxmlformats.org/drawingml/2006/main">
              <a:ext uri="{FF2B5EF4-FFF2-40B4-BE49-F238E27FC236}">
                <a16:creationId xmlns:a16="http://schemas.microsoft.com/office/drawing/2014/main" id="{3A5F788A-3CFA-4D71-AA37-549E1754C619}"/>
              </a:ext>
            </a:extLst>
          </p:cNvPr>
          <p:cNvSpPr>
            <a:spLocks xmlns:a="http://schemas.openxmlformats.org/drawingml/2006/main" noGrp="1"/>
          </p:cNvSpPr>
          <p:nvPr/>
        </p:nvSpPr>
        <p:spPr>
          <a:xfrm xmlns:a="http://schemas.openxmlformats.org/drawingml/2006/main">
            <a:off x="299085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Meta Muse</a:t>
            </a:r>
          </a:p>
        </p:txBody>
      </p:sp>
      <p:sp>
        <p:nvSpPr>
          <p:cNvPr id="13" name="diagram-18">
            <a:extLst xmlns:a="http://schemas.openxmlformats.org/drawingml/2006/main">
              <a:ext uri="{FF2B5EF4-FFF2-40B4-BE49-F238E27FC236}">
                <a16:creationId xmlns:a16="http://schemas.microsoft.com/office/drawing/2014/main" id="{3BD6DA60-E60B-41BD-A4D1-17835CAD502B}"/>
              </a:ext>
            </a:extLst>
          </p:cNvPr>
          <p:cNvSpPr>
            <a:spLocks xmlns:a="http://schemas.openxmlformats.org/drawingml/2006/main" noGrp="1"/>
          </p:cNvSpPr>
          <p:nvPr/>
        </p:nvSpPr>
        <p:spPr>
          <a:xfrm xmlns:a="http://schemas.openxmlformats.org/drawingml/2006/main">
            <a:off x="5524500" y="4591050"/>
            <a:ext cx="2228850" cy="60960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75" b="0">
                <a:solidFill>
                  <a:srgbClr val="18352F"/>
                </a:solidFill>
                <a:latin typeface="Helvetica Neue"/>
                <a:ea typeface="Helvetica Neue"/>
                <a:cs typeface="Helvetica Neue"/>
              </a:defRPr>
            </a:defPPr>
          </a:lstStyle>
          <a:p xmlns:a="http://schemas.openxmlformats.org/drawingml/2006/main">
            <a:pPr algn="ctr">
              <a:buNone/>
              <a:defRPr sz="1875" b="0">
                <a:solidFill>
                  <a:srgbClr val="18352F"/>
                </a:solidFill>
                <a:latin typeface="Helvetica Neue"/>
                <a:ea typeface="Helvetica Neue"/>
                <a:cs typeface="Helvetica Neue"/>
              </a:defRPr>
            </a:pPr>
            <a:r>
              <a:rPr sz="1875" b="0">
                <a:solidFill>
                  <a:srgbClr val="18352F"/>
                </a:solidFill>
                <a:latin typeface="Helvetica Neue"/>
                <a:ea typeface="Helvetica Neue"/>
                <a:cs typeface="Helvetica Neue"/>
              </a:rPr>
              <a:t>Claude</a:t>
            </a:r>
          </a:p>
        </p:txBody>
      </p:sp>
      <p:sp>
        <p:nvSpPr>
          <p:cNvPr id="14" name="text-19">
            <a:extLst xmlns:a="http://schemas.openxmlformats.org/drawingml/2006/main">
              <a:ext uri="{FF2B5EF4-FFF2-40B4-BE49-F238E27FC236}">
                <a16:creationId xmlns:a16="http://schemas.microsoft.com/office/drawing/2014/main" id="{1CDB1950-F5C1-44B1-A393-F16BF5B0B9C8}"/>
              </a:ext>
            </a:extLst>
          </p:cNvPr>
          <p:cNvSpPr>
            <a:spLocks xmlns:a="http://schemas.openxmlformats.org/drawingml/2006/main" noGrp="1"/>
          </p:cNvSpPr>
          <p:nvPr/>
        </p:nvSpPr>
        <p:spPr>
          <a:xfrm xmlns:a="http://schemas.openxmlformats.org/drawingml/2006/main">
            <a:off x="8477250" y="4191000"/>
            <a:ext cx="31623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215C4E"/>
                </a:solidFill>
                <a:latin typeface="Helvetica Neue"/>
                <a:ea typeface="Helvetica Neue"/>
                <a:cs typeface="Helvetica Neue"/>
              </a:defRPr>
            </a:defPPr>
          </a:lstStyle>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Providers use different</a:t>
            </a:r>
          </a:p>
          <a:p xmlns:a="http://schemas.openxmlformats.org/drawingml/2006/main">
            <a:pPr>
              <a:buNone/>
              <a:defRPr sz="2025" b="1">
                <a:solidFill>
                  <a:srgbClr val="215C4E"/>
                </a:solidFill>
                <a:latin typeface="Helvetica Neue"/>
                <a:ea typeface="Helvetica Neue"/>
                <a:cs typeface="Helvetica Neue"/>
              </a:defRPr>
            </a:pPr>
            <a:r>
              <a:rPr sz="2025" b="1">
                <a:solidFill>
                  <a:srgbClr val="215C4E"/>
                </a:solidFill>
                <a:latin typeface="Helvetica Neue"/>
                <a:ea typeface="Helvetica Neue"/>
                <a:cs typeface="Helvetica Neue"/>
              </a:rPr>
              <a:t>booking systems.</a:t>
            </a:r>
          </a:p>
        </p:txBody>
      </p:sp>
      <p:sp>
        <p:nvSpPr>
          <p:cNvPr id="15" name="text-20">
            <a:extLst xmlns:a="http://schemas.openxmlformats.org/drawingml/2006/main">
              <a:ext uri="{FF2B5EF4-FFF2-40B4-BE49-F238E27FC236}">
                <a16:creationId xmlns:a16="http://schemas.microsoft.com/office/drawing/2014/main" id="{0F2582B5-3E64-4B22-BB6D-0F2400C4945A}"/>
              </a:ext>
            </a:extLst>
          </p:cNvPr>
          <p:cNvSpPr>
            <a:spLocks xmlns:a="http://schemas.openxmlformats.org/drawingml/2006/main" noGrp="1"/>
          </p:cNvSpPr>
          <p:nvPr/>
        </p:nvSpPr>
        <p:spPr>
          <a:xfrm xmlns:a="http://schemas.openxmlformats.org/drawingml/2006/main">
            <a:off x="457200" y="5353050"/>
            <a:ext cx="112776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Uber and DoorDash make booking straightforward.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Local-service agents still cross websites, calls and business systems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get a quote, a slot and a confirmed booking.</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1F736F95-6191-4F9F-A3A0-79005DC87864}"/>
              </a:ext>
            </a:extLst>
          </p:cNvPr>
          <p:cNvCxnSpPr>
            <a:stCxn xmlns:a="http://schemas.openxmlformats.org/drawingml/2006/main" id="19" idx="3"/>
            <a:endCxn xmlns:a="http://schemas.openxmlformats.org/drawingml/2006/main" id="22" idx="1"/>
          </p:cNvCxnSpPr>
          <p:nvPr/>
        </p:nvCxnSpPr>
        <p:spPr>
          <a:xfrm xmlns:a="http://schemas.openxmlformats.org/drawingml/2006/main">
            <a:off x="8877300" y="480060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30" name="">
            <a:extLst xmlns:a="http://schemas.openxmlformats.org/drawingml/2006/main">
              <a:ext uri="{FF2B5EF4-FFF2-40B4-BE49-F238E27FC236}">
                <a16:creationId xmlns:a16="http://schemas.microsoft.com/office/drawing/2014/main" id="{E03E1FC9-9E6D-497D-B8A1-7CC728F314BF}"/>
              </a:ext>
            </a:extLst>
          </p:cNvPr>
          <p:cNvCxnSpPr>
            <a:stCxn xmlns:a="http://schemas.openxmlformats.org/drawingml/2006/main" id="13" idx="3"/>
            <a:endCxn xmlns:a="http://schemas.openxmlformats.org/drawingml/2006/main" id="19" idx="1"/>
          </p:cNvCxnSpPr>
          <p:nvPr/>
        </p:nvCxnSpPr>
        <p:spPr>
          <a:xfrm xmlns:a="http://schemas.openxmlformats.org/drawingml/2006/main">
            <a:off x="6134100" y="4057650"/>
            <a:ext cx="7048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9" name="">
            <a:extLst xmlns:a="http://schemas.openxmlformats.org/drawingml/2006/main">
              <a:ext uri="{FF2B5EF4-FFF2-40B4-BE49-F238E27FC236}">
                <a16:creationId xmlns:a16="http://schemas.microsoft.com/office/drawing/2014/main" id="{B89CD6BA-C514-40C3-A54E-AEBA09800F73}"/>
              </a:ext>
            </a:extLst>
          </p:cNvPr>
          <p:cNvCxnSpPr>
            <a:stCxn xmlns:a="http://schemas.openxmlformats.org/drawingml/2006/main" id="12" idx="3"/>
            <a:endCxn xmlns:a="http://schemas.openxmlformats.org/drawingml/2006/main" id="13" idx="1"/>
          </p:cNvCxnSpPr>
          <p:nvPr/>
        </p:nvCxnSpPr>
        <p:spPr>
          <a:xfrm xmlns:a="http://schemas.openxmlformats.org/drawingml/2006/main" flipV="1">
            <a:off x="2209800" y="4057650"/>
            <a:ext cx="666750" cy="74295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8" name="">
            <a:extLst xmlns:a="http://schemas.openxmlformats.org/drawingml/2006/main">
              <a:ext uri="{FF2B5EF4-FFF2-40B4-BE49-F238E27FC236}">
                <a16:creationId xmlns:a16="http://schemas.microsoft.com/office/drawing/2014/main" id="{968FDA12-2E44-459C-92C5-B4B399CC2146}"/>
              </a:ext>
            </a:extLst>
          </p:cNvPr>
          <p:cNvCxnSpPr>
            <a:stCxn xmlns:a="http://schemas.openxmlformats.org/drawingml/2006/main" id="18" idx="3"/>
            <a:endCxn xmlns:a="http://schemas.openxmlformats.org/drawingml/2006/main" id="21" idx="1"/>
          </p:cNvCxnSpPr>
          <p:nvPr/>
        </p:nvCxnSpPr>
        <p:spPr>
          <a:xfrm xmlns:a="http://schemas.openxmlformats.org/drawingml/2006/main">
            <a:off x="8877300" y="4048125"/>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7" name="">
            <a:extLst xmlns:a="http://schemas.openxmlformats.org/drawingml/2006/main">
              <a:ext uri="{FF2B5EF4-FFF2-40B4-BE49-F238E27FC236}">
                <a16:creationId xmlns:a16="http://schemas.microsoft.com/office/drawing/2014/main" id="{BB919B25-0EF9-441B-90DC-E37055DA5AE6}"/>
              </a:ext>
            </a:extLst>
          </p:cNvPr>
          <p:cNvCxnSpPr>
            <a:stCxn xmlns:a="http://schemas.openxmlformats.org/drawingml/2006/main" id="13" idx="3"/>
            <a:endCxn xmlns:a="http://schemas.openxmlformats.org/drawingml/2006/main" id="18" idx="1"/>
          </p:cNvCxnSpPr>
          <p:nvPr/>
        </p:nvCxnSpPr>
        <p:spPr>
          <a:xfrm xmlns:a="http://schemas.openxmlformats.org/drawingml/2006/main" flipV="1">
            <a:off x="6134100" y="4048125"/>
            <a:ext cx="7048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6" name="">
            <a:extLst xmlns:a="http://schemas.openxmlformats.org/drawingml/2006/main">
              <a:ext uri="{FF2B5EF4-FFF2-40B4-BE49-F238E27FC236}">
                <a16:creationId xmlns:a16="http://schemas.microsoft.com/office/drawing/2014/main" id="{6923E2B1-B8E6-4637-B211-7AAC1B883F98}"/>
              </a:ext>
            </a:extLst>
          </p:cNvPr>
          <p:cNvCxnSpPr>
            <a:stCxn xmlns:a="http://schemas.openxmlformats.org/drawingml/2006/main" id="11" idx="3"/>
            <a:endCxn xmlns:a="http://schemas.openxmlformats.org/drawingml/2006/main" id="13" idx="1"/>
          </p:cNvCxnSpPr>
          <p:nvPr/>
        </p:nvCxnSpPr>
        <p:spPr>
          <a:xfrm xmlns:a="http://schemas.openxmlformats.org/drawingml/2006/main">
            <a:off x="2209800" y="4048125"/>
            <a:ext cx="666750" cy="9525"/>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57529F24-C916-4B16-8E18-13B8716235E0}"/>
              </a:ext>
            </a:extLst>
          </p:cNvPr>
          <p:cNvCxnSpPr>
            <a:stCxn xmlns:a="http://schemas.openxmlformats.org/drawingml/2006/main" id="17" idx="3"/>
            <a:endCxn xmlns:a="http://schemas.openxmlformats.org/drawingml/2006/main" id="20" idx="1"/>
          </p:cNvCxnSpPr>
          <p:nvPr/>
        </p:nvCxnSpPr>
        <p:spPr>
          <a:xfrm xmlns:a="http://schemas.openxmlformats.org/drawingml/2006/main">
            <a:off x="8877300" y="3295650"/>
            <a:ext cx="914400" cy="0"/>
          </a:xfrm>
          <a:prstGeom xmlns:a="http://schemas.openxmlformats.org/drawingml/2006/main" prst="straightConnector1">
            <a:avLst/>
          </a:prstGeom>
          <a:ln xmlns:a="http://schemas.openxmlformats.org/drawingml/2006/main" w="19050">
            <a:solidFill>
              <a:srgbClr val="215C4E"/>
            </a:solidFill>
            <a:prstDash val="solid"/>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24E50A3C-9232-4266-887B-42415E57080B}"/>
              </a:ext>
            </a:extLst>
          </p:cNvPr>
          <p:cNvCxnSpPr>
            <a:stCxn xmlns:a="http://schemas.openxmlformats.org/drawingml/2006/main" id="13" idx="3"/>
            <a:endCxn xmlns:a="http://schemas.openxmlformats.org/drawingml/2006/main" id="17" idx="1"/>
          </p:cNvCxnSpPr>
          <p:nvPr/>
        </p:nvCxnSpPr>
        <p:spPr>
          <a:xfrm xmlns:a="http://schemas.openxmlformats.org/drawingml/2006/main" flipV="1">
            <a:off x="6134100" y="3295650"/>
            <a:ext cx="7048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2B20A113-8BA3-4FB9-9426-7B93DE6C38BF}"/>
              </a:ext>
            </a:extLst>
          </p:cNvPr>
          <p:cNvCxnSpPr>
            <a:stCxn xmlns:a="http://schemas.openxmlformats.org/drawingml/2006/main" id="10" idx="3"/>
            <a:endCxn xmlns:a="http://schemas.openxmlformats.org/drawingml/2006/main" id="13" idx="1"/>
          </p:cNvCxnSpPr>
          <p:nvPr/>
        </p:nvCxnSpPr>
        <p:spPr>
          <a:xfrm xmlns:a="http://schemas.openxmlformats.org/drawingml/2006/main">
            <a:off x="2209800" y="3295650"/>
            <a:ext cx="666750" cy="762000"/>
          </a:xfrm>
          <a:prstGeom xmlns:a="http://schemas.openxmlformats.org/drawingml/2006/main" prst="bentConnector3">
            <a:avLst>
              <a:gd name="adj1" fmla="val 50000"/>
            </a:avLst>
          </a:prstGeom>
          <a:ln xmlns:a="http://schemas.openxmlformats.org/drawingml/2006/main" w="19050">
            <a:solidFill>
              <a:srgbClr val="215C4E"/>
            </a:solidFill>
            <a:prstDash val="solid"/>
            <a:headEnd type="arrow" w="sm" len="sm"/>
            <a:tailEnd type="arrow" w="sm" len="sm"/>
          </a:ln>
        </p:spPr>
      </p:cxnSp>
      <p:sp>
        <p:nvSpPr>
          <p:cNvPr id="35" name="text-21">
            <a:extLst xmlns:a="http://schemas.openxmlformats.org/drawingml/2006/main">
              <a:ext uri="{FF2B5EF4-FFF2-40B4-BE49-F238E27FC236}">
                <a16:creationId xmlns:a16="http://schemas.microsoft.com/office/drawing/2014/main" id="{FCA45427-51F2-4B8A-85F1-294F23D802F8}"/>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WE BUILD</a:t>
            </a:r>
          </a:p>
        </p:txBody>
      </p:sp>
      <p:sp>
        <p:nvSpPr>
          <p:cNvPr id="2" name="text-22">
            <a:extLst xmlns:a="http://schemas.openxmlformats.org/drawingml/2006/main">
              <a:ext uri="{FF2B5EF4-FFF2-40B4-BE49-F238E27FC236}">
                <a16:creationId xmlns:a16="http://schemas.microsoft.com/office/drawing/2014/main" id="{E027C6B1-D345-40DB-AC1C-1D4361DBE61E}"/>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One connection to compare and book</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participating local businesses</a:t>
            </a:r>
          </a:p>
        </p:txBody>
      </p:sp>
      <p:sp>
        <p:nvSpPr>
          <p:cNvPr id="3" name="text-23">
            <a:extLst xmlns:a="http://schemas.openxmlformats.org/drawingml/2006/main">
              <a:ext uri="{FF2B5EF4-FFF2-40B4-BE49-F238E27FC236}">
                <a16:creationId xmlns:a16="http://schemas.microsoft.com/office/drawing/2014/main" id="{A21A23D5-FFC2-4030-8472-1C73F3C22D72}"/>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24">
            <a:extLst xmlns:a="http://schemas.openxmlformats.org/drawingml/2006/main">
              <a:ext uri="{FF2B5EF4-FFF2-40B4-BE49-F238E27FC236}">
                <a16:creationId xmlns:a16="http://schemas.microsoft.com/office/drawing/2014/main" id="{BF2C07B8-BE22-4B64-B8CE-917637A639E0}"/>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3 / 6</a:t>
            </a:r>
          </a:p>
        </p:txBody>
      </p:sp>
      <p:sp>
        <p:nvSpPr>
          <p:cNvPr id="5" name="text-25">
            <a:extLst xmlns:a="http://schemas.openxmlformats.org/drawingml/2006/main">
              <a:ext uri="{FF2B5EF4-FFF2-40B4-BE49-F238E27FC236}">
                <a16:creationId xmlns:a16="http://schemas.microsoft.com/office/drawing/2014/main" id="{B3061C25-8171-40EC-8557-7C75B29FA120}"/>
              </a:ext>
            </a:extLst>
          </p:cNvPr>
          <p:cNvSpPr>
            <a:spLocks xmlns:a="http://schemas.openxmlformats.org/drawingml/2006/main" noGrp="1"/>
          </p:cNvSpPr>
          <p:nvPr/>
        </p:nvSpPr>
        <p:spPr>
          <a:xfrm xmlns:a="http://schemas.openxmlformats.org/drawingml/2006/main">
            <a:off x="457200" y="20002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06A67"/>
                </a:solidFill>
                <a:latin typeface="Helvetica Neue"/>
                <a:ea typeface="Helvetica Neue"/>
                <a:cs typeface="Helvetica Neue"/>
              </a:defRPr>
            </a:defPPr>
          </a:lstStyle>
          <a:p xmlns:a="http://schemas.openxmlformats.org/drawingml/2006/main">
            <a:pPr>
              <a:buNone/>
              <a:defRPr sz="2025" b="0">
                <a:solidFill>
                  <a:srgbClr val="606A67"/>
                </a:solidFill>
                <a:latin typeface="Helvetica Neue"/>
                <a:ea typeface="Helvetica Neue"/>
                <a:cs typeface="Helvetica Neue"/>
              </a:defRPr>
            </a:pPr>
            <a:r>
              <a:rPr sz="2025" b="0">
                <a:solidFill>
                  <a:srgbClr val="606A67"/>
                </a:solidFill>
                <a:latin typeface="Helvetica Neue"/>
                <a:ea typeface="Helvetica Neue"/>
                <a:cs typeface="Helvetica Neue"/>
              </a:rPr>
              <a:t>One authorized business connection serves every connected agent.</a:t>
            </a:r>
          </a:p>
        </p:txBody>
      </p:sp>
      <p:sp>
        <p:nvSpPr>
          <p:cNvPr id="6" name="text-26">
            <a:extLst xmlns:a="http://schemas.openxmlformats.org/drawingml/2006/main">
              <a:ext uri="{FF2B5EF4-FFF2-40B4-BE49-F238E27FC236}">
                <a16:creationId xmlns:a16="http://schemas.microsoft.com/office/drawing/2014/main" id="{BDFE633D-0792-4BBF-844B-6B8AEDB187C4}"/>
              </a:ext>
            </a:extLst>
          </p:cNvPr>
          <p:cNvSpPr>
            <a:spLocks xmlns:a="http://schemas.openxmlformats.org/drawingml/2006/main" noGrp="1"/>
          </p:cNvSpPr>
          <p:nvPr/>
        </p:nvSpPr>
        <p:spPr>
          <a:xfrm xmlns:a="http://schemas.openxmlformats.org/drawingml/2006/main">
            <a:off x="457200" y="2543175"/>
            <a:ext cx="1905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Personal agents</a:t>
            </a:r>
          </a:p>
        </p:txBody>
      </p:sp>
      <p:sp>
        <p:nvSpPr>
          <p:cNvPr id="7" name="text-27">
            <a:extLst xmlns:a="http://schemas.openxmlformats.org/drawingml/2006/main">
              <a:ext uri="{FF2B5EF4-FFF2-40B4-BE49-F238E27FC236}">
                <a16:creationId xmlns:a16="http://schemas.microsoft.com/office/drawing/2014/main" id="{0F73421B-57EC-4B0B-B7E8-49181CDB5C8B}"/>
              </a:ext>
            </a:extLst>
          </p:cNvPr>
          <p:cNvSpPr>
            <a:spLocks xmlns:a="http://schemas.openxmlformats.org/drawingml/2006/main" noGrp="1"/>
          </p:cNvSpPr>
          <p:nvPr/>
        </p:nvSpPr>
        <p:spPr>
          <a:xfrm xmlns:a="http://schemas.openxmlformats.org/drawingml/2006/main">
            <a:off x="2857500" y="2543175"/>
            <a:ext cx="32575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Shared data + actions</a:t>
            </a:r>
          </a:p>
        </p:txBody>
      </p:sp>
      <p:sp>
        <p:nvSpPr>
          <p:cNvPr id="8" name="text-28">
            <a:extLst xmlns:a="http://schemas.openxmlformats.org/drawingml/2006/main">
              <a:ext uri="{FF2B5EF4-FFF2-40B4-BE49-F238E27FC236}">
                <a16:creationId xmlns:a16="http://schemas.microsoft.com/office/drawing/2014/main" id="{4693E4E7-7319-4FB0-9F81-4DB5A1B7E563}"/>
              </a:ext>
            </a:extLst>
          </p:cNvPr>
          <p:cNvSpPr>
            <a:spLocks xmlns:a="http://schemas.openxmlformats.org/drawingml/2006/main" noGrp="1"/>
          </p:cNvSpPr>
          <p:nvPr/>
        </p:nvSpPr>
        <p:spPr>
          <a:xfrm xmlns:a="http://schemas.openxmlformats.org/drawingml/2006/main">
            <a:off x="6819900" y="2543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Business software</a:t>
            </a:r>
          </a:p>
        </p:txBody>
      </p:sp>
      <p:sp>
        <p:nvSpPr>
          <p:cNvPr id="9" name="text-29">
            <a:extLst xmlns:a="http://schemas.openxmlformats.org/drawingml/2006/main">
              <a:ext uri="{FF2B5EF4-FFF2-40B4-BE49-F238E27FC236}">
                <a16:creationId xmlns:a16="http://schemas.microsoft.com/office/drawing/2014/main" id="{606ECEFB-2FAE-483B-915E-51C7E45DA3C6}"/>
              </a:ext>
            </a:extLst>
          </p:cNvPr>
          <p:cNvSpPr>
            <a:spLocks xmlns:a="http://schemas.openxmlformats.org/drawingml/2006/main" noGrp="1"/>
          </p:cNvSpPr>
          <p:nvPr/>
        </p:nvSpPr>
        <p:spPr>
          <a:xfrm xmlns:a="http://schemas.openxmlformats.org/drawingml/2006/main">
            <a:off x="9772650" y="2543175"/>
            <a:ext cx="1962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8352F"/>
                </a:solidFill>
                <a:latin typeface="Helvetica Neue"/>
                <a:ea typeface="Helvetica Neue"/>
                <a:cs typeface="Helvetica Neue"/>
              </a:defRPr>
            </a:defPPr>
          </a:lstStyle>
          <a:p xmlns:a="http://schemas.openxmlformats.org/drawingml/2006/main">
            <a:pPr>
              <a:buNone/>
              <a:defRPr sz="1650" b="1">
                <a:solidFill>
                  <a:srgbClr val="18352F"/>
                </a:solidFill>
                <a:latin typeface="Helvetica Neue"/>
                <a:ea typeface="Helvetica Neue"/>
                <a:cs typeface="Helvetica Neue"/>
              </a:defRPr>
            </a:pPr>
            <a:r>
              <a:rPr sz="1650" b="1">
                <a:solidFill>
                  <a:srgbClr val="18352F"/>
                </a:solidFill>
                <a:latin typeface="Helvetica Neue"/>
                <a:ea typeface="Helvetica Neue"/>
                <a:cs typeface="Helvetica Neue"/>
              </a:rPr>
              <a:t>Local businesses</a:t>
            </a:r>
          </a:p>
        </p:txBody>
      </p:sp>
      <p:sp>
        <p:nvSpPr>
          <p:cNvPr id="10" name="diagram-30">
            <a:extLst xmlns:a="http://schemas.openxmlformats.org/drawingml/2006/main">
              <a:ext uri="{FF2B5EF4-FFF2-40B4-BE49-F238E27FC236}">
                <a16:creationId xmlns:a16="http://schemas.microsoft.com/office/drawing/2014/main" id="{330E262F-18B4-4C0A-BBF1-09E7E644C253}"/>
              </a:ext>
            </a:extLst>
          </p:cNvPr>
          <p:cNvSpPr>
            <a:spLocks xmlns:a="http://schemas.openxmlformats.org/drawingml/2006/main" noGrp="1"/>
          </p:cNvSpPr>
          <p:nvPr/>
        </p:nvSpPr>
        <p:spPr>
          <a:xfrm xmlns:a="http://schemas.openxmlformats.org/drawingml/2006/main">
            <a:off x="457200" y="303847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Instinct</a:t>
            </a:r>
          </a:p>
        </p:txBody>
      </p:sp>
      <p:sp>
        <p:nvSpPr>
          <p:cNvPr id="11" name="diagram-31">
            <a:extLst xmlns:a="http://schemas.openxmlformats.org/drawingml/2006/main">
              <a:ext uri="{FF2B5EF4-FFF2-40B4-BE49-F238E27FC236}">
                <a16:creationId xmlns:a16="http://schemas.microsoft.com/office/drawing/2014/main" id="{708D8C9E-3B8C-4D98-AD44-A1796D086838}"/>
              </a:ext>
            </a:extLst>
          </p:cNvPr>
          <p:cNvSpPr>
            <a:spLocks xmlns:a="http://schemas.openxmlformats.org/drawingml/2006/main" noGrp="1"/>
          </p:cNvSpPr>
          <p:nvPr/>
        </p:nvSpPr>
        <p:spPr>
          <a:xfrm xmlns:a="http://schemas.openxmlformats.org/drawingml/2006/main">
            <a:off x="457200" y="3790950"/>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Muse</a:t>
            </a:r>
          </a:p>
        </p:txBody>
      </p:sp>
      <p:sp>
        <p:nvSpPr>
          <p:cNvPr id="12" name="diagram-32">
            <a:extLst xmlns:a="http://schemas.openxmlformats.org/drawingml/2006/main">
              <a:ext uri="{FF2B5EF4-FFF2-40B4-BE49-F238E27FC236}">
                <a16:creationId xmlns:a16="http://schemas.microsoft.com/office/drawing/2014/main" id="{D60CC16D-5ED7-4308-99B5-5B8E32D6903D}"/>
              </a:ext>
            </a:extLst>
          </p:cNvPr>
          <p:cNvSpPr>
            <a:spLocks xmlns:a="http://schemas.openxmlformats.org/drawingml/2006/main" noGrp="1"/>
          </p:cNvSpPr>
          <p:nvPr/>
        </p:nvSpPr>
        <p:spPr>
          <a:xfrm xmlns:a="http://schemas.openxmlformats.org/drawingml/2006/main">
            <a:off x="457200" y="4543425"/>
            <a:ext cx="17526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agents</a:t>
            </a:r>
          </a:p>
        </p:txBody>
      </p:sp>
      <p:sp>
        <p:nvSpPr>
          <p:cNvPr id="13" name="diagram-33">
            <a:extLst xmlns:a="http://schemas.openxmlformats.org/drawingml/2006/main">
              <a:ext uri="{FF2B5EF4-FFF2-40B4-BE49-F238E27FC236}">
                <a16:creationId xmlns:a16="http://schemas.microsoft.com/office/drawing/2014/main" id="{B679B302-5900-45D5-A5B8-A0A27AC4DACC}"/>
              </a:ext>
            </a:extLst>
          </p:cNvPr>
          <p:cNvSpPr>
            <a:spLocks xmlns:a="http://schemas.openxmlformats.org/drawingml/2006/main" noGrp="1"/>
          </p:cNvSpPr>
          <p:nvPr/>
        </p:nvSpPr>
        <p:spPr>
          <a:xfrm xmlns:a="http://schemas.openxmlformats.org/drawingml/2006/main">
            <a:off x="2876550" y="2952750"/>
            <a:ext cx="3257550" cy="220980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1">
                <a:solidFill>
                  <a:srgbClr val="18352F"/>
                </a:solidFill>
                <a:latin typeface="Helvetica Neue"/>
                <a:ea typeface="Helvetica Neue"/>
                <a:cs typeface="Helvetica Neue"/>
              </a:defRPr>
            </a:defPPr>
          </a:lstStyle>
          <a:p xmlns:a="http://schemas.openxmlformats.org/drawingml/2006/main">
            <a:r>
              <a:t/>
            </a:r>
          </a:p>
        </p:txBody>
      </p:sp>
      <p:sp>
        <p:nvSpPr>
          <p:cNvPr id="14" name="text-34">
            <a:extLst xmlns:a="http://schemas.openxmlformats.org/drawingml/2006/main">
              <a:ext uri="{FF2B5EF4-FFF2-40B4-BE49-F238E27FC236}">
                <a16:creationId xmlns:a16="http://schemas.microsoft.com/office/drawing/2014/main" id="{DD9A4A32-E7E5-4128-8BAF-66FB2FAAF999}"/>
              </a:ext>
            </a:extLst>
          </p:cNvPr>
          <p:cNvSpPr>
            <a:spLocks xmlns:a="http://schemas.openxmlformats.org/drawingml/2006/main" noGrp="1"/>
          </p:cNvSpPr>
          <p:nvPr/>
        </p:nvSpPr>
        <p:spPr>
          <a:xfrm xmlns:a="http://schemas.openxmlformats.org/drawingml/2006/main">
            <a:off x="3067050" y="3095625"/>
            <a:ext cx="28765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215C4E"/>
                </a:solidFill>
                <a:latin typeface="Helvetica Neue"/>
                <a:ea typeface="Helvetica Neue"/>
                <a:cs typeface="Helvetica Neue"/>
              </a:defRPr>
            </a:defPPr>
          </a:lstStyle>
          <a:p xmlns:a="http://schemas.openxmlformats.org/drawingml/2006/main">
            <a:pPr>
              <a:buNone/>
              <a:defRPr sz="2550" b="1">
                <a:solidFill>
                  <a:srgbClr val="215C4E"/>
                </a:solidFill>
                <a:latin typeface="Helvetica Neue"/>
                <a:ea typeface="Helvetica Neue"/>
                <a:cs typeface="Helvetica Neue"/>
              </a:defRPr>
            </a:pPr>
            <a:r>
              <a:rPr sz="2550" b="1">
                <a:solidFill>
                  <a:srgbClr val="215C4E"/>
                </a:solidFill>
                <a:latin typeface="Helvetica Neue"/>
                <a:ea typeface="Helvetica Neue"/>
                <a:cs typeface="Helvetica Neue"/>
              </a:rPr>
              <a:t>GoLocal</a:t>
            </a:r>
          </a:p>
        </p:txBody>
      </p:sp>
      <p:sp>
        <p:nvSpPr>
          <p:cNvPr id="15" name="text-35">
            <a:extLst xmlns:a="http://schemas.openxmlformats.org/drawingml/2006/main">
              <a:ext uri="{FF2B5EF4-FFF2-40B4-BE49-F238E27FC236}">
                <a16:creationId xmlns:a16="http://schemas.microsoft.com/office/drawing/2014/main" id="{72C099F3-BD98-4E20-87EA-C1DC9EE1AF18}"/>
              </a:ext>
            </a:extLst>
          </p:cNvPr>
          <p:cNvSpPr>
            <a:spLocks xmlns:a="http://schemas.openxmlformats.org/drawingml/2006/main" noGrp="1"/>
          </p:cNvSpPr>
          <p:nvPr/>
        </p:nvSpPr>
        <p:spPr>
          <a:xfrm xmlns:a="http://schemas.openxmlformats.org/drawingml/2006/main">
            <a:off x="3067050" y="3657600"/>
            <a:ext cx="2876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8352F"/>
                </a:solidFill>
                <a:latin typeface="Helvetica Neue"/>
                <a:ea typeface="Helvetica Neue"/>
                <a:cs typeface="Helvetica Neue"/>
              </a:defRPr>
            </a:defPPr>
          </a:lstStyle>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Services &amp; service areas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Prices / quote requirements</a:t>
            </a:r>
          </a:p>
          <a:p xmlns:a="http://schemas.openxmlformats.org/drawingml/2006/main">
            <a:pPr>
              <a:buNone/>
              <a:defRPr sz="1650" b="0">
                <a:solidFill>
                  <a:srgbClr val="18352F"/>
                </a:solidFill>
                <a:latin typeface="Helvetica Neue"/>
                <a:ea typeface="Helvetica Neue"/>
                <a:cs typeface="Helvetica Neue"/>
              </a:defRPr>
            </a:pPr>
            <a:r>
              <a:rPr sz="1650" b="0">
                <a:solidFill>
                  <a:srgbClr val="18352F"/>
                </a:solidFill>
                <a:latin typeface="Helvetica Neue"/>
                <a:ea typeface="Helvetica Neue"/>
                <a:cs typeface="Helvetica Neue"/>
              </a:rPr>
              <a:t>Slots &amp; permitted job history</a:t>
            </a:r>
          </a:p>
        </p:txBody>
      </p:sp>
      <p:sp>
        <p:nvSpPr>
          <p:cNvPr id="16" name="text-36">
            <a:extLst xmlns:a="http://schemas.openxmlformats.org/drawingml/2006/main">
              <a:ext uri="{FF2B5EF4-FFF2-40B4-BE49-F238E27FC236}">
                <a16:creationId xmlns:a16="http://schemas.microsoft.com/office/drawing/2014/main" id="{F5F102F3-5926-400F-8BCA-B20407706580}"/>
              </a:ext>
            </a:extLst>
          </p:cNvPr>
          <p:cNvSpPr>
            <a:spLocks xmlns:a="http://schemas.openxmlformats.org/drawingml/2006/main" noGrp="1"/>
          </p:cNvSpPr>
          <p:nvPr/>
        </p:nvSpPr>
        <p:spPr>
          <a:xfrm xmlns:a="http://schemas.openxmlformats.org/drawingml/2006/main">
            <a:off x="3067050" y="4772025"/>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215C4E"/>
                </a:solidFill>
                <a:latin typeface="Helvetica Neue"/>
                <a:ea typeface="Helvetica Neue"/>
                <a:cs typeface="Helvetica Neue"/>
              </a:defRPr>
            </a:defPPr>
          </a:lstStyle>
          <a:p xmlns:a="http://schemas.openxmlformats.org/drawingml/2006/main">
            <a:pPr>
              <a:buNone/>
              <a:defRPr sz="1650" b="1">
                <a:solidFill>
                  <a:srgbClr val="215C4E"/>
                </a:solidFill>
                <a:latin typeface="Helvetica Neue"/>
                <a:ea typeface="Helvetica Neue"/>
                <a:cs typeface="Helvetica Neue"/>
              </a:defRPr>
            </a:pPr>
            <a:r>
              <a:rPr sz="1650" b="1">
                <a:solidFill>
                  <a:srgbClr val="215C4E"/>
                </a:solidFill>
                <a:latin typeface="Helvetica Neue"/>
                <a:ea typeface="Helvetica Neue"/>
                <a:cs typeface="Helvetica Neue"/>
              </a:rPr>
              <a:t>Quote • book • pay • manage</a:t>
            </a:r>
          </a:p>
        </p:txBody>
      </p:sp>
      <p:sp>
        <p:nvSpPr>
          <p:cNvPr id="17" name="diagram-37">
            <a:extLst xmlns:a="http://schemas.openxmlformats.org/drawingml/2006/main">
              <a:ext uri="{FF2B5EF4-FFF2-40B4-BE49-F238E27FC236}">
                <a16:creationId xmlns:a16="http://schemas.microsoft.com/office/drawing/2014/main" id="{0B8CA6E2-D0C9-4CE0-B8AF-C0AC4732D3E7}"/>
              </a:ext>
            </a:extLst>
          </p:cNvPr>
          <p:cNvSpPr>
            <a:spLocks xmlns:a="http://schemas.openxmlformats.org/drawingml/2006/main" noGrp="1"/>
          </p:cNvSpPr>
          <p:nvPr/>
        </p:nvSpPr>
        <p:spPr>
          <a:xfrm xmlns:a="http://schemas.openxmlformats.org/drawingml/2006/main">
            <a:off x="6838950" y="303847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A</a:t>
            </a:r>
          </a:p>
        </p:txBody>
      </p:sp>
      <p:sp>
        <p:nvSpPr>
          <p:cNvPr id="18" name="diagram-38">
            <a:extLst xmlns:a="http://schemas.openxmlformats.org/drawingml/2006/main">
              <a:ext uri="{FF2B5EF4-FFF2-40B4-BE49-F238E27FC236}">
                <a16:creationId xmlns:a16="http://schemas.microsoft.com/office/drawing/2014/main" id="{EAA4E67B-CAE5-4DD4-929C-C38232F50687}"/>
              </a:ext>
            </a:extLst>
          </p:cNvPr>
          <p:cNvSpPr>
            <a:spLocks xmlns:a="http://schemas.openxmlformats.org/drawingml/2006/main" noGrp="1"/>
          </p:cNvSpPr>
          <p:nvPr/>
        </p:nvSpPr>
        <p:spPr>
          <a:xfrm xmlns:a="http://schemas.openxmlformats.org/drawingml/2006/main">
            <a:off x="6838950" y="3790950"/>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FSM / CRM B</a:t>
            </a:r>
          </a:p>
        </p:txBody>
      </p:sp>
      <p:sp>
        <p:nvSpPr>
          <p:cNvPr id="19" name="diagram-39">
            <a:extLst xmlns:a="http://schemas.openxmlformats.org/drawingml/2006/main">
              <a:ext uri="{FF2B5EF4-FFF2-40B4-BE49-F238E27FC236}">
                <a16:creationId xmlns:a16="http://schemas.microsoft.com/office/drawing/2014/main" id="{67DE8F79-33EE-418D-9798-0290F5F7789D}"/>
              </a:ext>
            </a:extLst>
          </p:cNvPr>
          <p:cNvSpPr>
            <a:spLocks xmlns:a="http://schemas.openxmlformats.org/drawingml/2006/main" noGrp="1"/>
          </p:cNvSpPr>
          <p:nvPr/>
        </p:nvSpPr>
        <p:spPr>
          <a:xfrm xmlns:a="http://schemas.openxmlformats.org/drawingml/2006/main">
            <a:off x="6838950" y="4543425"/>
            <a:ext cx="203835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software</a:t>
            </a:r>
          </a:p>
        </p:txBody>
      </p:sp>
      <p:sp>
        <p:nvSpPr>
          <p:cNvPr id="20" name="diagram-40">
            <a:extLst xmlns:a="http://schemas.openxmlformats.org/drawingml/2006/main">
              <a:ext uri="{FF2B5EF4-FFF2-40B4-BE49-F238E27FC236}">
                <a16:creationId xmlns:a16="http://schemas.microsoft.com/office/drawing/2014/main" id="{BE51CEC0-E858-4618-B90B-AEC7AE5A18A0}"/>
              </a:ext>
            </a:extLst>
          </p:cNvPr>
          <p:cNvSpPr>
            <a:spLocks xmlns:a="http://schemas.openxmlformats.org/drawingml/2006/main" noGrp="1"/>
          </p:cNvSpPr>
          <p:nvPr/>
        </p:nvSpPr>
        <p:spPr>
          <a:xfrm xmlns:a="http://schemas.openxmlformats.org/drawingml/2006/main">
            <a:off x="9791700" y="303847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Trade shops</a:t>
            </a:r>
          </a:p>
        </p:txBody>
      </p:sp>
      <p:sp>
        <p:nvSpPr>
          <p:cNvPr id="21" name="diagram-41">
            <a:extLst xmlns:a="http://schemas.openxmlformats.org/drawingml/2006/main">
              <a:ext uri="{FF2B5EF4-FFF2-40B4-BE49-F238E27FC236}">
                <a16:creationId xmlns:a16="http://schemas.microsoft.com/office/drawing/2014/main" id="{141F0901-74FC-449F-AC14-A2BCB006C308}"/>
              </a:ext>
            </a:extLst>
          </p:cNvPr>
          <p:cNvSpPr>
            <a:spLocks xmlns:a="http://schemas.openxmlformats.org/drawingml/2006/main" noGrp="1"/>
          </p:cNvSpPr>
          <p:nvPr/>
        </p:nvSpPr>
        <p:spPr>
          <a:xfrm xmlns:a="http://schemas.openxmlformats.org/drawingml/2006/main">
            <a:off x="9791700" y="3790950"/>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Home services</a:t>
            </a:r>
          </a:p>
        </p:txBody>
      </p:sp>
      <p:sp>
        <p:nvSpPr>
          <p:cNvPr id="22" name="diagram-42">
            <a:extLst xmlns:a="http://schemas.openxmlformats.org/drawingml/2006/main">
              <a:ext uri="{FF2B5EF4-FFF2-40B4-BE49-F238E27FC236}">
                <a16:creationId xmlns:a16="http://schemas.microsoft.com/office/drawing/2014/main" id="{2B5183FC-C2A6-4179-9266-CBE98B10AD72}"/>
              </a:ext>
            </a:extLst>
          </p:cNvPr>
          <p:cNvSpPr>
            <a:spLocks xmlns:a="http://schemas.openxmlformats.org/drawingml/2006/main" noGrp="1"/>
          </p:cNvSpPr>
          <p:nvPr/>
        </p:nvSpPr>
        <p:spPr>
          <a:xfrm xmlns:a="http://schemas.openxmlformats.org/drawingml/2006/main">
            <a:off x="9791700" y="4543425"/>
            <a:ext cx="1943100" cy="5143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800" b="0">
                <a:solidFill>
                  <a:srgbClr val="18352F"/>
                </a:solidFill>
                <a:latin typeface="Helvetica Neue"/>
                <a:ea typeface="Helvetica Neue"/>
                <a:cs typeface="Helvetica Neue"/>
              </a:defRPr>
            </a:defPPr>
          </a:lstStyle>
          <a:p xmlns:a="http://schemas.openxmlformats.org/drawingml/2006/main">
            <a:pPr algn="ctr">
              <a:buNone/>
              <a:defRPr sz="1800" b="0">
                <a:solidFill>
                  <a:srgbClr val="18352F"/>
                </a:solidFill>
                <a:latin typeface="Helvetica Neue"/>
                <a:ea typeface="Helvetica Neue"/>
                <a:cs typeface="Helvetica Neue"/>
              </a:defRPr>
            </a:pPr>
            <a:r>
              <a:rPr sz="1800" b="0">
                <a:solidFill>
                  <a:srgbClr val="18352F"/>
                </a:solidFill>
                <a:latin typeface="Helvetica Neue"/>
                <a:ea typeface="Helvetica Neue"/>
                <a:cs typeface="Helvetica Neue"/>
              </a:rPr>
              <a:t>Other providers</a:t>
            </a:r>
          </a:p>
        </p:txBody>
      </p:sp>
      <p:sp>
        <p:nvSpPr>
          <p:cNvPr id="32" name="text-43">
            <a:extLst xmlns:a="http://schemas.openxmlformats.org/drawingml/2006/main">
              <a:ext uri="{FF2B5EF4-FFF2-40B4-BE49-F238E27FC236}">
                <a16:creationId xmlns:a16="http://schemas.microsoft.com/office/drawing/2014/main" id="{2E20CFA4-F21E-49BB-BC25-59DAA09A2349}"/>
              </a:ext>
            </a:extLst>
          </p:cNvPr>
          <p:cNvSpPr>
            <a:spLocks xmlns:a="http://schemas.openxmlformats.org/drawingml/2006/main" noGrp="1"/>
          </p:cNvSpPr>
          <p:nvPr/>
        </p:nvSpPr>
        <p:spPr>
          <a:xfrm xmlns:a="http://schemas.openxmlformats.org/drawingml/2006/main">
            <a:off x="457200" y="5391150"/>
            <a:ext cx="542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606A67"/>
                </a:solidFill>
                <a:latin typeface="Helvetica Neue"/>
                <a:ea typeface="Helvetica Neue"/>
                <a:cs typeface="Helvetica Neue"/>
              </a:defRPr>
            </a:defPPr>
          </a:lstStyle>
          <a:p xmlns:a="http://schemas.openxmlformats.org/drawingml/2006/main">
            <a:pPr>
              <a:buNone/>
              <a:defRPr sz="1875" b="1">
                <a:solidFill>
                  <a:srgbClr val="606A67"/>
                </a:solidFill>
                <a:latin typeface="Helvetica Neue"/>
                <a:ea typeface="Helvetica Neue"/>
                <a:cs typeface="Helvetica Neue"/>
              </a:defRPr>
            </a:pPr>
            <a:r>
              <a:rPr sz="1875" b="1">
                <a:solidFill>
                  <a:srgbClr val="606A67"/>
                </a:solidFill>
                <a:latin typeface="Helvetica Neue"/>
                <a:ea typeface="Helvetica Neue"/>
                <a:cs typeface="Helvetica Neue"/>
              </a:rPr>
              <a:t>Calls: ask providers one at a time</a:t>
            </a:r>
          </a:p>
        </p:txBody>
      </p:sp>
      <p:sp>
        <p:nvSpPr>
          <p:cNvPr id="33" name="text-44">
            <a:extLst xmlns:a="http://schemas.openxmlformats.org/drawingml/2006/main">
              <a:ext uri="{FF2B5EF4-FFF2-40B4-BE49-F238E27FC236}">
                <a16:creationId xmlns:a16="http://schemas.microsoft.com/office/drawing/2014/main" id="{9A4A90DF-C4B6-4A32-8F29-D51114AB27B4}"/>
              </a:ext>
            </a:extLst>
          </p:cNvPr>
          <p:cNvSpPr>
            <a:spLocks xmlns:a="http://schemas.openxmlformats.org/drawingml/2006/main" noGrp="1"/>
          </p:cNvSpPr>
          <p:nvPr/>
        </p:nvSpPr>
        <p:spPr>
          <a:xfrm xmlns:a="http://schemas.openxmlformats.org/drawingml/2006/main">
            <a:off x="6229350" y="5391150"/>
            <a:ext cx="550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215C4E"/>
                </a:solidFill>
                <a:latin typeface="Helvetica Neue"/>
                <a:ea typeface="Helvetica Neue"/>
                <a:cs typeface="Helvetica Neue"/>
              </a:defRPr>
            </a:defPPr>
          </a:lstStyle>
          <a:p xmlns:a="http://schemas.openxmlformats.org/drawingml/2006/main">
            <a:pPr>
              <a:buNone/>
              <a:defRPr sz="1875" b="1">
                <a:solidFill>
                  <a:srgbClr val="215C4E"/>
                </a:solidFill>
                <a:latin typeface="Helvetica Neue"/>
                <a:ea typeface="Helvetica Neue"/>
                <a:cs typeface="Helvetica Neue"/>
              </a:defRPr>
            </a:pPr>
            <a:r>
              <a:rPr sz="1875" b="1">
                <a:solidFill>
                  <a:srgbClr val="215C4E"/>
                </a:solidFill>
                <a:latin typeface="Helvetica Neue"/>
                <a:ea typeface="Helvetica Neue"/>
                <a:cs typeface="Helvetica Neue"/>
              </a:rPr>
              <a:t>GoLocal: query connected supply at once</a:t>
            </a:r>
          </a:p>
        </p:txBody>
      </p:sp>
      <p:sp>
        <p:nvSpPr>
          <p:cNvPr id="34" name="text-45">
            <a:extLst xmlns:a="http://schemas.openxmlformats.org/drawingml/2006/main">
              <a:ext uri="{FF2B5EF4-FFF2-40B4-BE49-F238E27FC236}">
                <a16:creationId xmlns:a16="http://schemas.microsoft.com/office/drawing/2014/main" id="{C216ED9D-83DC-4BC9-A112-A127BD943AAF}"/>
              </a:ext>
            </a:extLst>
          </p:cNvPr>
          <p:cNvSpPr>
            <a:spLocks xmlns:a="http://schemas.openxmlformats.org/drawingml/2006/main" noGrp="1"/>
          </p:cNvSpPr>
          <p:nvPr/>
        </p:nvSpPr>
        <p:spPr>
          <a:xfrm xmlns:a="http://schemas.openxmlformats.org/drawingml/2006/main">
            <a:off x="457200" y="59055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06A67"/>
                </a:solidFill>
                <a:latin typeface="Helvetica Neue"/>
                <a:ea typeface="Helvetica Neue"/>
                <a:cs typeface="Helvetica Neue"/>
              </a:defRPr>
            </a:defPPr>
          </a:lstStyle>
          <a:p xmlns:a="http://schemas.openxmlformats.org/drawingml/2006/main">
            <a:pPr>
              <a:buNone/>
              <a:defRPr sz="1350" b="0">
                <a:solidFill>
                  <a:srgbClr val="606A67"/>
                </a:solidFill>
                <a:latin typeface="Helvetica Neue"/>
                <a:ea typeface="Helvetica Neue"/>
                <a:cs typeface="Helvetica Neue"/>
              </a:defRPr>
            </a:pPr>
            <a:r>
              <a:rPr sz="1350" b="0">
                <a:solidFill>
                  <a:srgbClr val="606A67"/>
                </a:solidFill>
                <a:latin typeface="Helvetica Neue"/>
                <a:ea typeface="Helvetica Neue"/>
                <a:cs typeface="Helvetica Neue"/>
              </a:rPr>
              <a:t>Illustrative lookup target: ~15 minutes → under 5 seconds. Not measured; excludes scoping and booking.</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0CFF11A-116D-4780-8E2B-0638B0B69552}"/>
              </a:ext>
            </a:extLst>
          </p:cNvPr>
          <p:cNvCxnSpPr>
            <a:stCxn xmlns:a="http://schemas.openxmlformats.org/drawingml/2006/main" id="11" idx="3"/>
            <a:endCxn xmlns:a="http://schemas.openxmlformats.org/drawingml/2006/main" id="12" idx="1"/>
          </p:cNvCxnSpPr>
          <p:nvPr/>
        </p:nvCxnSpPr>
        <p:spPr>
          <a:xfrm xmlns:a="http://schemas.openxmlformats.org/drawingml/2006/main">
            <a:off x="75628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3" name="">
            <a:extLst xmlns:a="http://schemas.openxmlformats.org/drawingml/2006/main">
              <a:ext uri="{FF2B5EF4-FFF2-40B4-BE49-F238E27FC236}">
                <a16:creationId xmlns:a16="http://schemas.microsoft.com/office/drawing/2014/main" id="{1649F78C-60B0-4943-AF42-64016B78CD3D}"/>
              </a:ext>
            </a:extLst>
          </p:cNvPr>
          <p:cNvCxnSpPr>
            <a:stCxn xmlns:a="http://schemas.openxmlformats.org/drawingml/2006/main" id="10" idx="3"/>
            <a:endCxn xmlns:a="http://schemas.openxmlformats.org/drawingml/2006/main" id="11" idx="1"/>
          </p:cNvCxnSpPr>
          <p:nvPr/>
        </p:nvCxnSpPr>
        <p:spPr>
          <a:xfrm xmlns:a="http://schemas.openxmlformats.org/drawingml/2006/main">
            <a:off x="3409950" y="5553075"/>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6" name="text-46">
            <a:extLst xmlns:a="http://schemas.openxmlformats.org/drawingml/2006/main">
              <a:ext uri="{FF2B5EF4-FFF2-40B4-BE49-F238E27FC236}">
                <a16:creationId xmlns:a16="http://schemas.microsoft.com/office/drawing/2014/main" id="{FAF97EA1-5185-4FAD-A815-F8BCA7E21FB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BUSINESS MODEL AND DISTRIBUTION</a:t>
            </a:r>
          </a:p>
        </p:txBody>
      </p:sp>
      <p:sp>
        <p:nvSpPr>
          <p:cNvPr id="2" name="text-47">
            <a:extLst xmlns:a="http://schemas.openxmlformats.org/drawingml/2006/main">
              <a:ext uri="{FF2B5EF4-FFF2-40B4-BE49-F238E27FC236}">
                <a16:creationId xmlns:a16="http://schemas.microsoft.com/office/drawing/2014/main" id="{986E807D-E8C9-46A3-BD96-DA7C069F93FC}"/>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GoLocal earns when a new customer’s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booking becomes a fulfilled job</a:t>
            </a:r>
          </a:p>
        </p:txBody>
      </p:sp>
      <p:sp>
        <p:nvSpPr>
          <p:cNvPr id="3" name="text-48">
            <a:extLst xmlns:a="http://schemas.openxmlformats.org/drawingml/2006/main">
              <a:ext uri="{FF2B5EF4-FFF2-40B4-BE49-F238E27FC236}">
                <a16:creationId xmlns:a16="http://schemas.microsoft.com/office/drawing/2014/main" id="{6289C454-CBAB-4CBF-8D37-F1EECD795938}"/>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49">
            <a:extLst xmlns:a="http://schemas.openxmlformats.org/drawingml/2006/main">
              <a:ext uri="{FF2B5EF4-FFF2-40B4-BE49-F238E27FC236}">
                <a16:creationId xmlns:a16="http://schemas.microsoft.com/office/drawing/2014/main" id="{A6583BE2-0D25-4356-AFE1-085B280C44EF}"/>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4 / 6</a:t>
            </a:r>
          </a:p>
        </p:txBody>
      </p:sp>
      <p:sp>
        <p:nvSpPr>
          <p:cNvPr id="5" name="text-50">
            <a:extLst xmlns:a="http://schemas.openxmlformats.org/drawingml/2006/main">
              <a:ext uri="{FF2B5EF4-FFF2-40B4-BE49-F238E27FC236}">
                <a16:creationId xmlns:a16="http://schemas.microsoft.com/office/drawing/2014/main" id="{9F6F9698-B980-4A5C-81A7-C0E01B460FDC}"/>
              </a:ext>
            </a:extLst>
          </p:cNvPr>
          <p:cNvSpPr>
            <a:spLocks xmlns:a="http://schemas.openxmlformats.org/drawingml/2006/main" noGrp="1"/>
          </p:cNvSpPr>
          <p:nvPr/>
        </p:nvSpPr>
        <p:spPr>
          <a:xfrm xmlns:a="http://schemas.openxmlformats.org/drawingml/2006/main">
            <a:off x="457200" y="2057400"/>
            <a:ext cx="11277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8352F"/>
                </a:solidFill>
                <a:latin typeface="Helvetica Neue"/>
                <a:ea typeface="Helvetica Neue"/>
                <a:cs typeface="Helvetica Neue"/>
              </a:defRPr>
            </a:defPPr>
          </a:lstStyle>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Proposed: the supplier pays a success fee. GoLocal shares an agreed</a:t>
            </a:r>
          </a:p>
          <a:p xmlns:a="http://schemas.openxmlformats.org/drawingml/2006/main">
            <a:pPr>
              <a:buNone/>
              <a:defRPr sz="2100" b="0">
                <a:solidFill>
                  <a:srgbClr val="18352F"/>
                </a:solidFill>
                <a:latin typeface="Helvetica Neue"/>
                <a:ea typeface="Helvetica Neue"/>
                <a:cs typeface="Helvetica Neue"/>
              </a:defRPr>
            </a:pPr>
            <a:r>
              <a:rPr sz="2100" b="0">
                <a:solidFill>
                  <a:srgbClr val="18352F"/>
                </a:solidFill>
                <a:latin typeface="Helvetica Neue"/>
                <a:ea typeface="Helvetica Neue"/>
                <a:cs typeface="Helvetica Neue"/>
              </a:rPr>
              <a:t>portion with the partner that brings the customer.</a:t>
            </a:r>
          </a:p>
        </p:txBody>
      </p:sp>
      <p:sp>
        <p:nvSpPr>
          <p:cNvPr id="6" name="text-51">
            <a:extLst xmlns:a="http://schemas.openxmlformats.org/drawingml/2006/main">
              <a:ext uri="{FF2B5EF4-FFF2-40B4-BE49-F238E27FC236}">
                <a16:creationId xmlns:a16="http://schemas.microsoft.com/office/drawing/2014/main" id="{8FB99042-26B6-494E-A35C-300EC7E87DC1}"/>
              </a:ext>
            </a:extLst>
          </p:cNvPr>
          <p:cNvSpPr>
            <a:spLocks xmlns:a="http://schemas.openxmlformats.org/drawingml/2006/main" noGrp="1"/>
          </p:cNvSpPr>
          <p:nvPr/>
        </p:nvSpPr>
        <p:spPr>
          <a:xfrm xmlns:a="http://schemas.openxmlformats.org/drawingml/2006/main">
            <a:off x="457200" y="32194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Direct agent partnership</a:t>
            </a:r>
          </a:p>
        </p:txBody>
      </p:sp>
      <p:sp>
        <p:nvSpPr>
          <p:cNvPr id="7" name="text-52">
            <a:extLst xmlns:a="http://schemas.openxmlformats.org/drawingml/2006/main">
              <a:ext uri="{FF2B5EF4-FFF2-40B4-BE49-F238E27FC236}">
                <a16:creationId xmlns:a16="http://schemas.microsoft.com/office/drawing/2014/main" id="{BF0F34B1-09AA-4179-A4DC-F6AB936E7E85}"/>
              </a:ext>
            </a:extLst>
          </p:cNvPr>
          <p:cNvSpPr>
            <a:spLocks xmlns:a="http://schemas.openxmlformats.org/drawingml/2006/main" noGrp="1"/>
          </p:cNvSpPr>
          <p:nvPr/>
        </p:nvSpPr>
        <p:spPr>
          <a:xfrm xmlns:a="http://schemas.openxmlformats.org/drawingml/2006/main">
            <a:off x="457200" y="3762375"/>
            <a:ext cx="52197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An agent platform routes relevant requests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to GoLocal as an integrated booking tool.</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partnership still needs to be secured.</a:t>
            </a:r>
          </a:p>
        </p:txBody>
      </p:sp>
      <p:sp>
        <p:nvSpPr>
          <p:cNvPr id="8" name="text-53">
            <a:extLst xmlns:a="http://schemas.openxmlformats.org/drawingml/2006/main">
              <a:ext uri="{FF2B5EF4-FFF2-40B4-BE49-F238E27FC236}">
                <a16:creationId xmlns:a16="http://schemas.microsoft.com/office/drawing/2014/main" id="{9FF6C1A3-46F7-417E-8C2E-B22EE566CD0E}"/>
              </a:ext>
            </a:extLst>
          </p:cNvPr>
          <p:cNvSpPr>
            <a:spLocks xmlns:a="http://schemas.openxmlformats.org/drawingml/2006/main" noGrp="1"/>
          </p:cNvSpPr>
          <p:nvPr/>
        </p:nvSpPr>
        <p:spPr>
          <a:xfrm xmlns:a="http://schemas.openxmlformats.org/drawingml/2006/main">
            <a:off x="6610350" y="3219450"/>
            <a:ext cx="5124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215C4E"/>
                </a:solidFill>
                <a:latin typeface="Helvetica Neue"/>
                <a:ea typeface="Helvetica Neue"/>
                <a:cs typeface="Helvetica Neue"/>
              </a:defRPr>
            </a:defPPr>
          </a:lstStyle>
          <a:p xmlns:a="http://schemas.openxmlformats.org/drawingml/2006/main">
            <a:pPr>
              <a:buNone/>
              <a:defRPr sz="2325" b="1">
                <a:solidFill>
                  <a:srgbClr val="215C4E"/>
                </a:solidFill>
                <a:latin typeface="Helvetica Neue"/>
                <a:ea typeface="Helvetica Neue"/>
                <a:cs typeface="Helvetica Neue"/>
              </a:defRPr>
            </a:pPr>
            <a:r>
              <a:rPr sz="2325" b="1">
                <a:solidFill>
                  <a:srgbClr val="215C4E"/>
                </a:solidFill>
                <a:latin typeface="Helvetica Neue"/>
                <a:ea typeface="Helvetica Neue"/>
                <a:cs typeface="Helvetica Neue"/>
              </a:rPr>
              <a:t>User-added connector</a:t>
            </a:r>
          </a:p>
        </p:txBody>
      </p:sp>
      <p:sp>
        <p:nvSpPr>
          <p:cNvPr id="9" name="text-54">
            <a:extLst xmlns:a="http://schemas.openxmlformats.org/drawingml/2006/main">
              <a:ext uri="{FF2B5EF4-FFF2-40B4-BE49-F238E27FC236}">
                <a16:creationId xmlns:a16="http://schemas.microsoft.com/office/drawing/2014/main" id="{BFDA3310-7D24-444A-A254-2440C190AB06}"/>
              </a:ext>
            </a:extLst>
          </p:cNvPr>
          <p:cNvSpPr>
            <a:spLocks xmlns:a="http://schemas.openxmlformats.org/drawingml/2006/main" noGrp="1"/>
          </p:cNvSpPr>
          <p:nvPr/>
        </p:nvSpPr>
        <p:spPr>
          <a:xfrm xmlns:a="http://schemas.openxmlformats.org/drawingml/2006/main">
            <a:off x="6610350" y="3762375"/>
            <a:ext cx="51244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Reach an audience with an urgent need.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Help them add GoLocal to their agent.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Installation requires customer acquisition.</a:t>
            </a:r>
          </a:p>
        </p:txBody>
      </p:sp>
      <p:sp>
        <p:nvSpPr>
          <p:cNvPr id="10" name="diagram-55">
            <a:extLst xmlns:a="http://schemas.openxmlformats.org/drawingml/2006/main">
              <a:ext uri="{FF2B5EF4-FFF2-40B4-BE49-F238E27FC236}">
                <a16:creationId xmlns:a16="http://schemas.microsoft.com/office/drawing/2014/main" id="{F61C9BFD-0E3D-4A6B-88F5-113305726798}"/>
              </a:ext>
            </a:extLst>
          </p:cNvPr>
          <p:cNvSpPr>
            <a:spLocks xmlns:a="http://schemas.openxmlformats.org/drawingml/2006/main" noGrp="1"/>
          </p:cNvSpPr>
          <p:nvPr/>
        </p:nvSpPr>
        <p:spPr>
          <a:xfrm xmlns:a="http://schemas.openxmlformats.org/drawingml/2006/main">
            <a:off x="457200" y="5238750"/>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Approved connector</a:t>
            </a:r>
          </a:p>
        </p:txBody>
      </p:sp>
      <p:sp>
        <p:nvSpPr>
          <p:cNvPr id="11" name="diagram-56">
            <a:extLst xmlns:a="http://schemas.openxmlformats.org/drawingml/2006/main">
              <a:ext uri="{FF2B5EF4-FFF2-40B4-BE49-F238E27FC236}">
                <a16:creationId xmlns:a16="http://schemas.microsoft.com/office/drawing/2014/main" id="{4CB77984-AA3C-4084-A02D-C45BA0C60B64}"/>
              </a:ext>
            </a:extLst>
          </p:cNvPr>
          <p:cNvSpPr>
            <a:spLocks xmlns:a="http://schemas.openxmlformats.org/drawingml/2006/main" noGrp="1"/>
          </p:cNvSpPr>
          <p:nvPr/>
        </p:nvSpPr>
        <p:spPr>
          <a:xfrm xmlns:a="http://schemas.openxmlformats.org/drawingml/2006/main">
            <a:off x="4610100" y="5238750"/>
            <a:ext cx="295275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Useful completed tasks</a:t>
            </a:r>
          </a:p>
        </p:txBody>
      </p:sp>
      <p:sp>
        <p:nvSpPr>
          <p:cNvPr id="12" name="diagram-57">
            <a:extLst xmlns:a="http://schemas.openxmlformats.org/drawingml/2006/main">
              <a:ext uri="{FF2B5EF4-FFF2-40B4-BE49-F238E27FC236}">
                <a16:creationId xmlns:a16="http://schemas.microsoft.com/office/drawing/2014/main" id="{06C078AC-1C88-45B8-8F3E-3F165DD5E3E9}"/>
              </a:ext>
            </a:extLst>
          </p:cNvPr>
          <p:cNvSpPr>
            <a:spLocks xmlns:a="http://schemas.openxmlformats.org/drawingml/2006/main" noGrp="1"/>
          </p:cNvSpPr>
          <p:nvPr/>
        </p:nvSpPr>
        <p:spPr>
          <a:xfrm xmlns:a="http://schemas.openxmlformats.org/drawingml/2006/main">
            <a:off x="8763000" y="5238750"/>
            <a:ext cx="297180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Broader discovery</a:t>
            </a:r>
          </a:p>
        </p:txBody>
      </p:sp>
      <p:sp>
        <p:nvSpPr>
          <p:cNvPr id="15" name="text-58">
            <a:extLst xmlns:a="http://schemas.openxmlformats.org/drawingml/2006/main">
              <a:ext uri="{FF2B5EF4-FFF2-40B4-BE49-F238E27FC236}">
                <a16:creationId xmlns:a16="http://schemas.microsoft.com/office/drawing/2014/main" id="{FEB59C90-5538-4FE2-AE16-DAF0E9468CB4}"/>
              </a:ext>
            </a:extLst>
          </p:cNvPr>
          <p:cNvSpPr>
            <a:spLocks xmlns:a="http://schemas.openxmlformats.org/drawingml/2006/main" noGrp="1"/>
          </p:cNvSpPr>
          <p:nvPr/>
        </p:nvSpPr>
        <p:spPr>
          <a:xfrm xmlns:a="http://schemas.openxmlformats.org/drawingml/2006/main">
            <a:off x="457200" y="604837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Strong utility can support recommendations; placement is platform-dependent. Fees and routes remain open.</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292D22AC-E440-43E0-B56A-824B71ADF847}"/>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3DDD48EB-1E4E-4495-A5A8-ADF65756AD4F}"/>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2026-10-10T23:25:17.6290000Z</dcterms:created>
  <dcterms:modified xsi:type="dcterms:W3CDTF">2026-10-10T23:25:17.6290000Z</dcterms:modified>
</coreProperties>
</file>