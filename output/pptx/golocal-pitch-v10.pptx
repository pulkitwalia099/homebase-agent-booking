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6171797e3448d4" /><Relationship Type="http://schemas.openxmlformats.org/officeDocument/2006/relationships/extended-properties" Target="/docProps/app.xml" Id="R7dbc541af81f4a93" /><Relationship Type="http://schemas.openxmlformats.org/officeDocument/2006/relationships/officeDocument" Target="/ppt/presentation.xml" Id="R9a7a1678cf60482c" /></Relationships>
</file>

<file path=ppt/presentation.xml><?xml version="1.0" encoding="utf-8"?>
<p:presentation xmlns:p="http://schemas.openxmlformats.org/presentationml/2006/main">
  <p:sldMasterIdLst>
    <p:sldMasterId xmlns:r="http://schemas.openxmlformats.org/officeDocument/2006/relationships" id="2147483648" r:id="R446a2a65246c447d"/>
  </p:sldMasterIdLst>
  <p:notesMasterIdLst>
    <p:notesMasterId xmlns:r="http://schemas.openxmlformats.org/officeDocument/2006/relationships" r:id="R0730e42bddd24422"/>
  </p:notesMasterIdLst>
  <p:sldIdLst>
    <p:sldId xmlns:r="http://schemas.openxmlformats.org/officeDocument/2006/relationships" id="256" r:id="Rfa9af4ee49f94f11"/>
    <p:sldId xmlns:r="http://schemas.openxmlformats.org/officeDocument/2006/relationships" id="257" r:id="R01d2d105ab9949f6"/>
    <p:sldId xmlns:r="http://schemas.openxmlformats.org/officeDocument/2006/relationships" id="258" r:id="R91cdc0dcf41b4092"/>
    <p:sldId xmlns:r="http://schemas.openxmlformats.org/officeDocument/2006/relationships" id="259" r:id="Rff6dae70c6b54c16"/>
    <p:sldId xmlns:r="http://schemas.openxmlformats.org/officeDocument/2006/relationships" id="260" r:id="R717fc56f255040be"/>
    <p:sldId xmlns:r="http://schemas.openxmlformats.org/officeDocument/2006/relationships" id="261" r:id="R477cba183a4942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62290bb8a14286" /><Relationship Type="http://schemas.openxmlformats.org/officeDocument/2006/relationships/slideMaster" Target="/ppt/slideMasters/slideMaster1.xml" Id="R446a2a65246c447d" /><Relationship Type="http://schemas.openxmlformats.org/officeDocument/2006/relationships/notesMaster" Target="/ppt/notesMasters/notesMaster1.xml" Id="R0730e42bddd24422" /><Relationship Type="http://schemas.openxmlformats.org/officeDocument/2006/relationships/presProps" Target="/ppt/presProps.xml" Id="R21c019cd88944965" /><Relationship Type="http://schemas.openxmlformats.org/officeDocument/2006/relationships/tableStyles" Target="/ppt/tableStyles.xml" Id="R9ac22a8f48e34686" /><Relationship Type="http://schemas.openxmlformats.org/officeDocument/2006/relationships/slide" Target="/ppt/slides/slide1.xml" Id="Rfa9af4ee49f94f11" /><Relationship Type="http://schemas.openxmlformats.org/officeDocument/2006/relationships/slide" Target="/ppt/slides/slide2.xml" Id="R01d2d105ab9949f6" /><Relationship Type="http://schemas.openxmlformats.org/officeDocument/2006/relationships/slide" Target="/ppt/slides/slide3.xml" Id="R91cdc0dcf41b4092" /><Relationship Type="http://schemas.openxmlformats.org/officeDocument/2006/relationships/slide" Target="/ppt/slides/slide4.xml" Id="Rff6dae70c6b54c16" /><Relationship Type="http://schemas.openxmlformats.org/officeDocument/2006/relationships/slide" Target="/ppt/slides/slide5.xml" Id="R717fc56f255040be" /><Relationship Type="http://schemas.openxmlformats.org/officeDocument/2006/relationships/slide" Target="/ppt/slides/slide6.xml" Id="R477cba183a4942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1608c6c0de4f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02a76f979e4860" /><Relationship Type="http://schemas.openxmlformats.org/officeDocument/2006/relationships/notesMaster" Target="/ppt/notesMasters/notesMaster1.xml" Id="Rd7f171908d5f4a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4d2d1432b6433c" /><Relationship Type="http://schemas.openxmlformats.org/officeDocument/2006/relationships/notesMaster" Target="/ppt/notesMasters/notesMaster1.xml" Id="Re4c0c77eb1c041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4908caa2094ff2" /><Relationship Type="http://schemas.openxmlformats.org/officeDocument/2006/relationships/notesMaster" Target="/ppt/notesMasters/notesMaster1.xml" Id="Rb32d8c66fbc241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010b8dad5f431e" /><Relationship Type="http://schemas.openxmlformats.org/officeDocument/2006/relationships/notesMaster" Target="/ppt/notesMasters/notesMaster1.xml" Id="Re84e79fa648a4a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4eea7c54a3465b" /><Relationship Type="http://schemas.openxmlformats.org/officeDocument/2006/relationships/notesMaster" Target="/ppt/notesMasters/notesMaster1.xml" Id="Rb3b497d971fb40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fc74ba4768459a" /><Relationship Type="http://schemas.openxmlformats.org/officeDocument/2006/relationships/notesMaster" Target="/ppt/notesMasters/notesMaster1.xml" Id="R97f16c84c67946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rebuilt at the founder’s request, October 10 2026. GoLocal is the proposed shared data and booking layer linking five illustrative personal-agent platforms (Instinct, Muse, Dots, Town, Hark) to participating local businesses through authorized connections to existing fragmented business software. Native editable names stand in for later logos. No demand partnerships with these platforms or deployed integrations are claimed. Software boxes are categories, not signed vendors; business categories are examples, not a chosen wedge. Paired diagram rows are illustrative, not exclusive software/category relationships. Two-way connectors represent requests and data/results. Much of the required information is already maintained in provider systems, but quote/scoping rules, live availability, payment and management actions vary by system and need permitted operations and merchant authorization. Complex quotes may require provider input. GoLocal recruits/onboards participating businesses, connects their systems, standardizes services, coverage, pricing/quote requirements and schedules, and exposes quote, book, pay and management tools. These are proposed capabilities, not live/production-validated completion. Data is authorized and existing business software remains authoritative. One connection reaches actually connected agents and participating businesses; not all agents or all businesses. Payment tooling need not make GoLocal a payment processor. Funding caption $2B+ is the previously sourced selected-company subtotal, not funding of every named product or a last-month-only total. Hark &gt;$700M: https://hark.com/articles/hark-announces-usd700-million-fundraising-round ; Instinct $1B round: https://www.businesswire.com/news/home/20260928153437/en/ ; earlier Instinct $350M reported cumulative: https://techcrunch.com/2026/08/26/viral-ai-startup-instinct-has-raised-350-million-at-a-2-5-billion-valuation/ ; Town $55M: https://www.town.com/press/series-a . No unverified 5% software concentration statistic used. Architecture based on business-thesis.md and current-thesis.md; no new capability claims about individual vendor APIs. Distribution remains an open commercial question covered later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30b4d5f41e44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ab8094f1b243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3f4740b5ce4a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d2b098f82245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2bb30325c644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4e5328df7d47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343a817a6b4d41" /><Relationship Type="http://schemas.openxmlformats.org/officeDocument/2006/relationships/slideLayout" Target="/ppt/slideLayouts/slideLayout1.xml" Id="R1d4a062fdb344053" /><Relationship Type="http://schemas.openxmlformats.org/officeDocument/2006/relationships/slideLayout" Target="/ppt/slideLayouts/slideLayout2.xml" Id="R299423aa191946c3" /><Relationship Type="http://schemas.openxmlformats.org/officeDocument/2006/relationships/slideLayout" Target="/ppt/slideLayouts/slideLayout3.xml" Id="Re199cae9be0543bf" /><Relationship Type="http://schemas.openxmlformats.org/officeDocument/2006/relationships/slideLayout" Target="/ppt/slideLayouts/slideLayout4.xml" Id="Rfcf152cb80564c77" /><Relationship Type="http://schemas.openxmlformats.org/officeDocument/2006/relationships/slideLayout" Target="/ppt/slideLayouts/slideLayout5.xml" Id="Rc5cd141191e44e20" /><Relationship Type="http://schemas.openxmlformats.org/officeDocument/2006/relationships/slideLayout" Target="/ppt/slideLayouts/slideLayout6.xml" Id="R16b200d766fa4e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4a062fdb344053"/>
    <p:sldLayoutId xmlns:r="http://schemas.openxmlformats.org/officeDocument/2006/relationships" id="2147483650" r:id="R299423aa191946c3"/>
    <p:sldLayoutId xmlns:r="http://schemas.openxmlformats.org/officeDocument/2006/relationships" id="2147483651" r:id="Re199cae9be0543bf"/>
    <p:sldLayoutId xmlns:r="http://schemas.openxmlformats.org/officeDocument/2006/relationships" id="2147483652" r:id="Rfcf152cb80564c77"/>
    <p:sldLayoutId xmlns:r="http://schemas.openxmlformats.org/officeDocument/2006/relationships" id="2147483653" r:id="Rc5cd141191e44e20"/>
    <p:sldLayoutId xmlns:r="http://schemas.openxmlformats.org/officeDocument/2006/relationships" id="2147483654" r:id="R16b200d766fa4e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79d81762e9483f" /><Relationship Type="http://schemas.openxmlformats.org/officeDocument/2006/relationships/notesSlide" Target="/ppt/notesSlides/notesSlide1.xml" Id="R963c648151d14c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60f5c8cfe14b9b" /><Relationship Type="http://schemas.openxmlformats.org/officeDocument/2006/relationships/notesSlide" Target="/ppt/notesSlides/notesSlide2.xml" Id="Rd43ecac005f14f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ae94e156af4999" /><Relationship Type="http://schemas.openxmlformats.org/officeDocument/2006/relationships/notesSlide" Target="/ppt/notesSlides/notesSlide3.xml" Id="R775144080da14a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df3aa561f6429d" /><Relationship Type="http://schemas.openxmlformats.org/officeDocument/2006/relationships/notesSlide" Target="/ppt/notesSlides/notesSlide4.xml" Id="R1117ec7279e148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4b1e5afe844b0c" /><Relationship Type="http://schemas.openxmlformats.org/officeDocument/2006/relationships/notesSlide" Target="/ppt/notesSlides/notesSlide5.xml" Id="R0d6ceb35cb7447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e67bf4114e4618" /><Relationship Type="http://schemas.openxmlformats.org/officeDocument/2006/relationships/notesSlide" Target="/ppt/notesSlides/notesSlide6.xml" Id="R25420d4436434daa"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83CCFA8C-2AE8-49B3-A206-66D930F64190}"/>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2013605B-BFB0-49DD-890B-1424DB33CE0C}"/>
              </a:ext>
            </a:extLst>
          </p:cNvPr>
          <p:cNvCxnSpPr>
            <a:stCxn xmlns:a="http://schemas.openxmlformats.org/drawingml/2006/main" id="21" idx="3"/>
            <a:endCxn xmlns:a="http://schemas.openxmlformats.org/drawingml/2006/main" id="24" idx="1"/>
          </p:cNvCxnSpPr>
          <p:nvPr/>
        </p:nvCxnSpPr>
        <p:spPr>
          <a:xfrm xmlns:a="http://schemas.openxmlformats.org/drawingml/2006/main">
            <a:off x="9258300" y="5181600"/>
            <a:ext cx="60960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34" name="">
            <a:extLst xmlns:a="http://schemas.openxmlformats.org/drawingml/2006/main">
              <a:ext uri="{FF2B5EF4-FFF2-40B4-BE49-F238E27FC236}">
                <a16:creationId xmlns:a16="http://schemas.microsoft.com/office/drawing/2014/main" id="{335853EE-F3E7-458A-A52A-E1BF4446D310}"/>
              </a:ext>
            </a:extLst>
          </p:cNvPr>
          <p:cNvCxnSpPr>
            <a:stCxn xmlns:a="http://schemas.openxmlformats.org/drawingml/2006/main" id="14" idx="3"/>
            <a:endCxn xmlns:a="http://schemas.openxmlformats.org/drawingml/2006/main" id="21" idx="1"/>
          </p:cNvCxnSpPr>
          <p:nvPr/>
        </p:nvCxnSpPr>
        <p:spPr>
          <a:xfrm xmlns:a="http://schemas.openxmlformats.org/drawingml/2006/main">
            <a:off x="6610350" y="4133850"/>
            <a:ext cx="895350" cy="10477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3" name="">
            <a:extLst xmlns:a="http://schemas.openxmlformats.org/drawingml/2006/main">
              <a:ext uri="{FF2B5EF4-FFF2-40B4-BE49-F238E27FC236}">
                <a16:creationId xmlns:a16="http://schemas.microsoft.com/office/drawing/2014/main" id="{8CE6C988-8ABC-4C9D-8897-116DFC9D0E4A}"/>
              </a:ext>
            </a:extLst>
          </p:cNvPr>
          <p:cNvCxnSpPr>
            <a:stCxn xmlns:a="http://schemas.openxmlformats.org/drawingml/2006/main" id="20" idx="3"/>
            <a:endCxn xmlns:a="http://schemas.openxmlformats.org/drawingml/2006/main" id="23" idx="1"/>
          </p:cNvCxnSpPr>
          <p:nvPr/>
        </p:nvCxnSpPr>
        <p:spPr>
          <a:xfrm xmlns:a="http://schemas.openxmlformats.org/drawingml/2006/main">
            <a:off x="9258300" y="4191000"/>
            <a:ext cx="60960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32" name="">
            <a:extLst xmlns:a="http://schemas.openxmlformats.org/drawingml/2006/main">
              <a:ext uri="{FF2B5EF4-FFF2-40B4-BE49-F238E27FC236}">
                <a16:creationId xmlns:a16="http://schemas.microsoft.com/office/drawing/2014/main" id="{F5E76A11-6DBE-447E-A2F0-542A6D1D0CF9}"/>
              </a:ext>
            </a:extLst>
          </p:cNvPr>
          <p:cNvCxnSpPr>
            <a:stCxn xmlns:a="http://schemas.openxmlformats.org/drawingml/2006/main" id="14" idx="3"/>
            <a:endCxn xmlns:a="http://schemas.openxmlformats.org/drawingml/2006/main" id="20" idx="1"/>
          </p:cNvCxnSpPr>
          <p:nvPr/>
        </p:nvCxnSpPr>
        <p:spPr>
          <a:xfrm xmlns:a="http://schemas.openxmlformats.org/drawingml/2006/main">
            <a:off x="6610350" y="4133850"/>
            <a:ext cx="895350" cy="571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1" name="">
            <a:extLst xmlns:a="http://schemas.openxmlformats.org/drawingml/2006/main">
              <a:ext uri="{FF2B5EF4-FFF2-40B4-BE49-F238E27FC236}">
                <a16:creationId xmlns:a16="http://schemas.microsoft.com/office/drawing/2014/main" id="{D891745E-E217-4E46-A76D-1A6F85197A5E}"/>
              </a:ext>
            </a:extLst>
          </p:cNvPr>
          <p:cNvCxnSpPr>
            <a:stCxn xmlns:a="http://schemas.openxmlformats.org/drawingml/2006/main" id="19" idx="3"/>
            <a:endCxn xmlns:a="http://schemas.openxmlformats.org/drawingml/2006/main" id="22" idx="1"/>
          </p:cNvCxnSpPr>
          <p:nvPr/>
        </p:nvCxnSpPr>
        <p:spPr>
          <a:xfrm xmlns:a="http://schemas.openxmlformats.org/drawingml/2006/main">
            <a:off x="9258300" y="3200400"/>
            <a:ext cx="60960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D55E98BD-D645-4D2A-8374-A0E7D42AF81B}"/>
              </a:ext>
            </a:extLst>
          </p:cNvPr>
          <p:cNvCxnSpPr>
            <a:stCxn xmlns:a="http://schemas.openxmlformats.org/drawingml/2006/main" id="14" idx="3"/>
            <a:endCxn xmlns:a="http://schemas.openxmlformats.org/drawingml/2006/main" id="19" idx="1"/>
          </p:cNvCxnSpPr>
          <p:nvPr/>
        </p:nvCxnSpPr>
        <p:spPr>
          <a:xfrm xmlns:a="http://schemas.openxmlformats.org/drawingml/2006/main" flipV="1">
            <a:off x="6610350" y="3200400"/>
            <a:ext cx="895350" cy="9334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B00B8290-0493-4CDD-B4D2-6C9F058F725C}"/>
              </a:ext>
            </a:extLst>
          </p:cNvPr>
          <p:cNvCxnSpPr>
            <a:stCxn xmlns:a="http://schemas.openxmlformats.org/drawingml/2006/main" id="13" idx="3"/>
            <a:endCxn xmlns:a="http://schemas.openxmlformats.org/drawingml/2006/main" id="14"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DF077FBA-66F2-4D13-9414-1C33AAA6A910}"/>
              </a:ext>
            </a:extLst>
          </p:cNvPr>
          <p:cNvCxnSpPr>
            <a:stCxn xmlns:a="http://schemas.openxmlformats.org/drawingml/2006/main" id="12" idx="3"/>
            <a:endCxn xmlns:a="http://schemas.openxmlformats.org/drawingml/2006/main" id="14"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4FE01710-9524-4480-B1E7-2EF753380A4E}"/>
              </a:ext>
            </a:extLst>
          </p:cNvPr>
          <p:cNvCxnSpPr>
            <a:stCxn xmlns:a="http://schemas.openxmlformats.org/drawingml/2006/main" id="11" idx="3"/>
            <a:endCxn xmlns:a="http://schemas.openxmlformats.org/drawingml/2006/main" id="14"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7ED8A201-9862-4C7E-B931-AE366CBD7A06}"/>
              </a:ext>
            </a:extLst>
          </p:cNvPr>
          <p:cNvCxnSpPr>
            <a:stCxn xmlns:a="http://schemas.openxmlformats.org/drawingml/2006/main" id="10" idx="3"/>
            <a:endCxn xmlns:a="http://schemas.openxmlformats.org/drawingml/2006/main" id="14"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1C21860B-14F7-488F-B50F-CD0CFE0CD28E}"/>
              </a:ext>
            </a:extLst>
          </p:cNvPr>
          <p:cNvCxnSpPr>
            <a:stCxn xmlns:a="http://schemas.openxmlformats.org/drawingml/2006/main" id="9" idx="3"/>
            <a:endCxn xmlns:a="http://schemas.openxmlformats.org/drawingml/2006/main" id="14"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40" name="booking-layer-text-0">
            <a:extLst xmlns:a="http://schemas.openxmlformats.org/drawingml/2006/main">
              <a:ext uri="{FF2B5EF4-FFF2-40B4-BE49-F238E27FC236}">
                <a16:creationId xmlns:a16="http://schemas.microsoft.com/office/drawing/2014/main" id="{0D64066B-AA6B-4D88-80B8-B38AD29E67E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20D0C762-B1D5-4D77-B5DC-83A465B1F5F4}"/>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B8527A26-A891-4619-AD0A-9DEE2985DEBA}"/>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2C774CC6-CA5E-441B-955E-D0499EE02AF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522FE2CA-D063-4634-855B-2BDBFED17EA5}"/>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2F4FFE89-855E-499F-A414-C48EE3ED430F}"/>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E8B9A3E6-F4B0-41B3-B053-9E30F96C49B4}"/>
              </a:ext>
            </a:extLst>
          </p:cNvPr>
          <p:cNvSpPr>
            <a:spLocks xmlns:a="http://schemas.openxmlformats.org/drawingml/2006/main" noGrp="1"/>
          </p:cNvSpPr>
          <p:nvPr/>
        </p:nvSpPr>
        <p:spPr>
          <a:xfrm xmlns:a="http://schemas.openxmlformats.org/drawingml/2006/main">
            <a:off x="7505700" y="2124075"/>
            <a:ext cx="1752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Fragmented</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 software</a:t>
            </a:r>
          </a:p>
        </p:txBody>
      </p:sp>
      <p:sp>
        <p:nvSpPr>
          <p:cNvPr id="8" name="booking-layer-text-7">
            <a:extLst xmlns:a="http://schemas.openxmlformats.org/drawingml/2006/main">
              <a:ext uri="{FF2B5EF4-FFF2-40B4-BE49-F238E27FC236}">
                <a16:creationId xmlns:a16="http://schemas.microsoft.com/office/drawing/2014/main" id="{0C8F1713-CDAC-4514-B51A-89746F3F3692}"/>
              </a:ext>
            </a:extLst>
          </p:cNvPr>
          <p:cNvSpPr>
            <a:spLocks xmlns:a="http://schemas.openxmlformats.org/drawingml/2006/main" noGrp="1"/>
          </p:cNvSpPr>
          <p:nvPr/>
        </p:nvSpPr>
        <p:spPr>
          <a:xfrm xmlns:a="http://schemas.openxmlformats.org/drawingml/2006/main">
            <a:off x="9867900" y="2124075"/>
            <a:ext cx="1828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Fragmented</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local businesses</a:t>
            </a:r>
          </a:p>
        </p:txBody>
      </p:sp>
      <p:sp>
        <p:nvSpPr>
          <p:cNvPr id="9" name="booking-layer-node-8">
            <a:extLst xmlns:a="http://schemas.openxmlformats.org/drawingml/2006/main">
              <a:ext uri="{FF2B5EF4-FFF2-40B4-BE49-F238E27FC236}">
                <a16:creationId xmlns:a16="http://schemas.microsoft.com/office/drawing/2014/main" id="{F9CB7F42-58A3-4FB9-99B6-F19C8BD2EF31}"/>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0" name="booking-layer-node-9">
            <a:extLst xmlns:a="http://schemas.openxmlformats.org/drawingml/2006/main">
              <a:ext uri="{FF2B5EF4-FFF2-40B4-BE49-F238E27FC236}">
                <a16:creationId xmlns:a16="http://schemas.microsoft.com/office/drawing/2014/main" id="{523A5DB7-C8BD-451F-89EF-39BF2C61AE6A}"/>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1" name="booking-layer-node-10">
            <a:extLst xmlns:a="http://schemas.openxmlformats.org/drawingml/2006/main">
              <a:ext uri="{FF2B5EF4-FFF2-40B4-BE49-F238E27FC236}">
                <a16:creationId xmlns:a16="http://schemas.microsoft.com/office/drawing/2014/main" id="{242EE1E0-6ADA-4DE6-B646-A5376F885A08}"/>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2" name="booking-layer-node-11">
            <a:extLst xmlns:a="http://schemas.openxmlformats.org/drawingml/2006/main">
              <a:ext uri="{FF2B5EF4-FFF2-40B4-BE49-F238E27FC236}">
                <a16:creationId xmlns:a16="http://schemas.microsoft.com/office/drawing/2014/main" id="{E672628A-BA89-4890-A089-4E1412407E4C}"/>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3" name="booking-layer-node-12">
            <a:extLst xmlns:a="http://schemas.openxmlformats.org/drawingml/2006/main">
              <a:ext uri="{FF2B5EF4-FFF2-40B4-BE49-F238E27FC236}">
                <a16:creationId xmlns:a16="http://schemas.microsoft.com/office/drawing/2014/main" id="{455D403A-F3E7-409E-8F38-83ABFA354E55}"/>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4" name="booking-layer-node-13">
            <a:extLst xmlns:a="http://schemas.openxmlformats.org/drawingml/2006/main">
              <a:ext uri="{FF2B5EF4-FFF2-40B4-BE49-F238E27FC236}">
                <a16:creationId xmlns:a16="http://schemas.microsoft.com/office/drawing/2014/main" id="{ACA4053B-2BEC-4360-BE01-DFDE748CEF02}"/>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5" name="booking-layer-text-14">
            <a:extLst xmlns:a="http://schemas.openxmlformats.org/drawingml/2006/main">
              <a:ext uri="{FF2B5EF4-FFF2-40B4-BE49-F238E27FC236}">
                <a16:creationId xmlns:a16="http://schemas.microsoft.com/office/drawing/2014/main" id="{1ABA7BDF-AF56-4C50-B092-D9B3F65904D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6" name="booking-layer-text-15">
            <a:extLst xmlns:a="http://schemas.openxmlformats.org/drawingml/2006/main">
              <a:ext uri="{FF2B5EF4-FFF2-40B4-BE49-F238E27FC236}">
                <a16:creationId xmlns:a16="http://schemas.microsoft.com/office/drawing/2014/main" id="{963C6DBF-0D2A-4C1A-9821-530DF6107681}"/>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7" name="booking-layer-text-16">
            <a:extLst xmlns:a="http://schemas.openxmlformats.org/drawingml/2006/main">
              <a:ext uri="{FF2B5EF4-FFF2-40B4-BE49-F238E27FC236}">
                <a16:creationId xmlns:a16="http://schemas.microsoft.com/office/drawing/2014/main" id="{4C2B43D4-45BE-49DE-B179-2DF66DC66500}"/>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8" name="booking-layer-text-17">
            <a:extLst xmlns:a="http://schemas.openxmlformats.org/drawingml/2006/main">
              <a:ext uri="{FF2B5EF4-FFF2-40B4-BE49-F238E27FC236}">
                <a16:creationId xmlns:a16="http://schemas.microsoft.com/office/drawing/2014/main" id="{3E1A5CCC-EBBF-4B6F-93B0-B5901B980EBE}"/>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19" name="booking-layer-node-18">
            <a:extLst xmlns:a="http://schemas.openxmlformats.org/drawingml/2006/main">
              <a:ext uri="{FF2B5EF4-FFF2-40B4-BE49-F238E27FC236}">
                <a16:creationId xmlns:a16="http://schemas.microsoft.com/office/drawing/2014/main" id="{76572D64-2D4A-4612-A66B-5FCE74FA7668}"/>
              </a:ext>
            </a:extLst>
          </p:cNvPr>
          <p:cNvSpPr>
            <a:spLocks xmlns:a="http://schemas.openxmlformats.org/drawingml/2006/main" noGrp="1"/>
          </p:cNvSpPr>
          <p:nvPr/>
        </p:nvSpPr>
        <p:spPr>
          <a:xfrm xmlns:a="http://schemas.openxmlformats.org/drawingml/2006/main">
            <a:off x="7505700" y="2905125"/>
            <a:ext cx="17526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650" b="1">
                <a:solidFill>
                  <a:srgbClr val="193C32"/>
                </a:solidFill>
                <a:latin typeface="Helvetica Neue"/>
                <a:ea typeface="Helvetica Neue"/>
                <a:cs typeface="Helvetica Neue"/>
              </a:defRPr>
            </a:defPPr>
          </a:lstStyle>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Field service</a:t>
            </a:r>
          </a:p>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software</a:t>
            </a:r>
          </a:p>
        </p:txBody>
      </p:sp>
      <p:sp>
        <p:nvSpPr>
          <p:cNvPr id="20" name="booking-layer-node-19">
            <a:extLst xmlns:a="http://schemas.openxmlformats.org/drawingml/2006/main">
              <a:ext uri="{FF2B5EF4-FFF2-40B4-BE49-F238E27FC236}">
                <a16:creationId xmlns:a16="http://schemas.microsoft.com/office/drawing/2014/main" id="{D4650B73-081F-4128-9648-8E75D08186D6}"/>
              </a:ext>
            </a:extLst>
          </p:cNvPr>
          <p:cNvSpPr>
            <a:spLocks xmlns:a="http://schemas.openxmlformats.org/drawingml/2006/main" noGrp="1"/>
          </p:cNvSpPr>
          <p:nvPr/>
        </p:nvSpPr>
        <p:spPr>
          <a:xfrm xmlns:a="http://schemas.openxmlformats.org/drawingml/2006/main">
            <a:off x="7505700" y="3895725"/>
            <a:ext cx="17526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650" b="1">
                <a:solidFill>
                  <a:srgbClr val="193C32"/>
                </a:solidFill>
                <a:latin typeface="Helvetica Neue"/>
                <a:ea typeface="Helvetica Neue"/>
                <a:cs typeface="Helvetica Neue"/>
              </a:defRPr>
            </a:defPPr>
          </a:lstStyle>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Booking</a:t>
            </a:r>
          </a:p>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software</a:t>
            </a:r>
          </a:p>
        </p:txBody>
      </p:sp>
      <p:sp>
        <p:nvSpPr>
          <p:cNvPr id="21" name="booking-layer-node-20">
            <a:extLst xmlns:a="http://schemas.openxmlformats.org/drawingml/2006/main">
              <a:ext uri="{FF2B5EF4-FFF2-40B4-BE49-F238E27FC236}">
                <a16:creationId xmlns:a16="http://schemas.microsoft.com/office/drawing/2014/main" id="{F6503552-F765-4A3F-9177-812F4DD9BC6B}"/>
              </a:ext>
            </a:extLst>
          </p:cNvPr>
          <p:cNvSpPr>
            <a:spLocks xmlns:a="http://schemas.openxmlformats.org/drawingml/2006/main" noGrp="1"/>
          </p:cNvSpPr>
          <p:nvPr/>
        </p:nvSpPr>
        <p:spPr>
          <a:xfrm xmlns:a="http://schemas.openxmlformats.org/drawingml/2006/main">
            <a:off x="7505700" y="4886325"/>
            <a:ext cx="17526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650" b="1">
                <a:solidFill>
                  <a:srgbClr val="193C32"/>
                </a:solidFill>
                <a:latin typeface="Helvetica Neue"/>
                <a:ea typeface="Helvetica Neue"/>
                <a:cs typeface="Helvetica Neue"/>
              </a:defRPr>
            </a:defPPr>
          </a:lstStyle>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CRM / other</a:t>
            </a:r>
          </a:p>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software</a:t>
            </a:r>
          </a:p>
        </p:txBody>
      </p:sp>
      <p:sp>
        <p:nvSpPr>
          <p:cNvPr id="22" name="booking-layer-node-21">
            <a:extLst xmlns:a="http://schemas.openxmlformats.org/drawingml/2006/main">
              <a:ext uri="{FF2B5EF4-FFF2-40B4-BE49-F238E27FC236}">
                <a16:creationId xmlns:a16="http://schemas.microsoft.com/office/drawing/2014/main" id="{01D3A5F9-DA97-4752-8438-BF6904749E6F}"/>
              </a:ext>
            </a:extLst>
          </p:cNvPr>
          <p:cNvSpPr>
            <a:spLocks xmlns:a="http://schemas.openxmlformats.org/drawingml/2006/main" noGrp="1"/>
          </p:cNvSpPr>
          <p:nvPr/>
        </p:nvSpPr>
        <p:spPr>
          <a:xfrm xmlns:a="http://schemas.openxmlformats.org/drawingml/2006/main">
            <a:off x="9867900" y="29051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650" b="1">
                <a:solidFill>
                  <a:srgbClr val="193C32"/>
                </a:solidFill>
                <a:latin typeface="Helvetica Neue"/>
                <a:ea typeface="Helvetica Neue"/>
                <a:cs typeface="Helvetica Neue"/>
              </a:defRPr>
            </a:defPPr>
          </a:lstStyle>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Plumbing</a:t>
            </a:r>
          </a:p>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businesses</a:t>
            </a:r>
          </a:p>
        </p:txBody>
      </p:sp>
      <p:sp>
        <p:nvSpPr>
          <p:cNvPr id="23" name="booking-layer-node-22">
            <a:extLst xmlns:a="http://schemas.openxmlformats.org/drawingml/2006/main">
              <a:ext uri="{FF2B5EF4-FFF2-40B4-BE49-F238E27FC236}">
                <a16:creationId xmlns:a16="http://schemas.microsoft.com/office/drawing/2014/main" id="{48865EC7-2445-4033-B4AF-1D87E6F5F7BA}"/>
              </a:ext>
            </a:extLst>
          </p:cNvPr>
          <p:cNvSpPr>
            <a:spLocks xmlns:a="http://schemas.openxmlformats.org/drawingml/2006/main" noGrp="1"/>
          </p:cNvSpPr>
          <p:nvPr/>
        </p:nvSpPr>
        <p:spPr>
          <a:xfrm xmlns:a="http://schemas.openxmlformats.org/drawingml/2006/main">
            <a:off x="9867900" y="38957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650" b="1">
                <a:solidFill>
                  <a:srgbClr val="193C32"/>
                </a:solidFill>
                <a:latin typeface="Helvetica Neue"/>
                <a:ea typeface="Helvetica Neue"/>
                <a:cs typeface="Helvetica Neue"/>
              </a:defRPr>
            </a:defPPr>
          </a:lstStyle>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Cleaning</a:t>
            </a:r>
          </a:p>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businesses</a:t>
            </a:r>
          </a:p>
        </p:txBody>
      </p:sp>
      <p:sp>
        <p:nvSpPr>
          <p:cNvPr id="24" name="booking-layer-node-23">
            <a:extLst xmlns:a="http://schemas.openxmlformats.org/drawingml/2006/main">
              <a:ext uri="{FF2B5EF4-FFF2-40B4-BE49-F238E27FC236}">
                <a16:creationId xmlns:a16="http://schemas.microsoft.com/office/drawing/2014/main" id="{662C097F-155E-4791-829D-AF6E0F5F47A3}"/>
              </a:ext>
            </a:extLst>
          </p:cNvPr>
          <p:cNvSpPr>
            <a:spLocks xmlns:a="http://schemas.openxmlformats.org/drawingml/2006/main" noGrp="1"/>
          </p:cNvSpPr>
          <p:nvPr/>
        </p:nvSpPr>
        <p:spPr>
          <a:xfrm xmlns:a="http://schemas.openxmlformats.org/drawingml/2006/main">
            <a:off x="9867900" y="48863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650" b="1">
                <a:solidFill>
                  <a:srgbClr val="193C32"/>
                </a:solidFill>
                <a:latin typeface="Helvetica Neue"/>
                <a:ea typeface="Helvetica Neue"/>
                <a:cs typeface="Helvetica Neue"/>
              </a:defRPr>
            </a:defPPr>
          </a:lstStyle>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Other local</a:t>
            </a:r>
          </a:p>
          <a:p xmlns:a="http://schemas.openxmlformats.org/drawingml/2006/main">
            <a:pPr algn="ct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businesses</a:t>
            </a:r>
          </a:p>
        </p:txBody>
      </p:sp>
      <p:sp>
        <p:nvSpPr>
          <p:cNvPr id="36" name="booking-layer-text-24">
            <a:extLst xmlns:a="http://schemas.openxmlformats.org/drawingml/2006/main">
              <a:ext uri="{FF2B5EF4-FFF2-40B4-BE49-F238E27FC236}">
                <a16:creationId xmlns:a16="http://schemas.microsoft.com/office/drawing/2014/main" id="{4B261BB0-1D57-462B-BA5C-897420DCE49A}"/>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37" name="booking-layer-text-25">
            <a:extLst xmlns:a="http://schemas.openxmlformats.org/drawingml/2006/main">
              <a:ext uri="{FF2B5EF4-FFF2-40B4-BE49-F238E27FC236}">
                <a16:creationId xmlns:a16="http://schemas.microsoft.com/office/drawing/2014/main" id="{92C4B978-FED8-4CEE-B488-4D1E1D8F6ED3}"/>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38" name="booking-layer-text-26">
            <a:extLst xmlns:a="http://schemas.openxmlformats.org/drawingml/2006/main">
              <a:ext uri="{FF2B5EF4-FFF2-40B4-BE49-F238E27FC236}">
                <a16:creationId xmlns:a16="http://schemas.microsoft.com/office/drawing/2014/main" id="{3B13E417-7AD4-4BDE-9484-FB2AA4C57901}"/>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Proposed network. Agent names and system categories are illustrative; merchant authorization is required.</a:t>
            </a:r>
          </a:p>
        </p:txBody>
      </p:sp>
      <p:sp>
        <p:nvSpPr>
          <p:cNvPr id="39" name="booking-layer-text-27">
            <a:extLst xmlns:a="http://schemas.openxmlformats.org/drawingml/2006/main">
              <a:ext uri="{FF2B5EF4-FFF2-40B4-BE49-F238E27FC236}">
                <a16:creationId xmlns:a16="http://schemas.microsoft.com/office/drawing/2014/main" id="{A8AE4396-6857-408C-B904-93E05BEDA64B}"/>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37DF83DE-5A33-4282-8F51-27C3C21881F2}"/>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61781F30-4A32-4089-B45E-B613D151094E}"/>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AB2CE5E3-CF42-470D-AD95-E07BAF42F633}"/>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9D5F3FB4-8036-4688-BB3E-2DF21A443830}"/>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4E528B29-3CF5-4574-892C-111409601FED}"/>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32D11FB8-A39A-40C6-9535-0B38CDB1A2A9}"/>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A7C5E4E1-DCBD-4CE7-B425-D6F1DDE91A26}"/>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87AF2991-03E2-4CC9-9F70-CAF624535310}"/>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971EE25C-1530-4232-8FE6-D9B4E4E7B4D3}"/>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A76E33C-A2A0-4E26-920C-161D69561E92}"/>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ECA2C3D8-F1FE-4F1C-905B-D3EE8F701FD8}"/>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4B4F758-C575-43CE-8370-C697B0DC9B60}"/>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08B2463E-8563-4D57-B047-FA89813D7945}"/>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2026-10-10T23:44:20.2780000Z</dcterms:created>
  <dcterms:modified xsi:type="dcterms:W3CDTF">2026-10-10T23:44:20.2780000Z</dcterms:modified>
</coreProperties>
</file>