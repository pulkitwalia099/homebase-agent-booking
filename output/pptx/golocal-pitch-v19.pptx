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6b362d09984d92" /><Relationship Type="http://schemas.openxmlformats.org/officeDocument/2006/relationships/extended-properties" Target="/docProps/app.xml" Id="Rc82cd692738b495f" /><Relationship Type="http://schemas.openxmlformats.org/officeDocument/2006/relationships/officeDocument" Target="/ppt/presentation.xml" Id="Rf214f0bcac1e448f" /></Relationships>
</file>

<file path=ppt/presentation.xml><?xml version="1.0" encoding="utf-8"?>
<p:presentation xmlns:p="http://schemas.openxmlformats.org/presentationml/2006/main">
  <p:sldMasterIdLst>
    <p:sldMasterId xmlns:r="http://schemas.openxmlformats.org/officeDocument/2006/relationships" id="2147483648" r:id="Re123fcea62134bf1"/>
  </p:sldMasterIdLst>
  <p:notesMasterIdLst>
    <p:notesMasterId xmlns:r="http://schemas.openxmlformats.org/officeDocument/2006/relationships" r:id="Rac135e067b37486e"/>
  </p:notesMasterIdLst>
  <p:sldIdLst>
    <p:sldId xmlns:r="http://schemas.openxmlformats.org/officeDocument/2006/relationships" id="256" r:id="R726d46cdc0f74a18"/>
    <p:sldId xmlns:r="http://schemas.openxmlformats.org/officeDocument/2006/relationships" id="257" r:id="R925124451e0243ff"/>
    <p:sldId xmlns:r="http://schemas.openxmlformats.org/officeDocument/2006/relationships" id="258" r:id="Ra8a4d2100bc34801"/>
    <p:sldId xmlns:r="http://schemas.openxmlformats.org/officeDocument/2006/relationships" id="259" r:id="R0d1a30b73d4a4d37"/>
    <p:sldId xmlns:r="http://schemas.openxmlformats.org/officeDocument/2006/relationships" id="260" r:id="Rb935ea43a7114cc5"/>
    <p:sldId xmlns:r="http://schemas.openxmlformats.org/officeDocument/2006/relationships" id="261" r:id="R9531d9f2086e4f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3329447b6043c8" /><Relationship Type="http://schemas.openxmlformats.org/officeDocument/2006/relationships/slideMaster" Target="/ppt/slideMasters/slideMaster1.xml" Id="Re123fcea62134bf1" /><Relationship Type="http://schemas.openxmlformats.org/officeDocument/2006/relationships/notesMaster" Target="/ppt/notesMasters/notesMaster1.xml" Id="Rac135e067b37486e" /><Relationship Type="http://schemas.openxmlformats.org/officeDocument/2006/relationships/presProps" Target="/ppt/presProps.xml" Id="R8279d5994e8e461f" /><Relationship Type="http://schemas.openxmlformats.org/officeDocument/2006/relationships/tableStyles" Target="/ppt/tableStyles.xml" Id="R5c321dd3d5b04082" /><Relationship Type="http://schemas.openxmlformats.org/officeDocument/2006/relationships/slide" Target="/ppt/slides/slide1.xml" Id="R726d46cdc0f74a18" /><Relationship Type="http://schemas.openxmlformats.org/officeDocument/2006/relationships/slide" Target="/ppt/slides/slide2.xml" Id="R925124451e0243ff" /><Relationship Type="http://schemas.openxmlformats.org/officeDocument/2006/relationships/slide" Target="/ppt/slides/slide3.xml" Id="Ra8a4d2100bc34801" /><Relationship Type="http://schemas.openxmlformats.org/officeDocument/2006/relationships/slide" Target="/ppt/slides/slide4.xml" Id="R0d1a30b73d4a4d37" /><Relationship Type="http://schemas.openxmlformats.org/officeDocument/2006/relationships/slide" Target="/ppt/slides/slide5.xml" Id="Rb935ea43a7114cc5" /><Relationship Type="http://schemas.openxmlformats.org/officeDocument/2006/relationships/slide" Target="/ppt/slides/slide6.xml" Id="R9531d9f2086e4f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fbde497f3446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cadf785b8f4e51" /><Relationship Type="http://schemas.openxmlformats.org/officeDocument/2006/relationships/notesMaster" Target="/ppt/notesMasters/notesMaster1.xml" Id="Ref1a7151d0214c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caff3cd9ac4de1" /><Relationship Type="http://schemas.openxmlformats.org/officeDocument/2006/relationships/notesMaster" Target="/ppt/notesMasters/notesMaster1.xml" Id="R4aa28b16c63a42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a27308c732436e" /><Relationship Type="http://schemas.openxmlformats.org/officeDocument/2006/relationships/notesMaster" Target="/ppt/notesMasters/notesMaster1.xml" Id="R74dd61d5ad6f4d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accb5e98314a9e" /><Relationship Type="http://schemas.openxmlformats.org/officeDocument/2006/relationships/notesMaster" Target="/ppt/notesMasters/notesMaster1.xml" Id="Rb0667971653c45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43000172dd490f" /><Relationship Type="http://schemas.openxmlformats.org/officeDocument/2006/relationships/notesMaster" Target="/ppt/notesMasters/notesMaster1.xml" Id="R042a9292bdc548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d0741d71644435" /><Relationship Type="http://schemas.openxmlformats.org/officeDocument/2006/relationships/notesMaster" Target="/ppt/notesMasters/notesMaster1.xml" Id="R26ce8418417848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replaces the earlier two-route distribution comparison with the founder-approved launch and growth plan. Proposed Salt Lake City pilot: one city and one service category. Service category and first audience remain to be selected; no live pilot transactions are asserted. Channel partners onboard participating businesses while GoLocal recruits users with a specific booking need. Concentrating supply and demand is the cold-start strategy, not evidence that cold start is already solved. The highlighted prompt expresses the intended one-time connector setup experience on compatible agent platforms; platform sign-in/authorization can follow, and transaction approvals are separate from connector installation. Setup, directory approval and native agent selection need to be verified on each target platform. The growth loop is a strategy: useful fulfilled bookings can support wider discovery and recommendations, which can bring more requests and attract more participating supply. It does not claim an automatic cross-user learning/ranking mechanism, universal recommendation eligibility or guaranteed agent traffic. OpenAI official plugin guidelines say plugins demonstrating strong real-world utility and high user satisfaction may be eligible for enhanced distribution such as directory placement or proactive suggestions: https://developers.openai.com/plugins/plugin-guidelines . OpenAI announcement describes discovery signals including conversational context, app usage patterns and user preferences: https://openai.com/index/developers-can-now-submit-apps-to-chatgpt/ . Muse guidelines say approved connectors are discoverable by its agent and in Settings; as users connect and get value more people discover them; featuring considers usefulness, completion, reliability and maintenance and is not guaranteed: https://muse.ai/platform/docs . Sources reviewed October 10 2026. Expansion category by category and city by city is planned after the first useful local coverage and booking outcomes. Supporting tactic, not on slide: invite a relevant provider to connect when there is a genuine customer-authorized request it can fulfill; sharing and routing require permission and support. Longer-term goal: direct personal-agent integration to become a default choice for relevant covered requests, not guaranteed routing of every search. Proposed business-paid success fee applies to fulfilled new-customer jobs, with a commercial share for contributing partners. Price, split, attributable volume, paid continuation and margins remain unagreed/unmeasured; no invented revenue mix or forecast. Existing-customer management is a separate commercial hypothesis. Founder latest update reports channel partnerships to onboard 50 service providers; preserve as a future onboarding commitment, not live supply, and reconcile the exact partner identities/counts when revising slide 5. That slide remains unchanged in this revision. No claim that Cactus is the dominant overall mid-market vendor. Slides 1–3 and 5–6 preserved. No outreach, bookings, application attachment change or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correction to slide 5 on October 10 2026: the Cactus AI partnership is an agreement to introduce GoLocal to 50+ service partners, not a commitment that providers will onboard. The regional back-office partner is named YourCardare and the founder states another 10+ potential introductions will come from it. Use 10+ as supplied; do not invent a different count, sum to a unique provider total, or infer signed onboarding commitments. Primary 50+ pipeline figure is explicitly attributed to Cactus AI; YourCardare additional 10+ is displayed separately. These are private founder-reported introductions in the pipeline, not completed introductions, authorized merchant integrations, live supply, confirmed bookings or revenue. This correction supersedes prior combined 50-provider onboarding-commitment framing in v16 and supporting records, which remain archived as historical. Planned Salt Lake City pilot is one city and one service category. Next-step sequence: provider introductions, onboard willing businesses and connect their authorized systems, test first customer-authorized agent bookings. Supplier access is distinct from demand distribution. No market dominance claim or booking-volume promise. Exact name YourCardare follows the latest founder instruction. Earlier Cactus 100+ customer reach and 20-client back-office count are historical and not summed. Slides 1–4 and 6 retained. Main short thesis and online Page unchanged; no application, outreach or bookings. Latest annotated founder correction: YourCardare figure is 10+ providers in the pipeline. This supersedes the former 56 figure in v17; original source and version archived. Only the annotated text and these notes changed; remaining slide elements and other slides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slide, October 10, 2026. Pulkit Walia is the GoLocal founder and an Urban Company founding team member, not an Urban Company founder. The decade building local services in Asia and helping scale the company from zero to a $3B IPO are founder-supplied credentials. The $3B describes the company IPO milestone, not personal revenue or a GoLocal valuation. HBS MBA and the Urban Company company milestone are also stated on the public team page https://laoh.ai/ (reviewed October 10, 2026). Rohit Jain is shown as Engineering, without an inferred CTO/cofounder title or specific full-time commitment. Backend experience at Amazon and Square and system-design instruction are supported by https://laoh.ai/. Production MCP experience is founder-reported: Rohit built products on MCPs and was an early adopter of deploying them in production. No independent public production audit has been established. The green capability lines connect these experiences to the proposed GoLocal roles: provider networks/service operations and agent integrations/reliable systems. This is an editorial assessment of fit, not measured GoLocal production performance. Supplied profile links: https://www.linkedin.com/in/pulkitwalia/ and https://www.linkedin.com/in/rohit-jain-343437187/. Direct LinkedIn profiles have not been independently read. Slides 1–5 retain their approved visible content. No live integrations, paid demand, completed GoLocal bookings or agreed pricing implied. No application submission, Page synchronization or outreach.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27eb094c9146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ca033b924942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f7cd3187b74e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7bacb7f4ba4c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d7356bf31e4c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e2c9fdb81243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ff9f97642c406b" /><Relationship Type="http://schemas.openxmlformats.org/officeDocument/2006/relationships/slideLayout" Target="/ppt/slideLayouts/slideLayout1.xml" Id="Rd87954f4347e4daf" /><Relationship Type="http://schemas.openxmlformats.org/officeDocument/2006/relationships/slideLayout" Target="/ppt/slideLayouts/slideLayout2.xml" Id="Rcb5a2d2a8b0d4628" /><Relationship Type="http://schemas.openxmlformats.org/officeDocument/2006/relationships/slideLayout" Target="/ppt/slideLayouts/slideLayout3.xml" Id="R441f95d5bdcf44ce" /><Relationship Type="http://schemas.openxmlformats.org/officeDocument/2006/relationships/slideLayout" Target="/ppt/slideLayouts/slideLayout4.xml" Id="R357514d9ec6447f1" /><Relationship Type="http://schemas.openxmlformats.org/officeDocument/2006/relationships/slideLayout" Target="/ppt/slideLayouts/slideLayout5.xml" Id="Rf6460edd6c3f45bd" /><Relationship Type="http://schemas.openxmlformats.org/officeDocument/2006/relationships/slideLayout" Target="/ppt/slideLayouts/slideLayout6.xml" Id="R78ea8cf3d06a44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7954f4347e4daf"/>
    <p:sldLayoutId xmlns:r="http://schemas.openxmlformats.org/officeDocument/2006/relationships" id="2147483650" r:id="Rcb5a2d2a8b0d4628"/>
    <p:sldLayoutId xmlns:r="http://schemas.openxmlformats.org/officeDocument/2006/relationships" id="2147483651" r:id="R441f95d5bdcf44ce"/>
    <p:sldLayoutId xmlns:r="http://schemas.openxmlformats.org/officeDocument/2006/relationships" id="2147483652" r:id="R357514d9ec6447f1"/>
    <p:sldLayoutId xmlns:r="http://schemas.openxmlformats.org/officeDocument/2006/relationships" id="2147483653" r:id="Rf6460edd6c3f45bd"/>
    <p:sldLayoutId xmlns:r="http://schemas.openxmlformats.org/officeDocument/2006/relationships" id="2147483654" r:id="R78ea8cf3d06a44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c8fe320dd14e32" /><Relationship Type="http://schemas.openxmlformats.org/officeDocument/2006/relationships/notesSlide" Target="/ppt/notesSlides/notesSlide1.xml" Id="Rc5ec51ab5fb948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54270bd0ad4f2b" /><Relationship Type="http://schemas.openxmlformats.org/officeDocument/2006/relationships/notesSlide" Target="/ppt/notesSlides/notesSlide2.xml" Id="Rc7ac46f6016344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82264e5680b49db" /><Relationship Type="http://schemas.openxmlformats.org/officeDocument/2006/relationships/notesSlide" Target="/ppt/notesSlides/notesSlide3.xml" Id="R87c62989d3fd49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794f0fc0b04a12" /><Relationship Type="http://schemas.openxmlformats.org/officeDocument/2006/relationships/notesSlide" Target="/ppt/notesSlides/notesSlide4.xml" Id="R906fbd148fdd41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976c81c57f74912" /><Relationship Type="http://schemas.openxmlformats.org/officeDocument/2006/relationships/notesSlide" Target="/ppt/notesSlides/notesSlide5.xml" Id="Rd8dc4ec002304f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d5e8b9346c444b9" /><Relationship Type="http://schemas.openxmlformats.org/officeDocument/2006/relationships/notesSlide" Target="/ppt/notesSlides/notesSlide6.xml" Id="R54b40d70959c45d9"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6E95FB22-C347-4CC0-B8D2-E0151E9C7E6D}"/>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569EFDD6-3FFC-4105-83A1-4849334CD3FA}"/>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114123ED-6CB7-4A11-BB70-30E1DF812B84}"/>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7F1B5231-6444-4069-8FE2-D5D1889D9F7D}"/>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05C2A48D-304D-4E67-BC09-D9ED613A56D0}"/>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9C71FA96-623D-4ABE-B223-DD199B7EAFBE}"/>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C0774CFB-C3FD-4441-916D-21E8D409BC88}"/>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FC74BF1C-2269-48E1-B1B9-5A744A81EA1B}"/>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6F02C3F9-59E5-4B84-AD41-080067B93BB9}"/>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09D70AB7-2DEF-4DE8-B269-469547177CE5}"/>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FCB20A03-44FA-46C6-8D02-6735A8D08FB0}"/>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776086A8-E74B-49B4-9C3B-9F7422330B10}"/>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DFB325A1-CF89-4E25-8DF2-6B693C8E9515}"/>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00047329-51AA-4055-BCCA-58D333B238C1}"/>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8E057AFB-BCB0-4E02-84D0-AAD938EAFBBA}"/>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48118569-805A-439B-B3E2-3CA8BFEC25D7}"/>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B5615B0F-8531-41E4-830B-A8E55DC046C0}"/>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ED25C5FC-E013-4E8E-A09B-D66150E2D169}"/>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EFF4EF78-DF0F-476F-A1C2-D1EC5D31EFEA}"/>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E5242348-F754-463D-8978-ABF8DDFA7058}"/>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0CCE8172-269A-4AC4-926F-49112BE1420D}"/>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Salt Lake City pilot · One city, one service category</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Start with one market</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Grow through bookings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Salt Lake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Partners onboard businesses.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We recruit users with a</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book</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local services for me.”</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book through your agent.</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B99E803-4444-49A7-B3EC-BD089B2DBDA4}"/>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8393B5D0-7D5D-4826-8CD1-EE5AC4EE29AC}"/>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Partnerships to launch the Salt Lake City pilot</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Channel partnerships give GoLocal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One city. One service category.</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7" name="team-slide6-text-0">
            <a:extLst xmlns:a="http://schemas.openxmlformats.org/drawingml/2006/main">
              <a:ext uri="{FF2B5EF4-FFF2-40B4-BE49-F238E27FC236}">
                <a16:creationId xmlns:a16="http://schemas.microsoft.com/office/drawing/2014/main" id="{F5A329AD-97B4-4A1D-862F-A1CBC4F58B78}"/>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slide6-text-1">
            <a:extLst xmlns:a="http://schemas.openxmlformats.org/drawingml/2006/main">
              <a:ext uri="{FF2B5EF4-FFF2-40B4-BE49-F238E27FC236}">
                <a16:creationId xmlns:a16="http://schemas.microsoft.com/office/drawing/2014/main" id="{068DB142-E76B-474A-8DD1-3E791EBCA1B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services experience meets agent engineering.</a:t>
            </a:r>
          </a:p>
        </p:txBody>
      </p:sp>
      <p:sp>
        <p:nvSpPr>
          <p:cNvPr id="3" name="team-slide6-text-2">
            <a:extLst xmlns:a="http://schemas.openxmlformats.org/drawingml/2006/main">
              <a:ext uri="{FF2B5EF4-FFF2-40B4-BE49-F238E27FC236}">
                <a16:creationId xmlns:a16="http://schemas.microsoft.com/office/drawing/2014/main" id="{BC419E8C-D37B-4D9E-85E1-D776932D59A8}"/>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operating knowledge and technical experience to build GoLocal.</a:t>
            </a:r>
          </a:p>
        </p:txBody>
      </p:sp>
      <p:sp>
        <p:nvSpPr>
          <p:cNvPr id="4" name="team-slide6-text-3">
            <a:extLst xmlns:a="http://schemas.openxmlformats.org/drawingml/2006/main">
              <a:ext uri="{FF2B5EF4-FFF2-40B4-BE49-F238E27FC236}">
                <a16:creationId xmlns:a16="http://schemas.microsoft.com/office/drawing/2014/main" id="{575CCC35-684F-4BA9-839D-E3591D67C244}"/>
              </a:ext>
            </a:extLst>
          </p:cNvPr>
          <p:cNvSpPr>
            <a:spLocks xmlns:a="http://schemas.openxmlformats.org/drawingml/2006/main" noGrp="1"/>
          </p:cNvSpPr>
          <p:nvPr/>
        </p:nvSpPr>
        <p:spPr>
          <a:xfrm xmlns:a="http://schemas.openxmlformats.org/drawingml/2006/main">
            <a:off x="495300" y="2371725"/>
            <a:ext cx="514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93C32"/>
                </a:solidFill>
                <a:latin typeface="Helvetica Neue"/>
                <a:ea typeface="Helvetica Neue"/>
                <a:cs typeface="Helvetica Neue"/>
              </a:defRPr>
            </a:defPPr>
          </a:lstStyle>
          <a:p xmlns:a="http://schemas.openxmlformats.org/drawingml/2006/main">
            <a:pPr algn="l">
              <a:defRPr sz="3150" b="1">
                <a:solidFill>
                  <a:srgbClr val="193C32"/>
                </a:solidFill>
                <a:latin typeface="Helvetica Neue"/>
                <a:ea typeface="Helvetica Neue"/>
                <a:cs typeface="Helvetica Neue"/>
              </a:defRPr>
            </a:pPr>
            <a:r>
              <a:rPr sz="3150" b="1">
                <a:solidFill>
                  <a:srgbClr val="193C32"/>
                </a:solidFill>
                <a:latin typeface="Helvetica Neue"/>
                <a:ea typeface="Helvetica Neue"/>
                <a:cs typeface="Helvetica Neue"/>
              </a:rPr>
              <a:t>Pulkit Walia</a:t>
            </a:r>
          </a:p>
        </p:txBody>
      </p:sp>
      <p:sp>
        <p:nvSpPr>
          <p:cNvPr id="5" name="team-slide6-text-4">
            <a:extLst xmlns:a="http://schemas.openxmlformats.org/drawingml/2006/main">
              <a:ext uri="{FF2B5EF4-FFF2-40B4-BE49-F238E27FC236}">
                <a16:creationId xmlns:a16="http://schemas.microsoft.com/office/drawing/2014/main" id="{FFD62B88-BE39-4BED-ADF0-27657CD7E725}"/>
              </a:ext>
            </a:extLst>
          </p:cNvPr>
          <p:cNvSpPr>
            <a:spLocks xmlns:a="http://schemas.openxmlformats.org/drawingml/2006/main" noGrp="1"/>
          </p:cNvSpPr>
          <p:nvPr/>
        </p:nvSpPr>
        <p:spPr>
          <a:xfrm xmlns:a="http://schemas.openxmlformats.org/drawingml/2006/main">
            <a:off x="495300" y="2962275"/>
            <a:ext cx="5143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Founder, HBS MBA</a:t>
            </a:r>
          </a:p>
        </p:txBody>
      </p:sp>
      <p:sp>
        <p:nvSpPr>
          <p:cNvPr id="6" name="team-slide6-text-5">
            <a:extLst xmlns:a="http://schemas.openxmlformats.org/drawingml/2006/main">
              <a:ext uri="{FF2B5EF4-FFF2-40B4-BE49-F238E27FC236}">
                <a16:creationId xmlns:a16="http://schemas.microsoft.com/office/drawing/2014/main" id="{324DC1CE-414C-4A8D-A36D-02F14FF11513}"/>
              </a:ext>
            </a:extLst>
          </p:cNvPr>
          <p:cNvSpPr>
            <a:spLocks xmlns:a="http://schemas.openxmlformats.org/drawingml/2006/main" noGrp="1"/>
          </p:cNvSpPr>
          <p:nvPr/>
        </p:nvSpPr>
        <p:spPr>
          <a:xfrm xmlns:a="http://schemas.openxmlformats.org/drawingml/2006/main">
            <a:off x="495300" y="3514725"/>
            <a:ext cx="5286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Urban Company founding team</a:t>
            </a:r>
          </a:p>
        </p:txBody>
      </p:sp>
      <p:sp>
        <p:nvSpPr>
          <p:cNvPr id="7" name="team-slide6-text-6">
            <a:extLst xmlns:a="http://schemas.openxmlformats.org/drawingml/2006/main">
              <a:ext uri="{FF2B5EF4-FFF2-40B4-BE49-F238E27FC236}">
                <a16:creationId xmlns:a16="http://schemas.microsoft.com/office/drawing/2014/main" id="{580D1253-CC6F-4AF1-B06D-0842E205DD90}"/>
              </a:ext>
            </a:extLst>
          </p:cNvPr>
          <p:cNvSpPr>
            <a:spLocks xmlns:a="http://schemas.openxmlformats.org/drawingml/2006/main" noGrp="1"/>
          </p:cNvSpPr>
          <p:nvPr/>
        </p:nvSpPr>
        <p:spPr>
          <a:xfrm xmlns:a="http://schemas.openxmlformats.org/drawingml/2006/main">
            <a:off x="495300" y="4010025"/>
            <a:ext cx="52863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 decade building local services in Asia.</a:t>
            </a:r>
          </a:p>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Helped scale the company from zero</a:t>
            </a:r>
          </a:p>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a $3B IPO.</a:t>
            </a:r>
          </a:p>
        </p:txBody>
      </p:sp>
      <p:sp>
        <p:nvSpPr>
          <p:cNvPr id="8" name="team-slide6-text-7">
            <a:extLst xmlns:a="http://schemas.openxmlformats.org/drawingml/2006/main">
              <a:ext uri="{FF2B5EF4-FFF2-40B4-BE49-F238E27FC236}">
                <a16:creationId xmlns:a16="http://schemas.microsoft.com/office/drawing/2014/main" id="{C422FD29-836A-4CE4-B014-89606A91E1C7}"/>
              </a:ext>
            </a:extLst>
          </p:cNvPr>
          <p:cNvSpPr>
            <a:spLocks xmlns:a="http://schemas.openxmlformats.org/drawingml/2006/main" noGrp="1"/>
          </p:cNvSpPr>
          <p:nvPr/>
        </p:nvSpPr>
        <p:spPr>
          <a:xfrm xmlns:a="http://schemas.openxmlformats.org/drawingml/2006/main">
            <a:off x="495300" y="5143500"/>
            <a:ext cx="5286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Provider networks and</a:t>
            </a:r>
          </a:p>
          <a:p xmlns:a="http://schemas.openxmlformats.org/drawingml/2006/main">
            <a:pPr algn="l">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service operations.</a:t>
            </a:r>
          </a:p>
        </p:txBody>
      </p:sp>
      <p:sp>
        <p:nvSpPr>
          <p:cNvPr id="9" name="team-slide6-text-8">
            <a:extLst xmlns:a="http://schemas.openxmlformats.org/drawingml/2006/main">
              <a:ext uri="{FF2B5EF4-FFF2-40B4-BE49-F238E27FC236}">
                <a16:creationId xmlns:a16="http://schemas.microsoft.com/office/drawing/2014/main" id="{62692B5D-DFCF-4469-B9BB-A1BE05981170}"/>
              </a:ext>
            </a:extLst>
          </p:cNvPr>
          <p:cNvSpPr>
            <a:spLocks xmlns:a="http://schemas.openxmlformats.org/drawingml/2006/main" noGrp="1"/>
          </p:cNvSpPr>
          <p:nvPr/>
        </p:nvSpPr>
        <p:spPr>
          <a:xfrm xmlns:a="http://schemas.openxmlformats.org/drawingml/2006/main">
            <a:off x="6553200" y="2371725"/>
            <a:ext cx="514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1">
                <a:solidFill>
                  <a:srgbClr val="193C32"/>
                </a:solidFill>
                <a:latin typeface="Helvetica Neue"/>
                <a:ea typeface="Helvetica Neue"/>
                <a:cs typeface="Helvetica Neue"/>
              </a:defRPr>
            </a:defPPr>
          </a:lstStyle>
          <a:p xmlns:a="http://schemas.openxmlformats.org/drawingml/2006/main">
            <a:pPr algn="l">
              <a:defRPr sz="3150" b="1">
                <a:solidFill>
                  <a:srgbClr val="193C32"/>
                </a:solidFill>
                <a:latin typeface="Helvetica Neue"/>
                <a:ea typeface="Helvetica Neue"/>
                <a:cs typeface="Helvetica Neue"/>
              </a:defRPr>
            </a:pPr>
            <a:r>
              <a:rPr sz="3150" b="1">
                <a:solidFill>
                  <a:srgbClr val="193C32"/>
                </a:solidFill>
                <a:latin typeface="Helvetica Neue"/>
                <a:ea typeface="Helvetica Neue"/>
                <a:cs typeface="Helvetica Neue"/>
              </a:rPr>
              <a:t>Rohit Jain</a:t>
            </a:r>
          </a:p>
        </p:txBody>
      </p:sp>
      <p:sp>
        <p:nvSpPr>
          <p:cNvPr id="10" name="team-slide6-text-9">
            <a:extLst xmlns:a="http://schemas.openxmlformats.org/drawingml/2006/main">
              <a:ext uri="{FF2B5EF4-FFF2-40B4-BE49-F238E27FC236}">
                <a16:creationId xmlns:a16="http://schemas.microsoft.com/office/drawing/2014/main" id="{1E376EE6-E1EC-4E2F-8B7E-CB598CC15CFA}"/>
              </a:ext>
            </a:extLst>
          </p:cNvPr>
          <p:cNvSpPr>
            <a:spLocks xmlns:a="http://schemas.openxmlformats.org/drawingml/2006/main" noGrp="1"/>
          </p:cNvSpPr>
          <p:nvPr/>
        </p:nvSpPr>
        <p:spPr>
          <a:xfrm xmlns:a="http://schemas.openxmlformats.org/drawingml/2006/main">
            <a:off x="6553200" y="2962275"/>
            <a:ext cx="5143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1" name="team-slide6-text-10">
            <a:extLst xmlns:a="http://schemas.openxmlformats.org/drawingml/2006/main">
              <a:ext uri="{FF2B5EF4-FFF2-40B4-BE49-F238E27FC236}">
                <a16:creationId xmlns:a16="http://schemas.microsoft.com/office/drawing/2014/main" id="{67D481E3-9E27-47CC-AD44-9C86BE639CF2}"/>
              </a:ext>
            </a:extLst>
          </p:cNvPr>
          <p:cNvSpPr>
            <a:spLocks xmlns:a="http://schemas.openxmlformats.org/drawingml/2006/main" noGrp="1"/>
          </p:cNvSpPr>
          <p:nvPr/>
        </p:nvSpPr>
        <p:spPr>
          <a:xfrm xmlns:a="http://schemas.openxmlformats.org/drawingml/2006/main">
            <a:off x="6553200" y="3514725"/>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Backend engineering</a:t>
            </a:r>
          </a:p>
        </p:txBody>
      </p:sp>
      <p:sp>
        <p:nvSpPr>
          <p:cNvPr id="12" name="team-slide6-text-11">
            <a:extLst xmlns:a="http://schemas.openxmlformats.org/drawingml/2006/main">
              <a:ext uri="{FF2B5EF4-FFF2-40B4-BE49-F238E27FC236}">
                <a16:creationId xmlns:a16="http://schemas.microsoft.com/office/drawing/2014/main" id="{3A29589F-D10C-4718-8641-BB0A74841893}"/>
              </a:ext>
            </a:extLst>
          </p:cNvPr>
          <p:cNvSpPr>
            <a:spLocks xmlns:a="http://schemas.openxmlformats.org/drawingml/2006/main" noGrp="1"/>
          </p:cNvSpPr>
          <p:nvPr/>
        </p:nvSpPr>
        <p:spPr>
          <a:xfrm xmlns:a="http://schemas.openxmlformats.org/drawingml/2006/main">
            <a:off x="6553200" y="4010025"/>
            <a:ext cx="51435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Experience at Amazon and Square.</a:t>
            </a:r>
          </a:p>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production MCP integrations.</a:t>
            </a:r>
          </a:p>
          <a:p xmlns:a="http://schemas.openxmlformats.org/drawingml/2006/main">
            <a:pPr algn="l">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System design instructor.</a:t>
            </a:r>
          </a:p>
        </p:txBody>
      </p:sp>
      <p:sp>
        <p:nvSpPr>
          <p:cNvPr id="13" name="team-slide6-text-12">
            <a:extLst xmlns:a="http://schemas.openxmlformats.org/drawingml/2006/main">
              <a:ext uri="{FF2B5EF4-FFF2-40B4-BE49-F238E27FC236}">
                <a16:creationId xmlns:a16="http://schemas.microsoft.com/office/drawing/2014/main" id="{935B9FCB-1276-40A7-A1CF-9B8EDFC04603}"/>
              </a:ext>
            </a:extLst>
          </p:cNvPr>
          <p:cNvSpPr>
            <a:spLocks xmlns:a="http://schemas.openxmlformats.org/drawingml/2006/main" noGrp="1"/>
          </p:cNvSpPr>
          <p:nvPr/>
        </p:nvSpPr>
        <p:spPr>
          <a:xfrm xmlns:a="http://schemas.openxmlformats.org/drawingml/2006/main">
            <a:off x="6553200" y="5143500"/>
            <a:ext cx="5143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Agent integrations and</a:t>
            </a:r>
          </a:p>
          <a:p xmlns:a="http://schemas.openxmlformats.org/drawingml/2006/main">
            <a:pPr algn="l">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reliable systems.</a:t>
            </a:r>
          </a:p>
        </p:txBody>
      </p:sp>
      <p:sp>
        <p:nvSpPr>
          <p:cNvPr id="14" name="team-slide6-shared-close">
            <a:extLst xmlns:a="http://schemas.openxmlformats.org/drawingml/2006/main">
              <a:ext uri="{FF2B5EF4-FFF2-40B4-BE49-F238E27FC236}">
                <a16:creationId xmlns:a16="http://schemas.microsoft.com/office/drawing/2014/main" id="{5BAC132A-A73C-4FC9-BE81-CD3B4552D5BD}"/>
              </a:ext>
            </a:extLst>
          </p:cNvPr>
          <p:cNvSpPr>
            <a:spLocks xmlns:a="http://schemas.openxmlformats.org/drawingml/2006/main" noGrp="1"/>
          </p:cNvSpPr>
          <p:nvPr/>
        </p:nvSpPr>
        <p:spPr>
          <a:xfrm xmlns:a="http://schemas.openxmlformats.org/drawingml/2006/main">
            <a:off x="495300" y="5905500"/>
            <a:ext cx="11201400" cy="5524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5" name="team-slide6-text-13">
            <a:extLst xmlns:a="http://schemas.openxmlformats.org/drawingml/2006/main">
              <a:ext uri="{FF2B5EF4-FFF2-40B4-BE49-F238E27FC236}">
                <a16:creationId xmlns:a16="http://schemas.microsoft.com/office/drawing/2014/main" id="{E270A5AC-5B53-40DD-AE6A-4627ED45ABD7}"/>
              </a:ext>
            </a:extLst>
          </p:cNvPr>
          <p:cNvSpPr>
            <a:spLocks xmlns:a="http://schemas.openxmlformats.org/drawingml/2006/main" noGrp="1"/>
          </p:cNvSpPr>
          <p:nvPr/>
        </p:nvSpPr>
        <p:spPr>
          <a:xfrm xmlns:a="http://schemas.openxmlformats.org/drawingml/2006/main">
            <a:off x="666750" y="6010275"/>
            <a:ext cx="10858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Build the provider network and the infrastructure agents need to book it.</a:t>
            </a:r>
          </a:p>
        </p:txBody>
      </p:sp>
      <p:sp>
        <p:nvSpPr>
          <p:cNvPr id="16" name="team-slide6-text-14">
            <a:extLst xmlns:a="http://schemas.openxmlformats.org/drawingml/2006/main">
              <a:ext uri="{FF2B5EF4-FFF2-40B4-BE49-F238E27FC236}">
                <a16:creationId xmlns:a16="http://schemas.microsoft.com/office/drawing/2014/main" id="{B756E2E8-F42B-431D-A944-AD08189EDD2B}"/>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2026-10-11T00:38:37.1790000Z</dcterms:created>
  <dcterms:modified xsi:type="dcterms:W3CDTF">2026-10-11T00:38:37.1790000Z</dcterms:modified>
</coreProperties>
</file>