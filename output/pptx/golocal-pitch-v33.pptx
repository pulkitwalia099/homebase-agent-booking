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95c1be883c4fc7" /><Relationship Type="http://schemas.openxmlformats.org/officeDocument/2006/relationships/extended-properties" Target="/docProps/app.xml" Id="Rd083fc6e385f4972" /><Relationship Type="http://schemas.openxmlformats.org/officeDocument/2006/relationships/officeDocument" Target="/ppt/presentation.xml" Id="R11dc1a475a494570" /></Relationships>
</file>

<file path=ppt/presentation.xml><?xml version="1.0" encoding="utf-8"?>
<p:presentation xmlns:p="http://schemas.openxmlformats.org/presentationml/2006/main">
  <p:sldMasterIdLst>
    <p:sldMasterId xmlns:r="http://schemas.openxmlformats.org/officeDocument/2006/relationships" id="2147483648" r:id="Ra2812fe5c2784f7d"/>
  </p:sldMasterIdLst>
  <p:notesMasterIdLst>
    <p:notesMasterId xmlns:r="http://schemas.openxmlformats.org/officeDocument/2006/relationships" r:id="Rd4f2ab2c11ec4956"/>
  </p:notesMasterIdLst>
  <p:sldIdLst>
    <p:sldId xmlns:r="http://schemas.openxmlformats.org/officeDocument/2006/relationships" id="256" r:id="R8782471a27994af8"/>
    <p:sldId xmlns:r="http://schemas.openxmlformats.org/officeDocument/2006/relationships" id="257" r:id="Rb8a8849feac64dce"/>
    <p:sldId xmlns:r="http://schemas.openxmlformats.org/officeDocument/2006/relationships" id="258" r:id="R54888ffc63954378"/>
    <p:sldId xmlns:r="http://schemas.openxmlformats.org/officeDocument/2006/relationships" id="259" r:id="R8ca7ca496af54e10"/>
    <p:sldId xmlns:r="http://schemas.openxmlformats.org/officeDocument/2006/relationships" id="260" r:id="R1c783567284c4bf8"/>
    <p:sldId xmlns:r="http://schemas.openxmlformats.org/officeDocument/2006/relationships" id="261" r:id="R6173e976b3404a37"/>
    <p:sldId xmlns:r="http://schemas.openxmlformats.org/officeDocument/2006/relationships" id="262" r:id="R08aeae81a3aa4fa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cfed6da8dd84ea7" /><Relationship Type="http://schemas.openxmlformats.org/officeDocument/2006/relationships/slideMaster" Target="/ppt/slideMasters/slideMaster1.xml" Id="Ra2812fe5c2784f7d" /><Relationship Type="http://schemas.openxmlformats.org/officeDocument/2006/relationships/notesMaster" Target="/ppt/notesMasters/notesMaster1.xml" Id="Rd4f2ab2c11ec4956" /><Relationship Type="http://schemas.openxmlformats.org/officeDocument/2006/relationships/presProps" Target="/ppt/presProps.xml" Id="R2b66f841538b4caa" /><Relationship Type="http://schemas.openxmlformats.org/officeDocument/2006/relationships/viewProps" Target="/ppt/viewProps.xml" Id="R987f39ec90d04c1f" /><Relationship Type="http://schemas.openxmlformats.org/officeDocument/2006/relationships/tableStyles" Target="/ppt/tableStyles.xml" Id="R5721e31c801f4ae4" /><Relationship Type="http://schemas.openxmlformats.org/officeDocument/2006/relationships/slide" Target="/ppt/slides/slide1.xml" Id="R8782471a27994af8" /><Relationship Type="http://schemas.openxmlformats.org/officeDocument/2006/relationships/slide" Target="/ppt/slides/slide2.xml" Id="Rb8a8849feac64dce" /><Relationship Type="http://schemas.openxmlformats.org/officeDocument/2006/relationships/slide" Target="/ppt/slides/slide3.xml" Id="R54888ffc63954378" /><Relationship Type="http://schemas.openxmlformats.org/officeDocument/2006/relationships/slide" Target="/ppt/slides/slide4.xml" Id="R8ca7ca496af54e10" /><Relationship Type="http://schemas.openxmlformats.org/officeDocument/2006/relationships/slide" Target="/ppt/slides/slide5.xml" Id="R1c783567284c4bf8" /><Relationship Type="http://schemas.openxmlformats.org/officeDocument/2006/relationships/slide" Target="/ppt/slides/slide6.xml" Id="R6173e976b3404a37" /><Relationship Type="http://schemas.openxmlformats.org/officeDocument/2006/relationships/slide" Target="/ppt/slides/slide7.xml" Id="R08aeae81a3aa4f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9d3102293e4d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1e28937df84b64" /><Relationship Type="http://schemas.openxmlformats.org/officeDocument/2006/relationships/notesMaster" Target="/ppt/notesMasters/notesMaster1.xml" Id="Rb503f03d938c47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b99c6067b44ae7" /><Relationship Type="http://schemas.openxmlformats.org/officeDocument/2006/relationships/notesMaster" Target="/ppt/notesMasters/notesMaster1.xml" Id="R3d5001a275c04a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0e0be838374856" /><Relationship Type="http://schemas.openxmlformats.org/officeDocument/2006/relationships/notesMaster" Target="/ppt/notesMasters/notesMaster1.xml" Id="Rc71edbcfcc1146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a62560c3404256" /><Relationship Type="http://schemas.openxmlformats.org/officeDocument/2006/relationships/notesMaster" Target="/ppt/notesMasters/notesMaster1.xml" Id="Rfb87d2b8afc646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b4b4e8c952445d" /><Relationship Type="http://schemas.openxmlformats.org/officeDocument/2006/relationships/notesMaster" Target="/ppt/notesMasters/notesMaster1.xml" Id="Redd06d8d12fb40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54fae70e0b406d" /><Relationship Type="http://schemas.openxmlformats.org/officeDocument/2006/relationships/notesMaster" Target="/ppt/notesMasters/notesMaster1.xml" Id="R17fc3918ed6e46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f16deb37014162" /><Relationship Type="http://schemas.openxmlformats.org/officeDocument/2006/relationships/notesMaster" Target="/ppt/notesMasters/notesMaster1.xml" Id="R76048fad21a448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a:p xmlns:a="http://schemas.openxmlformats.org/drawingml/2006/main">
            <a:r>
              <a:t>Cover artwork edited with the built-in image-generation tool at the founder’s request to add a lawn-mowing worker and a roofer. Conceptual illustration, not a photograph of live operations. Source artwork retained; versioned edited asset: output/imagegen/golocal-cover-v33.png.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clarified by the founder on October 10, 2026: businesses pay a fee equal to 10% of the booking amount. This same 10% fee is shared between GoLocal and contributing software partners or channel partners. It is not a 10% fee plus a separate partner fee, and GoLocal does not retain the full 10%. The allocation among GoLocal and partners has not been specified or agreed. This is the intended pricing model, not evidence of collected revenue, signed merchant terms or paid continuation. Eligibility, collection timing, repeat bookings, cancellations and refunds still require commercial terms. Contribution must cover acquisition, partner share, integration, support, payment and exception-handling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4db9bfd53b45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d2c3313aab43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f5a4bc769842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f944daf3014d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ac35d2222c4d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2374e907a342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e3251169df48a2" /><Relationship Type="http://schemas.openxmlformats.org/officeDocument/2006/relationships/slideLayout" Target="/ppt/slideLayouts/slideLayout1.xml" Id="Rff9d541ab11a4362" /><Relationship Type="http://schemas.openxmlformats.org/officeDocument/2006/relationships/slideLayout" Target="/ppt/slideLayouts/slideLayout2.xml" Id="R5274b5a81b6246d6" /><Relationship Type="http://schemas.openxmlformats.org/officeDocument/2006/relationships/slideLayout" Target="/ppt/slideLayouts/slideLayout3.xml" Id="Re1ca02fbb6e64edb" /><Relationship Type="http://schemas.openxmlformats.org/officeDocument/2006/relationships/slideLayout" Target="/ppt/slideLayouts/slideLayout4.xml" Id="R758f384ea7b540af" /><Relationship Type="http://schemas.openxmlformats.org/officeDocument/2006/relationships/slideLayout" Target="/ppt/slideLayouts/slideLayout5.xml" Id="Red5a3323834645ee" /><Relationship Type="http://schemas.openxmlformats.org/officeDocument/2006/relationships/slideLayout" Target="/ppt/slideLayouts/slideLayout6.xml" Id="Reee6741d881b47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9d541ab11a4362"/>
    <p:sldLayoutId xmlns:r="http://schemas.openxmlformats.org/officeDocument/2006/relationships" id="2147483650" r:id="R5274b5a81b6246d6"/>
    <p:sldLayoutId xmlns:r="http://schemas.openxmlformats.org/officeDocument/2006/relationships" id="2147483651" r:id="Re1ca02fbb6e64edb"/>
    <p:sldLayoutId xmlns:r="http://schemas.openxmlformats.org/officeDocument/2006/relationships" id="2147483652" r:id="R758f384ea7b540af"/>
    <p:sldLayoutId xmlns:r="http://schemas.openxmlformats.org/officeDocument/2006/relationships" id="2147483653" r:id="Red5a3323834645ee"/>
    <p:sldLayoutId xmlns:r="http://schemas.openxmlformats.org/officeDocument/2006/relationships" id="2147483654" r:id="Reee6741d881b47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ad2cc4c35245df" /><Relationship Type="http://schemas.openxmlformats.org/officeDocument/2006/relationships/image" Target="/ppt/media/image.png" Id="R7a2052e32d334a52" /><Relationship Type="http://schemas.openxmlformats.org/officeDocument/2006/relationships/notesSlide" Target="/ppt/notesSlides/notesSlide1.xml" Id="R051252145bd345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5d12d80b6c4286" /><Relationship Type="http://schemas.openxmlformats.org/officeDocument/2006/relationships/notesSlide" Target="/ppt/notesSlides/notesSlide2.xml" Id="R3b32a16123614d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854c7b4555401f" /><Relationship Type="http://schemas.openxmlformats.org/officeDocument/2006/relationships/image" Target="/ppt/media/image2.png" Id="R8f04c13875494105" /><Relationship Type="http://schemas.openxmlformats.org/officeDocument/2006/relationships/image" Target="/ppt/media/image.jpeg" Id="R9644c374803e4d3f" /><Relationship Type="http://schemas.openxmlformats.org/officeDocument/2006/relationships/image" Target="/ppt/media/image2.jpeg" Id="Rc128b984aa184396" /><Relationship Type="http://schemas.openxmlformats.org/officeDocument/2006/relationships/image" Target="/ppt/media/image3.jpeg" Id="Rf8d80ca0b6d545e9" /><Relationship Type="http://schemas.openxmlformats.org/officeDocument/2006/relationships/image" Target="/ppt/media/image3.png" Id="R13c0e1f533224941" /><Relationship Type="http://schemas.openxmlformats.org/officeDocument/2006/relationships/notesSlide" Target="/ppt/notesSlides/notesSlide3.xml" Id="Rd6e71afd2abd47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ab5cb45ccf4594" /><Relationship Type="http://schemas.openxmlformats.org/officeDocument/2006/relationships/notesSlide" Target="/ppt/notesSlides/notesSlide4.xml" Id="R22333ed274df46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38504e54a14c37" /><Relationship Type="http://schemas.openxmlformats.org/officeDocument/2006/relationships/notesSlide" Target="/ppt/notesSlides/notesSlide5.xml" Id="Re610c5de3e9d42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18d4d9a7b6469d" /><Relationship Type="http://schemas.openxmlformats.org/officeDocument/2006/relationships/notesSlide" Target="/ppt/notesSlides/notesSlide6.xml" Id="Rddcf8e5fa9a143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16ea1f14194cab" /><Relationship Type="http://schemas.openxmlformats.org/officeDocument/2006/relationships/image" Target="/ppt/media/image4.jpeg" Id="Rf68bf668f3474493" /><Relationship Type="http://schemas.openxmlformats.org/officeDocument/2006/relationships/image" Target="/ppt/media/image5.jpeg" Id="R03f8e5032e4748ad" /><Relationship Type="http://schemas.openxmlformats.org/officeDocument/2006/relationships/hyperlink" Target="https://www.linkedin.com/in/pulkitwalia/" TargetMode="External" Id="R00fcda7aeec24d7c" /><Relationship Type="http://schemas.openxmlformats.org/officeDocument/2006/relationships/hyperlink" Target="https://www.linkedin.com/in/rohit-jain-343437187/" TargetMode="External" Id="Rc3e2378578864eb4" /><Relationship Type="http://schemas.openxmlformats.org/officeDocument/2006/relationships/image" Target="/ppt/media/image6.jpeg" Id="R82a28c6f554f47fc" /><Relationship Type="http://schemas.openxmlformats.org/officeDocument/2006/relationships/image" Target="/ppt/media/image4.png" Id="R1376a1b8b9e94539" /><Relationship Type="http://schemas.openxmlformats.org/officeDocument/2006/relationships/image" Target="/ppt/media/image7.jpeg" Id="R525d08df4f0244a1" /><Relationship Type="http://schemas.openxmlformats.org/officeDocument/2006/relationships/notesSlide" Target="/ppt/notesSlides/notesSlide7.xml" Id="R28b9732c1bb747a6" /></Relationships>
</file>

<file path=ppt/slides/slide1.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1EBAB8E-2157-4C77-A6FE-F3AA190ACB4D}"/>
              </a:ext>
            </a:extLst>
          </p:cNvPr>
          <p:cNvPicPr>
            <a:picLocks xmlns:a="http://schemas.openxmlformats.org/drawingml/2006/main" noChangeAspect="1"/>
          </p:cNvPicPr>
          <p:nvPr/>
        </p:nvPicPr>
        <p:blipFill>
          <a:blip xmlns:r="http://schemas.openxmlformats.org/officeDocument/2006/relationships" xmlns:a="http://schemas.openxmlformats.org/drawingml/2006/main" r:embed="R7a2052e32d334a5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30-text-0">
            <a:extLst xmlns:a="http://schemas.openxmlformats.org/drawingml/2006/main">
              <a:ext uri="{FF2B5EF4-FFF2-40B4-BE49-F238E27FC236}">
                <a16:creationId xmlns:a16="http://schemas.microsoft.com/office/drawing/2014/main" id="{ADA5C052-3DC5-4F4A-9C13-460C18C6AC4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xmlns:a="http://schemas.openxmlformats.org/drawingml/2006/main">
              <a:ext uri="{FF2B5EF4-FFF2-40B4-BE49-F238E27FC236}">
                <a16:creationId xmlns:a16="http://schemas.microsoft.com/office/drawing/2014/main" id="{243905A4-A235-46A8-88B2-9CCE52ED8F00}"/>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xmlns:a="http://schemas.openxmlformats.org/drawingml/2006/main">
              <a:ext uri="{FF2B5EF4-FFF2-40B4-BE49-F238E27FC236}">
                <a16:creationId xmlns:a16="http://schemas.microsoft.com/office/drawing/2014/main" id="{8F4C96EF-044C-4CF6-BCFE-D8BF33020705}"/>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
            <a:extLst xmlns:a="http://schemas.openxmlformats.org/drawingml/2006/main">
              <a:ext uri="{FF2B5EF4-FFF2-40B4-BE49-F238E27FC236}">
                <a16:creationId xmlns:a16="http://schemas.microsoft.com/office/drawing/2014/main" id="{8DE8E47E-2731-4DB9-8266-2AAB933DD0FE}"/>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gridSpan="5">
                  <a:txBody>
                    <a:bodyPr wrap="square">
                      <a:noAutofit/>
                    </a:bodyPr>
                    <a:lstStyle/>
                    <a:p>
                      <a:pPr algn="ctr">
                        <a:buNone/>
                      </a:pPr>
                      <a:r>
                        <a:rPr sz="1650" b="1">
                          <a:solidFill>
                            <a:srgbClr val="A34E3F"/>
                          </a:solidFill>
                          <a:latin typeface="Helvetica Neue"/>
                          <a:ea typeface="Helvetica Neue"/>
                          <a:cs typeface="Helvetica Neue"/>
                        </a:rPr>
                        <a:t>MISSING: a shared live data layer for local businesses</a:t>
                      </a:r>
                    </a:p>
                    <a:p>
                      <a:pPr algn="ctr">
                        <a:buNone/>
                      </a:pP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0"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30-text-3">
            <a:extLst xmlns:a="http://schemas.openxmlformats.org/drawingml/2006/main">
              <a:ext uri="{FF2B5EF4-FFF2-40B4-BE49-F238E27FC236}">
                <a16:creationId xmlns:a16="http://schemas.microsoft.com/office/drawing/2014/main" id="{18B77D59-D1BB-43F2-8A95-F43D36E4DEA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6" name="v30-text-4">
            <a:extLst xmlns:a="http://schemas.openxmlformats.org/drawingml/2006/main">
              <a:ext uri="{FF2B5EF4-FFF2-40B4-BE49-F238E27FC236}">
                <a16:creationId xmlns:a16="http://schemas.microsoft.com/office/drawing/2014/main" id="{1F1DFEBF-554A-41C0-853E-1BA9FE87610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7" name="v30-text-5">
            <a:extLst xmlns:a="http://schemas.openxmlformats.org/drawingml/2006/main">
              <a:ext uri="{FF2B5EF4-FFF2-40B4-BE49-F238E27FC236}">
                <a16:creationId xmlns:a16="http://schemas.microsoft.com/office/drawing/2014/main" id="{1B0D603A-7571-4A29-9CD2-469B869CB11D}"/>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C6FDD9D1-7C6F-446C-AE15-DE3037905B74}"/>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99928F81-722F-4CAF-9325-8B72E98759CF}"/>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30B4806C-BEC2-46B9-94CC-F7F16868AE61}"/>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DEEAB7FC-18B7-43AA-A3A0-9A2C1C36E1AD}"/>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EF151273-D7AC-4664-ACC7-A88225942D6B}"/>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E5A79F52-6AE1-4412-9468-59E24C245F2B}"/>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4419738C-FE4C-47A7-85AB-33A8DF01888B}"/>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327BBAA4-89CF-4226-B626-04AF50643818}"/>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B60DBD87-A6EB-4E9E-913F-5165C2C85F43}"/>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4C3A382C-B73F-44DC-ABFA-CD71243CB41F}"/>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617A5CBC-B0FD-4220-AD15-06B53195495D}"/>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A0192065-EE5E-4704-98FC-4F4F6A23C47B}"/>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30D1F0D0-3CD6-4CC5-AA0A-BA52F1D5E8D1}"/>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3201171F-EFE8-4D18-A916-EE2036FCEFB7}"/>
              </a:ext>
            </a:extLst>
          </p:cNvPr>
          <p:cNvPicPr>
            <a:picLocks xmlns:a="http://schemas.openxmlformats.org/drawingml/2006/main" noChangeAspect="1"/>
          </p:cNvPicPr>
          <p:nvPr/>
        </p:nvPicPr>
        <p:blipFill>
          <a:blip xmlns:r="http://schemas.openxmlformats.org/officeDocument/2006/relationships" xmlns:a="http://schemas.openxmlformats.org/drawingml/2006/main" r:embed="R8f04c13875494105"/>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44EF2256-36CB-4023-B2A2-362445A0B6EC}"/>
              </a:ext>
            </a:extLst>
          </p:cNvPr>
          <p:cNvPicPr>
            <a:picLocks xmlns:a="http://schemas.openxmlformats.org/drawingml/2006/main" noChangeAspect="1"/>
          </p:cNvPicPr>
          <p:nvPr/>
        </p:nvPicPr>
        <p:blipFill>
          <a:blip xmlns:r="http://schemas.openxmlformats.org/officeDocument/2006/relationships" xmlns:a="http://schemas.openxmlformats.org/drawingml/2006/main" r:embed="R9644c374803e4d3f"/>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2137129D-CC15-4BED-A360-5FA207AEE4FC}"/>
              </a:ext>
            </a:extLst>
          </p:cNvPr>
          <p:cNvPicPr>
            <a:picLocks xmlns:a="http://schemas.openxmlformats.org/drawingml/2006/main" noChangeAspect="1"/>
          </p:cNvPicPr>
          <p:nvPr/>
        </p:nvPicPr>
        <p:blipFill>
          <a:blip xmlns:r="http://schemas.openxmlformats.org/officeDocument/2006/relationships" xmlns:a="http://schemas.openxmlformats.org/drawingml/2006/main" r:embed="Rc128b984aa184396"/>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49D9F161-D5F0-4645-A8BE-55FC64B1B252}"/>
              </a:ext>
            </a:extLst>
          </p:cNvPr>
          <p:cNvPicPr>
            <a:picLocks xmlns:a="http://schemas.openxmlformats.org/drawingml/2006/main" noChangeAspect="1"/>
          </p:cNvPicPr>
          <p:nvPr/>
        </p:nvPicPr>
        <p:blipFill>
          <a:blip xmlns:r="http://schemas.openxmlformats.org/officeDocument/2006/relationships" xmlns:a="http://schemas.openxmlformats.org/drawingml/2006/main" r:embed="Rf8d80ca0b6d545e9"/>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BA4F7B62-FC6E-4666-AC4F-FD9B1F59E284}"/>
              </a:ext>
            </a:extLst>
          </p:cNvPr>
          <p:cNvPicPr>
            <a:picLocks xmlns:a="http://schemas.openxmlformats.org/drawingml/2006/main" noChangeAspect="1"/>
          </p:cNvPicPr>
          <p:nvPr/>
        </p:nvPicPr>
        <p:blipFill>
          <a:blip xmlns:r="http://schemas.openxmlformats.org/officeDocument/2006/relationships" xmlns:a="http://schemas.openxmlformats.org/drawingml/2006/main" r:embed="R13c0e1f533224941"/>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0">
            <a:extLst xmlns:a="http://schemas.openxmlformats.org/drawingml/2006/main">
              <a:ext uri="{FF2B5EF4-FFF2-40B4-BE49-F238E27FC236}">
                <a16:creationId xmlns:a16="http://schemas.microsoft.com/office/drawing/2014/main" id="{F1F8C8EB-1D23-44A0-8DFF-F6E656B0CDBF}"/>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
            <a:extLst xmlns:a="http://schemas.openxmlformats.org/drawingml/2006/main">
              <a:ext uri="{FF2B5EF4-FFF2-40B4-BE49-F238E27FC236}">
                <a16:creationId xmlns:a16="http://schemas.microsoft.com/office/drawing/2014/main" id="{E9923D42-483B-46BE-AAAB-E583237E4C10}"/>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buNone/>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2">
            <a:extLst xmlns:a="http://schemas.openxmlformats.org/drawingml/2006/main">
              <a:ext uri="{FF2B5EF4-FFF2-40B4-BE49-F238E27FC236}">
                <a16:creationId xmlns:a16="http://schemas.microsoft.com/office/drawing/2014/main" id="{3ECA9D22-E94A-4735-8333-93BAA2F9AEB5}"/>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
            <a:extLst xmlns:a="http://schemas.openxmlformats.org/drawingml/2006/main">
              <a:ext uri="{FF2B5EF4-FFF2-40B4-BE49-F238E27FC236}">
                <a16:creationId xmlns:a16="http://schemas.microsoft.com/office/drawing/2014/main" id="{26516399-4A3B-4B49-AE3F-4E3131B1E89A}"/>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firstRow="0" firstCol="0" bandRow="0"/>
              <a:tblGrid>
                <a:gridCol w="1581150"/>
                <a:gridCol w="4552950"/>
                <a:gridCol w="4838700"/>
              </a:tblGrid>
              <a:tr h="781050">
                <a:tc>
                  <a:txBody>
                    <a:bodyPr wrap="square">
                      <a:noAutofit/>
                    </a:bodyPr>
                    <a:lstStyle/>
                    <a:p>
                      <a:pPr algn="l">
                        <a:buNone/>
                      </a:pPr>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buNone/>
                      </a:pPr>
                      <a:r>
                        <a:rPr sz="1575" b="0">
                          <a:solidFill>
                            <a:srgbClr val="103D3B"/>
                          </a:solidFill>
                          <a:latin typeface="Helvetica Neue"/>
                          <a:ea typeface="Helvetica Neue"/>
                          <a:cs typeface="Helvetica Neue"/>
                        </a:rPr>
                        <a:t>Search Google listings. Call 2–3 businesses.</a:t>
                      </a:r>
                    </a:p>
                    <a:p>
                      <a:pPr algn="l">
                        <a:buNone/>
                      </a:pPr>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buNone/>
                      </a:pPr>
                      <a:r>
                        <a:rPr sz="1575" b="0">
                          <a:solidFill>
                            <a:srgbClr val="103D3B"/>
                          </a:solidFill>
                          <a:latin typeface="Helvetica Neue"/>
                          <a:ea typeface="Helvetica Neue"/>
                          <a:cs typeface="Helvetica Neue"/>
                        </a:rPr>
                        <a:t>A narrow search can miss better matches.</a:t>
                      </a:r>
                    </a:p>
                    <a:p>
                      <a:pPr algn="l">
                        <a:buNone/>
                      </a:pPr>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wrap="square">
                      <a:noAutofit/>
                    </a:bodyPr>
                    <a:lstStyle/>
                    <a:p>
                      <a:pPr algn="l">
                        <a:buNone/>
                      </a:pPr>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buNone/>
                      </a:pPr>
                      <a:r>
                        <a:rPr sz="1575" b="0">
                          <a:solidFill>
                            <a:srgbClr val="103D3B"/>
                          </a:solidFill>
                          <a:latin typeface="Helvetica Neue"/>
                          <a:ea typeface="Helvetica Neue"/>
                          <a:cs typeface="Helvetica Neue"/>
                        </a:rPr>
                        <a:t>Search hundreds of connected businesses.</a:t>
                      </a:r>
                    </a:p>
                    <a:p>
                      <a:pPr algn="l">
                        <a:buNone/>
                      </a:pPr>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buNone/>
                      </a:pPr>
                      <a:r>
                        <a:rPr sz="1575" b="0">
                          <a:solidFill>
                            <a:srgbClr val="103D3B"/>
                          </a:solidFill>
                          <a:latin typeface="Helvetica Neue"/>
                          <a:ea typeface="Helvetica Neue"/>
                          <a:cs typeface="Helvetica Neue"/>
                        </a:rPr>
                        <a:t>Compare price, live availability, specialization</a:t>
                      </a:r>
                    </a:p>
                    <a:p>
                      <a:pPr algn="l">
                        <a:buNone/>
                      </a:pPr>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r>
            </a:tbl>
          </a:graphicData>
        </a:graphic>
      </p:graphicFrame>
      <p:sp>
        <p:nvSpPr>
          <p:cNvPr id="5" name="v31-text-3">
            <a:extLst xmlns:a="http://schemas.openxmlformats.org/drawingml/2006/main">
              <a:ext uri="{FF2B5EF4-FFF2-40B4-BE49-F238E27FC236}">
                <a16:creationId xmlns:a16="http://schemas.microsoft.com/office/drawing/2014/main" id="{B132B958-7D87-42F4-A5A2-2A0A917B736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buNone/>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4">
            <a:extLst xmlns:a="http://schemas.openxmlformats.org/drawingml/2006/main">
              <a:ext uri="{FF2B5EF4-FFF2-40B4-BE49-F238E27FC236}">
                <a16:creationId xmlns:a16="http://schemas.microsoft.com/office/drawing/2014/main" id="{3A22AD76-2F77-44FC-B236-472374BFC5E3}"/>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buNone/>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5">
            <a:extLst xmlns:a="http://schemas.openxmlformats.org/drawingml/2006/main">
              <a:ext uri="{FF2B5EF4-FFF2-40B4-BE49-F238E27FC236}">
                <a16:creationId xmlns:a16="http://schemas.microsoft.com/office/drawing/2014/main" id="{966DF0A5-16BD-43A5-A573-344F93B48D31}"/>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6">
            <a:extLst xmlns:a="http://schemas.openxmlformats.org/drawingml/2006/main">
              <a:ext uri="{FF2B5EF4-FFF2-40B4-BE49-F238E27FC236}">
                <a16:creationId xmlns:a16="http://schemas.microsoft.com/office/drawing/2014/main" id="{E3A497E9-ABD5-4FDD-B03F-605AC0CC5904}"/>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Salt Lake City address,</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photo and scope of a</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diagnostic visit.</a:t>
            </a:r>
          </a:p>
        </p:txBody>
      </p:sp>
      <p:sp>
        <p:nvSpPr>
          <p:cNvPr id="9" name="v31-text-7">
            <a:extLst xmlns:a="http://schemas.openxmlformats.org/drawingml/2006/main">
              <a:ext uri="{FF2B5EF4-FFF2-40B4-BE49-F238E27FC236}">
                <a16:creationId xmlns:a16="http://schemas.microsoft.com/office/drawing/2014/main" id="{618604E1-578F-40B3-90EF-1B9319CC3E0E}"/>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8">
            <a:extLst xmlns:a="http://schemas.openxmlformats.org/drawingml/2006/main">
              <a:ext uri="{FF2B5EF4-FFF2-40B4-BE49-F238E27FC236}">
                <a16:creationId xmlns:a16="http://schemas.microsoft.com/office/drawing/2014/main" id="{E57A3C66-702B-49A7-8267-BD5381F09756}"/>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available slots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visit fees.</a:t>
            </a:r>
          </a:p>
        </p:txBody>
      </p:sp>
      <p:sp>
        <p:nvSpPr>
          <p:cNvPr id="11" name="v31-text-9">
            <a:extLst xmlns:a="http://schemas.openxmlformats.org/drawingml/2006/main">
              <a:ext uri="{FF2B5EF4-FFF2-40B4-BE49-F238E27FC236}">
                <a16:creationId xmlns:a16="http://schemas.microsoft.com/office/drawing/2014/main" id="{A6535DB2-F6C2-4C61-AA3A-F2783DF038A5}"/>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10">
            <a:extLst xmlns:a="http://schemas.openxmlformats.org/drawingml/2006/main">
              <a:ext uri="{FF2B5EF4-FFF2-40B4-BE49-F238E27FC236}">
                <a16:creationId xmlns:a16="http://schemas.microsoft.com/office/drawing/2014/main" id="{18B02C09-B853-4E71-827C-037B91BF763B}"/>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Oak Plumbing.</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11">
            <a:extLst xmlns:a="http://schemas.openxmlformats.org/drawingml/2006/main">
              <a:ext uri="{FF2B5EF4-FFF2-40B4-BE49-F238E27FC236}">
                <a16:creationId xmlns:a16="http://schemas.microsoft.com/office/drawing/2014/main" id="{FF4FCD7E-B9C0-4B0B-B470-6CA543F2E900}"/>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12">
            <a:extLst xmlns:a="http://schemas.openxmlformats.org/drawingml/2006/main">
              <a:ext uri="{FF2B5EF4-FFF2-40B4-BE49-F238E27FC236}">
                <a16:creationId xmlns:a16="http://schemas.microsoft.com/office/drawing/2014/main" id="{CB0F95B8-9D3F-42BF-913E-60A45DE272FB}"/>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13">
            <a:extLst xmlns:a="http://schemas.openxmlformats.org/drawingml/2006/main">
              <a:ext uri="{FF2B5EF4-FFF2-40B4-BE49-F238E27FC236}">
                <a16:creationId xmlns:a16="http://schemas.microsoft.com/office/drawing/2014/main" id="{6D3B9BBC-6172-46AA-8D0C-E94267AD8D1F}"/>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14">
            <a:extLst xmlns:a="http://schemas.openxmlformats.org/drawingml/2006/main">
              <a:ext uri="{FF2B5EF4-FFF2-40B4-BE49-F238E27FC236}">
                <a16:creationId xmlns:a16="http://schemas.microsoft.com/office/drawing/2014/main" id="{22C67580-34D1-49BC-ADD6-B9B4C984F26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buNone/>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Repairs quoted after inspection.</a:t>
            </a:r>
          </a:p>
        </p:txBody>
      </p:sp>
      <p:sp>
        <p:nvSpPr>
          <p:cNvPr id="17" name="v31-text-15">
            <a:extLst xmlns:a="http://schemas.openxmlformats.org/drawingml/2006/main">
              <a:ext uri="{FF2B5EF4-FFF2-40B4-BE49-F238E27FC236}">
                <a16:creationId xmlns:a16="http://schemas.microsoft.com/office/drawing/2014/main" id="{AC289CFC-35B0-4C75-BE95-C7559889C33C}"/>
              </a:ext>
            </a:extLst>
          </p:cNvPr>
          <p:cNvSpPr>
            <a:spLocks xmlns:a="http://schemas.openxmlformats.org/drawingml/2006/main" noGrp="1"/>
          </p:cNvSpPr>
          <p:nvPr/>
        </p:nvSpPr>
        <p:spPr>
          <a:xfrm xmlns:a="http://schemas.openxmlformats.org/drawingml/2006/main">
            <a:off x="609600" y="6610350"/>
            <a:ext cx="10572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3716A"/>
                </a:solidFill>
                <a:latin typeface="Helvetica Neue"/>
                <a:ea typeface="Helvetica Neue"/>
                <a:cs typeface="Helvetica Neue"/>
              </a:defRPr>
            </a:defPPr>
          </a:lstStyle>
          <a:p xmlns:a="http://schemas.openxmlformats.org/drawingml/2006/main">
            <a:pPr algn="l">
              <a:buNone/>
              <a:defRPr sz="900" b="0">
                <a:solidFill>
                  <a:srgbClr val="53716A"/>
                </a:solidFill>
                <a:latin typeface="Helvetica Neue"/>
                <a:ea typeface="Helvetica Neue"/>
                <a:cs typeface="Helvetica Neue"/>
              </a:defRPr>
            </a:pPr>
            <a:r>
              <a:rPr sz="900" b="0">
                <a:solidFill>
                  <a:srgbClr val="53716A"/>
                </a:solidFill>
                <a:latin typeface="Helvetica Neue"/>
                <a:ea typeface="Helvetica Neue"/>
                <a:cs typeface="Helvetica Neue"/>
              </a:rPr>
              <a:t>Illustrative flows. Hundreds of providers and sub-second matching are targets, not measured results. Provider, price and booking are examples.</a:t>
            </a:r>
          </a:p>
        </p:txBody>
      </p:sp>
      <p:sp>
        <p:nvSpPr>
          <p:cNvPr id="18" name="v31-text-16">
            <a:extLst xmlns:a="http://schemas.openxmlformats.org/drawingml/2006/main">
              <a:ext uri="{FF2B5EF4-FFF2-40B4-BE49-F238E27FC236}">
                <a16:creationId xmlns:a16="http://schemas.microsoft.com/office/drawing/2014/main" id="{72DB3F0C-6E0B-4F99-BBEC-61E0A958548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8A42C5F3-FE0E-4A88-A8CC-B4749D0DE784}"/>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2943B823-0F95-4D32-AC58-0E396B2490C2}"/>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20C042C4-374F-4810-9337-F7F7C85BB876}"/>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A8041B47-6909-41E5-A19D-1259FC119C86}"/>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5886450"/>
            <a:ext cx="1120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115050"/>
            <a:ext cx="11201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03D3B"/>
                </a:solidFill>
                <a:latin typeface="Helvetica Neue"/>
                <a:ea typeface="Helvetica Neue"/>
                <a:cs typeface="Helvetica Neue"/>
              </a:defRPr>
            </a:defPPr>
          </a:lstStyle>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Businesses pay 10% of the booking amount.</a:t>
            </a:r>
          </a:p>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That 10% fee is shared between GoLocal and software or channel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648450"/>
            <a:ext cx="10334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65746C"/>
                </a:solidFill>
                <a:latin typeface="Helvetica Neue"/>
                <a:ea typeface="Helvetica Neue"/>
                <a:cs typeface="Helvetica Neue"/>
              </a:defRPr>
            </a:defPPr>
          </a:lstStyle>
          <a:p xmlns:a="http://schemas.openxmlformats.org/drawingml/2006/main">
            <a:pPr algn="l">
              <a:buNone/>
              <a:defRPr sz="900" b="0">
                <a:solidFill>
                  <a:srgbClr val="65746C"/>
                </a:solidFill>
                <a:latin typeface="Helvetica Neue"/>
                <a:ea typeface="Helvetica Neue"/>
                <a:cs typeface="Helvetica Neue"/>
              </a:defRPr>
            </a:pPr>
            <a:r>
              <a:rPr sz="90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FDA4FB3-8425-4EBC-98A4-79F96FA84A89}"/>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1B01AB9-E116-4D37-8E0D-8BA29C1F35C7}"/>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068F34CB-10D3-4995-B9B2-350D3310BF71}"/>
              </a:ext>
            </a:extLst>
          </p:cNvPr>
          <p:cNvPicPr>
            <a:picLocks xmlns:a="http://schemas.openxmlformats.org/drawingml/2006/main" noChangeAspect="1"/>
          </p:cNvPicPr>
          <p:nvPr/>
        </p:nvPicPr>
        <p:blipFill>
          <a:blip xmlns:r="http://schemas.openxmlformats.org/officeDocument/2006/relationships" xmlns:a="http://schemas.openxmlformats.org/drawingml/2006/main" r:embed="Rf68bf668f3474493"/>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CD14DFB2-F254-4E11-9786-015161C6768B}"/>
              </a:ext>
            </a:extLst>
          </p:cNvPr>
          <p:cNvPicPr>
            <a:picLocks xmlns:a="http://schemas.openxmlformats.org/drawingml/2006/main" noChangeAspect="1"/>
          </p:cNvPicPr>
          <p:nvPr/>
        </p:nvPicPr>
        <p:blipFill>
          <a:blip xmlns:r="http://schemas.openxmlformats.org/officeDocument/2006/relationships" xmlns:a="http://schemas.openxmlformats.org/drawingml/2006/main" r:embed="R03f8e5032e4748ad"/>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00fcda7aeec24d7c"/>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c3e2378578864eb4"/>
              </a:rPr>
              <a:t>LinkedIn</a:t>
            </a:r>
          </a:p>
        </p:txBody>
      </p:sp>
      <p:pic>
        <p:nvPicPr>
          <p:cNvPr id="11" name="Picture 10">
            <a:extLst xmlns:a="http://schemas.openxmlformats.org/drawingml/2006/main">
              <a:ext uri="{FF2B5EF4-FFF2-40B4-BE49-F238E27FC236}">
                <a16:creationId xmlns:a16="http://schemas.microsoft.com/office/drawing/2014/main" id="{D1B523E8-1B98-442E-ADE7-0224CBB8A2B2}"/>
              </a:ext>
            </a:extLst>
          </p:cNvPr>
          <p:cNvPicPr>
            <a:picLocks xmlns:a="http://schemas.openxmlformats.org/drawingml/2006/main" noChangeAspect="1"/>
          </p:cNvPicPr>
          <p:nvPr/>
        </p:nvPicPr>
        <p:blipFill>
          <a:blip xmlns:r="http://schemas.openxmlformats.org/officeDocument/2006/relationships" xmlns:a="http://schemas.openxmlformats.org/drawingml/2006/main" r:embed="R82a28c6f554f47fc"/>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8F32EF5D-9A04-40FE-BCAF-14C2EA5755CF}"/>
              </a:ext>
            </a:extLst>
          </p:cNvPr>
          <p:cNvPicPr>
            <a:picLocks xmlns:a="http://schemas.openxmlformats.org/drawingml/2006/main" noChangeAspect="1"/>
          </p:cNvPicPr>
          <p:nvPr/>
        </p:nvPicPr>
        <p:blipFill>
          <a:blip xmlns:r="http://schemas.openxmlformats.org/officeDocument/2006/relationships" xmlns:a="http://schemas.openxmlformats.org/drawingml/2006/main" r:embed="R1376a1b8b9e94539"/>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B3315911-DF55-4D41-85CF-65FD0EB5C0AD}"/>
              </a:ext>
            </a:extLst>
          </p:cNvPr>
          <p:cNvPicPr>
            <a:picLocks xmlns:a="http://schemas.openxmlformats.org/drawingml/2006/main" noChangeAspect="1"/>
          </p:cNvPicPr>
          <p:nvPr/>
        </p:nvPicPr>
        <p:blipFill>
          <a:blip xmlns:r="http://schemas.openxmlformats.org/officeDocument/2006/relationships" xmlns:a="http://schemas.openxmlformats.org/drawingml/2006/main" r:embed="R525d08df4f0244a1"/>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2026-10-11T02:54:21.0020000Z</dcterms:created>
  <dcterms:modified xsi:type="dcterms:W3CDTF">2026-10-11T02:54:21.0020000Z</dcterms:modified>
</coreProperties>
</file>