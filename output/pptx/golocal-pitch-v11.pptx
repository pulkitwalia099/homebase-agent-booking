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b7c5c8bfce47ea" /><Relationship Type="http://schemas.openxmlformats.org/officeDocument/2006/relationships/extended-properties" Target="/docProps/app.xml" Id="R1b02f87207644a04" /><Relationship Type="http://schemas.openxmlformats.org/officeDocument/2006/relationships/officeDocument" Target="/ppt/presentation.xml" Id="R88971dec97054cae" /></Relationships>
</file>

<file path=ppt/presentation.xml><?xml version="1.0" encoding="utf-8"?>
<p:presentation xmlns:p="http://schemas.openxmlformats.org/presentationml/2006/main">
  <p:sldMasterIdLst>
    <p:sldMasterId xmlns:r="http://schemas.openxmlformats.org/officeDocument/2006/relationships" id="2147483648" r:id="Rf2cc2b0d373d44e2"/>
  </p:sldMasterIdLst>
  <p:notesMasterIdLst>
    <p:notesMasterId xmlns:r="http://schemas.openxmlformats.org/officeDocument/2006/relationships" r:id="Rf1a624d030b24a79"/>
  </p:notesMasterIdLst>
  <p:sldIdLst>
    <p:sldId xmlns:r="http://schemas.openxmlformats.org/officeDocument/2006/relationships" id="256" r:id="R3d85b13bed624314"/>
    <p:sldId xmlns:r="http://schemas.openxmlformats.org/officeDocument/2006/relationships" id="257" r:id="R14fc62225b664ef8"/>
    <p:sldId xmlns:r="http://schemas.openxmlformats.org/officeDocument/2006/relationships" id="258" r:id="Rc1e1e3c88eb242ac"/>
    <p:sldId xmlns:r="http://schemas.openxmlformats.org/officeDocument/2006/relationships" id="259" r:id="R93ae81392b8b42e4"/>
    <p:sldId xmlns:r="http://schemas.openxmlformats.org/officeDocument/2006/relationships" id="260" r:id="Rc6a28fc5b3824f47"/>
    <p:sldId xmlns:r="http://schemas.openxmlformats.org/officeDocument/2006/relationships" id="261" r:id="Ra5d64a420e6f47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12f99a24bb4ce1" /><Relationship Type="http://schemas.openxmlformats.org/officeDocument/2006/relationships/slideMaster" Target="/ppt/slideMasters/slideMaster1.xml" Id="Rf2cc2b0d373d44e2" /><Relationship Type="http://schemas.openxmlformats.org/officeDocument/2006/relationships/notesMaster" Target="/ppt/notesMasters/notesMaster1.xml" Id="Rf1a624d030b24a79" /><Relationship Type="http://schemas.openxmlformats.org/officeDocument/2006/relationships/presProps" Target="/ppt/presProps.xml" Id="R8f4718d5685448af" /><Relationship Type="http://schemas.openxmlformats.org/officeDocument/2006/relationships/tableStyles" Target="/ppt/tableStyles.xml" Id="Rf8a1c19d98834d5f" /><Relationship Type="http://schemas.openxmlformats.org/officeDocument/2006/relationships/slide" Target="/ppt/slides/slide1.xml" Id="R3d85b13bed624314" /><Relationship Type="http://schemas.openxmlformats.org/officeDocument/2006/relationships/slide" Target="/ppt/slides/slide2.xml" Id="R14fc62225b664ef8" /><Relationship Type="http://schemas.openxmlformats.org/officeDocument/2006/relationships/slide" Target="/ppt/slides/slide3.xml" Id="Rc1e1e3c88eb242ac" /><Relationship Type="http://schemas.openxmlformats.org/officeDocument/2006/relationships/slide" Target="/ppt/slides/slide4.xml" Id="R93ae81392b8b42e4" /><Relationship Type="http://schemas.openxmlformats.org/officeDocument/2006/relationships/slide" Target="/ppt/slides/slide5.xml" Id="Rc6a28fc5b3824f47" /><Relationship Type="http://schemas.openxmlformats.org/officeDocument/2006/relationships/slide" Target="/ppt/slides/slide6.xml" Id="Ra5d64a420e6f47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d5d2041a074a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040767570a4fd2" /><Relationship Type="http://schemas.openxmlformats.org/officeDocument/2006/relationships/notesMaster" Target="/ppt/notesMasters/notesMaster1.xml" Id="Rb366bdf883bf4e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28f58d2ddb4c58" /><Relationship Type="http://schemas.openxmlformats.org/officeDocument/2006/relationships/notesMaster" Target="/ppt/notesMasters/notesMaster1.xml" Id="R99182ec9bb724d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759f50a280473e" /><Relationship Type="http://schemas.openxmlformats.org/officeDocument/2006/relationships/notesMaster" Target="/ppt/notesMasters/notesMaster1.xml" Id="R22a1fd3d81884c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e59de99019432e" /><Relationship Type="http://schemas.openxmlformats.org/officeDocument/2006/relationships/notesMaster" Target="/ppt/notesMasters/notesMaster1.xml" Id="Rc0120b3dbd2749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267ffd91bb4761" /><Relationship Type="http://schemas.openxmlformats.org/officeDocument/2006/relationships/notesMaster" Target="/ppt/notesMasters/notesMaster1.xml" Id="Rd0078e25c20944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0e47d386fa4d59" /><Relationship Type="http://schemas.openxmlformats.org/officeDocument/2006/relationships/notesMaster" Target="/ppt/notesMasters/notesMaster1.xml" Id="R899bca94f64346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Founder-requested software fragmentation refinement, October 10 2026. Agent funnel, GoLocal data/action hub, supplier onboarding line and one-connection benefits retained. Right-hand diagram now shows multiple distinct software vendors serving one category (plumbing), rather than one functional software category per service. ServiceTitan, FieldEdge, Housecall Pro and Jobber each advertise plumbing business software; Other systems signals additional potential systems. A shared wiring junction connects the software examples to enterprise, mid-market and small-business provider segments. This is an illustrative ecosystem, not a vendor-to-size assignment, a claim that a specific provider uses every listed system, an exhaustive vendor list, concentration measurement or proof that no vendor dominates. Software names are examples, not signed GoLocal integrations. Enterprise/mid-market/SME segments represent different provider sizes; no exclusive software allocation or 5% share claim. Official source pages accessed October 10 2026: https://www.servicetitan.com/industries/plumbing-software ; https://fieldedge.com/plumbing-software/ ; https://www.housecallpro.com/plumbing/ ; https://www.getjobber.com/industries/plumbing-estimating-software/ . Evidence snapshot resources/plumbing-software-examples-2026-10-10.json. Proposed GoLocal network connects authorized supplier systems and exposes services, coverage, pricing/quote requirements, live availability, quoting, booking, payments and management. System capabilities vary; complex scoping may need provider input, merchant authorization and permitted operations. No production bookings, platform partnerships or universal API availability claimed. The five named agents remain illustrative. $2B+ caption is sourced selected-company funding, not last-month-only or local-service demand: Hark https://hark.com/articles/hark-announces-usd700-million-fundraising-round ; Instinct https://www.businesswire.com/news/home/20260928153437/en/ and earlier reported total https://techcrunch.com/2026/08/26/viral-ai-startup-instinct-has-raised-350-million-at-a-2-5-billion-valuation/ ; Town https://www.town.com/press/series-a . Funding excludes unverified product-specific OpenAI/Meta allocations. Existing business systems remain authoritative. Architecture follows local business/current theses and founder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5223894c2948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83ae05bdd445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f3120c0c7546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d2aa85e6bc49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e3c955efdd47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b98657a3ab4b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0737a10cbf420e" /><Relationship Type="http://schemas.openxmlformats.org/officeDocument/2006/relationships/slideLayout" Target="/ppt/slideLayouts/slideLayout1.xml" Id="R3eb05a08494243c4" /><Relationship Type="http://schemas.openxmlformats.org/officeDocument/2006/relationships/slideLayout" Target="/ppt/slideLayouts/slideLayout2.xml" Id="R0dc74d941abb4e59" /><Relationship Type="http://schemas.openxmlformats.org/officeDocument/2006/relationships/slideLayout" Target="/ppt/slideLayouts/slideLayout3.xml" Id="Rf0b445f8e7644784" /><Relationship Type="http://schemas.openxmlformats.org/officeDocument/2006/relationships/slideLayout" Target="/ppt/slideLayouts/slideLayout4.xml" Id="R469281b6217944bb" /><Relationship Type="http://schemas.openxmlformats.org/officeDocument/2006/relationships/slideLayout" Target="/ppt/slideLayouts/slideLayout5.xml" Id="Rc50b25f1828e42f9" /><Relationship Type="http://schemas.openxmlformats.org/officeDocument/2006/relationships/slideLayout" Target="/ppt/slideLayouts/slideLayout6.xml" Id="Raa033ace5cae4b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b05a08494243c4"/>
    <p:sldLayoutId xmlns:r="http://schemas.openxmlformats.org/officeDocument/2006/relationships" id="2147483650" r:id="R0dc74d941abb4e59"/>
    <p:sldLayoutId xmlns:r="http://schemas.openxmlformats.org/officeDocument/2006/relationships" id="2147483651" r:id="Rf0b445f8e7644784"/>
    <p:sldLayoutId xmlns:r="http://schemas.openxmlformats.org/officeDocument/2006/relationships" id="2147483652" r:id="R469281b6217944bb"/>
    <p:sldLayoutId xmlns:r="http://schemas.openxmlformats.org/officeDocument/2006/relationships" id="2147483653" r:id="Rc50b25f1828e42f9"/>
    <p:sldLayoutId xmlns:r="http://schemas.openxmlformats.org/officeDocument/2006/relationships" id="2147483654" r:id="Raa033ace5cae4b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e753472f93413d" /><Relationship Type="http://schemas.openxmlformats.org/officeDocument/2006/relationships/notesSlide" Target="/ppt/notesSlides/notesSlide1.xml" Id="R1777b559128648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189ef643fc4b3e" /><Relationship Type="http://schemas.openxmlformats.org/officeDocument/2006/relationships/notesSlide" Target="/ppt/notesSlides/notesSlide2.xml" Id="Rd5872fbe148a41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bbd7b2312c4246" /><Relationship Type="http://schemas.openxmlformats.org/officeDocument/2006/relationships/notesSlide" Target="/ppt/notesSlides/notesSlide3.xml" Id="R873c8bcf970a48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2dd390e77d4f80" /><Relationship Type="http://schemas.openxmlformats.org/officeDocument/2006/relationships/notesSlide" Target="/ppt/notesSlides/notesSlide4.xml" Id="Rd488ce05379546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e89322a4ce448e" /><Relationship Type="http://schemas.openxmlformats.org/officeDocument/2006/relationships/notesSlide" Target="/ppt/notesSlides/notesSlide5.xml" Id="R678ddcf0c3a340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71efdc31834071" /><Relationship Type="http://schemas.openxmlformats.org/officeDocument/2006/relationships/notesSlide" Target="/ppt/notesSlides/notesSlide6.xml" Id="Rf6a9e9bb5fcb451a"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FA0C3B84-2F28-49AD-A28F-40812E16C148}"/>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FA95AF08-6257-404C-A66E-37922FD92654}"/>
              </a:ext>
            </a:extLst>
          </p:cNvPr>
          <p:cNvCxnSpPr>
            <a:stCxn xmlns:a="http://schemas.openxmlformats.org/drawingml/2006/main" id="27" idx="3"/>
            <a:endCxn xmlns:a="http://schemas.openxmlformats.org/drawingml/2006/main" id="26" idx="1"/>
          </p:cNvCxnSpPr>
          <p:nvPr/>
        </p:nvCxnSpPr>
        <p:spPr>
          <a:xfrm xmlns:a="http://schemas.openxmlformats.org/drawingml/2006/main">
            <a:off x="9572625" y="4191000"/>
            <a:ext cx="295275" cy="990600"/>
          </a:xfrm>
          <a:prstGeom xmlns:a="http://schemas.openxmlformats.org/drawingml/2006/main" prst="bentConnector3">
            <a:avLst>
              <a:gd name="adj1" fmla="val 50000"/>
            </a:avLst>
          </a:prstGeom>
          <a:ln xmlns:a="http://schemas.openxmlformats.org/drawingml/2006/main" w="19050">
            <a:solidFill>
              <a:srgbClr val="236C4E"/>
            </a:solidFill>
            <a:prstDash val="solid"/>
            <a:tailEnd type="arrow" w="sm" len="sm"/>
          </a:ln>
        </p:spPr>
      </p:cxnSp>
      <p:cxnSp>
        <p:nvCxnSpPr>
          <p:cNvPr id="44" name="">
            <a:extLst xmlns:a="http://schemas.openxmlformats.org/drawingml/2006/main">
              <a:ext uri="{FF2B5EF4-FFF2-40B4-BE49-F238E27FC236}">
                <a16:creationId xmlns:a16="http://schemas.microsoft.com/office/drawing/2014/main" id="{B2A22D49-3F19-412D-A7DF-5480CBAB5CDE}"/>
              </a:ext>
            </a:extLst>
          </p:cNvPr>
          <p:cNvCxnSpPr>
            <a:stCxn xmlns:a="http://schemas.openxmlformats.org/drawingml/2006/main" id="27" idx="3"/>
            <a:endCxn xmlns:a="http://schemas.openxmlformats.org/drawingml/2006/main" id="25" idx="1"/>
          </p:cNvCxnSpPr>
          <p:nvPr/>
        </p:nvCxnSpPr>
        <p:spPr>
          <a:xfrm xmlns:a="http://schemas.openxmlformats.org/drawingml/2006/main">
            <a:off x="9572625" y="4191000"/>
            <a:ext cx="2952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43" name="">
            <a:extLst xmlns:a="http://schemas.openxmlformats.org/drawingml/2006/main">
              <a:ext uri="{FF2B5EF4-FFF2-40B4-BE49-F238E27FC236}">
                <a16:creationId xmlns:a16="http://schemas.microsoft.com/office/drawing/2014/main" id="{D30C8689-82E4-47D2-AE98-C31FBA9F99ED}"/>
              </a:ext>
            </a:extLst>
          </p:cNvPr>
          <p:cNvCxnSpPr>
            <a:stCxn xmlns:a="http://schemas.openxmlformats.org/drawingml/2006/main" id="27" idx="3"/>
            <a:endCxn xmlns:a="http://schemas.openxmlformats.org/drawingml/2006/main" id="24" idx="1"/>
          </p:cNvCxnSpPr>
          <p:nvPr/>
        </p:nvCxnSpPr>
        <p:spPr>
          <a:xfrm xmlns:a="http://schemas.openxmlformats.org/drawingml/2006/main" flipV="1">
            <a:off x="9572625" y="3200400"/>
            <a:ext cx="295275" cy="990600"/>
          </a:xfrm>
          <a:prstGeom xmlns:a="http://schemas.openxmlformats.org/drawingml/2006/main" prst="bentConnector3">
            <a:avLst>
              <a:gd name="adj1" fmla="val 50000"/>
            </a:avLst>
          </a:prstGeom>
          <a:ln xmlns:a="http://schemas.openxmlformats.org/drawingml/2006/main" w="19050">
            <a:solidFill>
              <a:srgbClr val="236C4E"/>
            </a:solidFill>
            <a:prstDash val="solid"/>
            <a:tailEnd type="arrow" w="sm" len="sm"/>
          </a:ln>
        </p:spPr>
      </p:cxnSp>
      <p:cxnSp>
        <p:nvCxnSpPr>
          <p:cNvPr id="42" name="">
            <a:extLst xmlns:a="http://schemas.openxmlformats.org/drawingml/2006/main">
              <a:ext uri="{FF2B5EF4-FFF2-40B4-BE49-F238E27FC236}">
                <a16:creationId xmlns:a16="http://schemas.microsoft.com/office/drawing/2014/main" id="{DEEC6250-99FF-4BF1-80A0-43B7267152F4}"/>
              </a:ext>
            </a:extLst>
          </p:cNvPr>
          <p:cNvCxnSpPr>
            <a:stCxn xmlns:a="http://schemas.openxmlformats.org/drawingml/2006/main" id="23" idx="3"/>
            <a:endCxn xmlns:a="http://schemas.openxmlformats.org/drawingml/2006/main" id="27" idx="1"/>
          </p:cNvCxnSpPr>
          <p:nvPr/>
        </p:nvCxnSpPr>
        <p:spPr>
          <a:xfrm xmlns:a="http://schemas.openxmlformats.org/drawingml/2006/main" flipV="1">
            <a:off x="9258300" y="4191000"/>
            <a:ext cx="295275" cy="99536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41" name="">
            <a:extLst xmlns:a="http://schemas.openxmlformats.org/drawingml/2006/main">
              <a:ext uri="{FF2B5EF4-FFF2-40B4-BE49-F238E27FC236}">
                <a16:creationId xmlns:a16="http://schemas.microsoft.com/office/drawing/2014/main" id="{86A20C7B-B458-49CB-9260-B4EA04719969}"/>
              </a:ext>
            </a:extLst>
          </p:cNvPr>
          <p:cNvCxnSpPr>
            <a:stCxn xmlns:a="http://schemas.openxmlformats.org/drawingml/2006/main" id="14" idx="3"/>
            <a:endCxn xmlns:a="http://schemas.openxmlformats.org/drawingml/2006/main" id="23" idx="1"/>
          </p:cNvCxnSpPr>
          <p:nvPr/>
        </p:nvCxnSpPr>
        <p:spPr>
          <a:xfrm xmlns:a="http://schemas.openxmlformats.org/drawingml/2006/main">
            <a:off x="6610350" y="4133850"/>
            <a:ext cx="89535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8002E653-5761-4BBE-B86E-4266B468F0DA}"/>
              </a:ext>
            </a:extLst>
          </p:cNvPr>
          <p:cNvCxnSpPr>
            <a:stCxn xmlns:a="http://schemas.openxmlformats.org/drawingml/2006/main" id="22" idx="3"/>
            <a:endCxn xmlns:a="http://schemas.openxmlformats.org/drawingml/2006/main" id="27" idx="1"/>
          </p:cNvCxnSpPr>
          <p:nvPr/>
        </p:nvCxnSpPr>
        <p:spPr>
          <a:xfrm xmlns:a="http://schemas.openxmlformats.org/drawingml/2006/main" flipV="1">
            <a:off x="9258300" y="4191000"/>
            <a:ext cx="295275" cy="46196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9" name="">
            <a:extLst xmlns:a="http://schemas.openxmlformats.org/drawingml/2006/main">
              <a:ext uri="{FF2B5EF4-FFF2-40B4-BE49-F238E27FC236}">
                <a16:creationId xmlns:a16="http://schemas.microsoft.com/office/drawing/2014/main" id="{11CECD6D-1B91-4367-A494-DB5BCDBAE2CB}"/>
              </a:ext>
            </a:extLst>
          </p:cNvPr>
          <p:cNvCxnSpPr>
            <a:stCxn xmlns:a="http://schemas.openxmlformats.org/drawingml/2006/main" id="14" idx="3"/>
            <a:endCxn xmlns:a="http://schemas.openxmlformats.org/drawingml/2006/main" id="22" idx="1"/>
          </p:cNvCxnSpPr>
          <p:nvPr/>
        </p:nvCxnSpPr>
        <p:spPr>
          <a:xfrm xmlns:a="http://schemas.openxmlformats.org/drawingml/2006/main">
            <a:off x="6610350" y="4133850"/>
            <a:ext cx="89535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F5ECD091-4BED-48A4-9B66-698F712CE565}"/>
              </a:ext>
            </a:extLst>
          </p:cNvPr>
          <p:cNvCxnSpPr>
            <a:stCxn xmlns:a="http://schemas.openxmlformats.org/drawingml/2006/main" id="21" idx="3"/>
            <a:endCxn xmlns:a="http://schemas.openxmlformats.org/drawingml/2006/main" id="27" idx="1"/>
          </p:cNvCxnSpPr>
          <p:nvPr/>
        </p:nvCxnSpPr>
        <p:spPr>
          <a:xfrm xmlns:a="http://schemas.openxmlformats.org/drawingml/2006/main">
            <a:off x="9258300" y="4119563"/>
            <a:ext cx="295275" cy="714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7" name="">
            <a:extLst xmlns:a="http://schemas.openxmlformats.org/drawingml/2006/main">
              <a:ext uri="{FF2B5EF4-FFF2-40B4-BE49-F238E27FC236}">
                <a16:creationId xmlns:a16="http://schemas.microsoft.com/office/drawing/2014/main" id="{DEA12AAB-7A4A-4E31-AB2E-D17098681E32}"/>
              </a:ext>
            </a:extLst>
          </p:cNvPr>
          <p:cNvCxnSpPr>
            <a:stCxn xmlns:a="http://schemas.openxmlformats.org/drawingml/2006/main" id="14" idx="3"/>
            <a:endCxn xmlns:a="http://schemas.openxmlformats.org/drawingml/2006/main" id="21" idx="1"/>
          </p:cNvCxnSpPr>
          <p:nvPr/>
        </p:nvCxnSpPr>
        <p:spPr>
          <a:xfrm xmlns:a="http://schemas.openxmlformats.org/drawingml/2006/main" flipV="1">
            <a:off x="6610350" y="4119563"/>
            <a:ext cx="89535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C56957D5-2F57-4368-937F-2749BA856EFC}"/>
              </a:ext>
            </a:extLst>
          </p:cNvPr>
          <p:cNvCxnSpPr>
            <a:stCxn xmlns:a="http://schemas.openxmlformats.org/drawingml/2006/main" id="20" idx="3"/>
            <a:endCxn xmlns:a="http://schemas.openxmlformats.org/drawingml/2006/main" id="27" idx="1"/>
          </p:cNvCxnSpPr>
          <p:nvPr/>
        </p:nvCxnSpPr>
        <p:spPr>
          <a:xfrm xmlns:a="http://schemas.openxmlformats.org/drawingml/2006/main">
            <a:off x="9258300" y="3586163"/>
            <a:ext cx="295275" cy="6048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5" name="">
            <a:extLst xmlns:a="http://schemas.openxmlformats.org/drawingml/2006/main">
              <a:ext uri="{FF2B5EF4-FFF2-40B4-BE49-F238E27FC236}">
                <a16:creationId xmlns:a16="http://schemas.microsoft.com/office/drawing/2014/main" id="{C9BFA7C4-872E-45C2-ACFD-AA4C0D3B7C81}"/>
              </a:ext>
            </a:extLst>
          </p:cNvPr>
          <p:cNvCxnSpPr>
            <a:stCxn xmlns:a="http://schemas.openxmlformats.org/drawingml/2006/main" id="14" idx="3"/>
            <a:endCxn xmlns:a="http://schemas.openxmlformats.org/drawingml/2006/main" id="20" idx="1"/>
          </p:cNvCxnSpPr>
          <p:nvPr/>
        </p:nvCxnSpPr>
        <p:spPr>
          <a:xfrm xmlns:a="http://schemas.openxmlformats.org/drawingml/2006/main" flipV="1">
            <a:off x="6610350" y="3586163"/>
            <a:ext cx="89535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4" name="">
            <a:extLst xmlns:a="http://schemas.openxmlformats.org/drawingml/2006/main">
              <a:ext uri="{FF2B5EF4-FFF2-40B4-BE49-F238E27FC236}">
                <a16:creationId xmlns:a16="http://schemas.microsoft.com/office/drawing/2014/main" id="{DA122F26-2DFD-4A76-9E97-20EEC5196842}"/>
              </a:ext>
            </a:extLst>
          </p:cNvPr>
          <p:cNvCxnSpPr>
            <a:stCxn xmlns:a="http://schemas.openxmlformats.org/drawingml/2006/main" id="19" idx="3"/>
            <a:endCxn xmlns:a="http://schemas.openxmlformats.org/drawingml/2006/main" id="27" idx="1"/>
          </p:cNvCxnSpPr>
          <p:nvPr/>
        </p:nvCxnSpPr>
        <p:spPr>
          <a:xfrm xmlns:a="http://schemas.openxmlformats.org/drawingml/2006/main">
            <a:off x="9258300" y="3052763"/>
            <a:ext cx="295275" cy="113823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ln>
        </p:spPr>
      </p:cxnSp>
      <p:cxnSp>
        <p:nvCxnSpPr>
          <p:cNvPr id="33" name="">
            <a:extLst xmlns:a="http://schemas.openxmlformats.org/drawingml/2006/main">
              <a:ext uri="{FF2B5EF4-FFF2-40B4-BE49-F238E27FC236}">
                <a16:creationId xmlns:a16="http://schemas.microsoft.com/office/drawing/2014/main" id="{F2977FB3-F7B6-4A8A-9888-7A3B603C6501}"/>
              </a:ext>
            </a:extLst>
          </p:cNvPr>
          <p:cNvCxnSpPr>
            <a:stCxn xmlns:a="http://schemas.openxmlformats.org/drawingml/2006/main" id="14" idx="3"/>
            <a:endCxn xmlns:a="http://schemas.openxmlformats.org/drawingml/2006/main" id="19" idx="1"/>
          </p:cNvCxnSpPr>
          <p:nvPr/>
        </p:nvCxnSpPr>
        <p:spPr>
          <a:xfrm xmlns:a="http://schemas.openxmlformats.org/drawingml/2006/main" flipV="1">
            <a:off x="6610350" y="3052763"/>
            <a:ext cx="89535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2" name="">
            <a:extLst xmlns:a="http://schemas.openxmlformats.org/drawingml/2006/main">
              <a:ext uri="{FF2B5EF4-FFF2-40B4-BE49-F238E27FC236}">
                <a16:creationId xmlns:a16="http://schemas.microsoft.com/office/drawing/2014/main" id="{DDA97BBC-F299-4038-9BE1-7097A298F300}"/>
              </a:ext>
            </a:extLst>
          </p:cNvPr>
          <p:cNvCxnSpPr>
            <a:stCxn xmlns:a="http://schemas.openxmlformats.org/drawingml/2006/main" id="13" idx="3"/>
            <a:endCxn xmlns:a="http://schemas.openxmlformats.org/drawingml/2006/main" id="14"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1" name="">
            <a:extLst xmlns:a="http://schemas.openxmlformats.org/drawingml/2006/main">
              <a:ext uri="{FF2B5EF4-FFF2-40B4-BE49-F238E27FC236}">
                <a16:creationId xmlns:a16="http://schemas.microsoft.com/office/drawing/2014/main" id="{839664AB-1AA4-4659-82A5-58992FDF7DEB}"/>
              </a:ext>
            </a:extLst>
          </p:cNvPr>
          <p:cNvCxnSpPr>
            <a:stCxn xmlns:a="http://schemas.openxmlformats.org/drawingml/2006/main" id="12" idx="3"/>
            <a:endCxn xmlns:a="http://schemas.openxmlformats.org/drawingml/2006/main" id="14"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D60909F2-F5F0-4F7C-B80E-0B14E2D809AA}"/>
              </a:ext>
            </a:extLst>
          </p:cNvPr>
          <p:cNvCxnSpPr>
            <a:stCxn xmlns:a="http://schemas.openxmlformats.org/drawingml/2006/main" id="11" idx="3"/>
            <a:endCxn xmlns:a="http://schemas.openxmlformats.org/drawingml/2006/main" id="14"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C8FA966E-4A99-4022-B69F-E40DF307D49E}"/>
              </a:ext>
            </a:extLst>
          </p:cNvPr>
          <p:cNvCxnSpPr>
            <a:stCxn xmlns:a="http://schemas.openxmlformats.org/drawingml/2006/main" id="10" idx="3"/>
            <a:endCxn xmlns:a="http://schemas.openxmlformats.org/drawingml/2006/main" id="14"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B9BFCC6E-9A41-4299-B93B-157CC1E4EF49}"/>
              </a:ext>
            </a:extLst>
          </p:cNvPr>
          <p:cNvCxnSpPr>
            <a:stCxn xmlns:a="http://schemas.openxmlformats.org/drawingml/2006/main" id="9" idx="3"/>
            <a:endCxn xmlns:a="http://schemas.openxmlformats.org/drawingml/2006/main" id="14"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0" name="booking-layer-text-0">
            <a:extLst xmlns:a="http://schemas.openxmlformats.org/drawingml/2006/main">
              <a:ext uri="{FF2B5EF4-FFF2-40B4-BE49-F238E27FC236}">
                <a16:creationId xmlns:a16="http://schemas.microsoft.com/office/drawing/2014/main" id="{A2A1D8EE-69A0-487E-A2E7-91494C854D8B}"/>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44406E44-207C-46E6-B8D5-5422B8040EBA}"/>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38FC3C3A-1132-45E6-9EEF-E87D489AA828}"/>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49A65A4C-658E-41CF-94E5-D7ED4298288B}"/>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10E75D2E-1DFF-4D9B-AAC7-28BC3D71071E}"/>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6F91298A-2662-4434-9277-F7219E8D8C3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56B5B1C4-C8F4-4AB1-BDB0-FEEE95027C88}"/>
              </a:ext>
            </a:extLst>
          </p:cNvPr>
          <p:cNvSpPr>
            <a:spLocks xmlns:a="http://schemas.openxmlformats.org/drawingml/2006/main" noGrp="1"/>
          </p:cNvSpPr>
          <p:nvPr/>
        </p:nvSpPr>
        <p:spPr>
          <a:xfrm xmlns:a="http://schemas.openxmlformats.org/drawingml/2006/main">
            <a:off x="7505700" y="2124075"/>
            <a:ext cx="175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Fragmented</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software vendors</a:t>
            </a:r>
          </a:p>
        </p:txBody>
      </p:sp>
      <p:sp>
        <p:nvSpPr>
          <p:cNvPr id="8" name="booking-layer-text-7">
            <a:extLst xmlns:a="http://schemas.openxmlformats.org/drawingml/2006/main">
              <a:ext uri="{FF2B5EF4-FFF2-40B4-BE49-F238E27FC236}">
                <a16:creationId xmlns:a16="http://schemas.microsoft.com/office/drawing/2014/main" id="{AEDCA83D-B3FB-4DD2-8C22-6A6C0CE2CBAC}"/>
              </a:ext>
            </a:extLst>
          </p:cNvPr>
          <p:cNvSpPr>
            <a:spLocks xmlns:a="http://schemas.openxmlformats.org/drawingml/2006/main" noGrp="1"/>
          </p:cNvSpPr>
          <p:nvPr/>
        </p:nvSpPr>
        <p:spPr>
          <a:xfrm xmlns:a="http://schemas.openxmlformats.org/drawingml/2006/main">
            <a:off x="9867900" y="2124075"/>
            <a:ext cx="1828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Local businesses</a:t>
            </a:r>
          </a:p>
          <a:p xmlns:a="http://schemas.openxmlformats.org/drawingml/2006/main">
            <a:pP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Example: plumbing</a:t>
            </a:r>
          </a:p>
        </p:txBody>
      </p:sp>
      <p:sp>
        <p:nvSpPr>
          <p:cNvPr id="9" name="booking-layer-node-8">
            <a:extLst xmlns:a="http://schemas.openxmlformats.org/drawingml/2006/main">
              <a:ext uri="{FF2B5EF4-FFF2-40B4-BE49-F238E27FC236}">
                <a16:creationId xmlns:a16="http://schemas.microsoft.com/office/drawing/2014/main" id="{4D3B4692-D321-4BB9-A20A-52D2B66CE000}"/>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0" name="booking-layer-node-9">
            <a:extLst xmlns:a="http://schemas.openxmlformats.org/drawingml/2006/main">
              <a:ext uri="{FF2B5EF4-FFF2-40B4-BE49-F238E27FC236}">
                <a16:creationId xmlns:a16="http://schemas.microsoft.com/office/drawing/2014/main" id="{3B95A5B5-AA4F-4D9A-8D4C-02C044B9679E}"/>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1" name="booking-layer-node-10">
            <a:extLst xmlns:a="http://schemas.openxmlformats.org/drawingml/2006/main">
              <a:ext uri="{FF2B5EF4-FFF2-40B4-BE49-F238E27FC236}">
                <a16:creationId xmlns:a16="http://schemas.microsoft.com/office/drawing/2014/main" id="{F35CE981-65DC-4AA1-8C98-C72720300F7E}"/>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2" name="booking-layer-node-11">
            <a:extLst xmlns:a="http://schemas.openxmlformats.org/drawingml/2006/main">
              <a:ext uri="{FF2B5EF4-FFF2-40B4-BE49-F238E27FC236}">
                <a16:creationId xmlns:a16="http://schemas.microsoft.com/office/drawing/2014/main" id="{D4D483AB-C806-4A65-B201-16B1EB97115F}"/>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3" name="booking-layer-node-12">
            <a:extLst xmlns:a="http://schemas.openxmlformats.org/drawingml/2006/main">
              <a:ext uri="{FF2B5EF4-FFF2-40B4-BE49-F238E27FC236}">
                <a16:creationId xmlns:a16="http://schemas.microsoft.com/office/drawing/2014/main" id="{75407E9A-61AD-420D-A5F3-234E49FAC081}"/>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4" name="booking-layer-node-13">
            <a:extLst xmlns:a="http://schemas.openxmlformats.org/drawingml/2006/main">
              <a:ext uri="{FF2B5EF4-FFF2-40B4-BE49-F238E27FC236}">
                <a16:creationId xmlns:a16="http://schemas.microsoft.com/office/drawing/2014/main" id="{10FD613A-3E7C-4EE9-BFAA-5BECF1F27889}"/>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5" name="booking-layer-text-14">
            <a:extLst xmlns:a="http://schemas.openxmlformats.org/drawingml/2006/main">
              <a:ext uri="{FF2B5EF4-FFF2-40B4-BE49-F238E27FC236}">
                <a16:creationId xmlns:a16="http://schemas.microsoft.com/office/drawing/2014/main" id="{34AAAEC4-5F94-4F96-959A-C8DB461B4BF0}"/>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6" name="booking-layer-text-15">
            <a:extLst xmlns:a="http://schemas.openxmlformats.org/drawingml/2006/main">
              <a:ext uri="{FF2B5EF4-FFF2-40B4-BE49-F238E27FC236}">
                <a16:creationId xmlns:a16="http://schemas.microsoft.com/office/drawing/2014/main" id="{1A3124E2-3742-4D96-9D4F-73E9D5B576EC}"/>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7" name="booking-layer-text-16">
            <a:extLst xmlns:a="http://schemas.openxmlformats.org/drawingml/2006/main">
              <a:ext uri="{FF2B5EF4-FFF2-40B4-BE49-F238E27FC236}">
                <a16:creationId xmlns:a16="http://schemas.microsoft.com/office/drawing/2014/main" id="{F908534D-1D36-4443-8233-4AF451570749}"/>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8" name="booking-layer-text-17">
            <a:extLst xmlns:a="http://schemas.openxmlformats.org/drawingml/2006/main">
              <a:ext uri="{FF2B5EF4-FFF2-40B4-BE49-F238E27FC236}">
                <a16:creationId xmlns:a16="http://schemas.microsoft.com/office/drawing/2014/main" id="{1310C8B8-708F-4B80-8054-2C87950E7189}"/>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19" name="booking-layer-node-18">
            <a:extLst xmlns:a="http://schemas.openxmlformats.org/drawingml/2006/main">
              <a:ext uri="{FF2B5EF4-FFF2-40B4-BE49-F238E27FC236}">
                <a16:creationId xmlns:a16="http://schemas.microsoft.com/office/drawing/2014/main" id="{481E2144-0154-42F3-A485-65B6E218A1E4}"/>
              </a:ext>
            </a:extLst>
          </p:cNvPr>
          <p:cNvSpPr>
            <a:spLocks xmlns:a="http://schemas.openxmlformats.org/drawingml/2006/main" noGrp="1"/>
          </p:cNvSpPr>
          <p:nvPr/>
        </p:nvSpPr>
        <p:spPr>
          <a:xfrm xmlns:a="http://schemas.openxmlformats.org/drawingml/2006/main">
            <a:off x="7505700" y="28479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ServiceTitan</a:t>
            </a:r>
          </a:p>
        </p:txBody>
      </p:sp>
      <p:sp>
        <p:nvSpPr>
          <p:cNvPr id="20" name="booking-layer-node-19">
            <a:extLst xmlns:a="http://schemas.openxmlformats.org/drawingml/2006/main">
              <a:ext uri="{FF2B5EF4-FFF2-40B4-BE49-F238E27FC236}">
                <a16:creationId xmlns:a16="http://schemas.microsoft.com/office/drawing/2014/main" id="{A21569F4-D287-49AC-AF7C-9A2B384AF1C2}"/>
              </a:ext>
            </a:extLst>
          </p:cNvPr>
          <p:cNvSpPr>
            <a:spLocks xmlns:a="http://schemas.openxmlformats.org/drawingml/2006/main" noGrp="1"/>
          </p:cNvSpPr>
          <p:nvPr/>
        </p:nvSpPr>
        <p:spPr>
          <a:xfrm xmlns:a="http://schemas.openxmlformats.org/drawingml/2006/main">
            <a:off x="7505700" y="33813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FieldEdge</a:t>
            </a:r>
          </a:p>
        </p:txBody>
      </p:sp>
      <p:sp>
        <p:nvSpPr>
          <p:cNvPr id="21" name="booking-layer-node-20">
            <a:extLst xmlns:a="http://schemas.openxmlformats.org/drawingml/2006/main">
              <a:ext uri="{FF2B5EF4-FFF2-40B4-BE49-F238E27FC236}">
                <a16:creationId xmlns:a16="http://schemas.microsoft.com/office/drawing/2014/main" id="{2C4B3A2B-D897-469D-AD47-1C78F568F86D}"/>
              </a:ext>
            </a:extLst>
          </p:cNvPr>
          <p:cNvSpPr>
            <a:spLocks xmlns:a="http://schemas.openxmlformats.org/drawingml/2006/main" noGrp="1"/>
          </p:cNvSpPr>
          <p:nvPr/>
        </p:nvSpPr>
        <p:spPr>
          <a:xfrm xmlns:a="http://schemas.openxmlformats.org/drawingml/2006/main">
            <a:off x="7505700" y="39147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Housecall Pro</a:t>
            </a:r>
          </a:p>
        </p:txBody>
      </p:sp>
      <p:sp>
        <p:nvSpPr>
          <p:cNvPr id="22" name="booking-layer-node-21">
            <a:extLst xmlns:a="http://schemas.openxmlformats.org/drawingml/2006/main">
              <a:ext uri="{FF2B5EF4-FFF2-40B4-BE49-F238E27FC236}">
                <a16:creationId xmlns:a16="http://schemas.microsoft.com/office/drawing/2014/main" id="{00D71F7F-E83E-4580-BFA1-7921E56B2B5A}"/>
              </a:ext>
            </a:extLst>
          </p:cNvPr>
          <p:cNvSpPr>
            <a:spLocks xmlns:a="http://schemas.openxmlformats.org/drawingml/2006/main" noGrp="1"/>
          </p:cNvSpPr>
          <p:nvPr/>
        </p:nvSpPr>
        <p:spPr>
          <a:xfrm xmlns:a="http://schemas.openxmlformats.org/drawingml/2006/main">
            <a:off x="7505700" y="44481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Jobber</a:t>
            </a:r>
          </a:p>
        </p:txBody>
      </p:sp>
      <p:sp>
        <p:nvSpPr>
          <p:cNvPr id="23" name="booking-layer-node-22">
            <a:extLst xmlns:a="http://schemas.openxmlformats.org/drawingml/2006/main">
              <a:ext uri="{FF2B5EF4-FFF2-40B4-BE49-F238E27FC236}">
                <a16:creationId xmlns:a16="http://schemas.microsoft.com/office/drawing/2014/main" id="{50910079-4088-4EE7-9B25-74D51C3069E9}"/>
              </a:ext>
            </a:extLst>
          </p:cNvPr>
          <p:cNvSpPr>
            <a:spLocks xmlns:a="http://schemas.openxmlformats.org/drawingml/2006/main" noGrp="1"/>
          </p:cNvSpPr>
          <p:nvPr/>
        </p:nvSpPr>
        <p:spPr>
          <a:xfrm xmlns:a="http://schemas.openxmlformats.org/drawingml/2006/main">
            <a:off x="7505700" y="4981575"/>
            <a:ext cx="17526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Other systems</a:t>
            </a:r>
          </a:p>
        </p:txBody>
      </p:sp>
      <p:sp>
        <p:nvSpPr>
          <p:cNvPr id="24" name="booking-layer-node-23">
            <a:extLst xmlns:a="http://schemas.openxmlformats.org/drawingml/2006/main">
              <a:ext uri="{FF2B5EF4-FFF2-40B4-BE49-F238E27FC236}">
                <a16:creationId xmlns:a16="http://schemas.microsoft.com/office/drawing/2014/main" id="{7F1C6FF8-48F5-4A43-9F10-824087FBB1C8}"/>
              </a:ext>
            </a:extLst>
          </p:cNvPr>
          <p:cNvSpPr>
            <a:spLocks xmlns:a="http://schemas.openxmlformats.org/drawingml/2006/main" noGrp="1"/>
          </p:cNvSpPr>
          <p:nvPr/>
        </p:nvSpPr>
        <p:spPr>
          <a:xfrm xmlns:a="http://schemas.openxmlformats.org/drawingml/2006/main">
            <a:off x="9867900" y="29051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Enterprise</a:t>
            </a:r>
          </a:p>
        </p:txBody>
      </p:sp>
      <p:sp>
        <p:nvSpPr>
          <p:cNvPr id="25" name="booking-layer-node-24">
            <a:extLst xmlns:a="http://schemas.openxmlformats.org/drawingml/2006/main">
              <a:ext uri="{FF2B5EF4-FFF2-40B4-BE49-F238E27FC236}">
                <a16:creationId xmlns:a16="http://schemas.microsoft.com/office/drawing/2014/main" id="{5E9FE754-DABA-4879-9C74-2B1D12BEDB61}"/>
              </a:ext>
            </a:extLst>
          </p:cNvPr>
          <p:cNvSpPr>
            <a:spLocks xmlns:a="http://schemas.openxmlformats.org/drawingml/2006/main" noGrp="1"/>
          </p:cNvSpPr>
          <p:nvPr/>
        </p:nvSpPr>
        <p:spPr>
          <a:xfrm xmlns:a="http://schemas.openxmlformats.org/drawingml/2006/main">
            <a:off x="9867900" y="38957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725" b="1">
                <a:solidFill>
                  <a:srgbClr val="193C32"/>
                </a:solidFill>
                <a:latin typeface="Helvetica Neue"/>
                <a:ea typeface="Helvetica Neue"/>
                <a:cs typeface="Helvetica Neue"/>
              </a:defRPr>
            </a:defPPr>
          </a:lstStyle>
          <a:p xmlns:a="http://schemas.openxmlformats.org/drawingml/2006/main">
            <a:pPr algn="ctr">
              <a:defRPr sz="1725" b="1">
                <a:solidFill>
                  <a:srgbClr val="193C32"/>
                </a:solidFill>
                <a:latin typeface="Helvetica Neue"/>
                <a:ea typeface="Helvetica Neue"/>
                <a:cs typeface="Helvetica Neue"/>
              </a:defRPr>
            </a:pPr>
            <a:r>
              <a:rPr sz="1725" b="1">
                <a:solidFill>
                  <a:srgbClr val="193C32"/>
                </a:solidFill>
                <a:latin typeface="Helvetica Neue"/>
                <a:ea typeface="Helvetica Neue"/>
                <a:cs typeface="Helvetica Neue"/>
              </a:rPr>
              <a:t>Mid-market</a:t>
            </a:r>
          </a:p>
        </p:txBody>
      </p:sp>
      <p:sp>
        <p:nvSpPr>
          <p:cNvPr id="26" name="booking-layer-node-25">
            <a:extLst xmlns:a="http://schemas.openxmlformats.org/drawingml/2006/main">
              <a:ext uri="{FF2B5EF4-FFF2-40B4-BE49-F238E27FC236}">
                <a16:creationId xmlns:a16="http://schemas.microsoft.com/office/drawing/2014/main" id="{8F54BE4E-15EF-4CA8-8502-C4D0A553073B}"/>
              </a:ext>
            </a:extLst>
          </p:cNvPr>
          <p:cNvSpPr>
            <a:spLocks xmlns:a="http://schemas.openxmlformats.org/drawingml/2006/main" noGrp="1"/>
          </p:cNvSpPr>
          <p:nvPr/>
        </p:nvSpPr>
        <p:spPr>
          <a:xfrm xmlns:a="http://schemas.openxmlformats.org/drawingml/2006/main">
            <a:off x="9867900" y="4886325"/>
            <a:ext cx="1828800" cy="5905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 businesses</a:t>
            </a:r>
          </a:p>
        </p:txBody>
      </p:sp>
      <p:sp>
        <p:nvSpPr>
          <p:cNvPr id="27" name="software-business-junction">
            <a:extLst xmlns:a="http://schemas.openxmlformats.org/drawingml/2006/main">
              <a:ext uri="{FF2B5EF4-FFF2-40B4-BE49-F238E27FC236}">
                <a16:creationId xmlns:a16="http://schemas.microsoft.com/office/drawing/2014/main" id="{D9520248-1A7B-4C59-A273-D87DBE0ED0D1}"/>
              </a:ext>
            </a:extLst>
          </p:cNvPr>
          <p:cNvSpPr>
            <a:spLocks xmlns:a="http://schemas.openxmlformats.org/drawingml/2006/main" noGrp="1"/>
          </p:cNvSpPr>
          <p:nvPr/>
        </p:nvSpPr>
        <p:spPr>
          <a:xfrm xmlns:a="http://schemas.openxmlformats.org/drawingml/2006/main">
            <a:off x="9553575" y="41814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booking-layer-text-26">
            <a:extLst xmlns:a="http://schemas.openxmlformats.org/drawingml/2006/main">
              <a:ext uri="{FF2B5EF4-FFF2-40B4-BE49-F238E27FC236}">
                <a16:creationId xmlns:a16="http://schemas.microsoft.com/office/drawing/2014/main" id="{793DEB56-2A95-4C05-8912-8614709C6C29}"/>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7" name="booking-layer-text-27">
            <a:extLst xmlns:a="http://schemas.openxmlformats.org/drawingml/2006/main">
              <a:ext uri="{FF2B5EF4-FFF2-40B4-BE49-F238E27FC236}">
                <a16:creationId xmlns:a16="http://schemas.microsoft.com/office/drawing/2014/main" id="{D139FF05-168B-4570-AB02-8D41E5ABEA9F}"/>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8" name="booking-layer-text-28">
            <a:extLst xmlns:a="http://schemas.openxmlformats.org/drawingml/2006/main">
              <a:ext uri="{FF2B5EF4-FFF2-40B4-BE49-F238E27FC236}">
                <a16:creationId xmlns:a16="http://schemas.microsoft.com/office/drawing/2014/main" id="{074A514E-DD55-44E5-A8CD-CFE220BC0B6E}"/>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Proposed network. Software examples and connections are illustrative; merchant authorization is required.</a:t>
            </a:r>
          </a:p>
        </p:txBody>
      </p:sp>
      <p:sp>
        <p:nvSpPr>
          <p:cNvPr id="49" name="booking-layer-text-29">
            <a:extLst xmlns:a="http://schemas.openxmlformats.org/drawingml/2006/main">
              <a:ext uri="{FF2B5EF4-FFF2-40B4-BE49-F238E27FC236}">
                <a16:creationId xmlns:a16="http://schemas.microsoft.com/office/drawing/2014/main" id="{200CB9C0-C883-498B-877A-733B081F549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34667C41-8249-4A6C-89B0-F173E0D865C0}"/>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DD123FBF-5899-4DF6-B4A8-107F750C3F18}"/>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C8694EEF-052E-44D2-A324-AF54F916A106}"/>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E42E7729-23AF-4045-B702-19770226F481}"/>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AFA3B750-872A-438D-BCA9-93BCD627D72E}"/>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6C359CF1-C6C1-44E1-841C-07A09F999D67}"/>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C9F727C-5EAF-4E24-83DA-FADDF4B3E6F8}"/>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B0250766-C92E-43AE-ABDC-3949D0E86D40}"/>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DEAB8734-7EEC-4922-A261-6F9B96489096}"/>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CC4445F8-637A-40E0-B661-4710AC1F0E8F}"/>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9D642FA4-6FBD-4B1C-8F00-9E49DD947B28}"/>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369B945-853C-4B7E-8687-4D1920CCEB25}"/>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40C6EF5-E7D4-4D0E-A36A-872F23AEB56B}"/>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2026-10-10T23:49:00.6380000Z</dcterms:created>
  <dcterms:modified xsi:type="dcterms:W3CDTF">2026-10-10T23:49:00.6380000Z</dcterms:modified>
</coreProperties>
</file>