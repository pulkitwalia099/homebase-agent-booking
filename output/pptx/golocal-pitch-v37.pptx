
<file path=[Content_Types].xml><?xml version="1.0" encoding="utf-8"?>
<Types xmlns="http://schemas.openxmlformats.org/package/2006/content-types">
  <Default Extension="xml" ContentType="application/vnd.openxmlformats-package.core-properties+xml"/>
  <Default Extension="png" ContentType="image/png"/>
  <Default Extension="jpeg" ContentType="image/jpeg"/>
  <Default Extension="rels" ContentType="application/vnd.openxmlformats-package.relationships+xml"/>
  <Override PartName="/docProps/app.xml" ContentType="application/vnd.openxmlformats-officedocument.extended-properties+xml"/>
  <Override PartName="/ppt/presentation.xml" ContentType="application/vnd.openxmlformats-officedocument.presentationml.presentation.main+xml"/>
  <Override PartName="/ppt/theme/theme1.xml" ContentType="application/vnd.openxmlformats-officedocument.theme+xml"/>
  <Override PartName="/ppt/slideMasters/slideMaster1.xml" ContentType="application/vnd.openxmlformats-officedocument.presentationml.slideMaster+xml"/>
  <Override PartName="/ppt/slideMasters/theme/theme2.xml" ContentType="application/vnd.openxmlformats-officedocument.theme+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notesMasters/notesMaster1.xml" ContentType="application/vnd.openxmlformats-officedocument.presentationml.notesMaster+xml"/>
  <Override PartName="/ppt/notesMasters/theme/theme3.xml" ContentType="application/vnd.openxmlformats-officedocument.theme+xml"/>
  <Override PartName="/ppt/presProps.xml" ContentType="application/vnd.openxmlformats-officedocument.presentationml.presProps+xml"/>
  <Override PartName="/ppt/viewProps.xml" ContentType="application/vnd.openxmlformats-officedocument.presentationml.viewProps+xml"/>
  <Override PartName="/ppt/tableStyles.xml" ContentType="application/vnd.openxmlformats-officedocument.presentationml.tableStyles+xml"/>
  <Override PartName="/ppt/slides/slide1.xml" ContentType="application/vnd.openxmlformats-officedocument.presentationml.slide+xml"/>
  <Override PartName="/ppt/notesSlides/notesSlide1.xml" ContentType="application/vnd.openxmlformats-officedocument.presentationml.notesSlide+xml"/>
  <Override PartName="/ppt/slides/slide2.xml" ContentType="application/vnd.openxmlformats-officedocument.presentationml.slide+xml"/>
  <Override PartName="/ppt/notesSlides/notesSlide2.xml" ContentType="application/vnd.openxmlformats-officedocument.presentationml.notesSlide+xml"/>
  <Override PartName="/ppt/slides/slide3.xml" ContentType="application/vnd.openxmlformats-officedocument.presentationml.slide+xml"/>
  <Override PartName="/ppt/notesSlides/notesSlide3.xml" ContentType="application/vnd.openxmlformats-officedocument.presentationml.notesSlide+xml"/>
  <Override PartName="/ppt/slides/slide4.xml" ContentType="application/vnd.openxmlformats-officedocument.presentationml.slide+xml"/>
  <Override PartName="/ppt/notesSlides/notesSlide4.xml" ContentType="application/vnd.openxmlformats-officedocument.presentationml.notesSlide+xml"/>
  <Override PartName="/ppt/slides/slide5.xml" ContentType="application/vnd.openxmlformats-officedocument.presentationml.slide+xml"/>
  <Override PartName="/ppt/notesSlides/notesSlide5.xml" ContentType="application/vnd.openxmlformats-officedocument.presentationml.notesSlide+xml"/>
  <Override PartName="/ppt/slides/slide6.xml" ContentType="application/vnd.openxmlformats-officedocument.presentationml.slide+xml"/>
  <Override PartName="/ppt/notesSlides/notesSlide6.xml" ContentType="application/vnd.openxmlformats-officedocument.presentationml.notesSlide+xml"/>
  <Override PartName="/ppt/slides/slide7.xml" ContentType="application/vnd.openxmlformats-officedocument.presentationml.slide+xml"/>
  <Override PartName="/ppt/notesSlides/notesSlide7.xml" ContentType="application/vnd.openxmlformats-officedocument.presentationml.notesSlide+xml"/>
</Types>
</file>

<file path=_rels/.rels>&#65279;<?xml version="1.0" encoding="utf-8"?><Relationships xmlns="http://schemas.openxmlformats.org/package/2006/relationships"><Relationship Type="http://schemas.openxmlformats.org/package/2006/relationships/metadata/core-properties" Target="/docProps/core.xml" Id="R8d813f685d684b87" /><Relationship Type="http://schemas.openxmlformats.org/officeDocument/2006/relationships/extended-properties" Target="/docProps/app.xml" Id="Rb02d9b73cdf0437e" /><Relationship Type="http://schemas.openxmlformats.org/officeDocument/2006/relationships/officeDocument" Target="/ppt/presentation.xml" Id="Rcdc1bc4dcfd64935" /></Relationships>
</file>

<file path=ppt/presentation.xml><?xml version="1.0" encoding="utf-8"?>
<p:presentation xmlns:p="http://schemas.openxmlformats.org/presentationml/2006/main">
  <p:sldMasterIdLst>
    <p:sldMasterId xmlns:r="http://schemas.openxmlformats.org/officeDocument/2006/relationships" id="2147483648" r:id="Re306b0aed8c64372"/>
  </p:sldMasterIdLst>
  <p:notesMasterIdLst>
    <p:notesMasterId xmlns:r="http://schemas.openxmlformats.org/officeDocument/2006/relationships" r:id="R8e83c7cdd3314cf1"/>
  </p:notesMasterIdLst>
  <p:sldIdLst>
    <p:sldId xmlns:r="http://schemas.openxmlformats.org/officeDocument/2006/relationships" id="256" r:id="R5c249e92cf5f403e"/>
    <p:sldId xmlns:r="http://schemas.openxmlformats.org/officeDocument/2006/relationships" id="257" r:id="R08919cf5162f4d6e"/>
    <p:sldId xmlns:r="http://schemas.openxmlformats.org/officeDocument/2006/relationships" id="258" r:id="R967634a761e54fd2"/>
    <p:sldId xmlns:r="http://schemas.openxmlformats.org/officeDocument/2006/relationships" id="259" r:id="Rc72727ec2b184d5b"/>
    <p:sldId xmlns:r="http://schemas.openxmlformats.org/officeDocument/2006/relationships" id="260" r:id="Reef3772c7d3a4d7d"/>
    <p:sldId xmlns:r="http://schemas.openxmlformats.org/officeDocument/2006/relationships" id="261" r:id="R13b829ccb6a44d73"/>
    <p:sldId xmlns:r="http://schemas.openxmlformats.org/officeDocument/2006/relationships" id="262" r:id="R01034f14cac94001"/>
  </p:sldIdLst>
  <p:sldSz cx="12192000" cy="6858000"/>
  <p:notesSz cx="6858000" cy="9144000"/>
  <p:defaultTextStyle>
    <a:defPPr xmlns:a="http://schemas.openxmlformats.org/drawingml/2006/main">
      <a:buNone/>
    </a:defPPr>
    <a:lvl1pPr xmlns:a="http://schemas.openxmlformats.org/drawingml/2006/main" marL="0" algn="l" defTabSz="914400">
      <a:buNone/>
      <a:defRPr sz="1800" kern="1200">
        <a:solidFill>
          <a:schemeClr val="tx1"/>
        </a:solidFill>
        <a:latin typeface="+mn-lt"/>
        <a:ea typeface="+mn-lt"/>
        <a:cs typeface="+mn-lt"/>
      </a:defRPr>
    </a:lvl1pPr>
    <a:lvl2pPr xmlns:a="http://schemas.openxmlformats.org/drawingml/2006/main" marL="457200" algn="l" defTabSz="914400">
      <a:buNone/>
      <a:defRPr sz="1800" kern="1200">
        <a:solidFill>
          <a:schemeClr val="tx1"/>
        </a:solidFill>
        <a:latin typeface="+mn-lt"/>
        <a:ea typeface="+mn-lt"/>
        <a:cs typeface="+mn-lt"/>
      </a:defRPr>
    </a:lvl2pPr>
    <a:lvl3pPr xmlns:a="http://schemas.openxmlformats.org/drawingml/2006/main" marL="914400" algn="l" defTabSz="914400">
      <a:buNone/>
      <a:defRPr sz="1800" kern="1200">
        <a:solidFill>
          <a:schemeClr val="tx1"/>
        </a:solidFill>
        <a:latin typeface="+mn-lt"/>
        <a:ea typeface="+mn-lt"/>
        <a:cs typeface="+mn-lt"/>
      </a:defRPr>
    </a:lvl3pPr>
    <a:lvl4pPr xmlns:a="http://schemas.openxmlformats.org/drawingml/2006/main" marL="1371600" algn="l" defTabSz="914400">
      <a:buNone/>
      <a:defRPr sz="1800" kern="1200">
        <a:solidFill>
          <a:schemeClr val="tx1"/>
        </a:solidFill>
        <a:latin typeface="+mn-lt"/>
        <a:ea typeface="+mn-lt"/>
        <a:cs typeface="+mn-lt"/>
      </a:defRPr>
    </a:lvl4pPr>
    <a:lvl5pPr xmlns:a="http://schemas.openxmlformats.org/drawingml/2006/main" marL="1828800" algn="l" defTabSz="914400">
      <a:buNone/>
      <a:defRPr sz="1800" kern="1200">
        <a:solidFill>
          <a:schemeClr val="tx1"/>
        </a:solidFill>
        <a:latin typeface="+mn-lt"/>
        <a:ea typeface="+mn-lt"/>
        <a:cs typeface="+mn-lt"/>
      </a:defRPr>
    </a:lvl5pPr>
    <a:lvl6pPr xmlns:a="http://schemas.openxmlformats.org/drawingml/2006/main" marL="2286000" algn="l" defTabSz="914400">
      <a:buNone/>
      <a:defRPr sz="1800" kern="1200">
        <a:solidFill>
          <a:schemeClr val="tx1"/>
        </a:solidFill>
        <a:latin typeface="+mn-lt"/>
        <a:ea typeface="+mn-lt"/>
        <a:cs typeface="+mn-lt"/>
      </a:defRPr>
    </a:lvl6pPr>
    <a:lvl7pPr xmlns:a="http://schemas.openxmlformats.org/drawingml/2006/main" marL="2743200" algn="l" defTabSz="914400">
      <a:buNone/>
      <a:defRPr sz="1800" kern="1200">
        <a:solidFill>
          <a:schemeClr val="tx1"/>
        </a:solidFill>
        <a:latin typeface="+mn-lt"/>
        <a:ea typeface="+mn-lt"/>
        <a:cs typeface="+mn-lt"/>
      </a:defRPr>
    </a:lvl7pPr>
    <a:lvl8pPr xmlns:a="http://schemas.openxmlformats.org/drawingml/2006/main" marL="3200400" algn="l" defTabSz="914400">
      <a:buNone/>
      <a:defRPr sz="1800" kern="1200">
        <a:solidFill>
          <a:schemeClr val="tx1"/>
        </a:solidFill>
        <a:latin typeface="+mn-lt"/>
        <a:ea typeface="+mn-lt"/>
        <a:cs typeface="+mn-lt"/>
      </a:defRPr>
    </a:lvl8pPr>
    <a:lvl9pPr xmlns:a="http://schemas.openxmlformats.org/drawingml/2006/main" marL="3657600" algn="l" defTabSz="914400">
      <a:buNone/>
      <a:defRPr sz="1800" kern="1200">
        <a:solidFill>
          <a:schemeClr val="tx1"/>
        </a:solidFill>
        <a:latin typeface="+mn-lt"/>
        <a:ea typeface="+mn-lt"/>
        <a:cs typeface="+mn-lt"/>
      </a:defRPr>
    </a:lvl9pPr>
  </p:defaultTextStyle>
</p:presentation>
</file>

<file path=ppt/presProps.xml><?xml version="1.0" encoding="utf-8"?>
<p:presentationPr xmlns:p="http://schemas.openxmlformats.org/presentationml/2006/main">
  <p:extLst>
    <p:ext xmlns:p14="http://schemas.microsoft.com/office/powerpoint/2010/main" uri="{E76CE94A-603C-4142-B9EB-6D1370010A27}">
      <p14:discardImageEditData val="0"/>
    </p:ext>
    <p:ext xmlns:p14="http://schemas.microsoft.com/office/powerpoint/2010/main" uri="{D31A062A-798A-4329-ABDD-BBA856620510}">
      <p14:defaultImageDpi val="32767"/>
    </p:ext>
    <p:ext xmlns:p15="http://schemas.microsoft.com/office/powerpoint/2012/main" uri="{FD5EFAAD-0ECE-453E-9831-46B23BE46B34}">
      <p15:chartTrackingRefBased val="1"/>
    </p:ext>
  </p:extLst>
</p:presentationPr>
</file>

<file path=ppt/tableStyles.xml><?xml version="1.0" encoding="utf-8"?>
<a:tblStyleLst xmlns:a="http://schemas.openxmlformats.org/drawingml/2006/main" def="{5C22544A-7EE6-4342-B048-85BDC9FD1C3A}"/>
</file>

<file path=ppt/viewProps.xml><?xml version="1.0" encoding="utf-8"?>
<p:viewPr xmlns:p="http://schemas.openxmlformats.org/presentationml/2006/main">
  <p:slideViewPr>
    <p:cSldViewPr snapToGrid="0">
      <p:cViewPr>
        <p:scale>
          <a:sx xmlns:a="http://schemas.openxmlformats.org/drawingml/2006/main" n="1" d="1"/>
          <a:sy xmlns:a="http://schemas.openxmlformats.org/drawingml/2006/main" n="1" d="1"/>
        </p:scale>
        <p:origin x="0" y="0"/>
      </p:cViewPr>
      <p:guideLst/>
    </p:cSldViewPr>
  </p:slideViewPr>
  <p:gridSpacing cx="72008" cy="72008"/>
</p:viewPr>
</file>

<file path=ppt/_rels/presentation.xml.rels>&#65279;<?xml version="1.0" encoding="utf-8"?><Relationships xmlns="http://schemas.openxmlformats.org/package/2006/relationships"><Relationship Type="http://schemas.openxmlformats.org/officeDocument/2006/relationships/theme" Target="/ppt/theme/theme1.xml" Id="R87ba5be4227f441b" /><Relationship Type="http://schemas.openxmlformats.org/officeDocument/2006/relationships/slideMaster" Target="/ppt/slideMasters/slideMaster1.xml" Id="Re306b0aed8c64372" /><Relationship Type="http://schemas.openxmlformats.org/officeDocument/2006/relationships/notesMaster" Target="/ppt/notesMasters/notesMaster1.xml" Id="R8e83c7cdd3314cf1" /><Relationship Type="http://schemas.openxmlformats.org/officeDocument/2006/relationships/presProps" Target="/ppt/presProps.xml" Id="R74f40b73baea4ad9" /><Relationship Type="http://schemas.openxmlformats.org/officeDocument/2006/relationships/viewProps" Target="/ppt/viewProps.xml" Id="R30308ad4726c4a68" /><Relationship Type="http://schemas.openxmlformats.org/officeDocument/2006/relationships/tableStyles" Target="/ppt/tableStyles.xml" Id="R1cbd35207dc94e7b" /><Relationship Type="http://schemas.openxmlformats.org/officeDocument/2006/relationships/slide" Target="/ppt/slides/slide1.xml" Id="R5c249e92cf5f403e" /><Relationship Type="http://schemas.openxmlformats.org/officeDocument/2006/relationships/slide" Target="/ppt/slides/slide2.xml" Id="R08919cf5162f4d6e" /><Relationship Type="http://schemas.openxmlformats.org/officeDocument/2006/relationships/slide" Target="/ppt/slides/slide3.xml" Id="R967634a761e54fd2" /><Relationship Type="http://schemas.openxmlformats.org/officeDocument/2006/relationships/slide" Target="/ppt/slides/slide4.xml" Id="Rc72727ec2b184d5b" /><Relationship Type="http://schemas.openxmlformats.org/officeDocument/2006/relationships/slide" Target="/ppt/slides/slide5.xml" Id="Reef3772c7d3a4d7d" /><Relationship Type="http://schemas.openxmlformats.org/officeDocument/2006/relationships/slide" Target="/ppt/slides/slide6.xml" Id="R13b829ccb6a44d73" /><Relationship Type="http://schemas.openxmlformats.org/officeDocument/2006/relationships/slide" Target="/ppt/slides/slide7.xml" Id="R01034f14cac94001" /></Relationships>
</file>

<file path=ppt/notesMasters/_rels/notesMaster1.xml.rels>&#65279;<?xml version="1.0" encoding="utf-8"?><Relationships xmlns="http://schemas.openxmlformats.org/package/2006/relationships"><Relationship Type="http://schemas.openxmlformats.org/officeDocument/2006/relationships/theme" Target="/ppt/notesMasters/theme/theme3.xml" Id="Rb4ebcfdeb2524e8c" /></Relationships>
</file>

<file path=ppt/notesMasters/notesMaster1.xml><?xml version="1.0" encoding="utf-8"?>
<p:notesMaster xmlns:p="http://schemas.openxmlformats.org/presentationml/2006/main">
  <p:cSld>
    <p:bg>
      <p:bgRef idx="1001">
        <a:schemeClr xmlns:a="http://schemas.openxmlformats.org/drawingml/2006/main" val="bg1"/>
      </p:bgRef>
    </p:bg>
    <p:spTree>
      <p:nvGrpSpPr>
        <p:cNvPr id="1" name=""/>
        <p:cNvGrpSpPr/>
        <p:nvPr/>
      </p:nvGrpSpPr>
      <p:grpSpPr>
        <a:xfrm xmlns:a="http://schemas.openxmlformats.org/drawingml/2006/main"/>
      </p:grpSpPr>
      <p:sp>
        <p:nvSpPr>
          <p:cNvPr id="2" name="Header Placeholder"/>
          <p:cNvSpPr/>
          <p:nvPr>
            <p:ph type="hdr" sz="quarter"/>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3" name="Date Placeholder"/>
          <p:cNvSpPr/>
          <p:nvPr>
            <p:ph type="dt" sz="quarter" idx="1"/>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4" name="Slide Image Placeholder"/>
          <p:cNvSpPr/>
          <p:nvPr>
            <p:ph type="sldImg" idx="2"/>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5" name="Notes Placeholder"/>
          <p:cNvSpPr/>
          <p:nvPr>
            <p:ph type="body" sz="quarter" idx="3"/>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6" name="Footer Placeholder"/>
          <p:cNvSpPr/>
          <p:nvPr>
            <p:ph type="ftr" sz="quarter" idx="4"/>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7" name="Slide Number Placeholder"/>
          <p:cNvSpPr/>
          <p:nvPr>
            <p:ph type="sldNum" sz="quarter" idx="5"/>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Tree>
  </p:cSld>
  <p:clrMap bg1="lt1" tx1="dk1" bg2="lt2" tx2="dk2" accent1="accent1" accent2="accent2" accent3="accent3" accent4="accent4" accent5="accent5" accent6="accent6" hlink="hlink" folHlink="folHlink"/>
  <p:notesStyle>
    <a:lvl1pPr xmlns:a="http://schemas.openxmlformats.org/drawingml/2006/main" marL="0" algn="l" defTabSz="914400" rtl="0" eaLnBrk="1" latinLnBrk="0" hangingPunct="1">
      <a:defRPr sz="1200" kern="1200"/>
    </a:lvl1pPr>
  </p:notesStyle>
</p:notesMaster>
</file>

<file path=ppt/notesMasters/theme/theme3.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
      <a:majorFont>
        <a:latin typeface="Aptos"/>
        <a:ea typeface=""/>
        <a:cs typeface=""/>
      </a:majorFont>
      <a:minorFont>
        <a:latin typeface="Aptos"/>
        <a:ea typeface=""/>
        <a:cs typeface=""/>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notesSlides/_rels/notesSlide1.xml.rels>&#65279;<?xml version="1.0" encoding="utf-8"?><Relationships xmlns="http://schemas.openxmlformats.org/package/2006/relationships"><Relationship Type="http://schemas.openxmlformats.org/officeDocument/2006/relationships/slide" Target="/ppt/slides/slide1.xml" Id="Rca2abb8bf7b34bff" /><Relationship Type="http://schemas.openxmlformats.org/officeDocument/2006/relationships/notesMaster" Target="/ppt/notesMasters/notesMaster1.xml" Id="Rb7336a57e2164556" /></Relationships>
</file>

<file path=ppt/notesSlides/_rels/notesSlide2.xml.rels>&#65279;<?xml version="1.0" encoding="utf-8"?><Relationships xmlns="http://schemas.openxmlformats.org/package/2006/relationships"><Relationship Type="http://schemas.openxmlformats.org/officeDocument/2006/relationships/slide" Target="/ppt/slides/slide2.xml" Id="R426d914ccb2642e0" /><Relationship Type="http://schemas.openxmlformats.org/officeDocument/2006/relationships/notesMaster" Target="/ppt/notesMasters/notesMaster1.xml" Id="R1374eaae0ec04241" /></Relationships>
</file>

<file path=ppt/notesSlides/_rels/notesSlide3.xml.rels>&#65279;<?xml version="1.0" encoding="utf-8"?><Relationships xmlns="http://schemas.openxmlformats.org/package/2006/relationships"><Relationship Type="http://schemas.openxmlformats.org/officeDocument/2006/relationships/slide" Target="/ppt/slides/slide3.xml" Id="R6953d92cbe9c426e" /><Relationship Type="http://schemas.openxmlformats.org/officeDocument/2006/relationships/notesMaster" Target="/ppt/notesMasters/notesMaster1.xml" Id="R9752376549e44445" /></Relationships>
</file>

<file path=ppt/notesSlides/_rels/notesSlide4.xml.rels>&#65279;<?xml version="1.0" encoding="utf-8"?><Relationships xmlns="http://schemas.openxmlformats.org/package/2006/relationships"><Relationship Type="http://schemas.openxmlformats.org/officeDocument/2006/relationships/slide" Target="/ppt/slides/slide4.xml" Id="R9d176f73b3f14465" /><Relationship Type="http://schemas.openxmlformats.org/officeDocument/2006/relationships/notesMaster" Target="/ppt/notesMasters/notesMaster1.xml" Id="R43174909b5104da2" /></Relationships>
</file>

<file path=ppt/notesSlides/_rels/notesSlide5.xml.rels>&#65279;<?xml version="1.0" encoding="utf-8"?><Relationships xmlns="http://schemas.openxmlformats.org/package/2006/relationships"><Relationship Type="http://schemas.openxmlformats.org/officeDocument/2006/relationships/slide" Target="/ppt/slides/slide5.xml" Id="Ra4f3ce588948438c" /><Relationship Type="http://schemas.openxmlformats.org/officeDocument/2006/relationships/notesMaster" Target="/ppt/notesMasters/notesMaster1.xml" Id="Rc601a7925f3d49ce" /></Relationships>
</file>

<file path=ppt/notesSlides/_rels/notesSlide6.xml.rels>&#65279;<?xml version="1.0" encoding="utf-8"?><Relationships xmlns="http://schemas.openxmlformats.org/package/2006/relationships"><Relationship Type="http://schemas.openxmlformats.org/officeDocument/2006/relationships/slide" Target="/ppt/slides/slide6.xml" Id="R6f810710abcd4d4a" /><Relationship Type="http://schemas.openxmlformats.org/officeDocument/2006/relationships/notesMaster" Target="/ppt/notesMasters/notesMaster1.xml" Id="Raae4607cb3d34c59" /></Relationships>
</file>

<file path=ppt/notesSlides/_rels/notesSlide7.xml.rels>&#65279;<?xml version="1.0" encoding="utf-8"?><Relationships xmlns="http://schemas.openxmlformats.org/package/2006/relationships"><Relationship Type="http://schemas.openxmlformats.org/officeDocument/2006/relationships/slide" Target="/ppt/slides/slide7.xml" Id="R48ede9ece61c44cb" /><Relationship Type="http://schemas.openxmlformats.org/officeDocument/2006/relationships/notesMaster" Target="/ppt/notesMasters/notesMaster1.xml" Id="R9436882898a34033" /></Relationships>
</file>

<file path=ppt/notesSlides/notesSlide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GoLocal: local services, booked by your personal agent. Proposed shared booking layer connecting personal agents and participating local businesses. Original neighborhood illustration from the user-supplied golocal-sharks-pitch.pptx, used as visual reference. Current product proposition retained. Image is conceptual artwork, not evidence of live providers or operations.</a:t>
            </a:r>
          </a:p>
          <a:p xmlns:a="http://schemas.openxmlformats.org/drawingml/2006/main">
            <a:r>
              <a:t>Cover artwork edited with the built-in image-generation tool at the founder’s request to add a lawn-mowing worker and a roofer. Conceptual illustration, not a photograph of live operations. Source artwork retained; versioned edited asset: output/imagegen/golocal-cover-v33.png.</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Founder thesis clarified in annotation on October 10, 2026: customers historically explained and scoped a local-service job through calls with providers before obtaining quotes or scheduling. Personal agents can now help scope a job in conversation with the customer and use live provider data to seek quotes and execute authorized bookings. This creates a new use for a shared live local-business data layer. The claim concerns fragmented access across agents, businesses and existing software, not an absence of provider databases or APIs. Live data was already useful to businesses; the new opportunity is making it usable by delegated agents.</a:t>
            </a:r>
          </a:p>
          <a:p xmlns:a="http://schemas.openxmlformats.org/drawingml/2006/main">
            <a:r>
              <a:t>The proposed layer exposes merchant-authorized service definitions, coverage, pricing or quoting rules and current availability, linked to supported booking and payment actions. Read-only data alone cannot confirm a booking. Complex jobs can still require provider review or a site visit; agent scoping does not guarantee a final price. User approval, merchant permissions and reliable transaction execution remain necessary.</a:t>
            </a:r>
          </a:p>
          <a:p xmlns:a="http://schemas.openxmlformats.org/drawingml/2006/main">
            <a:r>
              <a:t>The dates describe illustrative eras rather than launch dates or universal capabilities. The scope row indicates conversational assistance, not full technical diagnosis for every service. The final two task rows are Get quotes &amp; schedule and Book &amp; pay. The missing shared live layer enables those actions across participating providers. Capturing value through completed bookings is the business hypothesis, not a measured outcome.</a:t>
            </a:r>
          </a:p>
          <a:p xmlns:a="http://schemas.openxmlformats.org/drawingml/2006/main">
            <a:r>
              <a:t>Market context: about $1.19T rounded to $1.2T in underlying annual U.S. spending across home improvement/repair (~$600B, including materials and DIY), auto maintenance/repair ($283.802B), personal care/clothing services ($239.558B) and child day care ($65.547B). Mixed years and measures, not GoLocal transactionable volume or fee revenue. Supporting calculation: resources/local-services-tam-2026-10-10.md. https://www.jchs.harvard.edu/sites/default/files/reports/files/Harvard_JCHS_Improving_Americas_Housing_2025.pdf ; https://fred.stlouisfed.org/release/tables?eid=44183&amp;rid=53 ; https://fred.stlouisfed.org/series/AIES6244RCT00US .</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GoLocal's intended product combines participating provider supply with structured booking execution. The diagram describes the proposed architecture, not currently deployed integrations. Software segments overlap and each category has a different mix. Merchant authorization, vendor permissions and supported operations are required. Agents and frameworks shown are ecosystem examples, not signed distribution partners.</a:t>
            </a:r>
          </a:p>
          <a:p xmlns:a="http://schemas.openxmlformats.org/drawingml/2006/main">
            <a:r>
              <a:t>100+ plumbing software products: conservative directory count supplied in resources/plumbing-vendor-depth-evidence-2026-10-10.json. https://www.softwareadvice.com/field-service/plumbing-software-comparison/ . This is not a count of production booking APIs. Official examples: https://buildops.com/industries/plumbing ; https://www.simprogroup.com/industries/plumbing-software ; https://www.servicefusion.com/plumbing-software ; https://www.joblogic.com/industries/plumbing-software/ ; https://www.kickserv.com/industries/plumbing .</a:t>
            </a:r>
          </a:p>
          <a:p xmlns:a="http://schemas.openxmlformats.org/drawingml/2006/main">
            <a:r>
              <a:t>$2B+ is the supplied selected-company funding total, not funding for every pictured product or evidence of local-service demand: Hark over $700M, Instinct $1B Series C plus $350M previously reported total, Town $55M Series A. Source record: resources/agent-funding-evidence-2026-10-10.json. https://hark.com/articles/hark-announces-usd700-million-fundraising-round ; https://www.businesswire.com/news/home/20260928153437/en/ ; https://techcrunch.com/2026/08/26/viral-ai-startup-instinct-has-raised-350-million-at-a-2-5-billion-valuation/ ; https://www.town.com/press/series-a . Original supplied agent logos retained.</a:t>
            </a:r>
          </a:p>
          <a:p xmlns:a="http://schemas.openxmlformats.org/drawingml/2006/main">
            <a:r>
              <a:t>Why a shared layer: recruiting supply, normalizing different workflows and handling booking state can save each agent company from repeating that work. Supplier coverage and reliable execution are the proposed differentiation. Distribution and economics remain to be proven.</a:t>
            </a:r>
          </a:p>
          <a:p xmlns:a="http://schemas.openxmlformats.org/drawingml/2006/main">
            <a:r>
              <a:t>Display uses fewer representative vendor names per segment for clarity. This does not narrow the proposed integration scope or assert vendor exclusivity. Other examples retained in prior evidence include Probook AI, Service Fusion, Commusoft, Joblogic, Kickserv and Topline Pro. Vendor suitability and access remain to be verified.</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User-supplied comparison thesis: current agents can help scope a customer request but often must search listings, browse provider sites and call businesses to obtain real prices and availability. Calling two or three businesses is an illustrative constrained search, not an empirical average or a universal limit. Such a search can miss providers with a better fit on price, availability or specialization. Repeated browsing and voice/tool interactions consume tokens; no token-cost baseline, benchmark or measured savings have been established.</a:t>
            </a:r>
          </a:p>
          <a:p xmlns:a="http://schemas.openxmlformats.org/drawingml/2006/main">
            <a:r>
              <a:t>GoLocal's intended delta is shared access to authorized live provider data, allowing broad comparison of service coverage, current slots, merchant pricing or visit fees, specialization, transaction history and past transaction reviews where available and permitted. Hundreds of connected businesses and matching in a fraction of a second are product scale and lookup-latency targets. They are not current provider counts or measured performance, and the speed target is not for full scoping, merchant quote response, payment or booking execution. Best fit means a match to the customer's expressed needs and preferences, not a guarantee of the globally lowest price or best provider. Proposed transaction-review data access and relevance remain to be validated.</a:t>
            </a:r>
          </a:p>
          <a:p xmlns:a="http://schemas.openxmlformats.org/drawingml/2006/main">
            <a:r>
              <a:t>The subsequent journey retains the approved Salt Lake City plumbing example. Oak Plumbing, the $79 diagnostic visit, 9–11 am slot and booking GL-1042 are fictional. The customer approves provider, visit fee and payment authorization before execution. Authorization is not payment capture. Repair work requires a separate quote after inspection. GoLocal would create and confirm bookings through merchant-authorized software connections. This is the intended product journey, not a live transaction or production reliability claim.</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5.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The cold start requires both useful participating supply and users with real booking needs. One-time setup is an intended experience on compatible platforms and may require sign-in and approval. Each transaction still requires the relevant user authorization.</a:t>
            </a:r>
          </a:p>
          <a:p xmlns:a="http://schemas.openxmlformats.org/drawingml/2006/main">
            <a:r>
              <a:t>Proposed network effect: successful bookings create evidence of usefulness and reliability. Where agent discovery and selection mechanisms can use that evidence, agents may suggest GoLocal to more users with similar requests. Those suggestions can bring more local bookings. Demonstrated demand can attract more businesses, improving coverage and availability and making subsequent bookings more useful. This is a commercial hypothesis, not an observed growth loop or a claim that models automatically learn across users. No demand-routing agreement or automatic recommendation mechanism is established.</a:t>
            </a:r>
          </a:p>
          <a:p xmlns:a="http://schemas.openxmlformats.org/drawingml/2006/main">
            <a:r>
              <a:t>Expansion is a subsequent decision: demonstrate the local loop and viable economics in one city/category, use that proof to add related categories within the city, then repeat in more cities. Supply and demand still need to be established in each new market.</a:t>
            </a:r>
          </a:p>
          <a:p xmlns:a="http://schemas.openxmlformats.org/drawingml/2006/main">
            <a:r>
              <a:t>Proposed commercial model clarified by the founder on October 10, 2026: businesses pay a fee equal to 10% of the booking amount. This same 10% fee is shared between GoLocal and contributing software partners or channel partners. It is not a 10% fee plus a separate partner fee, and GoLocal does not retain the full 10%. The allocation among GoLocal and partners has not been specified or agreed. This is the intended pricing model, not evidence of collected revenue, signed merchant terms or paid continuation. Eligibility, collection timing, repeat bookings, cancellations and refunds still require commercial terms. Contribution must cover acquisition, partner share, integration, support, payment and exception-handling costs.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6.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Founder clarification on October 10, 2026 (annotation-mv39a1d3-h): 60+ plumbing companies in the Salt Lake City pipeline, with 50+ coming through Cactus AI and 10+ through YourCardare. This latest founder confirmation supersedes earlier uncertainty about whether the pipeline was plumbing-specific and based in Salt Lake City. These are prospective providers in the pipeline, not live integrated businesses, completed onboardings or confirmed bookings. Cactus AI is a YC-backed AI front office for local trades. YourCardare is a regional back-office partner, per the founder.</a:t>
            </a:r>
          </a:p>
          <a:p xmlns:a="http://schemas.openxmlformats.org/drawingml/2006/main">
            <a:r>
              <a:t>Cactus public corroboration: Y Combinator company profile https://www.ycombinator.com/companies/oncactus (checked October 10, 2026) lists Cactus in Spring 2025 and describes AI call answering, qualification, booking and follow-up for trades including plumbing. The YC profile verifies company background, not GoLocal's partnership or pipeline counts, which are founder-reported.</a:t>
            </a:r>
          </a:p>
          <a:p xmlns:a="http://schemas.openxmlformats.org/drawingml/2006/main">
            <a:r>
              <a:t>The next milestone remains onboarding participating providers, connecting authorized software and testing customer-authorized agent bookings. Supply pipeline does not establish representative customer demand, live production reliability or paid revenue.</a:t>
            </a:r>
          </a:p>
          <a:p xmlns:a="http://schemas.openxmlformats.org/drawingml/2006/main">
            <a:r>
              <a:t>Founder launch framing clarified October 10, 2026 in annotation-mv39f5a2-j: the first pilot is lined up in Salt Lake City, supported by the previously confirmed 60+ plumbing-company pipeline. The intended MCP launch is approximately 30 days from this pitch revision, displayed as a 30-day target rather than a guaranteed deadline or already completed launch. The process is to onboard pilot providers, connect live pricing and availability through authorized software, then launch the MCP and test initial customer-authorized agent bookings. Partner pipeline does not imply all providers will be live at launch.</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7.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Founder-supplied biographies and credentials, not independently verified for this deck. Pulkit Walia: Urban Company founding team member, helped build from launch to a $3B IPO; launched a home security brand at 19 and grew it to $700K revenue; Bessemer Venture Partners investor with $50M deployed in consumer AI startups; Harvard Business School MBA. The IPO figure refers to Urban Company, not GoLocal. https://www.linkedin.com/in/pulkitwalia/ . Rohit Jain: five years as a senior software engineer at Amazon, Square and Citrix; taught 2,500 engineers system design on Udemy; production MCP integration experience; Texas A&amp;M Computer Science and IIT Kharagpur. https://www.linkedin.com/in/rohit-jain-343437187/ . Founder/cofounder titles, ownership and employment commitment are not implied. Original supplied photos and education logos retained.</a:t>
            </a:r>
          </a:p>
          <a:p xmlns:a="http://schemas.openxmlformats.org/drawingml/2006/main">
            <a:r>
              <a:t>Founder-requested positioning: the team’s consumer-app experience now informs building for the agent layer. This is a positioning statement, not a claim that the two team members jointly built every company in their separate biographies.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slideLayouts/_rels/slideLayout1.xml.rels>&#65279;<?xml version="1.0" encoding="utf-8"?><Relationships xmlns="http://schemas.openxmlformats.org/package/2006/relationships"><Relationship Type="http://schemas.openxmlformats.org/officeDocument/2006/relationships/slideMaster" Target="/ppt/slideMasters/slideMaster1.xml" Id="R4d6ff29edc504ce3" /></Relationships>
</file>

<file path=ppt/slideLayouts/_rels/slideLayout2.xml.rels>&#65279;<?xml version="1.0" encoding="utf-8"?><Relationships xmlns="http://schemas.openxmlformats.org/package/2006/relationships"><Relationship Type="http://schemas.openxmlformats.org/officeDocument/2006/relationships/slideMaster" Target="/ppt/slideMasters/slideMaster1.xml" Id="Ra115ba7ec5e64201" /></Relationships>
</file>

<file path=ppt/slideLayouts/_rels/slideLayout3.xml.rels>&#65279;<?xml version="1.0" encoding="utf-8"?><Relationships xmlns="http://schemas.openxmlformats.org/package/2006/relationships"><Relationship Type="http://schemas.openxmlformats.org/officeDocument/2006/relationships/slideMaster" Target="/ppt/slideMasters/slideMaster1.xml" Id="Rf1d3a453d7b847af" /></Relationships>
</file>

<file path=ppt/slideLayouts/_rels/slideLayout4.xml.rels>&#65279;<?xml version="1.0" encoding="utf-8"?><Relationships xmlns="http://schemas.openxmlformats.org/package/2006/relationships"><Relationship Type="http://schemas.openxmlformats.org/officeDocument/2006/relationships/slideMaster" Target="/ppt/slideMasters/slideMaster1.xml" Id="R321924ec565f4efb" /></Relationships>
</file>

<file path=ppt/slideLayouts/_rels/slideLayout5.xml.rels>&#65279;<?xml version="1.0" encoding="utf-8"?><Relationships xmlns="http://schemas.openxmlformats.org/package/2006/relationships"><Relationship Type="http://schemas.openxmlformats.org/officeDocument/2006/relationships/slideMaster" Target="/ppt/slideMasters/slideMaster1.xml" Id="R12db4ba328864ab5" /></Relationships>
</file>

<file path=ppt/slideLayouts/_rels/slideLayout6.xml.rels>&#65279;<?xml version="1.0" encoding="utf-8"?><Relationships xmlns="http://schemas.openxmlformats.org/package/2006/relationships"><Relationship Type="http://schemas.openxmlformats.org/officeDocument/2006/relationships/slideMaster" Target="/ppt/slideMasters/slideMaster1.xml" Id="R14d167b573274f9d" /></Relationships>
</file>

<file path=ppt/slideLayouts/slideLayout1.xml><?xml version="1.0" encoding="utf-8"?>
<p:sldLayout xmlns:p="http://schemas.openxmlformats.org/presentationml/2006/main" type="title">
  <p:cSld name="Title Slide">
    <p:spTree>
      <p:nvGrpSpPr>
        <p:cNvPr id="1" name=""/>
        <p:cNvGrpSpPr/>
        <p:nvPr/>
      </p:nvGrpSpPr>
      <p:grpSpPr>
        <a:xfrm xmlns:a="http://schemas.openxmlformats.org/drawingml/2006/main"/>
      </p:grpSpPr>
      <p:sp>
        <p:nvSpPr>
          <p:cNvPr id="3" name="Title">
            <a:extLst xmlns:a="http://schemas.openxmlformats.org/drawingml/2006/main">
              <a:ext uri="{FF2B5EF4-FFF2-40B4-BE49-F238E27FC236}">
                <a16:creationId xmlns:a16="http://schemas.microsoft.com/office/drawing/2014/main" id="{57DEA33C-04CC-4142-BE91-C830BDD080AC}"/>
              </a:ext>
            </a:extLst>
          </p:cNvPr>
          <p:cNvSpPr>
            <a:spLocks xmlns:a="http://schemas.openxmlformats.org/drawingml/2006/main" noGrp="1"/>
          </p:cNvSpPr>
          <p:nvPr>
            <p:ph type="title" idx="0"/>
          </p:nvPr>
        </p:nvSpPr>
        <p:spPr>
          <a:xfrm xmlns:a="http://schemas.openxmlformats.org/drawingml/2006/main">
            <a:off x="1219200" y="2590800"/>
            <a:ext cx="9753600" cy="9906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ctr">
            <a:normAutofit/>
          </a:bodyPr>
          <a:lstStyle xmlns:a="http://schemas.openxmlformats.org/drawingml/2006/main">
            <a:defPPr algn="ctr">
              <a:defRPr sz="4800" b="1">
                <a:solidFill>
                  <a:schemeClr val="tx1"/>
                </a:solidFill>
                <a:latin typeface="+mj-lt"/>
                <a:ea typeface="+mj-lt"/>
                <a:cs typeface="+mj-lt"/>
              </a:defRPr>
            </a:defPPr>
            <a:lvl1pPr marL="0" indent="0">
              <a:lnSpc>
                <a:spcPct val="110000"/>
              </a:lnSpc>
              <a:spcBef>
                <a:spcPts val="0"/>
              </a:spcBef>
              <a:spcAft>
                <a:spcPts val="0"/>
              </a:spcAft>
              <a:buNone/>
              <a:defRPr/>
            </a:lvl1pPr>
            <a:lvl2pPr marL="0" indent="0">
              <a:lnSpc>
                <a:spcPct val="110000"/>
              </a:lnSpc>
              <a:spcBef>
                <a:spcPts val="0"/>
              </a:spcBef>
              <a:spcAft>
                <a:spcPts val="0"/>
              </a:spcAft>
              <a:buNone/>
              <a:defRPr/>
            </a:lvl2pPr>
            <a:lvl3pPr marL="0" indent="0">
              <a:lnSpc>
                <a:spcPct val="110000"/>
              </a:lnSpc>
              <a:spcBef>
                <a:spcPts val="0"/>
              </a:spcBef>
              <a:spcAft>
                <a:spcPts val="0"/>
              </a:spcAft>
              <a:buNone/>
              <a:defRPr/>
            </a:lvl3pPr>
            <a:lvl4pPr marL="0" indent="0">
              <a:lnSpc>
                <a:spcPct val="110000"/>
              </a:lnSpc>
              <a:spcBef>
                <a:spcPts val="0"/>
              </a:spcBef>
              <a:spcAft>
                <a:spcPts val="0"/>
              </a:spcAft>
              <a:buNone/>
              <a:defRPr/>
            </a:lvl4pPr>
            <a:lvl5pPr marL="0" indent="0">
              <a:lnSpc>
                <a:spcPct val="110000"/>
              </a:lnSpc>
              <a:spcBef>
                <a:spcPts val="0"/>
              </a:spcBef>
              <a:spcAft>
                <a:spcPts val="0"/>
              </a:spcAft>
              <a:buNone/>
              <a:defRPr/>
            </a:lvl5pPr>
            <a:lvl6pPr marL="0" indent="0">
              <a:lnSpc>
                <a:spcPct val="110000"/>
              </a:lnSpc>
              <a:spcBef>
                <a:spcPts val="0"/>
              </a:spcBef>
              <a:spcAft>
                <a:spcPts val="0"/>
              </a:spcAft>
              <a:buNone/>
              <a:defRPr/>
            </a:lvl6pPr>
            <a:lvl7pPr marL="0" indent="0">
              <a:lnSpc>
                <a:spcPct val="110000"/>
              </a:lnSpc>
              <a:spcBef>
                <a:spcPts val="0"/>
              </a:spcBef>
              <a:spcAft>
                <a:spcPts val="0"/>
              </a:spcAft>
              <a:buNone/>
              <a:defRPr/>
            </a:lvl7pPr>
            <a:lvl8pPr marL="0" indent="0">
              <a:lnSpc>
                <a:spcPct val="110000"/>
              </a:lnSpc>
              <a:spcBef>
                <a:spcPts val="0"/>
              </a:spcBef>
              <a:spcAft>
                <a:spcPts val="0"/>
              </a:spcAft>
              <a:buNone/>
              <a:defRPr/>
            </a:lvl8pPr>
            <a:lvl9pPr marL="0" indent="0">
              <a:lnSpc>
                <a:spcPct val="110000"/>
              </a:lnSpc>
              <a:spcBef>
                <a:spcPts val="0"/>
              </a:spcBef>
              <a:spcAft>
                <a:spcPts val="0"/>
              </a:spcAft>
              <a:buNone/>
              <a:defRPr/>
            </a:lvl9pPr>
          </a:lstStyle>
          <a:p xmlns:a="http://schemas.openxmlformats.org/drawingml/2006/main">
            <a:endParaRPr/>
          </a:p>
        </p:txBody>
      </p:sp>
      <p:sp>
        <p:nvSpPr>
          <p:cNvPr id="2" name="Subtitle">
            <a:extLst xmlns:a="http://schemas.openxmlformats.org/drawingml/2006/main">
              <a:ext uri="{FF2B5EF4-FFF2-40B4-BE49-F238E27FC236}">
                <a16:creationId xmlns:a16="http://schemas.microsoft.com/office/drawing/2014/main" id="{D5F36821-6108-4999-8623-899E645C5CF6}"/>
              </a:ext>
            </a:extLst>
          </p:cNvPr>
          <p:cNvSpPr>
            <a:spLocks xmlns:a="http://schemas.openxmlformats.org/drawingml/2006/main" noGrp="1"/>
          </p:cNvSpPr>
          <p:nvPr>
            <p:ph type="subTitle" idx="1"/>
          </p:nvPr>
        </p:nvSpPr>
        <p:spPr>
          <a:xfrm xmlns:a="http://schemas.openxmlformats.org/drawingml/2006/main">
            <a:off x="1828800" y="3771900"/>
            <a:ext cx="8534400" cy="7620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ctr">
            <a:normAutofit/>
          </a:bodyPr>
          <a:lstStyle xmlns:a="http://schemas.openxmlformats.org/drawingml/2006/main">
            <a:defPPr algn="ctr">
              <a:defRPr sz="2100" b="0">
                <a:solidFill>
                  <a:schemeClr val="tx1"/>
                </a:solidFill>
                <a:latin typeface="+mn-lt"/>
                <a:ea typeface="+mn-lt"/>
                <a:cs typeface="+mn-lt"/>
              </a:defRPr>
            </a:defPPr>
            <a:lvl1pPr marL="0" indent="0">
              <a:lnSpc>
                <a:spcPct val="110000"/>
              </a:lnSpc>
              <a:spcBef>
                <a:spcPts val="0"/>
              </a:spcBef>
              <a:spcAft>
                <a:spcPts val="0"/>
              </a:spcAft>
              <a:buNone/>
              <a:defRPr/>
            </a:lvl1pPr>
            <a:lvl2pPr marL="0" indent="0">
              <a:lnSpc>
                <a:spcPct val="110000"/>
              </a:lnSpc>
              <a:spcBef>
                <a:spcPts val="0"/>
              </a:spcBef>
              <a:spcAft>
                <a:spcPts val="0"/>
              </a:spcAft>
              <a:buNone/>
              <a:defRPr/>
            </a:lvl2pPr>
            <a:lvl3pPr marL="0" indent="0">
              <a:lnSpc>
                <a:spcPct val="110000"/>
              </a:lnSpc>
              <a:spcBef>
                <a:spcPts val="0"/>
              </a:spcBef>
              <a:spcAft>
                <a:spcPts val="0"/>
              </a:spcAft>
              <a:buNone/>
              <a:defRPr/>
            </a:lvl3pPr>
            <a:lvl4pPr marL="0" indent="0">
              <a:lnSpc>
                <a:spcPct val="110000"/>
              </a:lnSpc>
              <a:spcBef>
                <a:spcPts val="0"/>
              </a:spcBef>
              <a:spcAft>
                <a:spcPts val="0"/>
              </a:spcAft>
              <a:buNone/>
              <a:defRPr/>
            </a:lvl4pPr>
            <a:lvl5pPr marL="0" indent="0">
              <a:lnSpc>
                <a:spcPct val="110000"/>
              </a:lnSpc>
              <a:spcBef>
                <a:spcPts val="0"/>
              </a:spcBef>
              <a:spcAft>
                <a:spcPts val="0"/>
              </a:spcAft>
              <a:buNone/>
              <a:defRPr/>
            </a:lvl5pPr>
            <a:lvl6pPr marL="0" indent="0">
              <a:lnSpc>
                <a:spcPct val="110000"/>
              </a:lnSpc>
              <a:spcBef>
                <a:spcPts val="0"/>
              </a:spcBef>
              <a:spcAft>
                <a:spcPts val="0"/>
              </a:spcAft>
              <a:buNone/>
              <a:defRPr/>
            </a:lvl6pPr>
            <a:lvl7pPr marL="0" indent="0">
              <a:lnSpc>
                <a:spcPct val="110000"/>
              </a:lnSpc>
              <a:spcBef>
                <a:spcPts val="0"/>
              </a:spcBef>
              <a:spcAft>
                <a:spcPts val="0"/>
              </a:spcAft>
              <a:buNone/>
              <a:defRPr/>
            </a:lvl7pPr>
            <a:lvl8pPr marL="0" indent="0">
              <a:lnSpc>
                <a:spcPct val="110000"/>
              </a:lnSpc>
              <a:spcBef>
                <a:spcPts val="0"/>
              </a:spcBef>
              <a:spcAft>
                <a:spcPts val="0"/>
              </a:spcAft>
              <a:buNone/>
              <a:defRPr/>
            </a:lvl8pPr>
            <a:lvl9pPr marL="0" indent="0">
              <a:lnSpc>
                <a:spcPct val="110000"/>
              </a:lnSpc>
              <a:spcBef>
                <a:spcPts val="0"/>
              </a:spcBef>
              <a:spcAft>
                <a:spcPts val="0"/>
              </a:spcAft>
              <a:buNone/>
              <a:defRPr/>
            </a:lvl9pPr>
          </a:lstStyle>
          <a:p xmlns:a="http://schemas.openxmlformats.org/drawingml/2006/main">
            <a:endParaRPr/>
          </a:p>
        </p:txBody>
      </p:sp>
    </p:spTree>
  </p:cSld>
</p:sldLayout>
</file>

<file path=ppt/slideLayouts/slideLayout2.xml><?xml version="1.0" encoding="utf-8"?>
<p:sldLayout xmlns:p="http://schemas.openxmlformats.org/presentationml/2006/main">
  <p:cSld name="Section Header">
    <p:spTree>
      <p:nvGrpSpPr>
        <p:cNvPr id="1" name=""/>
        <p:cNvGrpSpPr/>
        <p:nvPr/>
      </p:nvGrpSpPr>
      <p:grpSpPr>
        <a:xfrm xmlns:a="http://schemas.openxmlformats.org/drawingml/2006/main"/>
      </p:grpSpPr>
      <p:sp>
        <p:nvSpPr>
          <p:cNvPr id="2" name="Section title">
            <a:extLst xmlns:a="http://schemas.openxmlformats.org/drawingml/2006/main">
              <a:ext uri="{FF2B5EF4-FFF2-40B4-BE49-F238E27FC236}">
                <a16:creationId xmlns:a16="http://schemas.microsoft.com/office/drawing/2014/main" id="{4E3E9C23-F88E-4B26-9ED1-FF13C3B3F94E}"/>
              </a:ext>
            </a:extLst>
          </p:cNvPr>
          <p:cNvSpPr>
            <a:spLocks xmlns:a="http://schemas.openxmlformats.org/drawingml/2006/main" noGrp="1"/>
          </p:cNvSpPr>
          <p:nvPr>
            <p:ph type="title" idx="0"/>
          </p:nvPr>
        </p:nvSpPr>
        <p:spPr>
          <a:xfrm xmlns:a="http://schemas.openxmlformats.org/drawingml/2006/main">
            <a:off x="1219200" y="2857500"/>
            <a:ext cx="9753600" cy="11430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ctr">
            <a:normAutofit/>
          </a:bodyPr>
          <a:lstStyle xmlns:a="http://schemas.openxmlformats.org/drawingml/2006/main">
            <a:defPPr algn="ctr">
              <a:defRPr sz="4200" b="1">
                <a:solidFill>
                  <a:schemeClr val="tx1"/>
                </a:solidFill>
                <a:latin typeface="+mj-lt"/>
                <a:ea typeface="+mj-lt"/>
                <a:cs typeface="+mj-lt"/>
              </a:defRPr>
            </a:defPPr>
            <a:lvl1pPr marL="0" indent="0">
              <a:lnSpc>
                <a:spcPct val="110000"/>
              </a:lnSpc>
              <a:spcBef>
                <a:spcPts val="0"/>
              </a:spcBef>
              <a:spcAft>
                <a:spcPts val="0"/>
              </a:spcAft>
              <a:buNone/>
              <a:defRPr/>
            </a:lvl1pPr>
            <a:lvl2pPr marL="0" indent="0">
              <a:lnSpc>
                <a:spcPct val="110000"/>
              </a:lnSpc>
              <a:spcBef>
                <a:spcPts val="0"/>
              </a:spcBef>
              <a:spcAft>
                <a:spcPts val="0"/>
              </a:spcAft>
              <a:buNone/>
              <a:defRPr/>
            </a:lvl2pPr>
            <a:lvl3pPr marL="0" indent="0">
              <a:lnSpc>
                <a:spcPct val="110000"/>
              </a:lnSpc>
              <a:spcBef>
                <a:spcPts val="0"/>
              </a:spcBef>
              <a:spcAft>
                <a:spcPts val="0"/>
              </a:spcAft>
              <a:buNone/>
              <a:defRPr/>
            </a:lvl3pPr>
            <a:lvl4pPr marL="0" indent="0">
              <a:lnSpc>
                <a:spcPct val="110000"/>
              </a:lnSpc>
              <a:spcBef>
                <a:spcPts val="0"/>
              </a:spcBef>
              <a:spcAft>
                <a:spcPts val="0"/>
              </a:spcAft>
              <a:buNone/>
              <a:defRPr/>
            </a:lvl4pPr>
            <a:lvl5pPr marL="0" indent="0">
              <a:lnSpc>
                <a:spcPct val="110000"/>
              </a:lnSpc>
              <a:spcBef>
                <a:spcPts val="0"/>
              </a:spcBef>
              <a:spcAft>
                <a:spcPts val="0"/>
              </a:spcAft>
              <a:buNone/>
              <a:defRPr/>
            </a:lvl5pPr>
            <a:lvl6pPr marL="0" indent="0">
              <a:lnSpc>
                <a:spcPct val="110000"/>
              </a:lnSpc>
              <a:spcBef>
                <a:spcPts val="0"/>
              </a:spcBef>
              <a:spcAft>
                <a:spcPts val="0"/>
              </a:spcAft>
              <a:buNone/>
              <a:defRPr/>
            </a:lvl6pPr>
            <a:lvl7pPr marL="0" indent="0">
              <a:lnSpc>
                <a:spcPct val="110000"/>
              </a:lnSpc>
              <a:spcBef>
                <a:spcPts val="0"/>
              </a:spcBef>
              <a:spcAft>
                <a:spcPts val="0"/>
              </a:spcAft>
              <a:buNone/>
              <a:defRPr/>
            </a:lvl7pPr>
            <a:lvl8pPr marL="0" indent="0">
              <a:lnSpc>
                <a:spcPct val="110000"/>
              </a:lnSpc>
              <a:spcBef>
                <a:spcPts val="0"/>
              </a:spcBef>
              <a:spcAft>
                <a:spcPts val="0"/>
              </a:spcAft>
              <a:buNone/>
              <a:defRPr/>
            </a:lvl8pPr>
            <a:lvl9pPr marL="0" indent="0">
              <a:lnSpc>
                <a:spcPct val="110000"/>
              </a:lnSpc>
              <a:spcBef>
                <a:spcPts val="0"/>
              </a:spcBef>
              <a:spcAft>
                <a:spcPts val="0"/>
              </a:spcAft>
              <a:buNone/>
              <a:defRPr/>
            </a:lvl9pPr>
          </a:lstStyle>
          <a:p xmlns:a="http://schemas.openxmlformats.org/drawingml/2006/main">
            <a:endParaRPr/>
          </a:p>
        </p:txBody>
      </p:sp>
    </p:spTree>
  </p:cSld>
</p:sldLayout>
</file>

<file path=ppt/slideLayouts/slideLayout3.xml><?xml version="1.0" encoding="utf-8"?>
<p:sldLayout xmlns:p="http://schemas.openxmlformats.org/presentationml/2006/main">
  <p:cSld name="Title and Body">
    <p:spTree>
      <p:nvGrpSpPr>
        <p:cNvPr id="1" name=""/>
        <p:cNvGrpSpPr/>
        <p:nvPr/>
      </p:nvGrpSpPr>
      <p:grpSpPr>
        <a:xfrm xmlns:a="http://schemas.openxmlformats.org/drawingml/2006/main"/>
      </p:grpSpPr>
      <p:sp>
        <p:nvSpPr>
          <p:cNvPr id="3" name="Title">
            <a:extLst xmlns:a="http://schemas.openxmlformats.org/drawingml/2006/main">
              <a:ext uri="{FF2B5EF4-FFF2-40B4-BE49-F238E27FC236}">
                <a16:creationId xmlns:a16="http://schemas.microsoft.com/office/drawing/2014/main" id="{71877624-7B75-4ABB-9549-98AB4E404E40}"/>
              </a:ext>
            </a:extLst>
          </p:cNvPr>
          <p:cNvSpPr>
            <a:spLocks xmlns:a="http://schemas.openxmlformats.org/drawingml/2006/main" noGrp="1"/>
          </p:cNvSpPr>
          <p:nvPr>
            <p:ph type="title" idx="0"/>
          </p:nvPr>
        </p:nvSpPr>
        <p:spPr>
          <a:xfrm xmlns:a="http://schemas.openxmlformats.org/drawingml/2006/main">
            <a:off x="685800" y="533400"/>
            <a:ext cx="10820400" cy="838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3300" b="1">
                <a:solidFill>
                  <a:schemeClr val="tx1"/>
                </a:solidFill>
                <a:latin typeface="+mj-lt"/>
                <a:ea typeface="+mj-lt"/>
                <a:cs typeface="+mj-lt"/>
              </a:defRPr>
            </a:defPPr>
            <a:lvl1pPr marL="0" indent="0">
              <a:lnSpc>
                <a:spcPct val="110000"/>
              </a:lnSpc>
              <a:spcBef>
                <a:spcPts val="0"/>
              </a:spcBef>
              <a:spcAft>
                <a:spcPts val="0"/>
              </a:spcAft>
              <a:buNone/>
              <a:defRPr/>
            </a:lvl1pPr>
            <a:lvl2pPr marL="0" indent="0">
              <a:lnSpc>
                <a:spcPct val="110000"/>
              </a:lnSpc>
              <a:spcBef>
                <a:spcPts val="0"/>
              </a:spcBef>
              <a:spcAft>
                <a:spcPts val="0"/>
              </a:spcAft>
              <a:buNone/>
              <a:defRPr/>
            </a:lvl2pPr>
            <a:lvl3pPr marL="0" indent="0">
              <a:lnSpc>
                <a:spcPct val="110000"/>
              </a:lnSpc>
              <a:spcBef>
                <a:spcPts val="0"/>
              </a:spcBef>
              <a:spcAft>
                <a:spcPts val="0"/>
              </a:spcAft>
              <a:buNone/>
              <a:defRPr/>
            </a:lvl3pPr>
            <a:lvl4pPr marL="0" indent="0">
              <a:lnSpc>
                <a:spcPct val="110000"/>
              </a:lnSpc>
              <a:spcBef>
                <a:spcPts val="0"/>
              </a:spcBef>
              <a:spcAft>
                <a:spcPts val="0"/>
              </a:spcAft>
              <a:buNone/>
              <a:defRPr/>
            </a:lvl4pPr>
            <a:lvl5pPr marL="0" indent="0">
              <a:lnSpc>
                <a:spcPct val="110000"/>
              </a:lnSpc>
              <a:spcBef>
                <a:spcPts val="0"/>
              </a:spcBef>
              <a:spcAft>
                <a:spcPts val="0"/>
              </a:spcAft>
              <a:buNone/>
              <a:defRPr/>
            </a:lvl5pPr>
            <a:lvl6pPr marL="0" indent="0">
              <a:lnSpc>
                <a:spcPct val="110000"/>
              </a:lnSpc>
              <a:spcBef>
                <a:spcPts val="0"/>
              </a:spcBef>
              <a:spcAft>
                <a:spcPts val="0"/>
              </a:spcAft>
              <a:buNone/>
              <a:defRPr/>
            </a:lvl6pPr>
            <a:lvl7pPr marL="0" indent="0">
              <a:lnSpc>
                <a:spcPct val="110000"/>
              </a:lnSpc>
              <a:spcBef>
                <a:spcPts val="0"/>
              </a:spcBef>
              <a:spcAft>
                <a:spcPts val="0"/>
              </a:spcAft>
              <a:buNone/>
              <a:defRPr/>
            </a:lvl7pPr>
            <a:lvl8pPr marL="0" indent="0">
              <a:lnSpc>
                <a:spcPct val="110000"/>
              </a:lnSpc>
              <a:spcBef>
                <a:spcPts val="0"/>
              </a:spcBef>
              <a:spcAft>
                <a:spcPts val="0"/>
              </a:spcAft>
              <a:buNone/>
              <a:defRPr/>
            </a:lvl8pPr>
            <a:lvl9pPr marL="0" indent="0">
              <a:lnSpc>
                <a:spcPct val="110000"/>
              </a:lnSpc>
              <a:spcBef>
                <a:spcPts val="0"/>
              </a:spcBef>
              <a:spcAft>
                <a:spcPts val="0"/>
              </a:spcAft>
              <a:buNone/>
              <a:defRPr/>
            </a:lvl9pPr>
          </a:lstStyle>
          <a:p xmlns:a="http://schemas.openxmlformats.org/drawingml/2006/main">
            <a:endParaRPr/>
          </a:p>
        </p:txBody>
      </p:sp>
      <p:sp>
        <p:nvSpPr>
          <p:cNvPr id="2" name="Body">
            <a:extLst xmlns:a="http://schemas.openxmlformats.org/drawingml/2006/main">
              <a:ext uri="{FF2B5EF4-FFF2-40B4-BE49-F238E27FC236}">
                <a16:creationId xmlns:a16="http://schemas.microsoft.com/office/drawing/2014/main" id="{6582531E-58F9-4E97-BEE2-A5AF64392BAB}"/>
              </a:ext>
            </a:extLst>
          </p:cNvPr>
          <p:cNvSpPr>
            <a:spLocks xmlns:a="http://schemas.openxmlformats.org/drawingml/2006/main" noGrp="1"/>
          </p:cNvSpPr>
          <p:nvPr>
            <p:ph type="body" idx="1"/>
          </p:nvPr>
        </p:nvSpPr>
        <p:spPr>
          <a:xfrm xmlns:a="http://schemas.openxmlformats.org/drawingml/2006/main">
            <a:off x="685800" y="1905000"/>
            <a:ext cx="10820400" cy="4267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2250" b="0">
                <a:solidFill>
                  <a:schemeClr val="tx1"/>
                </a:solidFill>
                <a:latin typeface="+mn-lt"/>
                <a:ea typeface="+mn-lt"/>
                <a:cs typeface="+mn-lt"/>
              </a:defRPr>
            </a:defPPr>
            <a:lvl1pPr marL="228600" indent="-228600">
              <a:lnSpc>
                <a:spcPct val="110000"/>
              </a:lnSpc>
              <a:spcBef>
                <a:spcPts val="0"/>
              </a:spcBef>
              <a:spcAft>
                <a:spcPts val="1200"/>
              </a:spcAft>
              <a:buChar char="•"/>
              <a:defRPr/>
            </a:lvl1pPr>
            <a:lvl2pPr marL="533400" indent="-228600">
              <a:lnSpc>
                <a:spcPct val="110000"/>
              </a:lnSpc>
              <a:spcBef>
                <a:spcPts val="0"/>
              </a:spcBef>
              <a:spcAft>
                <a:spcPts val="1200"/>
              </a:spcAft>
              <a:buChar char="•"/>
              <a:defRPr/>
            </a:lvl2pPr>
            <a:lvl3pPr marL="838200" indent="-228600">
              <a:lnSpc>
                <a:spcPct val="110000"/>
              </a:lnSpc>
              <a:spcBef>
                <a:spcPts val="0"/>
              </a:spcBef>
              <a:spcAft>
                <a:spcPts val="1200"/>
              </a:spcAft>
              <a:buChar char="•"/>
              <a:defRPr/>
            </a:lvl3pPr>
            <a:lvl4pPr marL="1143000" indent="-228600">
              <a:lnSpc>
                <a:spcPct val="110000"/>
              </a:lnSpc>
              <a:spcBef>
                <a:spcPts val="0"/>
              </a:spcBef>
              <a:spcAft>
                <a:spcPts val="1200"/>
              </a:spcAft>
              <a:buChar char="•"/>
              <a:defRPr/>
            </a:lvl4pPr>
            <a:lvl5pPr marL="1447800" indent="-228600">
              <a:lnSpc>
                <a:spcPct val="110000"/>
              </a:lnSpc>
              <a:spcBef>
                <a:spcPts val="0"/>
              </a:spcBef>
              <a:spcAft>
                <a:spcPts val="1200"/>
              </a:spcAft>
              <a:buChar char="•"/>
              <a:defRPr/>
            </a:lvl5pPr>
            <a:lvl6pPr marL="1752600" indent="-228600">
              <a:lnSpc>
                <a:spcPct val="110000"/>
              </a:lnSpc>
              <a:spcBef>
                <a:spcPts val="0"/>
              </a:spcBef>
              <a:spcAft>
                <a:spcPts val="1200"/>
              </a:spcAft>
              <a:buChar char="•"/>
              <a:defRPr/>
            </a:lvl6pPr>
            <a:lvl7pPr marL="2057400" indent="-228600">
              <a:lnSpc>
                <a:spcPct val="110000"/>
              </a:lnSpc>
              <a:spcBef>
                <a:spcPts val="0"/>
              </a:spcBef>
              <a:spcAft>
                <a:spcPts val="1200"/>
              </a:spcAft>
              <a:buChar char="•"/>
              <a:defRPr/>
            </a:lvl7pPr>
            <a:lvl8pPr marL="2362200" indent="-228600">
              <a:lnSpc>
                <a:spcPct val="110000"/>
              </a:lnSpc>
              <a:spcBef>
                <a:spcPts val="0"/>
              </a:spcBef>
              <a:spcAft>
                <a:spcPts val="1200"/>
              </a:spcAft>
              <a:buChar char="•"/>
              <a:defRPr/>
            </a:lvl8pPr>
            <a:lvl9pPr marL="2667000" indent="-228600">
              <a:lnSpc>
                <a:spcPct val="110000"/>
              </a:lnSpc>
              <a:spcBef>
                <a:spcPts val="0"/>
              </a:spcBef>
              <a:spcAft>
                <a:spcPts val="1200"/>
              </a:spcAft>
              <a:buChar char="•"/>
              <a:defRPr/>
            </a:lvl9pPr>
          </a:lstStyle>
          <a:p xmlns:a="http://schemas.openxmlformats.org/drawingml/2006/main">
            <a:endParaRPr/>
          </a:p>
        </p:txBody>
      </p:sp>
    </p:spTree>
  </p:cSld>
</p:sldLayout>
</file>

<file path=ppt/slideLayouts/slideLayout4.xml><?xml version="1.0" encoding="utf-8"?>
<p:sldLayout xmlns:p="http://schemas.openxmlformats.org/presentationml/2006/main">
  <p:cSld name="Title and Two Column">
    <p:spTree>
      <p:nvGrpSpPr>
        <p:cNvPr id="1" name=""/>
        <p:cNvGrpSpPr/>
        <p:nvPr/>
      </p:nvGrpSpPr>
      <p:grpSpPr>
        <a:xfrm xmlns:a="http://schemas.openxmlformats.org/drawingml/2006/main"/>
      </p:grpSpPr>
      <p:sp>
        <p:nvSpPr>
          <p:cNvPr id="4" name="Title">
            <a:extLst xmlns:a="http://schemas.openxmlformats.org/drawingml/2006/main">
              <a:ext uri="{FF2B5EF4-FFF2-40B4-BE49-F238E27FC236}">
                <a16:creationId xmlns:a16="http://schemas.microsoft.com/office/drawing/2014/main" id="{73E7F64E-40F6-4EAB-88FF-C6221C1BD3EC}"/>
              </a:ext>
            </a:extLst>
          </p:cNvPr>
          <p:cNvSpPr>
            <a:spLocks xmlns:a="http://schemas.openxmlformats.org/drawingml/2006/main" noGrp="1"/>
          </p:cNvSpPr>
          <p:nvPr>
            <p:ph type="title" idx="0"/>
          </p:nvPr>
        </p:nvSpPr>
        <p:spPr>
          <a:xfrm xmlns:a="http://schemas.openxmlformats.org/drawingml/2006/main">
            <a:off x="685800" y="533400"/>
            <a:ext cx="10820400" cy="838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3300" b="1">
                <a:solidFill>
                  <a:schemeClr val="tx1"/>
                </a:solidFill>
                <a:latin typeface="+mj-lt"/>
                <a:ea typeface="+mj-lt"/>
                <a:cs typeface="+mj-lt"/>
              </a:defRPr>
            </a:defPPr>
            <a:lvl1pPr marL="0" indent="0">
              <a:lnSpc>
                <a:spcPct val="110000"/>
              </a:lnSpc>
              <a:spcBef>
                <a:spcPts val="0"/>
              </a:spcBef>
              <a:spcAft>
                <a:spcPts val="0"/>
              </a:spcAft>
              <a:buNone/>
              <a:defRPr/>
            </a:lvl1pPr>
            <a:lvl2pPr marL="0" indent="0">
              <a:lnSpc>
                <a:spcPct val="110000"/>
              </a:lnSpc>
              <a:spcBef>
                <a:spcPts val="0"/>
              </a:spcBef>
              <a:spcAft>
                <a:spcPts val="0"/>
              </a:spcAft>
              <a:buNone/>
              <a:defRPr/>
            </a:lvl2pPr>
            <a:lvl3pPr marL="0" indent="0">
              <a:lnSpc>
                <a:spcPct val="110000"/>
              </a:lnSpc>
              <a:spcBef>
                <a:spcPts val="0"/>
              </a:spcBef>
              <a:spcAft>
                <a:spcPts val="0"/>
              </a:spcAft>
              <a:buNone/>
              <a:defRPr/>
            </a:lvl3pPr>
            <a:lvl4pPr marL="0" indent="0">
              <a:lnSpc>
                <a:spcPct val="110000"/>
              </a:lnSpc>
              <a:spcBef>
                <a:spcPts val="0"/>
              </a:spcBef>
              <a:spcAft>
                <a:spcPts val="0"/>
              </a:spcAft>
              <a:buNone/>
              <a:defRPr/>
            </a:lvl4pPr>
            <a:lvl5pPr marL="0" indent="0">
              <a:lnSpc>
                <a:spcPct val="110000"/>
              </a:lnSpc>
              <a:spcBef>
                <a:spcPts val="0"/>
              </a:spcBef>
              <a:spcAft>
                <a:spcPts val="0"/>
              </a:spcAft>
              <a:buNone/>
              <a:defRPr/>
            </a:lvl5pPr>
            <a:lvl6pPr marL="0" indent="0">
              <a:lnSpc>
                <a:spcPct val="110000"/>
              </a:lnSpc>
              <a:spcBef>
                <a:spcPts val="0"/>
              </a:spcBef>
              <a:spcAft>
                <a:spcPts val="0"/>
              </a:spcAft>
              <a:buNone/>
              <a:defRPr/>
            </a:lvl6pPr>
            <a:lvl7pPr marL="0" indent="0">
              <a:lnSpc>
                <a:spcPct val="110000"/>
              </a:lnSpc>
              <a:spcBef>
                <a:spcPts val="0"/>
              </a:spcBef>
              <a:spcAft>
                <a:spcPts val="0"/>
              </a:spcAft>
              <a:buNone/>
              <a:defRPr/>
            </a:lvl7pPr>
            <a:lvl8pPr marL="0" indent="0">
              <a:lnSpc>
                <a:spcPct val="110000"/>
              </a:lnSpc>
              <a:spcBef>
                <a:spcPts val="0"/>
              </a:spcBef>
              <a:spcAft>
                <a:spcPts val="0"/>
              </a:spcAft>
              <a:buNone/>
              <a:defRPr/>
            </a:lvl8pPr>
            <a:lvl9pPr marL="0" indent="0">
              <a:lnSpc>
                <a:spcPct val="110000"/>
              </a:lnSpc>
              <a:spcBef>
                <a:spcPts val="0"/>
              </a:spcBef>
              <a:spcAft>
                <a:spcPts val="0"/>
              </a:spcAft>
              <a:buNone/>
              <a:defRPr/>
            </a:lvl9pPr>
          </a:lstStyle>
          <a:p xmlns:a="http://schemas.openxmlformats.org/drawingml/2006/main">
            <a:endParaRPr/>
          </a:p>
        </p:txBody>
      </p:sp>
      <p:sp>
        <p:nvSpPr>
          <p:cNvPr id="2" name="Left column">
            <a:extLst xmlns:a="http://schemas.openxmlformats.org/drawingml/2006/main">
              <a:ext uri="{FF2B5EF4-FFF2-40B4-BE49-F238E27FC236}">
                <a16:creationId xmlns:a16="http://schemas.microsoft.com/office/drawing/2014/main" id="{472CB5DF-9F2E-44B8-9CE9-7A995A3B050C}"/>
              </a:ext>
            </a:extLst>
          </p:cNvPr>
          <p:cNvSpPr>
            <a:spLocks xmlns:a="http://schemas.openxmlformats.org/drawingml/2006/main" noGrp="1"/>
          </p:cNvSpPr>
          <p:nvPr>
            <p:ph type="body" idx="1"/>
          </p:nvPr>
        </p:nvSpPr>
        <p:spPr>
          <a:xfrm xmlns:a="http://schemas.openxmlformats.org/drawingml/2006/main">
            <a:off x="685800" y="1905000"/>
            <a:ext cx="5029200" cy="4267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2100" b="0">
                <a:solidFill>
                  <a:schemeClr val="tx1"/>
                </a:solidFill>
                <a:latin typeface="+mn-lt"/>
                <a:ea typeface="+mn-lt"/>
                <a:cs typeface="+mn-lt"/>
              </a:defRPr>
            </a:defPPr>
            <a:lvl1pPr marL="228600" indent="-228600">
              <a:lnSpc>
                <a:spcPct val="110000"/>
              </a:lnSpc>
              <a:spcBef>
                <a:spcPts val="0"/>
              </a:spcBef>
              <a:spcAft>
                <a:spcPts val="1200"/>
              </a:spcAft>
              <a:buChar char="•"/>
              <a:defRPr/>
            </a:lvl1pPr>
            <a:lvl2pPr marL="533400" indent="-228600">
              <a:lnSpc>
                <a:spcPct val="110000"/>
              </a:lnSpc>
              <a:spcBef>
                <a:spcPts val="0"/>
              </a:spcBef>
              <a:spcAft>
                <a:spcPts val="1200"/>
              </a:spcAft>
              <a:buChar char="•"/>
              <a:defRPr/>
            </a:lvl2pPr>
            <a:lvl3pPr marL="838200" indent="-228600">
              <a:lnSpc>
                <a:spcPct val="110000"/>
              </a:lnSpc>
              <a:spcBef>
                <a:spcPts val="0"/>
              </a:spcBef>
              <a:spcAft>
                <a:spcPts val="1200"/>
              </a:spcAft>
              <a:buChar char="•"/>
              <a:defRPr/>
            </a:lvl3pPr>
            <a:lvl4pPr marL="1143000" indent="-228600">
              <a:lnSpc>
                <a:spcPct val="110000"/>
              </a:lnSpc>
              <a:spcBef>
                <a:spcPts val="0"/>
              </a:spcBef>
              <a:spcAft>
                <a:spcPts val="1200"/>
              </a:spcAft>
              <a:buChar char="•"/>
              <a:defRPr/>
            </a:lvl4pPr>
            <a:lvl5pPr marL="1447800" indent="-228600">
              <a:lnSpc>
                <a:spcPct val="110000"/>
              </a:lnSpc>
              <a:spcBef>
                <a:spcPts val="0"/>
              </a:spcBef>
              <a:spcAft>
                <a:spcPts val="1200"/>
              </a:spcAft>
              <a:buChar char="•"/>
              <a:defRPr/>
            </a:lvl5pPr>
            <a:lvl6pPr marL="1752600" indent="-228600">
              <a:lnSpc>
                <a:spcPct val="110000"/>
              </a:lnSpc>
              <a:spcBef>
                <a:spcPts val="0"/>
              </a:spcBef>
              <a:spcAft>
                <a:spcPts val="1200"/>
              </a:spcAft>
              <a:buChar char="•"/>
              <a:defRPr/>
            </a:lvl6pPr>
            <a:lvl7pPr marL="2057400" indent="-228600">
              <a:lnSpc>
                <a:spcPct val="110000"/>
              </a:lnSpc>
              <a:spcBef>
                <a:spcPts val="0"/>
              </a:spcBef>
              <a:spcAft>
                <a:spcPts val="1200"/>
              </a:spcAft>
              <a:buChar char="•"/>
              <a:defRPr/>
            </a:lvl7pPr>
            <a:lvl8pPr marL="2362200" indent="-228600">
              <a:lnSpc>
                <a:spcPct val="110000"/>
              </a:lnSpc>
              <a:spcBef>
                <a:spcPts val="0"/>
              </a:spcBef>
              <a:spcAft>
                <a:spcPts val="1200"/>
              </a:spcAft>
              <a:buChar char="•"/>
              <a:defRPr/>
            </a:lvl8pPr>
            <a:lvl9pPr marL="2667000" indent="-228600">
              <a:lnSpc>
                <a:spcPct val="110000"/>
              </a:lnSpc>
              <a:spcBef>
                <a:spcPts val="0"/>
              </a:spcBef>
              <a:spcAft>
                <a:spcPts val="1200"/>
              </a:spcAft>
              <a:buChar char="•"/>
              <a:defRPr/>
            </a:lvl9pPr>
          </a:lstStyle>
          <a:p xmlns:a="http://schemas.openxmlformats.org/drawingml/2006/main">
            <a:endParaRPr/>
          </a:p>
        </p:txBody>
      </p:sp>
      <p:sp>
        <p:nvSpPr>
          <p:cNvPr id="3" name="Right column">
            <a:extLst xmlns:a="http://schemas.openxmlformats.org/drawingml/2006/main">
              <a:ext uri="{FF2B5EF4-FFF2-40B4-BE49-F238E27FC236}">
                <a16:creationId xmlns:a16="http://schemas.microsoft.com/office/drawing/2014/main" id="{1FBAF9DD-0EFA-424A-B9BC-62623C9B06DE}"/>
              </a:ext>
            </a:extLst>
          </p:cNvPr>
          <p:cNvSpPr>
            <a:spLocks xmlns:a="http://schemas.openxmlformats.org/drawingml/2006/main" noGrp="1"/>
          </p:cNvSpPr>
          <p:nvPr>
            <p:ph type="body" idx="2"/>
          </p:nvPr>
        </p:nvSpPr>
        <p:spPr>
          <a:xfrm xmlns:a="http://schemas.openxmlformats.org/drawingml/2006/main">
            <a:off x="6477000" y="1905000"/>
            <a:ext cx="5029200" cy="4267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2100" b="0">
                <a:solidFill>
                  <a:schemeClr val="tx1"/>
                </a:solidFill>
                <a:latin typeface="+mn-lt"/>
                <a:ea typeface="+mn-lt"/>
                <a:cs typeface="+mn-lt"/>
              </a:defRPr>
            </a:defPPr>
            <a:lvl1pPr marL="228600" indent="-228600">
              <a:lnSpc>
                <a:spcPct val="110000"/>
              </a:lnSpc>
              <a:spcBef>
                <a:spcPts val="0"/>
              </a:spcBef>
              <a:spcAft>
                <a:spcPts val="1200"/>
              </a:spcAft>
              <a:buChar char="•"/>
              <a:defRPr/>
            </a:lvl1pPr>
            <a:lvl2pPr marL="533400" indent="-228600">
              <a:lnSpc>
                <a:spcPct val="110000"/>
              </a:lnSpc>
              <a:spcBef>
                <a:spcPts val="0"/>
              </a:spcBef>
              <a:spcAft>
                <a:spcPts val="1200"/>
              </a:spcAft>
              <a:buChar char="•"/>
              <a:defRPr/>
            </a:lvl2pPr>
            <a:lvl3pPr marL="838200" indent="-228600">
              <a:lnSpc>
                <a:spcPct val="110000"/>
              </a:lnSpc>
              <a:spcBef>
                <a:spcPts val="0"/>
              </a:spcBef>
              <a:spcAft>
                <a:spcPts val="1200"/>
              </a:spcAft>
              <a:buChar char="•"/>
              <a:defRPr/>
            </a:lvl3pPr>
            <a:lvl4pPr marL="1143000" indent="-228600">
              <a:lnSpc>
                <a:spcPct val="110000"/>
              </a:lnSpc>
              <a:spcBef>
                <a:spcPts val="0"/>
              </a:spcBef>
              <a:spcAft>
                <a:spcPts val="1200"/>
              </a:spcAft>
              <a:buChar char="•"/>
              <a:defRPr/>
            </a:lvl4pPr>
            <a:lvl5pPr marL="1447800" indent="-228600">
              <a:lnSpc>
                <a:spcPct val="110000"/>
              </a:lnSpc>
              <a:spcBef>
                <a:spcPts val="0"/>
              </a:spcBef>
              <a:spcAft>
                <a:spcPts val="1200"/>
              </a:spcAft>
              <a:buChar char="•"/>
              <a:defRPr/>
            </a:lvl5pPr>
            <a:lvl6pPr marL="1752600" indent="-228600">
              <a:lnSpc>
                <a:spcPct val="110000"/>
              </a:lnSpc>
              <a:spcBef>
                <a:spcPts val="0"/>
              </a:spcBef>
              <a:spcAft>
                <a:spcPts val="1200"/>
              </a:spcAft>
              <a:buChar char="•"/>
              <a:defRPr/>
            </a:lvl6pPr>
            <a:lvl7pPr marL="2057400" indent="-228600">
              <a:lnSpc>
                <a:spcPct val="110000"/>
              </a:lnSpc>
              <a:spcBef>
                <a:spcPts val="0"/>
              </a:spcBef>
              <a:spcAft>
                <a:spcPts val="1200"/>
              </a:spcAft>
              <a:buChar char="•"/>
              <a:defRPr/>
            </a:lvl7pPr>
            <a:lvl8pPr marL="2362200" indent="-228600">
              <a:lnSpc>
                <a:spcPct val="110000"/>
              </a:lnSpc>
              <a:spcBef>
                <a:spcPts val="0"/>
              </a:spcBef>
              <a:spcAft>
                <a:spcPts val="1200"/>
              </a:spcAft>
              <a:buChar char="•"/>
              <a:defRPr/>
            </a:lvl8pPr>
            <a:lvl9pPr marL="2667000" indent="-228600">
              <a:lnSpc>
                <a:spcPct val="110000"/>
              </a:lnSpc>
              <a:spcBef>
                <a:spcPts val="0"/>
              </a:spcBef>
              <a:spcAft>
                <a:spcPts val="1200"/>
              </a:spcAft>
              <a:buChar char="•"/>
              <a:defRPr/>
            </a:lvl9pPr>
          </a:lstStyle>
          <a:p xmlns:a="http://schemas.openxmlformats.org/drawingml/2006/main">
            <a:endParaRPr/>
          </a:p>
        </p:txBody>
      </p:sp>
    </p:spTree>
  </p:cSld>
</p:sldLayout>
</file>

<file path=ppt/slideLayouts/slideLayout5.xml><?xml version="1.0" encoding="utf-8"?>
<p:sldLayout xmlns:p="http://schemas.openxmlformats.org/presentationml/2006/main">
  <p:cSld name="Title and One Column">
    <p:spTree>
      <p:nvGrpSpPr>
        <p:cNvPr id="1" name=""/>
        <p:cNvGrpSpPr/>
        <p:nvPr/>
      </p:nvGrpSpPr>
      <p:grpSpPr>
        <a:xfrm xmlns:a="http://schemas.openxmlformats.org/drawingml/2006/main"/>
      </p:grpSpPr>
      <p:sp>
        <p:nvSpPr>
          <p:cNvPr id="3" name="Title">
            <a:extLst xmlns:a="http://schemas.openxmlformats.org/drawingml/2006/main">
              <a:ext uri="{FF2B5EF4-FFF2-40B4-BE49-F238E27FC236}">
                <a16:creationId xmlns:a16="http://schemas.microsoft.com/office/drawing/2014/main" id="{DA3F0720-9661-4BC8-BA55-1F49ED7D6AF8}"/>
              </a:ext>
            </a:extLst>
          </p:cNvPr>
          <p:cNvSpPr>
            <a:spLocks xmlns:a="http://schemas.openxmlformats.org/drawingml/2006/main" noGrp="1"/>
          </p:cNvSpPr>
          <p:nvPr>
            <p:ph type="title" idx="0"/>
          </p:nvPr>
        </p:nvSpPr>
        <p:spPr>
          <a:xfrm xmlns:a="http://schemas.openxmlformats.org/drawingml/2006/main">
            <a:off x="685800" y="533400"/>
            <a:ext cx="10820400" cy="838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3300" b="1">
                <a:solidFill>
                  <a:schemeClr val="tx1"/>
                </a:solidFill>
                <a:latin typeface="+mj-lt"/>
                <a:ea typeface="+mj-lt"/>
                <a:cs typeface="+mj-lt"/>
              </a:defRPr>
            </a:defPPr>
            <a:lvl1pPr marL="0" indent="0">
              <a:lnSpc>
                <a:spcPct val="110000"/>
              </a:lnSpc>
              <a:spcBef>
                <a:spcPts val="0"/>
              </a:spcBef>
              <a:spcAft>
                <a:spcPts val="0"/>
              </a:spcAft>
              <a:buNone/>
              <a:defRPr/>
            </a:lvl1pPr>
            <a:lvl2pPr marL="0" indent="0">
              <a:lnSpc>
                <a:spcPct val="110000"/>
              </a:lnSpc>
              <a:spcBef>
                <a:spcPts val="0"/>
              </a:spcBef>
              <a:spcAft>
                <a:spcPts val="0"/>
              </a:spcAft>
              <a:buNone/>
              <a:defRPr/>
            </a:lvl2pPr>
            <a:lvl3pPr marL="0" indent="0">
              <a:lnSpc>
                <a:spcPct val="110000"/>
              </a:lnSpc>
              <a:spcBef>
                <a:spcPts val="0"/>
              </a:spcBef>
              <a:spcAft>
                <a:spcPts val="0"/>
              </a:spcAft>
              <a:buNone/>
              <a:defRPr/>
            </a:lvl3pPr>
            <a:lvl4pPr marL="0" indent="0">
              <a:lnSpc>
                <a:spcPct val="110000"/>
              </a:lnSpc>
              <a:spcBef>
                <a:spcPts val="0"/>
              </a:spcBef>
              <a:spcAft>
                <a:spcPts val="0"/>
              </a:spcAft>
              <a:buNone/>
              <a:defRPr/>
            </a:lvl4pPr>
            <a:lvl5pPr marL="0" indent="0">
              <a:lnSpc>
                <a:spcPct val="110000"/>
              </a:lnSpc>
              <a:spcBef>
                <a:spcPts val="0"/>
              </a:spcBef>
              <a:spcAft>
                <a:spcPts val="0"/>
              </a:spcAft>
              <a:buNone/>
              <a:defRPr/>
            </a:lvl5pPr>
            <a:lvl6pPr marL="0" indent="0">
              <a:lnSpc>
                <a:spcPct val="110000"/>
              </a:lnSpc>
              <a:spcBef>
                <a:spcPts val="0"/>
              </a:spcBef>
              <a:spcAft>
                <a:spcPts val="0"/>
              </a:spcAft>
              <a:buNone/>
              <a:defRPr/>
            </a:lvl6pPr>
            <a:lvl7pPr marL="0" indent="0">
              <a:lnSpc>
                <a:spcPct val="110000"/>
              </a:lnSpc>
              <a:spcBef>
                <a:spcPts val="0"/>
              </a:spcBef>
              <a:spcAft>
                <a:spcPts val="0"/>
              </a:spcAft>
              <a:buNone/>
              <a:defRPr/>
            </a:lvl7pPr>
            <a:lvl8pPr marL="0" indent="0">
              <a:lnSpc>
                <a:spcPct val="110000"/>
              </a:lnSpc>
              <a:spcBef>
                <a:spcPts val="0"/>
              </a:spcBef>
              <a:spcAft>
                <a:spcPts val="0"/>
              </a:spcAft>
              <a:buNone/>
              <a:defRPr/>
            </a:lvl8pPr>
            <a:lvl9pPr marL="0" indent="0">
              <a:lnSpc>
                <a:spcPct val="110000"/>
              </a:lnSpc>
              <a:spcBef>
                <a:spcPts val="0"/>
              </a:spcBef>
              <a:spcAft>
                <a:spcPts val="0"/>
              </a:spcAft>
              <a:buNone/>
              <a:defRPr/>
            </a:lvl9pPr>
          </a:lstStyle>
          <a:p xmlns:a="http://schemas.openxmlformats.org/drawingml/2006/main">
            <a:endParaRPr/>
          </a:p>
        </p:txBody>
      </p:sp>
      <p:sp>
        <p:nvSpPr>
          <p:cNvPr id="2" name="Left column">
            <a:extLst xmlns:a="http://schemas.openxmlformats.org/drawingml/2006/main">
              <a:ext uri="{FF2B5EF4-FFF2-40B4-BE49-F238E27FC236}">
                <a16:creationId xmlns:a16="http://schemas.microsoft.com/office/drawing/2014/main" id="{82CA2249-D475-4C73-BF2C-30661840F52B}"/>
              </a:ext>
            </a:extLst>
          </p:cNvPr>
          <p:cNvSpPr>
            <a:spLocks xmlns:a="http://schemas.openxmlformats.org/drawingml/2006/main" noGrp="1"/>
          </p:cNvSpPr>
          <p:nvPr>
            <p:ph type="body" idx="1"/>
          </p:nvPr>
        </p:nvSpPr>
        <p:spPr>
          <a:xfrm xmlns:a="http://schemas.openxmlformats.org/drawingml/2006/main">
            <a:off x="685800" y="1905000"/>
            <a:ext cx="5029200" cy="4267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2250" b="0">
                <a:solidFill>
                  <a:schemeClr val="tx1"/>
                </a:solidFill>
                <a:latin typeface="+mn-lt"/>
                <a:ea typeface="+mn-lt"/>
                <a:cs typeface="+mn-lt"/>
              </a:defRPr>
            </a:defPPr>
            <a:lvl1pPr marL="228600" indent="-228600">
              <a:lnSpc>
                <a:spcPct val="110000"/>
              </a:lnSpc>
              <a:spcBef>
                <a:spcPts val="0"/>
              </a:spcBef>
              <a:spcAft>
                <a:spcPts val="1200"/>
              </a:spcAft>
              <a:buChar char="•"/>
              <a:defRPr/>
            </a:lvl1pPr>
            <a:lvl2pPr marL="533400" indent="-228600">
              <a:lnSpc>
                <a:spcPct val="110000"/>
              </a:lnSpc>
              <a:spcBef>
                <a:spcPts val="0"/>
              </a:spcBef>
              <a:spcAft>
                <a:spcPts val="1200"/>
              </a:spcAft>
              <a:buChar char="•"/>
              <a:defRPr/>
            </a:lvl2pPr>
            <a:lvl3pPr marL="838200" indent="-228600">
              <a:lnSpc>
                <a:spcPct val="110000"/>
              </a:lnSpc>
              <a:spcBef>
                <a:spcPts val="0"/>
              </a:spcBef>
              <a:spcAft>
                <a:spcPts val="1200"/>
              </a:spcAft>
              <a:buChar char="•"/>
              <a:defRPr/>
            </a:lvl3pPr>
            <a:lvl4pPr marL="1143000" indent="-228600">
              <a:lnSpc>
                <a:spcPct val="110000"/>
              </a:lnSpc>
              <a:spcBef>
                <a:spcPts val="0"/>
              </a:spcBef>
              <a:spcAft>
                <a:spcPts val="1200"/>
              </a:spcAft>
              <a:buChar char="•"/>
              <a:defRPr/>
            </a:lvl4pPr>
            <a:lvl5pPr marL="1447800" indent="-228600">
              <a:lnSpc>
                <a:spcPct val="110000"/>
              </a:lnSpc>
              <a:spcBef>
                <a:spcPts val="0"/>
              </a:spcBef>
              <a:spcAft>
                <a:spcPts val="1200"/>
              </a:spcAft>
              <a:buChar char="•"/>
              <a:defRPr/>
            </a:lvl5pPr>
            <a:lvl6pPr marL="1752600" indent="-228600">
              <a:lnSpc>
                <a:spcPct val="110000"/>
              </a:lnSpc>
              <a:spcBef>
                <a:spcPts val="0"/>
              </a:spcBef>
              <a:spcAft>
                <a:spcPts val="1200"/>
              </a:spcAft>
              <a:buChar char="•"/>
              <a:defRPr/>
            </a:lvl6pPr>
            <a:lvl7pPr marL="2057400" indent="-228600">
              <a:lnSpc>
                <a:spcPct val="110000"/>
              </a:lnSpc>
              <a:spcBef>
                <a:spcPts val="0"/>
              </a:spcBef>
              <a:spcAft>
                <a:spcPts val="1200"/>
              </a:spcAft>
              <a:buChar char="•"/>
              <a:defRPr/>
            </a:lvl7pPr>
            <a:lvl8pPr marL="2362200" indent="-228600">
              <a:lnSpc>
                <a:spcPct val="110000"/>
              </a:lnSpc>
              <a:spcBef>
                <a:spcPts val="0"/>
              </a:spcBef>
              <a:spcAft>
                <a:spcPts val="1200"/>
              </a:spcAft>
              <a:buChar char="•"/>
              <a:defRPr/>
            </a:lvl8pPr>
            <a:lvl9pPr marL="2667000" indent="-228600">
              <a:lnSpc>
                <a:spcPct val="110000"/>
              </a:lnSpc>
              <a:spcBef>
                <a:spcPts val="0"/>
              </a:spcBef>
              <a:spcAft>
                <a:spcPts val="1200"/>
              </a:spcAft>
              <a:buChar char="•"/>
              <a:defRPr/>
            </a:lvl9pPr>
          </a:lstStyle>
          <a:p xmlns:a="http://schemas.openxmlformats.org/drawingml/2006/main">
            <a:endParaRPr/>
          </a:p>
        </p:txBody>
      </p:sp>
    </p:spTree>
  </p:cSld>
</p:sldLayout>
</file>

<file path=ppt/slideLayouts/slideLayout6.xml><?xml version="1.0" encoding="utf-8"?>
<p:sldLayout xmlns:p="http://schemas.openxmlformats.org/presentationml/2006/main" type="blank">
  <p:cSld name="Blank">
    <p:spTree>
      <p:nvGrpSpPr>
        <p:cNvPr id="1" name=""/>
        <p:cNvGrpSpPr/>
        <p:nvPr/>
      </p:nvGrpSpPr>
      <p:grpSpPr>
        <a:xfrm xmlns:a="http://schemas.openxmlformats.org/drawingml/2006/main"/>
      </p:grpSpPr>
    </p:spTree>
  </p:cSld>
</p:sldLayout>
</file>

<file path=ppt/slideMasters/_rels/slideMaster1.xml.rels>&#65279;<?xml version="1.0" encoding="utf-8"?><Relationships xmlns="http://schemas.openxmlformats.org/package/2006/relationships"><Relationship Type="http://schemas.openxmlformats.org/officeDocument/2006/relationships/theme" Target="/ppt/slideMasters/theme/theme2.xml" Id="R52abe325650c4468" /><Relationship Type="http://schemas.openxmlformats.org/officeDocument/2006/relationships/slideLayout" Target="/ppt/slideLayouts/slideLayout1.xml" Id="R59672fbcdbe44be2" /><Relationship Type="http://schemas.openxmlformats.org/officeDocument/2006/relationships/slideLayout" Target="/ppt/slideLayouts/slideLayout2.xml" Id="R6a45a46d373a43b1" /><Relationship Type="http://schemas.openxmlformats.org/officeDocument/2006/relationships/slideLayout" Target="/ppt/slideLayouts/slideLayout3.xml" Id="R4ffff68968914d97" /><Relationship Type="http://schemas.openxmlformats.org/officeDocument/2006/relationships/slideLayout" Target="/ppt/slideLayouts/slideLayout4.xml" Id="R82282534fb044104" /><Relationship Type="http://schemas.openxmlformats.org/officeDocument/2006/relationships/slideLayout" Target="/ppt/slideLayouts/slideLayout5.xml" Id="Rd24e86953b434af3" /><Relationship Type="http://schemas.openxmlformats.org/officeDocument/2006/relationships/slideLayout" Target="/ppt/slideLayouts/slideLayout6.xml" Id="R5761384da0c54b54" /></Relationships>
</file>

<file path=ppt/slideMasters/slideMaster1.xml><?xml version="1.0" encoding="utf-8"?>
<p:sldMaster xmlns:p="http://schemas.openxmlformats.org/presentationml/2006/main">
  <p:cSld name="Master">
    <p:bg>
      <p:bgRef idx="1001">
        <a:schemeClr xmlns:a="http://schemas.openxmlformats.org/drawingml/2006/main" val="bg1"/>
      </p:bgRef>
    </p:bg>
    <p:spTree>
      <p:nvGrpSpPr>
        <p:cNvPr id="1" name=""/>
        <p:cNvGrpSpPr/>
        <p:nvPr/>
      </p:nvGrpSpPr>
      <p:grpSpPr>
        <a:xfrm xmlns:a="http://schemas.openxmlformats.org/drawingml/2006/main"/>
      </p:grpSpPr>
    </p:spTree>
  </p:cSld>
  <p:clrMap bg1="lt1" tx1="dk1" bg2="lt2" tx2="dk2" accent1="accent1" accent2="accent2" accent3="accent3" accent4="accent4" accent5="accent5" accent6="accent6" hlink="hlink" folHlink="folHlink"/>
  <p:sldLayoutIdLst>
    <p:sldLayoutId xmlns:r="http://schemas.openxmlformats.org/officeDocument/2006/relationships" id="2147483649" r:id="R59672fbcdbe44be2"/>
    <p:sldLayoutId xmlns:r="http://schemas.openxmlformats.org/officeDocument/2006/relationships" id="2147483650" r:id="R6a45a46d373a43b1"/>
    <p:sldLayoutId xmlns:r="http://schemas.openxmlformats.org/officeDocument/2006/relationships" id="2147483651" r:id="R4ffff68968914d97"/>
    <p:sldLayoutId xmlns:r="http://schemas.openxmlformats.org/officeDocument/2006/relationships" id="2147483652" r:id="R82282534fb044104"/>
    <p:sldLayoutId xmlns:r="http://schemas.openxmlformats.org/officeDocument/2006/relationships" id="2147483653" r:id="Rd24e86953b434af3"/>
    <p:sldLayoutId xmlns:r="http://schemas.openxmlformats.org/officeDocument/2006/relationships" id="2147483654" r:id="R5761384da0c54b54"/>
  </p:sldLayoutIdLst>
  <p:txStyles>
    <p:titleStyle>
      <a:lvl1pPr xmlns:a="http://schemas.openxmlformats.org/drawingml/2006/main" algn="l">
        <a:lnSpc>
          <a:spcPct val="90000"/>
        </a:lnSpc>
        <a:spcBef>
          <a:spcPts val="0"/>
        </a:spcBef>
        <a:buNone/>
        <a:defRPr sz="4400">
          <a:solidFill>
            <a:schemeClr val="tx1"/>
          </a:solidFill>
          <a:latin typeface="+mj-lt"/>
          <a:ea typeface="+mj-lt"/>
          <a:cs typeface="+mj-lt"/>
        </a:defRPr>
      </a:lvl1pPr>
    </p:titleStyle>
    <p:bodyStyle>
      <a:lvl1pPr xmlns:a="http://schemas.openxmlformats.org/drawingml/2006/main" marL="228600" indent="-228600" algn="l">
        <a:lnSpc>
          <a:spcPct val="90000"/>
        </a:lnSpc>
        <a:spcBef>
          <a:spcPts val="1000"/>
        </a:spcBef>
        <a:buChar char="•"/>
        <a:defRPr sz="2800">
          <a:solidFill>
            <a:schemeClr val="tx1"/>
          </a:solidFill>
          <a:latin typeface="+mn-lt"/>
          <a:ea typeface="+mn-lt"/>
          <a:cs typeface="+mn-lt"/>
        </a:defRPr>
      </a:lvl1pPr>
      <a:lvl2pPr xmlns:a="http://schemas.openxmlformats.org/drawingml/2006/main" marL="685800" indent="-228600" algn="l">
        <a:lnSpc>
          <a:spcPct val="90000"/>
        </a:lnSpc>
        <a:spcBef>
          <a:spcPts val="500"/>
        </a:spcBef>
        <a:buChar char="•"/>
        <a:defRPr sz="2400">
          <a:solidFill>
            <a:schemeClr val="tx1"/>
          </a:solidFill>
          <a:latin typeface="+mn-lt"/>
          <a:ea typeface="+mn-lt"/>
          <a:cs typeface="+mn-lt"/>
        </a:defRPr>
      </a:lvl2pPr>
      <a:lvl3pPr xmlns:a="http://schemas.openxmlformats.org/drawingml/2006/main" marL="1143000" indent="-228600" algn="l">
        <a:lnSpc>
          <a:spcPct val="90000"/>
        </a:lnSpc>
        <a:spcBef>
          <a:spcPts val="500"/>
        </a:spcBef>
        <a:buChar char="•"/>
        <a:defRPr sz="2000">
          <a:solidFill>
            <a:schemeClr val="tx1"/>
          </a:solidFill>
          <a:latin typeface="+mn-lt"/>
          <a:ea typeface="+mn-lt"/>
          <a:cs typeface="+mn-lt"/>
        </a:defRPr>
      </a:lvl3pPr>
      <a:lvl4pPr xmlns:a="http://schemas.openxmlformats.org/drawingml/2006/main" marL="1600200" indent="-228600" algn="l">
        <a:lnSpc>
          <a:spcPct val="90000"/>
        </a:lnSpc>
        <a:spcBef>
          <a:spcPts val="500"/>
        </a:spcBef>
        <a:buChar char="•"/>
        <a:defRPr sz="1800">
          <a:solidFill>
            <a:schemeClr val="tx1"/>
          </a:solidFill>
          <a:latin typeface="+mn-lt"/>
          <a:ea typeface="+mn-lt"/>
          <a:cs typeface="+mn-lt"/>
        </a:defRPr>
      </a:lvl4pPr>
      <a:lvl5pPr xmlns:a="http://schemas.openxmlformats.org/drawingml/2006/main" marL="2057400" indent="-228600" algn="l">
        <a:lnSpc>
          <a:spcPct val="90000"/>
        </a:lnSpc>
        <a:spcBef>
          <a:spcPts val="500"/>
        </a:spcBef>
        <a:buChar char="•"/>
        <a:defRPr sz="1800">
          <a:solidFill>
            <a:schemeClr val="tx1"/>
          </a:solidFill>
          <a:latin typeface="+mn-lt"/>
          <a:ea typeface="+mn-lt"/>
          <a:cs typeface="+mn-lt"/>
        </a:defRPr>
      </a:lvl5pPr>
      <a:lvl6pPr xmlns:a="http://schemas.openxmlformats.org/drawingml/2006/main" marL="2514600" indent="-228600" algn="l">
        <a:lnSpc>
          <a:spcPct val="90000"/>
        </a:lnSpc>
        <a:spcBef>
          <a:spcPts val="500"/>
        </a:spcBef>
        <a:buChar char="•"/>
        <a:defRPr sz="1800">
          <a:solidFill>
            <a:schemeClr val="tx1"/>
          </a:solidFill>
          <a:latin typeface="+mn-lt"/>
          <a:ea typeface="+mn-lt"/>
          <a:cs typeface="+mn-lt"/>
        </a:defRPr>
      </a:lvl6pPr>
      <a:lvl7pPr xmlns:a="http://schemas.openxmlformats.org/drawingml/2006/main" marL="2971800" indent="-228600" algn="l">
        <a:lnSpc>
          <a:spcPct val="90000"/>
        </a:lnSpc>
        <a:spcBef>
          <a:spcPts val="500"/>
        </a:spcBef>
        <a:buChar char="•"/>
        <a:defRPr sz="1800">
          <a:solidFill>
            <a:schemeClr val="tx1"/>
          </a:solidFill>
          <a:latin typeface="+mn-lt"/>
          <a:ea typeface="+mn-lt"/>
          <a:cs typeface="+mn-lt"/>
        </a:defRPr>
      </a:lvl7pPr>
      <a:lvl8pPr xmlns:a="http://schemas.openxmlformats.org/drawingml/2006/main" marL="3429000" indent="-228600" algn="l">
        <a:lnSpc>
          <a:spcPct val="90000"/>
        </a:lnSpc>
        <a:spcBef>
          <a:spcPts val="500"/>
        </a:spcBef>
        <a:buChar char="•"/>
        <a:defRPr sz="1800">
          <a:solidFill>
            <a:schemeClr val="tx1"/>
          </a:solidFill>
          <a:latin typeface="+mn-lt"/>
          <a:ea typeface="+mn-lt"/>
          <a:cs typeface="+mn-lt"/>
        </a:defRPr>
      </a:lvl8pPr>
      <a:lvl9pPr xmlns:a="http://schemas.openxmlformats.org/drawingml/2006/main" marL="3886200" indent="-228600" algn="l">
        <a:lnSpc>
          <a:spcPct val="90000"/>
        </a:lnSpc>
        <a:spcBef>
          <a:spcPts val="500"/>
        </a:spcBef>
        <a:buChar char="•"/>
        <a:defRPr sz="1800">
          <a:solidFill>
            <a:schemeClr val="tx1"/>
          </a:solidFill>
          <a:latin typeface="+mn-lt"/>
          <a:ea typeface="+mn-lt"/>
          <a:cs typeface="+mn-lt"/>
        </a:defRPr>
      </a:lvl9pPr>
    </p:bodyStyle>
    <p:otherStyle>
      <a:lvl1pPr xmlns:a="http://schemas.openxmlformats.org/drawingml/2006/main" marL="0" algn="l">
        <a:buNone/>
        <a:defRPr sz="1800">
          <a:solidFill>
            <a:schemeClr val="tx1"/>
          </a:solidFill>
          <a:latin typeface="+mn-lt"/>
          <a:ea typeface="+mn-lt"/>
          <a:cs typeface="+mn-lt"/>
        </a:defRPr>
      </a:lvl1pPr>
      <a:lvl2pPr xmlns:a="http://schemas.openxmlformats.org/drawingml/2006/main" marL="457200" algn="l">
        <a:buNone/>
        <a:defRPr sz="1800">
          <a:solidFill>
            <a:schemeClr val="tx1"/>
          </a:solidFill>
          <a:latin typeface="+mn-lt"/>
          <a:ea typeface="+mn-lt"/>
          <a:cs typeface="+mn-lt"/>
        </a:defRPr>
      </a:lvl2pPr>
      <a:lvl3pPr xmlns:a="http://schemas.openxmlformats.org/drawingml/2006/main" marL="914400" algn="l">
        <a:buNone/>
        <a:defRPr sz="1800">
          <a:solidFill>
            <a:schemeClr val="tx1"/>
          </a:solidFill>
          <a:latin typeface="+mn-lt"/>
          <a:ea typeface="+mn-lt"/>
          <a:cs typeface="+mn-lt"/>
        </a:defRPr>
      </a:lvl3pPr>
      <a:lvl4pPr xmlns:a="http://schemas.openxmlformats.org/drawingml/2006/main" marL="1371600" algn="l">
        <a:buNone/>
        <a:defRPr sz="1800">
          <a:solidFill>
            <a:schemeClr val="tx1"/>
          </a:solidFill>
          <a:latin typeface="+mn-lt"/>
          <a:ea typeface="+mn-lt"/>
          <a:cs typeface="+mn-lt"/>
        </a:defRPr>
      </a:lvl4pPr>
      <a:lvl5pPr xmlns:a="http://schemas.openxmlformats.org/drawingml/2006/main" marL="1828800" algn="l">
        <a:buNone/>
        <a:defRPr sz="1800">
          <a:solidFill>
            <a:schemeClr val="tx1"/>
          </a:solidFill>
          <a:latin typeface="+mn-lt"/>
          <a:ea typeface="+mn-lt"/>
          <a:cs typeface="+mn-lt"/>
        </a:defRPr>
      </a:lvl5pPr>
      <a:lvl6pPr xmlns:a="http://schemas.openxmlformats.org/drawingml/2006/main" marL="2286000" algn="l">
        <a:buNone/>
        <a:defRPr sz="1800">
          <a:solidFill>
            <a:schemeClr val="tx1"/>
          </a:solidFill>
          <a:latin typeface="+mn-lt"/>
          <a:ea typeface="+mn-lt"/>
          <a:cs typeface="+mn-lt"/>
        </a:defRPr>
      </a:lvl6pPr>
      <a:lvl7pPr xmlns:a="http://schemas.openxmlformats.org/drawingml/2006/main" marL="2743200" algn="l">
        <a:buNone/>
        <a:defRPr sz="1800">
          <a:solidFill>
            <a:schemeClr val="tx1"/>
          </a:solidFill>
          <a:latin typeface="+mn-lt"/>
          <a:ea typeface="+mn-lt"/>
          <a:cs typeface="+mn-lt"/>
        </a:defRPr>
      </a:lvl7pPr>
      <a:lvl8pPr xmlns:a="http://schemas.openxmlformats.org/drawingml/2006/main" marL="3200400" algn="l">
        <a:buNone/>
        <a:defRPr sz="1800">
          <a:solidFill>
            <a:schemeClr val="tx1"/>
          </a:solidFill>
          <a:latin typeface="+mn-lt"/>
          <a:ea typeface="+mn-lt"/>
          <a:cs typeface="+mn-lt"/>
        </a:defRPr>
      </a:lvl8pPr>
      <a:lvl9pPr xmlns:a="http://schemas.openxmlformats.org/drawingml/2006/main" marL="3657600" algn="l">
        <a:buNone/>
        <a:defRPr sz="1800">
          <a:solidFill>
            <a:schemeClr val="tx1"/>
          </a:solidFill>
          <a:latin typeface="+mn-lt"/>
          <a:ea typeface="+mn-lt"/>
          <a:cs typeface="+mn-lt"/>
        </a:defRPr>
      </a:lvl9pPr>
    </p:otherStyle>
  </p:txStyles>
</p:sldMaster>
</file>

<file path=ppt/slideMasters/theme/theme2.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
      <a:majorFont>
        <a:latin typeface="Aptos"/>
        <a:ea typeface=""/>
        <a:cs typeface=""/>
      </a:majorFont>
      <a:minorFont>
        <a:latin typeface="Aptos"/>
        <a:ea typeface=""/>
        <a:cs typeface=""/>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slides/_rels/slide1.xml.rels>&#65279;<?xml version="1.0" encoding="utf-8"?><Relationships xmlns="http://schemas.openxmlformats.org/package/2006/relationships"><Relationship Type="http://schemas.openxmlformats.org/officeDocument/2006/relationships/slideLayout" Target="/ppt/slideLayouts/slideLayout6.xml" Id="R1249187c881342ee" /><Relationship Type="http://schemas.openxmlformats.org/officeDocument/2006/relationships/image" Target="/ppt/media/image.png" Id="R23e462b812df4f6b" /><Relationship Type="http://schemas.openxmlformats.org/officeDocument/2006/relationships/notesSlide" Target="/ppt/notesSlides/notesSlide1.xml" Id="Rddf98cd206da4e42" /></Relationships>
</file>

<file path=ppt/slides/_rels/slide2.xml.rels>&#65279;<?xml version="1.0" encoding="utf-8"?><Relationships xmlns="http://schemas.openxmlformats.org/package/2006/relationships"><Relationship Type="http://schemas.openxmlformats.org/officeDocument/2006/relationships/slideLayout" Target="/ppt/slideLayouts/slideLayout6.xml" Id="R8d030fad2b7d4f54" /><Relationship Type="http://schemas.openxmlformats.org/officeDocument/2006/relationships/notesSlide" Target="/ppt/notesSlides/notesSlide2.xml" Id="R5af74abbb0244227" /></Relationships>
</file>

<file path=ppt/slides/_rels/slide3.xml.rels>&#65279;<?xml version="1.0" encoding="utf-8"?><Relationships xmlns="http://schemas.openxmlformats.org/package/2006/relationships"><Relationship Type="http://schemas.openxmlformats.org/officeDocument/2006/relationships/slideLayout" Target="/ppt/slideLayouts/slideLayout6.xml" Id="R0d52673d969c4a0e" /><Relationship Type="http://schemas.openxmlformats.org/officeDocument/2006/relationships/image" Target="/ppt/media/image2.png" Id="R6da8747f65a94057" /><Relationship Type="http://schemas.openxmlformats.org/officeDocument/2006/relationships/image" Target="/ppt/media/image.jpeg" Id="R58c8070cf26b4437" /><Relationship Type="http://schemas.openxmlformats.org/officeDocument/2006/relationships/image" Target="/ppt/media/image2.jpeg" Id="R3d9bf1e2ae5245f2" /><Relationship Type="http://schemas.openxmlformats.org/officeDocument/2006/relationships/image" Target="/ppt/media/image3.jpeg" Id="R5f6e5703db084484" /><Relationship Type="http://schemas.openxmlformats.org/officeDocument/2006/relationships/image" Target="/ppt/media/image3.png" Id="R548e79857bfa4e45" /><Relationship Type="http://schemas.openxmlformats.org/officeDocument/2006/relationships/notesSlide" Target="/ppt/notesSlides/notesSlide3.xml" Id="R7e0153c135c44727" /></Relationships>
</file>

<file path=ppt/slides/_rels/slide4.xml.rels>&#65279;<?xml version="1.0" encoding="utf-8"?><Relationships xmlns="http://schemas.openxmlformats.org/package/2006/relationships"><Relationship Type="http://schemas.openxmlformats.org/officeDocument/2006/relationships/slideLayout" Target="/ppt/slideLayouts/slideLayout6.xml" Id="R5febe9d6d7854bff" /><Relationship Type="http://schemas.openxmlformats.org/officeDocument/2006/relationships/notesSlide" Target="/ppt/notesSlides/notesSlide4.xml" Id="Rfb01f0a5532543c7" /></Relationships>
</file>

<file path=ppt/slides/_rels/slide5.xml.rels>&#65279;<?xml version="1.0" encoding="utf-8"?><Relationships xmlns="http://schemas.openxmlformats.org/package/2006/relationships"><Relationship Type="http://schemas.openxmlformats.org/officeDocument/2006/relationships/slideLayout" Target="/ppt/slideLayouts/slideLayout6.xml" Id="R3d89557b0a6747cd" /><Relationship Type="http://schemas.openxmlformats.org/officeDocument/2006/relationships/notesSlide" Target="/ppt/notesSlides/notesSlide5.xml" Id="R01e26115f100476f" /></Relationships>
</file>

<file path=ppt/slides/_rels/slide6.xml.rels>&#65279;<?xml version="1.0" encoding="utf-8"?><Relationships xmlns="http://schemas.openxmlformats.org/package/2006/relationships"><Relationship Type="http://schemas.openxmlformats.org/officeDocument/2006/relationships/slideLayout" Target="/ppt/slideLayouts/slideLayout6.xml" Id="R7e9e86afd77c4e61" /><Relationship Type="http://schemas.openxmlformats.org/officeDocument/2006/relationships/notesSlide" Target="/ppt/notesSlides/notesSlide6.xml" Id="Rdc2ad21c97a74f4f" /></Relationships>
</file>

<file path=ppt/slides/_rels/slide7.xml.rels>&#65279;<?xml version="1.0" encoding="utf-8"?><Relationships xmlns="http://schemas.openxmlformats.org/package/2006/relationships"><Relationship Type="http://schemas.openxmlformats.org/officeDocument/2006/relationships/slideLayout" Target="/ppt/slideLayouts/slideLayout6.xml" Id="Re2c0c649c10b47c6" /><Relationship Type="http://schemas.openxmlformats.org/officeDocument/2006/relationships/image" Target="/ppt/media/image4.jpeg" Id="R51c4ab9939614348" /><Relationship Type="http://schemas.openxmlformats.org/officeDocument/2006/relationships/image" Target="/ppt/media/image5.jpeg" Id="R1e8c81d6d295439e" /><Relationship Type="http://schemas.openxmlformats.org/officeDocument/2006/relationships/hyperlink" Target="https://www.linkedin.com/in/pulkitwalia/" TargetMode="External" Id="Rcedbbd675ea445db" /><Relationship Type="http://schemas.openxmlformats.org/officeDocument/2006/relationships/hyperlink" Target="https://www.linkedin.com/in/rohit-jain-343437187/" TargetMode="External" Id="R4752aa00aaba4fd2" /><Relationship Type="http://schemas.openxmlformats.org/officeDocument/2006/relationships/image" Target="/ppt/media/image6.jpeg" Id="Rd6946a9626764fb4" /><Relationship Type="http://schemas.openxmlformats.org/officeDocument/2006/relationships/image" Target="/ppt/media/image4.png" Id="R35d3f1120ae74d44" /><Relationship Type="http://schemas.openxmlformats.org/officeDocument/2006/relationships/image" Target="/ppt/media/image7.jpeg" Id="R6d768e4de20b4abf" /><Relationship Type="http://schemas.openxmlformats.org/officeDocument/2006/relationships/notesSlide" Target="/ppt/notesSlides/notesSlide7.xml" Id="R284b56d29bd24735" /></Relationships>
</file>

<file path=ppt/slides/slide1.xml><?xml version="1.0" encoding="utf-8"?>
<p:sld xmlns:p="http://schemas.openxmlformats.org/presentationml/2006/main">
  <p:cSld>
    <p:spTree>
      <p:nvGrpSpPr>
        <p:cNvPr id="1" name=""/>
        <p:cNvGrpSpPr/>
        <p:nvPr/>
      </p:nvGrpSpPr>
      <p:grpSpPr>
        <a:xfrm xmlns:a="http://schemas.openxmlformats.org/drawingml/2006/main"/>
      </p:grpSpPr>
      <p:pic>
        <p:nvPicPr>
          <p:cNvPr id="5" name="Picture 4">
            <a:extLst xmlns:a="http://schemas.openxmlformats.org/drawingml/2006/main">
              <a:ext uri="{FF2B5EF4-FFF2-40B4-BE49-F238E27FC236}">
                <a16:creationId xmlns:a16="http://schemas.microsoft.com/office/drawing/2014/main" id="{12B3B1D2-9D8F-4D78-A948-B0D3A0053475}"/>
              </a:ext>
            </a:extLst>
          </p:cNvPr>
          <p:cNvPicPr>
            <a:picLocks xmlns:a="http://schemas.openxmlformats.org/drawingml/2006/main" noChangeAspect="1"/>
          </p:cNvPicPr>
          <p:nvPr/>
        </p:nvPicPr>
        <p:blipFill>
          <a:blip xmlns:r="http://schemas.openxmlformats.org/officeDocument/2006/relationships" xmlns:a="http://schemas.openxmlformats.org/drawingml/2006/main" r:embed="R23e462b812df4f6b"/>
          <a:srcRect xmlns:a="http://schemas.openxmlformats.org/drawingml/2006/main" l="0" t="27" r="0" b="27"/>
          <a:stretch xmlns:a="http://schemas.openxmlformats.org/drawingml/2006/main">
            <a:fillRect l="0" t="0" r="0" b="0"/>
          </a:stretch>
        </p:blipFill>
        <p:spPr>
          <a:xfrm xmlns:a="http://schemas.openxmlformats.org/drawingml/2006/main">
            <a:off x="0" y="0"/>
            <a:ext cx="12192000" cy="6858000"/>
          </a:xfrm>
          <a:prstGeom xmlns:a="http://schemas.openxmlformats.org/drawingml/2006/main" prst="rect">
            <a:avLst/>
          </a:prstGeom>
        </p:spPr>
      </p:pic>
      <p:sp>
        <p:nvSpPr>
          <p:cNvPr id="2" name="v28-text-0">
            <a:extLst xmlns:a="http://schemas.openxmlformats.org/drawingml/2006/main">
              <a:ext uri="{FF2B5EF4-FFF2-40B4-BE49-F238E27FC236}">
                <a16:creationId xmlns:a16="http://schemas.microsoft.com/office/drawing/2014/main" id="{BDDCEA24-C42F-433F-8032-ECDBF9DD5137}"/>
              </a:ext>
            </a:extLst>
          </p:cNvPr>
          <p:cNvSpPr>
            <a:spLocks xmlns:a="http://schemas.openxmlformats.org/drawingml/2006/main" noGrp="1"/>
          </p:cNvSpPr>
          <p:nvPr/>
        </p:nvSpPr>
        <p:spPr>
          <a:xfrm xmlns:a="http://schemas.openxmlformats.org/drawingml/2006/main">
            <a:off x="609600" y="952500"/>
            <a:ext cx="5191125" cy="952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6000" b="1">
                <a:solidFill>
                  <a:srgbClr val="F5F2E9"/>
                </a:solidFill>
                <a:latin typeface="Helvetica Neue"/>
                <a:ea typeface="Helvetica Neue"/>
                <a:cs typeface="Helvetica Neue"/>
              </a:defRPr>
            </a:defPPr>
          </a:lstStyle>
          <a:p xmlns:a="http://schemas.openxmlformats.org/drawingml/2006/main">
            <a:pPr algn="l">
              <a:buNone/>
              <a:defRPr sz="6000" b="1">
                <a:solidFill>
                  <a:srgbClr val="F5F2E9"/>
                </a:solidFill>
                <a:latin typeface="Helvetica Neue"/>
                <a:ea typeface="Helvetica Neue"/>
                <a:cs typeface="Helvetica Neue"/>
              </a:defRPr>
            </a:pPr>
            <a:r>
              <a:rPr sz="6000" b="1">
                <a:solidFill>
                  <a:srgbClr val="F5F2E9"/>
                </a:solidFill>
                <a:latin typeface="Helvetica Neue"/>
                <a:ea typeface="Helvetica Neue"/>
                <a:cs typeface="Helvetica Neue"/>
              </a:rPr>
              <a:t>GoLocal</a:t>
            </a:r>
          </a:p>
        </p:txBody>
      </p:sp>
      <p:sp>
        <p:nvSpPr>
          <p:cNvPr id="3" name="v28-text-1">
            <a:extLst xmlns:a="http://schemas.openxmlformats.org/drawingml/2006/main">
              <a:ext uri="{FF2B5EF4-FFF2-40B4-BE49-F238E27FC236}">
                <a16:creationId xmlns:a16="http://schemas.microsoft.com/office/drawing/2014/main" id="{7A9DF34D-74A2-406C-9DE6-3F86B5CBDDD0}"/>
              </a:ext>
            </a:extLst>
          </p:cNvPr>
          <p:cNvSpPr>
            <a:spLocks xmlns:a="http://schemas.openxmlformats.org/drawingml/2006/main" noGrp="1"/>
          </p:cNvSpPr>
          <p:nvPr/>
        </p:nvSpPr>
        <p:spPr>
          <a:xfrm xmlns:a="http://schemas.openxmlformats.org/drawingml/2006/main">
            <a:off x="609600" y="2143125"/>
            <a:ext cx="4619625" cy="1809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3525" b="1">
                <a:solidFill>
                  <a:srgbClr val="F5F2E9"/>
                </a:solidFill>
                <a:latin typeface="Helvetica Neue"/>
                <a:ea typeface="Helvetica Neue"/>
                <a:cs typeface="Helvetica Neue"/>
              </a:defRPr>
            </a:defPPr>
          </a:lstStyle>
          <a:p xmlns:a="http://schemas.openxmlformats.org/drawingml/2006/main">
            <a:pPr algn="l">
              <a:buNone/>
              <a:defRPr sz="3525" b="1">
                <a:solidFill>
                  <a:srgbClr val="F5F2E9"/>
                </a:solidFill>
                <a:latin typeface="Helvetica Neue"/>
                <a:ea typeface="Helvetica Neue"/>
                <a:cs typeface="Helvetica Neue"/>
              </a:defRPr>
            </a:pPr>
            <a:r>
              <a:rPr sz="3525" b="1">
                <a:solidFill>
                  <a:srgbClr val="F5F2E9"/>
                </a:solidFill>
                <a:latin typeface="Helvetica Neue"/>
                <a:ea typeface="Helvetica Neue"/>
                <a:cs typeface="Helvetica Neue"/>
              </a:rPr>
              <a:t>Local services,</a:t>
            </a:r>
          </a:p>
          <a:p xmlns:a="http://schemas.openxmlformats.org/drawingml/2006/main">
            <a:pPr algn="l">
              <a:buNone/>
              <a:defRPr sz="3525" b="1">
                <a:solidFill>
                  <a:srgbClr val="F5F2E9"/>
                </a:solidFill>
                <a:latin typeface="Helvetica Neue"/>
                <a:ea typeface="Helvetica Neue"/>
                <a:cs typeface="Helvetica Neue"/>
              </a:defRPr>
            </a:pPr>
            <a:r>
              <a:rPr sz="3525" b="1">
                <a:solidFill>
                  <a:srgbClr val="F5F2E9"/>
                </a:solidFill>
                <a:latin typeface="Helvetica Neue"/>
                <a:ea typeface="Helvetica Neue"/>
                <a:cs typeface="Helvetica Neue"/>
              </a:rPr>
              <a:t>booked by your</a:t>
            </a:r>
          </a:p>
          <a:p xmlns:a="http://schemas.openxmlformats.org/drawingml/2006/main">
            <a:pPr algn="l">
              <a:buNone/>
              <a:defRPr sz="3525" b="1">
                <a:solidFill>
                  <a:srgbClr val="F5F2E9"/>
                </a:solidFill>
                <a:latin typeface="Helvetica Neue"/>
                <a:ea typeface="Helvetica Neue"/>
                <a:cs typeface="Helvetica Neue"/>
              </a:defRPr>
            </a:pPr>
            <a:r>
              <a:rPr sz="3525" b="1">
                <a:solidFill>
                  <a:srgbClr val="F5F2E9"/>
                </a:solidFill>
                <a:latin typeface="Helvetica Neue"/>
                <a:ea typeface="Helvetica Neue"/>
                <a:cs typeface="Helvetica Neue"/>
              </a:rPr>
              <a:t>personal agent.</a:t>
            </a:r>
          </a:p>
        </p:txBody>
      </p:sp>
      <p:sp>
        <p:nvSpPr>
          <p:cNvPr id="4" name="v28-text-2">
            <a:extLst xmlns:a="http://schemas.openxmlformats.org/drawingml/2006/main">
              <a:ext uri="{FF2B5EF4-FFF2-40B4-BE49-F238E27FC236}">
                <a16:creationId xmlns:a16="http://schemas.microsoft.com/office/drawing/2014/main" id="{A8597BA7-8903-4DF7-A402-3367D52645B7}"/>
              </a:ext>
            </a:extLst>
          </p:cNvPr>
          <p:cNvSpPr>
            <a:spLocks xmlns:a="http://schemas.openxmlformats.org/drawingml/2006/main" noGrp="1"/>
          </p:cNvSpPr>
          <p:nvPr/>
        </p:nvSpPr>
        <p:spPr>
          <a:xfrm xmlns:a="http://schemas.openxmlformats.org/drawingml/2006/main">
            <a:off x="609600" y="4257675"/>
            <a:ext cx="4333875" cy="8096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1875" b="0">
                <a:solidFill>
                  <a:srgbClr val="DDE4D6"/>
                </a:solidFill>
                <a:latin typeface="Helvetica Neue"/>
                <a:ea typeface="Helvetica Neue"/>
                <a:cs typeface="Helvetica Neue"/>
              </a:defRPr>
            </a:defPPr>
          </a:lstStyle>
          <a:p xmlns:a="http://schemas.openxmlformats.org/drawingml/2006/main">
            <a:pPr algn="l">
              <a:buNone/>
              <a:defRPr sz="1875" b="0">
                <a:solidFill>
                  <a:srgbClr val="DDE4D6"/>
                </a:solidFill>
                <a:latin typeface="Helvetica Neue"/>
                <a:ea typeface="Helvetica Neue"/>
                <a:cs typeface="Helvetica Neue"/>
              </a:defRPr>
            </a:pPr>
            <a:r>
              <a:rPr sz="1875" b="0">
                <a:solidFill>
                  <a:srgbClr val="DDE4D6"/>
                </a:solidFill>
                <a:latin typeface="Helvetica Neue"/>
                <a:ea typeface="Helvetica Neue"/>
                <a:cs typeface="Helvetica Neue"/>
              </a:rPr>
              <a:t>One booking layer for agents</a:t>
            </a:r>
          </a:p>
          <a:p xmlns:a="http://schemas.openxmlformats.org/drawingml/2006/main">
            <a:pPr algn="l">
              <a:buNone/>
              <a:defRPr sz="1875" b="0">
                <a:solidFill>
                  <a:srgbClr val="DDE4D6"/>
                </a:solidFill>
                <a:latin typeface="Helvetica Neue"/>
                <a:ea typeface="Helvetica Neue"/>
                <a:cs typeface="Helvetica Neue"/>
              </a:defRPr>
            </a:pPr>
            <a:r>
              <a:rPr sz="1875" b="0">
                <a:solidFill>
                  <a:srgbClr val="DDE4D6"/>
                </a:solidFill>
                <a:latin typeface="Helvetica Neue"/>
                <a:ea typeface="Helvetica Neue"/>
                <a:cs typeface="Helvetica Neue"/>
              </a:rPr>
              <a:t>and local businesses.</a:t>
            </a:r>
          </a:p>
        </p:txBody>
      </p:sp>
    </p:spTree>
    <p:extLst>
      <p:ext uri="{BB962C8B-B14F-4D97-AF65-F5344CB8AC3E}">
        <p14:creationId xmlns:p14="http://schemas.microsoft.com/office/powerpoint/2010/main" val="3325990305"/>
      </p:ext>
    </p:extLst>
  </p:cSld>
</p:sld>
</file>

<file path=ppt/slides/slide2.xml><?xml version="1.0" encoding="utf-8"?>
<p:sld xmlns:p="http://schemas.openxmlformats.org/presentationml/2006/main">
  <p:cSld>
    <p:bg>
      <p:bgPr>
        <a:solidFill xmlns:a="http://schemas.openxmlformats.org/drawingml/2006/main">
          <a:srgbClr val="F5F2E9"/>
        </a:solidFill>
      </p:bgPr>
    </p:bg>
    <p:spTree>
      <p:nvGrpSpPr>
        <p:cNvPr id="1" name=""/>
        <p:cNvGrpSpPr/>
        <p:nvPr/>
      </p:nvGrpSpPr>
      <p:grpSpPr>
        <a:xfrm xmlns:a="http://schemas.openxmlformats.org/drawingml/2006/main"/>
      </p:grpSpPr>
      <p:sp>
        <p:nvSpPr>
          <p:cNvPr id="8" name="v30-text-0">
            <a:extLst xmlns:a="http://schemas.openxmlformats.org/drawingml/2006/main">
              <a:ext uri="{FF2B5EF4-FFF2-40B4-BE49-F238E27FC236}">
                <a16:creationId xmlns:a16="http://schemas.microsoft.com/office/drawing/2014/main" id="{ADA5C052-3DC5-4F4A-9C13-460C18C6AC4D}"/>
              </a:ext>
            </a:extLst>
          </p:cNvPr>
          <p:cNvSpPr>
            <a:spLocks xmlns:a="http://schemas.openxmlformats.org/drawingml/2006/main" noGrp="1"/>
          </p:cNvSpPr>
          <p:nvPr/>
        </p:nvSpPr>
        <p:spPr>
          <a:xfrm xmlns:a="http://schemas.openxmlformats.org/drawingml/2006/main">
            <a:off x="609600" y="285750"/>
            <a:ext cx="9525000" cy="247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1275" b="1">
                <a:solidFill>
                  <a:srgbClr val="53716A"/>
                </a:solidFill>
                <a:latin typeface="Helvetica Neue"/>
                <a:ea typeface="Helvetica Neue"/>
                <a:cs typeface="Helvetica Neue"/>
              </a:defRPr>
            </a:defPPr>
          </a:lstStyle>
          <a:p xmlns:a="http://schemas.openxmlformats.org/drawingml/2006/main">
            <a:pPr algn="l">
              <a:buNone/>
              <a:defRPr sz="1275" b="1">
                <a:solidFill>
                  <a:srgbClr val="53716A"/>
                </a:solidFill>
                <a:latin typeface="Helvetica Neue"/>
                <a:ea typeface="Helvetica Neue"/>
                <a:cs typeface="Helvetica Neue"/>
              </a:defRPr>
            </a:pPr>
            <a:r>
              <a:rPr sz="1275" b="1">
                <a:solidFill>
                  <a:srgbClr val="53716A"/>
                </a:solidFill>
                <a:latin typeface="Helvetica Neue"/>
                <a:ea typeface="Helvetica Neue"/>
                <a:cs typeface="Helvetica Neue"/>
              </a:rPr>
              <a:t>THE OPPORTUNITY</a:t>
            </a:r>
          </a:p>
        </p:txBody>
      </p:sp>
      <p:sp>
        <p:nvSpPr>
          <p:cNvPr id="2" name="v30-text-1">
            <a:extLst xmlns:a="http://schemas.openxmlformats.org/drawingml/2006/main">
              <a:ext uri="{FF2B5EF4-FFF2-40B4-BE49-F238E27FC236}">
                <a16:creationId xmlns:a16="http://schemas.microsoft.com/office/drawing/2014/main" id="{243905A4-A235-46A8-88B2-9CCE52ED8F00}"/>
              </a:ext>
            </a:extLst>
          </p:cNvPr>
          <p:cNvSpPr>
            <a:spLocks xmlns:a="http://schemas.openxmlformats.org/drawingml/2006/main" noGrp="1"/>
          </p:cNvSpPr>
          <p:nvPr/>
        </p:nvSpPr>
        <p:spPr>
          <a:xfrm xmlns:a="http://schemas.openxmlformats.org/drawingml/2006/main">
            <a:off x="609600" y="752475"/>
            <a:ext cx="10972800" cy="571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3300" b="1">
                <a:solidFill>
                  <a:srgbClr val="103D3B"/>
                </a:solidFill>
                <a:latin typeface="Helvetica Neue"/>
                <a:ea typeface="Helvetica Neue"/>
                <a:cs typeface="Helvetica Neue"/>
              </a:defRPr>
            </a:defPPr>
          </a:lstStyle>
          <a:p xmlns:a="http://schemas.openxmlformats.org/drawingml/2006/main">
            <a:pPr algn="l">
              <a:buNone/>
              <a:defRPr sz="3300" b="1">
                <a:solidFill>
                  <a:srgbClr val="103D3B"/>
                </a:solidFill>
                <a:latin typeface="Helvetica Neue"/>
                <a:ea typeface="Helvetica Neue"/>
                <a:cs typeface="Helvetica Neue"/>
              </a:defRPr>
            </a:pPr>
            <a:r>
              <a:rPr sz="3300" b="1">
                <a:solidFill>
                  <a:srgbClr val="103D3B"/>
                </a:solidFill>
                <a:latin typeface="Helvetica Neue"/>
                <a:ea typeface="Helvetica Neue"/>
                <a:cs typeface="Helvetica Neue"/>
              </a:rPr>
              <a:t>Personal agents need live local-business data</a:t>
            </a:r>
          </a:p>
        </p:txBody>
      </p:sp>
      <p:sp>
        <p:nvSpPr>
          <p:cNvPr id="3" name="v30-text-2">
            <a:extLst xmlns:a="http://schemas.openxmlformats.org/drawingml/2006/main">
              <a:ext uri="{FF2B5EF4-FFF2-40B4-BE49-F238E27FC236}">
                <a16:creationId xmlns:a16="http://schemas.microsoft.com/office/drawing/2014/main" id="{8F4C96EF-044C-4CF6-BCFE-D8BF33020705}"/>
              </a:ext>
            </a:extLst>
          </p:cNvPr>
          <p:cNvSpPr>
            <a:spLocks xmlns:a="http://schemas.openxmlformats.org/drawingml/2006/main" noGrp="1"/>
          </p:cNvSpPr>
          <p:nvPr/>
        </p:nvSpPr>
        <p:spPr>
          <a:xfrm xmlns:a="http://schemas.openxmlformats.org/drawingml/2006/main">
            <a:off x="609600" y="1296759"/>
            <a:ext cx="10972800" cy="590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1800" b="0">
                <a:solidFill>
                  <a:srgbClr val="53716A"/>
                </a:solidFill>
                <a:latin typeface="Helvetica Neue"/>
                <a:ea typeface="Helvetica Neue"/>
                <a:cs typeface="Helvetica Neue"/>
              </a:defRPr>
            </a:defPPr>
          </a:lstStyle>
          <a:p xmlns:a="http://schemas.openxmlformats.org/drawingml/2006/main">
            <a:pPr algn="l">
              <a:buNone/>
              <a:defRPr sz="1800" b="0">
                <a:solidFill>
                  <a:srgbClr val="53716A"/>
                </a:solidFill>
                <a:latin typeface="Helvetica Neue"/>
                <a:ea typeface="Helvetica Neue"/>
                <a:cs typeface="Helvetica Neue"/>
              </a:defRPr>
            </a:pPr>
            <a:r>
              <a:rPr sz="1800" b="0">
                <a:solidFill>
                  <a:srgbClr val="53716A"/>
                </a:solidFill>
                <a:latin typeface="Helvetica Neue"/>
                <a:ea typeface="Helvetica Neue"/>
                <a:cs typeface="Helvetica Neue"/>
              </a:rPr>
              <a:t>Users once called businesses to scope the job.</a:t>
            </a:r>
          </a:p>
          <a:p xmlns:a="http://schemas.openxmlformats.org/drawingml/2006/main">
            <a:pPr algn="l">
              <a:buNone/>
              <a:defRPr sz="1800" b="0">
                <a:solidFill>
                  <a:srgbClr val="53716A"/>
                </a:solidFill>
                <a:latin typeface="Helvetica Neue"/>
                <a:ea typeface="Helvetica Neue"/>
                <a:cs typeface="Helvetica Neue"/>
              </a:defRPr>
            </a:pPr>
            <a:r>
              <a:rPr sz="1800" b="0">
                <a:solidFill>
                  <a:srgbClr val="53716A"/>
                </a:solidFill>
                <a:latin typeface="Helvetica Neue"/>
                <a:ea typeface="Helvetica Neue"/>
                <a:cs typeface="Helvetica Neue"/>
              </a:rPr>
              <a:t>Personal agents can now scope it with the customer, then act on live business data.</a:t>
            </a:r>
          </a:p>
        </p:txBody>
      </p:sp>
      <p:graphicFrame>
        <p:nvGraphicFramePr>
          <p:cNvPr id="4" name="Table 3">
            <a:extLst xmlns:a="http://schemas.openxmlformats.org/drawingml/2006/main">
              <a:ext uri="{FF2B5EF4-FFF2-40B4-BE49-F238E27FC236}">
                <a16:creationId xmlns:a16="http://schemas.microsoft.com/office/drawing/2014/main" id="{6FE3E8AB-8ADA-420B-AD46-EC557B300D72}"/>
              </a:ext>
            </a:extLst>
          </p:cNvPr>
          <p:cNvGraphicFramePr/>
          <p:nvPr/>
        </p:nvGraphicFramePr>
        <p:xfrm>
          <a:off xmlns:a="http://schemas.openxmlformats.org/drawingml/2006/main" x="609600" y="2076450"/>
          <a:ext xmlns:a="http://schemas.openxmlformats.org/drawingml/2006/main" cx="10972800" cy="3467100"/>
        </p:xfrm>
        <a:graphic xmlns:a="http://schemas.openxmlformats.org/drawingml/2006/main">
          <a:graphicData uri="http://schemas.openxmlformats.org/drawingml/2006/table">
            <a:tbl>
              <a:tblPr/>
              <a:tblGrid>
                <a:gridCol w="2667000"/>
                <a:gridCol w="1661160"/>
                <a:gridCol w="1661160"/>
                <a:gridCol w="1661160"/>
                <a:gridCol w="1661160"/>
                <a:gridCol w="1661160"/>
              </a:tblGrid>
              <a:tr h="285750">
                <a:tc>
                  <a:txBody>
                    <a:bodyPr/>
                    <a:lstStyle/>
                    <a:p>
                      <a:pPr algn="l">
                        <a:buNone/>
                      </a:pPr>
                      <a:r>
                        <a:rPr sz="1350" b="1">
                          <a:solidFill>
                            <a:srgbClr val="53716A"/>
                          </a:solidFill>
                          <a:latin typeface="Helvetica Neue"/>
                          <a:ea typeface="Helvetica Neue"/>
                          <a:cs typeface="Helvetica Neue"/>
                        </a:rPr>
                        <a:t>ERA</a:t>
                      </a:r>
                    </a:p>
                  </a:txBody>
                  <a:tcPr marL="57150" marR="57150" marT="19050" marB="19050" anchor="ctr">
                    <a:lnL w="19050">
                      <a:solidFill>
                        <a:srgbClr val="F5F2E9"/>
                      </a:solidFill>
                    </a:lnL>
                    <a:lnR w="19050">
                      <a:solidFill>
                        <a:srgbClr val="F5F2E9"/>
                      </a:solidFill>
                    </a:lnR>
                    <a:lnT w="19050">
                      <a:solidFill>
                        <a:srgbClr val="F5F2E9"/>
                      </a:solidFill>
                    </a:lnT>
                    <a:lnB w="19050">
                      <a:solidFill>
                        <a:srgbClr val="F5F2E9"/>
                      </a:solidFill>
                    </a:lnB>
                    <a:solidFill>
                      <a:srgbClr val="F5F2E9"/>
                    </a:solidFill>
                  </a:tcPr>
                </a:tc>
                <a:tc>
                  <a:txBody>
                    <a:bodyPr/>
                    <a:lstStyle/>
                    <a:p>
                      <a:pPr algn="ctr">
                        <a:buNone/>
                      </a:pPr>
                      <a:r>
                        <a:rPr sz="1350" b="1">
                          <a:solidFill>
                            <a:srgbClr val="53716A"/>
                          </a:solidFill>
                          <a:latin typeface="Helvetica Neue"/>
                          <a:ea typeface="Helvetica Neue"/>
                          <a:cs typeface="Helvetica Neue"/>
                        </a:rPr>
                        <a:t>Pre-2000</a:t>
                      </a:r>
                    </a:p>
                  </a:txBody>
                  <a:tcPr marL="66675" marR="57150" marT="19050" marB="19050" anchor="ctr">
                    <a:lnL w="19050">
                      <a:solidFill>
                        <a:srgbClr val="F5F2E9"/>
                      </a:solidFill>
                    </a:lnL>
                    <a:lnR w="19050">
                      <a:solidFill>
                        <a:srgbClr val="F5F2E9"/>
                      </a:solidFill>
                    </a:lnR>
                    <a:lnT w="19050">
                      <a:solidFill>
                        <a:srgbClr val="F5F2E9"/>
                      </a:solidFill>
                    </a:lnT>
                    <a:lnB w="19050">
                      <a:solidFill>
                        <a:srgbClr val="F5F2E9"/>
                      </a:solidFill>
                    </a:lnB>
                    <a:solidFill>
                      <a:srgbClr val="F5F2E9"/>
                    </a:solidFill>
                  </a:tcPr>
                </a:tc>
                <a:tc>
                  <a:txBody>
                    <a:bodyPr/>
                    <a:lstStyle/>
                    <a:p>
                      <a:pPr algn="ctr">
                        <a:buNone/>
                      </a:pPr>
                      <a:r>
                        <a:rPr sz="1350" b="1">
                          <a:solidFill>
                            <a:srgbClr val="53716A"/>
                          </a:solidFill>
                          <a:latin typeface="Helvetica Neue"/>
                          <a:ea typeface="Helvetica Neue"/>
                          <a:cs typeface="Helvetica Neue"/>
                        </a:rPr>
                        <a:t>2000–2010</a:t>
                      </a:r>
                    </a:p>
                  </a:txBody>
                  <a:tcPr marL="66675" marR="57150" marT="19050" marB="19050" anchor="ctr">
                    <a:lnL w="19050">
                      <a:solidFill>
                        <a:srgbClr val="F5F2E9"/>
                      </a:solidFill>
                    </a:lnL>
                    <a:lnR w="19050">
                      <a:solidFill>
                        <a:srgbClr val="F5F2E9"/>
                      </a:solidFill>
                    </a:lnR>
                    <a:lnT w="19050">
                      <a:solidFill>
                        <a:srgbClr val="F5F2E9"/>
                      </a:solidFill>
                    </a:lnT>
                    <a:lnB w="19050">
                      <a:solidFill>
                        <a:srgbClr val="F5F2E9"/>
                      </a:solidFill>
                    </a:lnB>
                    <a:solidFill>
                      <a:srgbClr val="F5F2E9"/>
                    </a:solidFill>
                  </a:tcPr>
                </a:tc>
                <a:tc>
                  <a:txBody>
                    <a:bodyPr/>
                    <a:lstStyle/>
                    <a:p>
                      <a:pPr algn="ctr">
                        <a:buNone/>
                      </a:pPr>
                      <a:r>
                        <a:rPr sz="1350" b="1">
                          <a:solidFill>
                            <a:srgbClr val="53716A"/>
                          </a:solidFill>
                          <a:latin typeface="Helvetica Neue"/>
                          <a:ea typeface="Helvetica Neue"/>
                          <a:cs typeface="Helvetica Neue"/>
                        </a:rPr>
                        <a:t>2010–2020</a:t>
                      </a:r>
                    </a:p>
                  </a:txBody>
                  <a:tcPr marL="66675" marR="57150" marT="19050" marB="19050" anchor="ctr">
                    <a:lnL w="19050">
                      <a:solidFill>
                        <a:srgbClr val="F5F2E9"/>
                      </a:solidFill>
                    </a:lnL>
                    <a:lnR w="19050">
                      <a:solidFill>
                        <a:srgbClr val="F5F2E9"/>
                      </a:solidFill>
                    </a:lnR>
                    <a:lnT w="19050">
                      <a:solidFill>
                        <a:srgbClr val="F5F2E9"/>
                      </a:solidFill>
                    </a:lnT>
                    <a:lnB w="19050">
                      <a:solidFill>
                        <a:srgbClr val="F5F2E9"/>
                      </a:solidFill>
                    </a:lnB>
                    <a:solidFill>
                      <a:srgbClr val="F5F2E9"/>
                    </a:solidFill>
                  </a:tcPr>
                </a:tc>
                <a:tc>
                  <a:txBody>
                    <a:bodyPr/>
                    <a:lstStyle/>
                    <a:p>
                      <a:pPr algn="ctr">
                        <a:buNone/>
                      </a:pPr>
                      <a:r>
                        <a:rPr sz="1350" b="1">
                          <a:solidFill>
                            <a:srgbClr val="53716A"/>
                          </a:solidFill>
                          <a:latin typeface="Helvetica Neue"/>
                          <a:ea typeface="Helvetica Neue"/>
                          <a:cs typeface="Helvetica Neue"/>
                        </a:rPr>
                        <a:t>2020–2025</a:t>
                      </a:r>
                    </a:p>
                  </a:txBody>
                  <a:tcPr marL="66675" marR="57150" marT="19050" marB="19050" anchor="ctr">
                    <a:lnL w="19050">
                      <a:solidFill>
                        <a:srgbClr val="F5F2E9"/>
                      </a:solidFill>
                    </a:lnL>
                    <a:lnR w="19050">
                      <a:solidFill>
                        <a:srgbClr val="F5F2E9"/>
                      </a:solidFill>
                    </a:lnR>
                    <a:lnT w="19050">
                      <a:solidFill>
                        <a:srgbClr val="F5F2E9"/>
                      </a:solidFill>
                    </a:lnT>
                    <a:lnB w="19050">
                      <a:solidFill>
                        <a:srgbClr val="F5F2E9"/>
                      </a:solidFill>
                    </a:lnB>
                    <a:solidFill>
                      <a:srgbClr val="F5F2E9"/>
                    </a:solidFill>
                  </a:tcPr>
                </a:tc>
                <a:tc>
                  <a:txBody>
                    <a:bodyPr/>
                    <a:lstStyle/>
                    <a:p>
                      <a:pPr algn="ctr">
                        <a:buNone/>
                      </a:pPr>
                      <a:r>
                        <a:rPr sz="1350" b="1">
                          <a:solidFill>
                            <a:srgbClr val="FFFFFF"/>
                          </a:solidFill>
                          <a:latin typeface="Helvetica Neue"/>
                          <a:ea typeface="Helvetica Neue"/>
                          <a:cs typeface="Helvetica Neue"/>
                        </a:rPr>
                        <a:t>2026</a:t>
                      </a:r>
                    </a:p>
                  </a:txBody>
                  <a:tcPr marL="66675" marR="57150" marT="19050" marB="19050" anchor="ctr">
                    <a:lnL w="19050">
                      <a:solidFill>
                        <a:srgbClr val="F5F2E9"/>
                      </a:solidFill>
                    </a:lnL>
                    <a:lnR w="19050">
                      <a:solidFill>
                        <a:srgbClr val="F5F2E9"/>
                      </a:solidFill>
                    </a:lnR>
                    <a:lnT w="19050">
                      <a:solidFill>
                        <a:srgbClr val="F5F2E9"/>
                      </a:solidFill>
                    </a:lnT>
                    <a:lnB w="19050">
                      <a:solidFill>
                        <a:srgbClr val="F5F2E9"/>
                      </a:solidFill>
                    </a:lnB>
                    <a:solidFill>
                      <a:srgbClr val="103D3B"/>
                    </a:solidFill>
                  </a:tcPr>
                </a:tc>
              </a:tr>
              <a:tr h="285750">
                <a:tc>
                  <a:txBody>
                    <a:bodyPr/>
                    <a:lstStyle/>
                    <a:p>
                      <a:pPr algn="l">
                        <a:buNone/>
                      </a:pPr>
                      <a:r>
                        <a:rPr sz="1275" b="1">
                          <a:solidFill>
                            <a:srgbClr val="53716A"/>
                          </a:solidFill>
                          <a:latin typeface="Helvetica Neue"/>
                          <a:ea typeface="Helvetica Neue"/>
                          <a:cs typeface="Helvetica Neue"/>
                        </a:rPr>
                        <a:t>Technology</a:t>
                      </a:r>
                    </a:p>
                  </a:txBody>
                  <a:tcPr marL="57150" marR="57150" marT="19050" marB="19050" anchor="ctr">
                    <a:lnL w="19050">
                      <a:solidFill>
                        <a:srgbClr val="F5F2E9"/>
                      </a:solidFill>
                    </a:lnL>
                    <a:lnR w="19050">
                      <a:solidFill>
                        <a:srgbClr val="F5F2E9"/>
                      </a:solidFill>
                    </a:lnR>
                    <a:lnT w="19050">
                      <a:solidFill>
                        <a:srgbClr val="F5F2E9"/>
                      </a:solidFill>
                    </a:lnT>
                    <a:lnB w="19050">
                      <a:solidFill>
                        <a:srgbClr val="F5F2E9"/>
                      </a:solidFill>
                    </a:lnB>
                    <a:solidFill>
                      <a:srgbClr val="F5F2E9"/>
                    </a:solidFill>
                  </a:tcPr>
                </a:tc>
                <a:tc>
                  <a:txBody>
                    <a:bodyPr/>
                    <a:lstStyle/>
                    <a:p>
                      <a:pPr algn="ctr">
                        <a:buNone/>
                      </a:pPr>
                      <a:r>
                        <a:rPr sz="1275" b="0">
                          <a:solidFill>
                            <a:srgbClr val="53716A"/>
                          </a:solidFill>
                          <a:latin typeface="Helvetica Neue"/>
                          <a:ea typeface="Helvetica Neue"/>
                          <a:cs typeface="Helvetica Neue"/>
                        </a:rPr>
                        <a:t>Telephones</a:t>
                      </a:r>
                    </a:p>
                  </a:txBody>
                  <a:tcPr marL="66675" marR="57150" marT="19050" marB="19050" anchor="ctr">
                    <a:lnL w="19050">
                      <a:solidFill>
                        <a:srgbClr val="F5F2E9"/>
                      </a:solidFill>
                    </a:lnL>
                    <a:lnR w="19050">
                      <a:solidFill>
                        <a:srgbClr val="F5F2E9"/>
                      </a:solidFill>
                    </a:lnR>
                    <a:lnT w="19050">
                      <a:solidFill>
                        <a:srgbClr val="F5F2E9"/>
                      </a:solidFill>
                    </a:lnT>
                    <a:lnB w="19050">
                      <a:solidFill>
                        <a:srgbClr val="F5F2E9"/>
                      </a:solidFill>
                    </a:lnB>
                    <a:solidFill>
                      <a:srgbClr val="F5F2E9"/>
                    </a:solidFill>
                  </a:tcPr>
                </a:tc>
                <a:tc>
                  <a:txBody>
                    <a:bodyPr/>
                    <a:lstStyle/>
                    <a:p>
                      <a:pPr algn="ctr">
                        <a:buNone/>
                      </a:pPr>
                      <a:r>
                        <a:rPr sz="1275" b="0">
                          <a:solidFill>
                            <a:srgbClr val="53716A"/>
                          </a:solidFill>
                          <a:latin typeface="Helvetica Neue"/>
                          <a:ea typeface="Helvetica Neue"/>
                          <a:cs typeface="Helvetica Neue"/>
                        </a:rPr>
                        <a:t>Internet</a:t>
                      </a:r>
                    </a:p>
                  </a:txBody>
                  <a:tcPr marL="66675" marR="57150" marT="19050" marB="19050" anchor="ctr">
                    <a:lnL w="19050">
                      <a:solidFill>
                        <a:srgbClr val="F5F2E9"/>
                      </a:solidFill>
                    </a:lnL>
                    <a:lnR w="19050">
                      <a:solidFill>
                        <a:srgbClr val="F5F2E9"/>
                      </a:solidFill>
                    </a:lnR>
                    <a:lnT w="19050">
                      <a:solidFill>
                        <a:srgbClr val="F5F2E9"/>
                      </a:solidFill>
                    </a:lnT>
                    <a:lnB w="19050">
                      <a:solidFill>
                        <a:srgbClr val="F5F2E9"/>
                      </a:solidFill>
                    </a:lnB>
                    <a:solidFill>
                      <a:srgbClr val="F5F2E9"/>
                    </a:solidFill>
                  </a:tcPr>
                </a:tc>
                <a:tc>
                  <a:txBody>
                    <a:bodyPr/>
                    <a:lstStyle/>
                    <a:p>
                      <a:pPr algn="ctr">
                        <a:buNone/>
                      </a:pPr>
                      <a:r>
                        <a:rPr sz="1275" b="0">
                          <a:solidFill>
                            <a:srgbClr val="53716A"/>
                          </a:solidFill>
                          <a:latin typeface="Helvetica Neue"/>
                          <a:ea typeface="Helvetica Neue"/>
                          <a:cs typeface="Helvetica Neue"/>
                        </a:rPr>
                        <a:t>Mobile + GPS</a:t>
                      </a:r>
                    </a:p>
                  </a:txBody>
                  <a:tcPr marL="66675" marR="57150" marT="19050" marB="19050" anchor="ctr">
                    <a:lnL w="19050">
                      <a:solidFill>
                        <a:srgbClr val="F5F2E9"/>
                      </a:solidFill>
                    </a:lnL>
                    <a:lnR w="19050">
                      <a:solidFill>
                        <a:srgbClr val="F5F2E9"/>
                      </a:solidFill>
                    </a:lnR>
                    <a:lnT w="19050">
                      <a:solidFill>
                        <a:srgbClr val="F5F2E9"/>
                      </a:solidFill>
                    </a:lnT>
                    <a:lnB w="19050">
                      <a:solidFill>
                        <a:srgbClr val="F5F2E9"/>
                      </a:solidFill>
                    </a:lnB>
                    <a:solidFill>
                      <a:srgbClr val="F5F2E9"/>
                    </a:solidFill>
                  </a:tcPr>
                </a:tc>
                <a:tc>
                  <a:txBody>
                    <a:bodyPr/>
                    <a:lstStyle/>
                    <a:p>
                      <a:pPr algn="ctr">
                        <a:buNone/>
                      </a:pPr>
                      <a:r>
                        <a:rPr sz="1275" b="0">
                          <a:solidFill>
                            <a:srgbClr val="53716A"/>
                          </a:solidFill>
                          <a:latin typeface="Helvetica Neue"/>
                          <a:ea typeface="Helvetica Neue"/>
                          <a:cs typeface="Helvetica Neue"/>
                        </a:rPr>
                        <a:t>LLMs</a:t>
                      </a:r>
                    </a:p>
                  </a:txBody>
                  <a:tcPr marL="66675" marR="57150" marT="19050" marB="19050" anchor="ctr">
                    <a:lnL w="19050">
                      <a:solidFill>
                        <a:srgbClr val="F5F2E9"/>
                      </a:solidFill>
                    </a:lnL>
                    <a:lnR w="19050">
                      <a:solidFill>
                        <a:srgbClr val="F5F2E9"/>
                      </a:solidFill>
                    </a:lnR>
                    <a:lnT w="19050">
                      <a:solidFill>
                        <a:srgbClr val="F5F2E9"/>
                      </a:solidFill>
                    </a:lnT>
                    <a:lnB w="19050">
                      <a:solidFill>
                        <a:srgbClr val="F5F2E9"/>
                      </a:solidFill>
                    </a:lnB>
                    <a:solidFill>
                      <a:srgbClr val="F5F2E9"/>
                    </a:solidFill>
                  </a:tcPr>
                </a:tc>
                <a:tc>
                  <a:txBody>
                    <a:bodyPr/>
                    <a:lstStyle/>
                    <a:p>
                      <a:pPr algn="ctr">
                        <a:buNone/>
                      </a:pPr>
                      <a:r>
                        <a:rPr sz="1275" b="0">
                          <a:solidFill>
                            <a:srgbClr val="FFFFFF"/>
                          </a:solidFill>
                          <a:latin typeface="Helvetica Neue"/>
                          <a:ea typeface="Helvetica Neue"/>
                          <a:cs typeface="Helvetica Neue"/>
                        </a:rPr>
                        <a:t>AI + tools</a:t>
                      </a:r>
                    </a:p>
                  </a:txBody>
                  <a:tcPr marL="66675" marR="57150" marT="19050" marB="19050" anchor="ctr">
                    <a:lnL w="19050">
                      <a:solidFill>
                        <a:srgbClr val="F5F2E9"/>
                      </a:solidFill>
                    </a:lnL>
                    <a:lnR w="19050">
                      <a:solidFill>
                        <a:srgbClr val="F5F2E9"/>
                      </a:solidFill>
                    </a:lnR>
                    <a:lnT w="19050">
                      <a:solidFill>
                        <a:srgbClr val="F5F2E9"/>
                      </a:solidFill>
                    </a:lnT>
                    <a:lnB w="19050">
                      <a:solidFill>
                        <a:srgbClr val="F5F2E9"/>
                      </a:solidFill>
                    </a:lnB>
                    <a:solidFill>
                      <a:srgbClr val="103D3B"/>
                    </a:solidFill>
                  </a:tcPr>
                </a:tc>
              </a:tr>
              <a:tr h="552450">
                <a:tc>
                  <a:txBody>
                    <a:bodyPr/>
                    <a:lstStyle/>
                    <a:p>
                      <a:pPr algn="l">
                        <a:buNone/>
                      </a:pPr>
                      <a:r>
                        <a:rPr sz="1575" b="1">
                          <a:solidFill>
                            <a:srgbClr val="103D3B"/>
                          </a:solidFill>
                          <a:latin typeface="Helvetica Neue"/>
                          <a:ea typeface="Helvetica Neue"/>
                          <a:cs typeface="Helvetica Neue"/>
                        </a:rPr>
                        <a:t>Platform</a:t>
                      </a:r>
                    </a:p>
                  </a:txBody>
                  <a:tcPr marL="57150" marR="57150" marT="19050" marB="19050" anchor="ctr">
                    <a:lnL w="19050">
                      <a:solidFill>
                        <a:srgbClr val="F5F2E9"/>
                      </a:solidFill>
                    </a:lnL>
                    <a:lnR w="19050">
                      <a:solidFill>
                        <a:srgbClr val="F5F2E9"/>
                      </a:solidFill>
                    </a:lnR>
                    <a:lnT w="19050">
                      <a:solidFill>
                        <a:srgbClr val="F5F2E9"/>
                      </a:solidFill>
                    </a:lnT>
                    <a:lnB w="19050">
                      <a:solidFill>
                        <a:srgbClr val="F5F2E9"/>
                      </a:solidFill>
                    </a:lnB>
                    <a:solidFill>
                      <a:srgbClr val="F5F2E9"/>
                    </a:solidFill>
                  </a:tcPr>
                </a:tc>
                <a:tc>
                  <a:txBody>
                    <a:bodyPr/>
                    <a:lstStyle/>
                    <a:p>
                      <a:pPr algn="ctr">
                        <a:buNone/>
                      </a:pPr>
                      <a:r>
                        <a:rPr sz="1575" b="1">
                          <a:solidFill>
                            <a:srgbClr val="103D3B"/>
                          </a:solidFill>
                          <a:latin typeface="Helvetica Neue"/>
                          <a:ea typeface="Helvetica Neue"/>
                          <a:cs typeface="Helvetica Neue"/>
                        </a:rPr>
                        <a:t>Yellow Pages</a:t>
                      </a:r>
                    </a:p>
                  </a:txBody>
                  <a:tcPr marL="66675" marR="57150" marT="19050" marB="19050" anchor="ctr">
                    <a:lnL w="19050">
                      <a:solidFill>
                        <a:srgbClr val="F5F2E9"/>
                      </a:solidFill>
                    </a:lnL>
                    <a:lnR w="19050">
                      <a:solidFill>
                        <a:srgbClr val="F5F2E9"/>
                      </a:solidFill>
                    </a:lnR>
                    <a:lnT w="19050">
                      <a:solidFill>
                        <a:srgbClr val="F5F2E9"/>
                      </a:solidFill>
                    </a:lnT>
                    <a:lnB w="19050">
                      <a:solidFill>
                        <a:srgbClr val="F5F2E9"/>
                      </a:solidFill>
                    </a:lnB>
                    <a:solidFill>
                      <a:srgbClr val="F5F2E9"/>
                    </a:solidFill>
                  </a:tcPr>
                </a:tc>
                <a:tc>
                  <a:txBody>
                    <a:bodyPr/>
                    <a:lstStyle/>
                    <a:p>
                      <a:pPr algn="ctr">
                        <a:buNone/>
                      </a:pPr>
                      <a:r>
                        <a:rPr sz="1575" b="1">
                          <a:solidFill>
                            <a:srgbClr val="103D3B"/>
                          </a:solidFill>
                          <a:latin typeface="Helvetica Neue"/>
                          <a:ea typeface="Helvetica Neue"/>
                          <a:cs typeface="Helvetica Neue"/>
                        </a:rPr>
                        <a:t>Google /</a:t>
                      </a:r>
                    </a:p>
                    <a:p>
                      <a:pPr algn="ctr">
                        <a:buNone/>
                      </a:pPr>
                      <a:r>
                        <a:rPr sz="1575" b="1">
                          <a:solidFill>
                            <a:srgbClr val="103D3B"/>
                          </a:solidFill>
                          <a:latin typeface="Helvetica Neue"/>
                          <a:ea typeface="Helvetica Neue"/>
                          <a:cs typeface="Helvetica Neue"/>
                        </a:rPr>
                        <a:t>Craigslist</a:t>
                      </a:r>
                    </a:p>
                  </a:txBody>
                  <a:tcPr marL="66675" marR="57150" marT="19050" marB="19050" anchor="ctr">
                    <a:lnL w="19050">
                      <a:solidFill>
                        <a:srgbClr val="F5F2E9"/>
                      </a:solidFill>
                    </a:lnL>
                    <a:lnR w="19050">
                      <a:solidFill>
                        <a:srgbClr val="F5F2E9"/>
                      </a:solidFill>
                    </a:lnR>
                    <a:lnT w="19050">
                      <a:solidFill>
                        <a:srgbClr val="F5F2E9"/>
                      </a:solidFill>
                    </a:lnT>
                    <a:lnB w="19050">
                      <a:solidFill>
                        <a:srgbClr val="F5F2E9"/>
                      </a:solidFill>
                    </a:lnB>
                    <a:solidFill>
                      <a:srgbClr val="F5F2E9"/>
                    </a:solidFill>
                  </a:tcPr>
                </a:tc>
                <a:tc>
                  <a:txBody>
                    <a:bodyPr/>
                    <a:lstStyle/>
                    <a:p>
                      <a:pPr algn="ctr">
                        <a:buNone/>
                      </a:pPr>
                      <a:r>
                        <a:rPr sz="1575" b="1">
                          <a:solidFill>
                            <a:srgbClr val="103D3B"/>
                          </a:solidFill>
                          <a:latin typeface="Helvetica Neue"/>
                          <a:ea typeface="Helvetica Neue"/>
                          <a:cs typeface="Helvetica Neue"/>
                        </a:rPr>
                        <a:t>Google Maps</a:t>
                      </a:r>
                    </a:p>
                  </a:txBody>
                  <a:tcPr marL="66675" marR="57150" marT="19050" marB="19050" anchor="ctr">
                    <a:lnL w="19050">
                      <a:solidFill>
                        <a:srgbClr val="F5F2E9"/>
                      </a:solidFill>
                    </a:lnL>
                    <a:lnR w="19050">
                      <a:solidFill>
                        <a:srgbClr val="F5F2E9"/>
                      </a:solidFill>
                    </a:lnR>
                    <a:lnT w="19050">
                      <a:solidFill>
                        <a:srgbClr val="F5F2E9"/>
                      </a:solidFill>
                    </a:lnT>
                    <a:lnB w="19050">
                      <a:solidFill>
                        <a:srgbClr val="F5F2E9"/>
                      </a:solidFill>
                    </a:lnB>
                    <a:solidFill>
                      <a:srgbClr val="F5F2E9"/>
                    </a:solidFill>
                  </a:tcPr>
                </a:tc>
                <a:tc>
                  <a:txBody>
                    <a:bodyPr/>
                    <a:lstStyle/>
                    <a:p>
                      <a:pPr algn="ctr">
                        <a:buNone/>
                      </a:pPr>
                      <a:r>
                        <a:rPr sz="1575" b="1">
                          <a:solidFill>
                            <a:srgbClr val="103D3B"/>
                          </a:solidFill>
                          <a:latin typeface="Helvetica Neue"/>
                          <a:ea typeface="Helvetica Neue"/>
                          <a:cs typeface="Helvetica Neue"/>
                        </a:rPr>
                        <a:t>AI chatbots</a:t>
                      </a:r>
                    </a:p>
                  </a:txBody>
                  <a:tcPr marL="66675" marR="57150" marT="19050" marB="19050" anchor="ctr">
                    <a:lnL w="19050">
                      <a:solidFill>
                        <a:srgbClr val="F5F2E9"/>
                      </a:solidFill>
                    </a:lnL>
                    <a:lnR w="19050">
                      <a:solidFill>
                        <a:srgbClr val="F5F2E9"/>
                      </a:solidFill>
                    </a:lnR>
                    <a:lnT w="19050">
                      <a:solidFill>
                        <a:srgbClr val="F5F2E9"/>
                      </a:solidFill>
                    </a:lnT>
                    <a:lnB w="19050">
                      <a:solidFill>
                        <a:srgbClr val="F5F2E9"/>
                      </a:solidFill>
                    </a:lnB>
                    <a:solidFill>
                      <a:srgbClr val="F5F2E9"/>
                    </a:solidFill>
                  </a:tcPr>
                </a:tc>
                <a:tc>
                  <a:txBody>
                    <a:bodyPr/>
                    <a:lstStyle/>
                    <a:p>
                      <a:pPr algn="ctr">
                        <a:buNone/>
                      </a:pPr>
                      <a:r>
                        <a:rPr sz="1575" b="1">
                          <a:solidFill>
                            <a:srgbClr val="FFFFFF"/>
                          </a:solidFill>
                          <a:latin typeface="Helvetica Neue"/>
                          <a:ea typeface="Helvetica Neue"/>
                          <a:cs typeface="Helvetica Neue"/>
                        </a:rPr>
                        <a:t>Personal</a:t>
                      </a:r>
                    </a:p>
                    <a:p>
                      <a:pPr algn="ctr">
                        <a:buNone/>
                      </a:pPr>
                      <a:r>
                        <a:rPr sz="1575" b="1">
                          <a:solidFill>
                            <a:srgbClr val="FFFFFF"/>
                          </a:solidFill>
                          <a:latin typeface="Helvetica Neue"/>
                          <a:ea typeface="Helvetica Neue"/>
                          <a:cs typeface="Helvetica Neue"/>
                        </a:rPr>
                        <a:t>agents today</a:t>
                      </a:r>
                    </a:p>
                  </a:txBody>
                  <a:tcPr marL="66675" marR="57150" marT="19050" marB="19050" anchor="ctr">
                    <a:lnL w="19050">
                      <a:solidFill>
                        <a:srgbClr val="F5F2E9"/>
                      </a:solidFill>
                    </a:lnL>
                    <a:lnR w="19050">
                      <a:solidFill>
                        <a:srgbClr val="F5F2E9"/>
                      </a:solidFill>
                    </a:lnR>
                    <a:lnT w="19050">
                      <a:solidFill>
                        <a:srgbClr val="F5F2E9"/>
                      </a:solidFill>
                    </a:lnT>
                    <a:lnB w="19050">
                      <a:solidFill>
                        <a:srgbClr val="F5F2E9"/>
                      </a:solidFill>
                    </a:lnB>
                    <a:solidFill>
                      <a:srgbClr val="103D3B"/>
                    </a:solidFill>
                  </a:tcPr>
                </a:tc>
              </a:tr>
              <a:tr h="304800">
                <a:tc>
                  <a:txBody>
                    <a:bodyPr/>
                    <a:lstStyle/>
                    <a:p>
                      <a:pPr algn="l">
                        <a:buNone/>
                      </a:pPr>
                      <a:r>
                        <a:rPr sz="1500" b="1">
                          <a:solidFill>
                            <a:srgbClr val="103D3B"/>
                          </a:solidFill>
                          <a:latin typeface="Helvetica Neue"/>
                          <a:ea typeface="Helvetica Neue"/>
                          <a:cs typeface="Helvetica Neue"/>
                        </a:rPr>
                        <a:t>Find a business</a:t>
                      </a:r>
                    </a:p>
                  </a:txBody>
                  <a:tcPr marL="57150" marR="57150" marT="19050" marB="19050" anchor="ctr">
                    <a:lnL w="19050">
                      <a:solidFill>
                        <a:srgbClr val="F5F2E9"/>
                      </a:solidFill>
                    </a:lnL>
                    <a:lnR w="19050">
                      <a:solidFill>
                        <a:srgbClr val="F5F2E9"/>
                      </a:solidFill>
                    </a:lnR>
                    <a:lnT w="19050">
                      <a:solidFill>
                        <a:srgbClr val="F5F2E9"/>
                      </a:solidFill>
                    </a:lnT>
                    <a:lnB w="19050">
                      <a:solidFill>
                        <a:srgbClr val="F5F2E9"/>
                      </a:solidFill>
                    </a:lnB>
                    <a:solidFill>
                      <a:srgbClr val="F5F2E9"/>
                    </a:solidFill>
                  </a:tcPr>
                </a:tc>
                <a:tc>
                  <a:txBody>
                    <a:bodyPr/>
                    <a:lstStyle/>
                    <a:p>
                      <a:pPr algn="ctr">
                        <a:buNone/>
                      </a:pPr>
                      <a:r>
                        <a:rPr sz="1650" b="1">
                          <a:solidFill>
                            <a:srgbClr val="FFFFFF"/>
                          </a:solidFill>
                          <a:latin typeface="Helvetica Neue"/>
                          <a:ea typeface="Helvetica Neue"/>
                          <a:cs typeface="Helvetica Neue"/>
                        </a:rPr>
                        <a:t>✓</a:t>
                      </a:r>
                    </a:p>
                  </a:txBody>
                  <a:tcPr marL="66675" marR="57150" marT="19050" marB="19050" anchor="ctr">
                    <a:lnL w="19050">
                      <a:solidFill>
                        <a:srgbClr val="F5F2E9"/>
                      </a:solidFill>
                    </a:lnL>
                    <a:lnR w="19050">
                      <a:solidFill>
                        <a:srgbClr val="F5F2E9"/>
                      </a:solidFill>
                    </a:lnR>
                    <a:lnT w="19050">
                      <a:solidFill>
                        <a:srgbClr val="F5F2E9"/>
                      </a:solidFill>
                    </a:lnT>
                    <a:lnB w="19050">
                      <a:solidFill>
                        <a:srgbClr val="F5F2E9"/>
                      </a:solidFill>
                    </a:lnB>
                    <a:solidFill>
                      <a:srgbClr val="236C4E"/>
                    </a:solidFill>
                  </a:tcPr>
                </a:tc>
                <a:tc>
                  <a:txBody>
                    <a:bodyPr/>
                    <a:lstStyle/>
                    <a:p>
                      <a:pPr algn="ctr">
                        <a:buNone/>
                      </a:pPr>
                      <a:r>
                        <a:rPr sz="1650" b="1">
                          <a:solidFill>
                            <a:srgbClr val="103D3B"/>
                          </a:solidFill>
                          <a:latin typeface="Helvetica Neue"/>
                          <a:ea typeface="Helvetica Neue"/>
                          <a:cs typeface="Helvetica Neue"/>
                        </a:rPr>
                        <a:t>✓</a:t>
                      </a:r>
                    </a:p>
                  </a:txBody>
                  <a:tcPr marL="66675" marR="57150" marT="19050" marB="19050" anchor="ctr">
                    <a:lnL w="19050">
                      <a:solidFill>
                        <a:srgbClr val="F5F2E9"/>
                      </a:solidFill>
                    </a:lnL>
                    <a:lnR w="19050">
                      <a:solidFill>
                        <a:srgbClr val="F5F2E9"/>
                      </a:solidFill>
                    </a:lnR>
                    <a:lnT w="19050">
                      <a:solidFill>
                        <a:srgbClr val="F5F2E9"/>
                      </a:solidFill>
                    </a:lnT>
                    <a:lnB w="19050">
                      <a:solidFill>
                        <a:srgbClr val="F5F2E9"/>
                      </a:solidFill>
                    </a:lnB>
                    <a:solidFill>
                      <a:srgbClr val="E1EADC"/>
                    </a:solidFill>
                  </a:tcPr>
                </a:tc>
                <a:tc>
                  <a:txBody>
                    <a:bodyPr/>
                    <a:lstStyle/>
                    <a:p>
                      <a:pPr algn="ctr">
                        <a:buNone/>
                      </a:pPr>
                      <a:r>
                        <a:rPr sz="1650" b="1">
                          <a:solidFill>
                            <a:srgbClr val="103D3B"/>
                          </a:solidFill>
                          <a:latin typeface="Helvetica Neue"/>
                          <a:ea typeface="Helvetica Neue"/>
                          <a:cs typeface="Helvetica Neue"/>
                        </a:rPr>
                        <a:t>✓</a:t>
                      </a:r>
                    </a:p>
                  </a:txBody>
                  <a:tcPr marL="66675" marR="57150" marT="19050" marB="19050" anchor="ctr">
                    <a:lnL w="19050">
                      <a:solidFill>
                        <a:srgbClr val="F5F2E9"/>
                      </a:solidFill>
                    </a:lnL>
                    <a:lnR w="19050">
                      <a:solidFill>
                        <a:srgbClr val="F5F2E9"/>
                      </a:solidFill>
                    </a:lnR>
                    <a:lnT w="19050">
                      <a:solidFill>
                        <a:srgbClr val="F5F2E9"/>
                      </a:solidFill>
                    </a:lnT>
                    <a:lnB w="19050">
                      <a:solidFill>
                        <a:srgbClr val="F5F2E9"/>
                      </a:solidFill>
                    </a:lnB>
                    <a:solidFill>
                      <a:srgbClr val="E1EADC"/>
                    </a:solidFill>
                  </a:tcPr>
                </a:tc>
                <a:tc>
                  <a:txBody>
                    <a:bodyPr/>
                    <a:lstStyle/>
                    <a:p>
                      <a:pPr algn="ctr">
                        <a:buNone/>
                      </a:pPr>
                      <a:r>
                        <a:rPr sz="1650" b="1">
                          <a:solidFill>
                            <a:srgbClr val="103D3B"/>
                          </a:solidFill>
                          <a:latin typeface="Helvetica Neue"/>
                          <a:ea typeface="Helvetica Neue"/>
                          <a:cs typeface="Helvetica Neue"/>
                        </a:rPr>
                        <a:t>✓</a:t>
                      </a:r>
                    </a:p>
                  </a:txBody>
                  <a:tcPr marL="66675" marR="57150" marT="19050" marB="19050" anchor="ctr">
                    <a:lnL w="19050">
                      <a:solidFill>
                        <a:srgbClr val="F5F2E9"/>
                      </a:solidFill>
                    </a:lnL>
                    <a:lnR w="19050">
                      <a:solidFill>
                        <a:srgbClr val="F5F2E9"/>
                      </a:solidFill>
                    </a:lnR>
                    <a:lnT w="19050">
                      <a:solidFill>
                        <a:srgbClr val="F5F2E9"/>
                      </a:solidFill>
                    </a:lnT>
                    <a:lnB w="19050">
                      <a:solidFill>
                        <a:srgbClr val="F5F2E9"/>
                      </a:solidFill>
                    </a:lnB>
                    <a:solidFill>
                      <a:srgbClr val="E1EADC"/>
                    </a:solidFill>
                  </a:tcPr>
                </a:tc>
                <a:tc>
                  <a:txBody>
                    <a:bodyPr/>
                    <a:lstStyle/>
                    <a:p>
                      <a:pPr algn="ctr">
                        <a:buNone/>
                      </a:pPr>
                      <a:r>
                        <a:rPr sz="1650" b="1">
                          <a:solidFill>
                            <a:srgbClr val="103D3B"/>
                          </a:solidFill>
                          <a:latin typeface="Helvetica Neue"/>
                          <a:ea typeface="Helvetica Neue"/>
                          <a:cs typeface="Helvetica Neue"/>
                        </a:rPr>
                        <a:t>✓</a:t>
                      </a:r>
                    </a:p>
                  </a:txBody>
                  <a:tcPr marL="66675" marR="57150" marT="19050" marB="19050" anchor="ctr">
                    <a:lnL w="19050">
                      <a:solidFill>
                        <a:srgbClr val="F5F2E9"/>
                      </a:solidFill>
                    </a:lnL>
                    <a:lnR w="19050">
                      <a:solidFill>
                        <a:srgbClr val="F5F2E9"/>
                      </a:solidFill>
                    </a:lnR>
                    <a:lnT w="19050">
                      <a:solidFill>
                        <a:srgbClr val="F5F2E9"/>
                      </a:solidFill>
                    </a:lnT>
                    <a:lnB w="19050">
                      <a:solidFill>
                        <a:srgbClr val="F5F2E9"/>
                      </a:solidFill>
                    </a:lnB>
                    <a:solidFill>
                      <a:srgbClr val="E1EADC"/>
                    </a:solidFill>
                  </a:tcPr>
                </a:tc>
              </a:tr>
              <a:tr h="304800">
                <a:tc>
                  <a:txBody>
                    <a:bodyPr/>
                    <a:lstStyle/>
                    <a:p>
                      <a:pPr algn="l">
                        <a:buNone/>
                      </a:pPr>
                      <a:r>
                        <a:rPr sz="1500" b="1">
                          <a:solidFill>
                            <a:srgbClr val="103D3B"/>
                          </a:solidFill>
                          <a:latin typeface="Helvetica Neue"/>
                          <a:ea typeface="Helvetica Neue"/>
                          <a:cs typeface="Helvetica Neue"/>
                        </a:rPr>
                        <a:t>Compare options</a:t>
                      </a:r>
                    </a:p>
                  </a:txBody>
                  <a:tcPr marL="57150" marR="57150" marT="19050" marB="19050" anchor="ctr">
                    <a:lnL w="19050">
                      <a:solidFill>
                        <a:srgbClr val="F5F2E9"/>
                      </a:solidFill>
                    </a:lnL>
                    <a:lnR w="19050">
                      <a:solidFill>
                        <a:srgbClr val="F5F2E9"/>
                      </a:solidFill>
                    </a:lnR>
                    <a:lnT w="19050">
                      <a:solidFill>
                        <a:srgbClr val="F5F2E9"/>
                      </a:solidFill>
                    </a:lnT>
                    <a:lnB w="19050">
                      <a:solidFill>
                        <a:srgbClr val="F5F2E9"/>
                      </a:solidFill>
                    </a:lnB>
                    <a:solidFill>
                      <a:srgbClr val="F5F2E9"/>
                    </a:solidFill>
                  </a:tcPr>
                </a:tc>
                <a:tc>
                  <a:txBody>
                    <a:bodyPr/>
                    <a:lstStyle/>
                    <a:p>
                      <a:pPr algn="ctr">
                        <a:buNone/>
                      </a:pPr>
                      <a:r>
                        <a:rPr sz="1500" b="0">
                          <a:solidFill>
                            <a:srgbClr val="103D3B"/>
                          </a:solidFill>
                          <a:latin typeface="Helvetica Neue"/>
                          <a:ea typeface="Helvetica Neue"/>
                          <a:cs typeface="Helvetica Neue"/>
                        </a:rPr>
                        <a:t>–</a:t>
                      </a:r>
                    </a:p>
                  </a:txBody>
                  <a:tcPr marL="66675" marR="57150" marT="19050" marB="19050" anchor="ctr">
                    <a:lnL w="19050">
                      <a:solidFill>
                        <a:srgbClr val="F5F2E9"/>
                      </a:solidFill>
                    </a:lnL>
                    <a:lnR w="19050">
                      <a:solidFill>
                        <a:srgbClr val="F5F2E9"/>
                      </a:solidFill>
                    </a:lnR>
                    <a:lnT w="19050">
                      <a:solidFill>
                        <a:srgbClr val="F5F2E9"/>
                      </a:solidFill>
                    </a:lnT>
                    <a:lnB w="19050">
                      <a:solidFill>
                        <a:srgbClr val="F5F2E9"/>
                      </a:solidFill>
                    </a:lnB>
                    <a:solidFill>
                      <a:srgbClr val="ECECE5"/>
                    </a:solidFill>
                  </a:tcPr>
                </a:tc>
                <a:tc>
                  <a:txBody>
                    <a:bodyPr/>
                    <a:lstStyle/>
                    <a:p>
                      <a:pPr algn="ctr">
                        <a:buNone/>
                      </a:pPr>
                      <a:r>
                        <a:rPr sz="1650" b="1">
                          <a:solidFill>
                            <a:srgbClr val="FFFFFF"/>
                          </a:solidFill>
                          <a:latin typeface="Helvetica Neue"/>
                          <a:ea typeface="Helvetica Neue"/>
                          <a:cs typeface="Helvetica Neue"/>
                        </a:rPr>
                        <a:t>✓</a:t>
                      </a:r>
                    </a:p>
                  </a:txBody>
                  <a:tcPr marL="66675" marR="57150" marT="19050" marB="19050" anchor="ctr">
                    <a:lnL w="19050">
                      <a:solidFill>
                        <a:srgbClr val="F5F2E9"/>
                      </a:solidFill>
                    </a:lnL>
                    <a:lnR w="19050">
                      <a:solidFill>
                        <a:srgbClr val="F5F2E9"/>
                      </a:solidFill>
                    </a:lnR>
                    <a:lnT w="19050">
                      <a:solidFill>
                        <a:srgbClr val="F5F2E9"/>
                      </a:solidFill>
                    </a:lnT>
                    <a:lnB w="19050">
                      <a:solidFill>
                        <a:srgbClr val="F5F2E9"/>
                      </a:solidFill>
                    </a:lnB>
                    <a:solidFill>
                      <a:srgbClr val="236C4E"/>
                    </a:solidFill>
                  </a:tcPr>
                </a:tc>
                <a:tc>
                  <a:txBody>
                    <a:bodyPr/>
                    <a:lstStyle/>
                    <a:p>
                      <a:pPr algn="ctr">
                        <a:buNone/>
                      </a:pPr>
                      <a:r>
                        <a:rPr sz="1650" b="1">
                          <a:solidFill>
                            <a:srgbClr val="103D3B"/>
                          </a:solidFill>
                          <a:latin typeface="Helvetica Neue"/>
                          <a:ea typeface="Helvetica Neue"/>
                          <a:cs typeface="Helvetica Neue"/>
                        </a:rPr>
                        <a:t>✓</a:t>
                      </a:r>
                    </a:p>
                  </a:txBody>
                  <a:tcPr marL="66675" marR="57150" marT="19050" marB="19050" anchor="ctr">
                    <a:lnL w="19050">
                      <a:solidFill>
                        <a:srgbClr val="F5F2E9"/>
                      </a:solidFill>
                    </a:lnL>
                    <a:lnR w="19050">
                      <a:solidFill>
                        <a:srgbClr val="F5F2E9"/>
                      </a:solidFill>
                    </a:lnR>
                    <a:lnT w="19050">
                      <a:solidFill>
                        <a:srgbClr val="F5F2E9"/>
                      </a:solidFill>
                    </a:lnT>
                    <a:lnB w="19050">
                      <a:solidFill>
                        <a:srgbClr val="F5F2E9"/>
                      </a:solidFill>
                    </a:lnB>
                    <a:solidFill>
                      <a:srgbClr val="E1EADC"/>
                    </a:solidFill>
                  </a:tcPr>
                </a:tc>
                <a:tc>
                  <a:txBody>
                    <a:bodyPr/>
                    <a:lstStyle/>
                    <a:p>
                      <a:pPr algn="ctr">
                        <a:buNone/>
                      </a:pPr>
                      <a:r>
                        <a:rPr sz="1650" b="1">
                          <a:solidFill>
                            <a:srgbClr val="103D3B"/>
                          </a:solidFill>
                          <a:latin typeface="Helvetica Neue"/>
                          <a:ea typeface="Helvetica Neue"/>
                          <a:cs typeface="Helvetica Neue"/>
                        </a:rPr>
                        <a:t>✓</a:t>
                      </a:r>
                    </a:p>
                  </a:txBody>
                  <a:tcPr marL="66675" marR="57150" marT="19050" marB="19050" anchor="ctr">
                    <a:lnL w="19050">
                      <a:solidFill>
                        <a:srgbClr val="F5F2E9"/>
                      </a:solidFill>
                    </a:lnL>
                    <a:lnR w="19050">
                      <a:solidFill>
                        <a:srgbClr val="F5F2E9"/>
                      </a:solidFill>
                    </a:lnR>
                    <a:lnT w="19050">
                      <a:solidFill>
                        <a:srgbClr val="F5F2E9"/>
                      </a:solidFill>
                    </a:lnT>
                    <a:lnB w="19050">
                      <a:solidFill>
                        <a:srgbClr val="F5F2E9"/>
                      </a:solidFill>
                    </a:lnB>
                    <a:solidFill>
                      <a:srgbClr val="E1EADC"/>
                    </a:solidFill>
                  </a:tcPr>
                </a:tc>
                <a:tc>
                  <a:txBody>
                    <a:bodyPr/>
                    <a:lstStyle/>
                    <a:p>
                      <a:pPr algn="ctr">
                        <a:buNone/>
                      </a:pPr>
                      <a:r>
                        <a:rPr sz="1650" b="1">
                          <a:solidFill>
                            <a:srgbClr val="103D3B"/>
                          </a:solidFill>
                          <a:latin typeface="Helvetica Neue"/>
                          <a:ea typeface="Helvetica Neue"/>
                          <a:cs typeface="Helvetica Neue"/>
                        </a:rPr>
                        <a:t>✓</a:t>
                      </a:r>
                    </a:p>
                  </a:txBody>
                  <a:tcPr marL="66675" marR="57150" marT="19050" marB="19050" anchor="ctr">
                    <a:lnL w="19050">
                      <a:solidFill>
                        <a:srgbClr val="F5F2E9"/>
                      </a:solidFill>
                    </a:lnL>
                    <a:lnR w="19050">
                      <a:solidFill>
                        <a:srgbClr val="F5F2E9"/>
                      </a:solidFill>
                    </a:lnR>
                    <a:lnT w="19050">
                      <a:solidFill>
                        <a:srgbClr val="F5F2E9"/>
                      </a:solidFill>
                    </a:lnT>
                    <a:lnB w="19050">
                      <a:solidFill>
                        <a:srgbClr val="F5F2E9"/>
                      </a:solidFill>
                    </a:lnB>
                    <a:solidFill>
                      <a:srgbClr val="E1EADC"/>
                    </a:solidFill>
                  </a:tcPr>
                </a:tc>
              </a:tr>
              <a:tr h="304800">
                <a:tc>
                  <a:txBody>
                    <a:bodyPr/>
                    <a:lstStyle/>
                    <a:p>
                      <a:pPr algn="l">
                        <a:buNone/>
                      </a:pPr>
                      <a:r>
                        <a:rPr sz="1500" b="1">
                          <a:solidFill>
                            <a:srgbClr val="103D3B"/>
                          </a:solidFill>
                          <a:latin typeface="Helvetica Neue"/>
                          <a:ea typeface="Helvetica Neue"/>
                          <a:cs typeface="Helvetica Neue"/>
                        </a:rPr>
                        <a:t>Location &amp; reviews</a:t>
                      </a:r>
                    </a:p>
                  </a:txBody>
                  <a:tcPr marL="57150" marR="57150" marT="19050" marB="19050" anchor="ctr">
                    <a:lnL w="19050">
                      <a:solidFill>
                        <a:srgbClr val="F5F2E9"/>
                      </a:solidFill>
                    </a:lnL>
                    <a:lnR w="19050">
                      <a:solidFill>
                        <a:srgbClr val="F5F2E9"/>
                      </a:solidFill>
                    </a:lnR>
                    <a:lnT w="19050">
                      <a:solidFill>
                        <a:srgbClr val="F5F2E9"/>
                      </a:solidFill>
                    </a:lnT>
                    <a:lnB w="19050">
                      <a:solidFill>
                        <a:srgbClr val="F5F2E9"/>
                      </a:solidFill>
                    </a:lnB>
                    <a:solidFill>
                      <a:srgbClr val="F5F2E9"/>
                    </a:solidFill>
                  </a:tcPr>
                </a:tc>
                <a:tc>
                  <a:txBody>
                    <a:bodyPr/>
                    <a:lstStyle/>
                    <a:p>
                      <a:pPr algn="ctr">
                        <a:buNone/>
                      </a:pPr>
                      <a:r>
                        <a:rPr sz="1500" b="0">
                          <a:solidFill>
                            <a:srgbClr val="103D3B"/>
                          </a:solidFill>
                          <a:latin typeface="Helvetica Neue"/>
                          <a:ea typeface="Helvetica Neue"/>
                          <a:cs typeface="Helvetica Neue"/>
                        </a:rPr>
                        <a:t>–</a:t>
                      </a:r>
                    </a:p>
                  </a:txBody>
                  <a:tcPr marL="66675" marR="57150" marT="19050" marB="19050" anchor="ctr">
                    <a:lnL w="19050">
                      <a:solidFill>
                        <a:srgbClr val="F5F2E9"/>
                      </a:solidFill>
                    </a:lnL>
                    <a:lnR w="19050">
                      <a:solidFill>
                        <a:srgbClr val="F5F2E9"/>
                      </a:solidFill>
                    </a:lnR>
                    <a:lnT w="19050">
                      <a:solidFill>
                        <a:srgbClr val="F5F2E9"/>
                      </a:solidFill>
                    </a:lnT>
                    <a:lnB w="19050">
                      <a:solidFill>
                        <a:srgbClr val="F5F2E9"/>
                      </a:solidFill>
                    </a:lnB>
                    <a:solidFill>
                      <a:srgbClr val="ECECE5"/>
                    </a:solidFill>
                  </a:tcPr>
                </a:tc>
                <a:tc>
                  <a:txBody>
                    <a:bodyPr/>
                    <a:lstStyle/>
                    <a:p>
                      <a:pPr algn="ctr">
                        <a:buNone/>
                      </a:pPr>
                      <a:r>
                        <a:rPr sz="1500" b="0">
                          <a:solidFill>
                            <a:srgbClr val="103D3B"/>
                          </a:solidFill>
                          <a:latin typeface="Helvetica Neue"/>
                          <a:ea typeface="Helvetica Neue"/>
                          <a:cs typeface="Helvetica Neue"/>
                        </a:rPr>
                        <a:t>–</a:t>
                      </a:r>
                    </a:p>
                  </a:txBody>
                  <a:tcPr marL="66675" marR="57150" marT="19050" marB="19050" anchor="ctr">
                    <a:lnL w="19050">
                      <a:solidFill>
                        <a:srgbClr val="F5F2E9"/>
                      </a:solidFill>
                    </a:lnL>
                    <a:lnR w="19050">
                      <a:solidFill>
                        <a:srgbClr val="F5F2E9"/>
                      </a:solidFill>
                    </a:lnR>
                    <a:lnT w="19050">
                      <a:solidFill>
                        <a:srgbClr val="F5F2E9"/>
                      </a:solidFill>
                    </a:lnT>
                    <a:lnB w="19050">
                      <a:solidFill>
                        <a:srgbClr val="F5F2E9"/>
                      </a:solidFill>
                    </a:lnB>
                    <a:solidFill>
                      <a:srgbClr val="ECECE5"/>
                    </a:solidFill>
                  </a:tcPr>
                </a:tc>
                <a:tc>
                  <a:txBody>
                    <a:bodyPr/>
                    <a:lstStyle/>
                    <a:p>
                      <a:pPr algn="ctr">
                        <a:buNone/>
                      </a:pPr>
                      <a:r>
                        <a:rPr sz="1650" b="1">
                          <a:solidFill>
                            <a:srgbClr val="FFFFFF"/>
                          </a:solidFill>
                          <a:latin typeface="Helvetica Neue"/>
                          <a:ea typeface="Helvetica Neue"/>
                          <a:cs typeface="Helvetica Neue"/>
                        </a:rPr>
                        <a:t>✓</a:t>
                      </a:r>
                    </a:p>
                  </a:txBody>
                  <a:tcPr marL="66675" marR="57150" marT="19050" marB="19050" anchor="ctr">
                    <a:lnL w="19050">
                      <a:solidFill>
                        <a:srgbClr val="F5F2E9"/>
                      </a:solidFill>
                    </a:lnL>
                    <a:lnR w="19050">
                      <a:solidFill>
                        <a:srgbClr val="F5F2E9"/>
                      </a:solidFill>
                    </a:lnR>
                    <a:lnT w="19050">
                      <a:solidFill>
                        <a:srgbClr val="F5F2E9"/>
                      </a:solidFill>
                    </a:lnT>
                    <a:lnB w="19050">
                      <a:solidFill>
                        <a:srgbClr val="F5F2E9"/>
                      </a:solidFill>
                    </a:lnB>
                    <a:solidFill>
                      <a:srgbClr val="236C4E"/>
                    </a:solidFill>
                  </a:tcPr>
                </a:tc>
                <a:tc>
                  <a:txBody>
                    <a:bodyPr/>
                    <a:lstStyle/>
                    <a:p>
                      <a:pPr algn="ctr">
                        <a:buNone/>
                      </a:pPr>
                      <a:r>
                        <a:rPr sz="1650" b="1">
                          <a:solidFill>
                            <a:srgbClr val="103D3B"/>
                          </a:solidFill>
                          <a:latin typeface="Helvetica Neue"/>
                          <a:ea typeface="Helvetica Neue"/>
                          <a:cs typeface="Helvetica Neue"/>
                        </a:rPr>
                        <a:t>✓</a:t>
                      </a:r>
                    </a:p>
                  </a:txBody>
                  <a:tcPr marL="66675" marR="57150" marT="19050" marB="19050" anchor="ctr">
                    <a:lnL w="19050">
                      <a:solidFill>
                        <a:srgbClr val="F5F2E9"/>
                      </a:solidFill>
                    </a:lnL>
                    <a:lnR w="19050">
                      <a:solidFill>
                        <a:srgbClr val="F5F2E9"/>
                      </a:solidFill>
                    </a:lnR>
                    <a:lnT w="19050">
                      <a:solidFill>
                        <a:srgbClr val="F5F2E9"/>
                      </a:solidFill>
                    </a:lnT>
                    <a:lnB w="19050">
                      <a:solidFill>
                        <a:srgbClr val="F5F2E9"/>
                      </a:solidFill>
                    </a:lnB>
                    <a:solidFill>
                      <a:srgbClr val="E1EADC"/>
                    </a:solidFill>
                  </a:tcPr>
                </a:tc>
                <a:tc>
                  <a:txBody>
                    <a:bodyPr/>
                    <a:lstStyle/>
                    <a:p>
                      <a:pPr algn="ctr">
                        <a:buNone/>
                      </a:pPr>
                      <a:r>
                        <a:rPr sz="1650" b="1">
                          <a:solidFill>
                            <a:srgbClr val="103D3B"/>
                          </a:solidFill>
                          <a:latin typeface="Helvetica Neue"/>
                          <a:ea typeface="Helvetica Neue"/>
                          <a:cs typeface="Helvetica Neue"/>
                        </a:rPr>
                        <a:t>✓</a:t>
                      </a:r>
                    </a:p>
                  </a:txBody>
                  <a:tcPr marL="66675" marR="57150" marT="19050" marB="19050" anchor="ctr">
                    <a:lnL w="19050">
                      <a:solidFill>
                        <a:srgbClr val="F5F2E9"/>
                      </a:solidFill>
                    </a:lnL>
                    <a:lnR w="19050">
                      <a:solidFill>
                        <a:srgbClr val="F5F2E9"/>
                      </a:solidFill>
                    </a:lnR>
                    <a:lnT w="19050">
                      <a:solidFill>
                        <a:srgbClr val="F5F2E9"/>
                      </a:solidFill>
                    </a:lnT>
                    <a:lnB w="19050">
                      <a:solidFill>
                        <a:srgbClr val="F5F2E9"/>
                      </a:solidFill>
                    </a:lnB>
                    <a:solidFill>
                      <a:srgbClr val="E1EADC"/>
                    </a:solidFill>
                  </a:tcPr>
                </a:tc>
              </a:tr>
              <a:tr h="304800">
                <a:tc>
                  <a:txBody>
                    <a:bodyPr/>
                    <a:lstStyle/>
                    <a:p>
                      <a:pPr algn="l">
                        <a:buNone/>
                      </a:pPr>
                      <a:r>
                        <a:rPr sz="1500" b="1">
                          <a:solidFill>
                            <a:srgbClr val="103D3B"/>
                          </a:solidFill>
                          <a:latin typeface="Helvetica Neue"/>
                          <a:ea typeface="Helvetica Neue"/>
                          <a:cs typeface="Helvetica Neue"/>
                        </a:rPr>
                        <a:t>Discuss &amp; scope the job</a:t>
                      </a:r>
                    </a:p>
                  </a:txBody>
                  <a:tcPr marL="57150" marR="57150" marT="19050" marB="19050" anchor="ctr">
                    <a:lnL w="19050">
                      <a:solidFill>
                        <a:srgbClr val="F5F2E9"/>
                      </a:solidFill>
                    </a:lnL>
                    <a:lnR w="19050">
                      <a:solidFill>
                        <a:srgbClr val="F5F2E9"/>
                      </a:solidFill>
                    </a:lnR>
                    <a:lnT w="19050">
                      <a:solidFill>
                        <a:srgbClr val="F5F2E9"/>
                      </a:solidFill>
                    </a:lnT>
                    <a:lnB w="19050">
                      <a:solidFill>
                        <a:srgbClr val="F5F2E9"/>
                      </a:solidFill>
                    </a:lnB>
                    <a:solidFill>
                      <a:srgbClr val="F5F2E9"/>
                    </a:solidFill>
                  </a:tcPr>
                </a:tc>
                <a:tc>
                  <a:txBody>
                    <a:bodyPr/>
                    <a:lstStyle/>
                    <a:p>
                      <a:pPr algn="ctr">
                        <a:buNone/>
                      </a:pPr>
                      <a:r>
                        <a:rPr sz="1500" b="0">
                          <a:solidFill>
                            <a:srgbClr val="103D3B"/>
                          </a:solidFill>
                          <a:latin typeface="Helvetica Neue"/>
                          <a:ea typeface="Helvetica Neue"/>
                          <a:cs typeface="Helvetica Neue"/>
                        </a:rPr>
                        <a:t>–</a:t>
                      </a:r>
                    </a:p>
                  </a:txBody>
                  <a:tcPr marL="66675" marR="57150" marT="19050" marB="19050" anchor="ctr">
                    <a:lnL w="19050">
                      <a:solidFill>
                        <a:srgbClr val="F5F2E9"/>
                      </a:solidFill>
                    </a:lnL>
                    <a:lnR w="19050">
                      <a:solidFill>
                        <a:srgbClr val="F5F2E9"/>
                      </a:solidFill>
                    </a:lnR>
                    <a:lnT w="19050">
                      <a:solidFill>
                        <a:srgbClr val="F5F2E9"/>
                      </a:solidFill>
                    </a:lnT>
                    <a:lnB w="19050">
                      <a:solidFill>
                        <a:srgbClr val="F5F2E9"/>
                      </a:solidFill>
                    </a:lnB>
                    <a:solidFill>
                      <a:srgbClr val="ECECE5"/>
                    </a:solidFill>
                  </a:tcPr>
                </a:tc>
                <a:tc>
                  <a:txBody>
                    <a:bodyPr/>
                    <a:lstStyle/>
                    <a:p>
                      <a:pPr algn="ctr">
                        <a:buNone/>
                      </a:pPr>
                      <a:r>
                        <a:rPr sz="1500" b="0">
                          <a:solidFill>
                            <a:srgbClr val="103D3B"/>
                          </a:solidFill>
                          <a:latin typeface="Helvetica Neue"/>
                          <a:ea typeface="Helvetica Neue"/>
                          <a:cs typeface="Helvetica Neue"/>
                        </a:rPr>
                        <a:t>–</a:t>
                      </a:r>
                    </a:p>
                  </a:txBody>
                  <a:tcPr marL="66675" marR="57150" marT="19050" marB="19050" anchor="ctr">
                    <a:lnL w="19050">
                      <a:solidFill>
                        <a:srgbClr val="F5F2E9"/>
                      </a:solidFill>
                    </a:lnL>
                    <a:lnR w="19050">
                      <a:solidFill>
                        <a:srgbClr val="F5F2E9"/>
                      </a:solidFill>
                    </a:lnR>
                    <a:lnT w="19050">
                      <a:solidFill>
                        <a:srgbClr val="F5F2E9"/>
                      </a:solidFill>
                    </a:lnT>
                    <a:lnB w="19050">
                      <a:solidFill>
                        <a:srgbClr val="F5F2E9"/>
                      </a:solidFill>
                    </a:lnB>
                    <a:solidFill>
                      <a:srgbClr val="ECECE5"/>
                    </a:solidFill>
                  </a:tcPr>
                </a:tc>
                <a:tc>
                  <a:txBody>
                    <a:bodyPr/>
                    <a:lstStyle/>
                    <a:p>
                      <a:pPr algn="ctr">
                        <a:buNone/>
                      </a:pPr>
                      <a:r>
                        <a:rPr sz="1500" b="0">
                          <a:solidFill>
                            <a:srgbClr val="103D3B"/>
                          </a:solidFill>
                          <a:latin typeface="Helvetica Neue"/>
                          <a:ea typeface="Helvetica Neue"/>
                          <a:cs typeface="Helvetica Neue"/>
                        </a:rPr>
                        <a:t>–</a:t>
                      </a:r>
                    </a:p>
                  </a:txBody>
                  <a:tcPr marL="66675" marR="57150" marT="19050" marB="19050" anchor="ctr">
                    <a:lnL w="19050">
                      <a:solidFill>
                        <a:srgbClr val="F5F2E9"/>
                      </a:solidFill>
                    </a:lnL>
                    <a:lnR w="19050">
                      <a:solidFill>
                        <a:srgbClr val="F5F2E9"/>
                      </a:solidFill>
                    </a:lnR>
                    <a:lnT w="19050">
                      <a:solidFill>
                        <a:srgbClr val="F5F2E9"/>
                      </a:solidFill>
                    </a:lnT>
                    <a:lnB w="19050">
                      <a:solidFill>
                        <a:srgbClr val="F5F2E9"/>
                      </a:solidFill>
                    </a:lnB>
                    <a:solidFill>
                      <a:srgbClr val="ECECE5"/>
                    </a:solidFill>
                  </a:tcPr>
                </a:tc>
                <a:tc>
                  <a:txBody>
                    <a:bodyPr/>
                    <a:lstStyle/>
                    <a:p>
                      <a:pPr algn="ctr">
                        <a:buNone/>
                      </a:pPr>
                      <a:r>
                        <a:rPr sz="1650" b="1">
                          <a:solidFill>
                            <a:srgbClr val="FFFFFF"/>
                          </a:solidFill>
                          <a:latin typeface="Helvetica Neue"/>
                          <a:ea typeface="Helvetica Neue"/>
                          <a:cs typeface="Helvetica Neue"/>
                        </a:rPr>
                        <a:t>✓</a:t>
                      </a:r>
                    </a:p>
                  </a:txBody>
                  <a:tcPr marL="66675" marR="57150" marT="19050" marB="19050" anchor="ctr">
                    <a:lnL w="19050">
                      <a:solidFill>
                        <a:srgbClr val="F5F2E9"/>
                      </a:solidFill>
                    </a:lnL>
                    <a:lnR w="19050">
                      <a:solidFill>
                        <a:srgbClr val="F5F2E9"/>
                      </a:solidFill>
                    </a:lnR>
                    <a:lnT w="19050">
                      <a:solidFill>
                        <a:srgbClr val="F5F2E9"/>
                      </a:solidFill>
                    </a:lnT>
                    <a:lnB w="19050">
                      <a:solidFill>
                        <a:srgbClr val="F5F2E9"/>
                      </a:solidFill>
                    </a:lnB>
                    <a:solidFill>
                      <a:srgbClr val="236C4E"/>
                    </a:solidFill>
                  </a:tcPr>
                </a:tc>
                <a:tc>
                  <a:txBody>
                    <a:bodyPr/>
                    <a:lstStyle/>
                    <a:p>
                      <a:pPr algn="ctr">
                        <a:buNone/>
                      </a:pPr>
                      <a:r>
                        <a:rPr sz="1650" b="1">
                          <a:solidFill>
                            <a:srgbClr val="103D3B"/>
                          </a:solidFill>
                          <a:latin typeface="Helvetica Neue"/>
                          <a:ea typeface="Helvetica Neue"/>
                          <a:cs typeface="Helvetica Neue"/>
                        </a:rPr>
                        <a:t>✓</a:t>
                      </a:r>
                    </a:p>
                  </a:txBody>
                  <a:tcPr marL="66675" marR="57150" marT="19050" marB="19050" anchor="ctr">
                    <a:lnL w="19050">
                      <a:solidFill>
                        <a:srgbClr val="F5F2E9"/>
                      </a:solidFill>
                    </a:lnL>
                    <a:lnR w="19050">
                      <a:solidFill>
                        <a:srgbClr val="F5F2E9"/>
                      </a:solidFill>
                    </a:lnR>
                    <a:lnT w="19050">
                      <a:solidFill>
                        <a:srgbClr val="F5F2E9"/>
                      </a:solidFill>
                    </a:lnT>
                    <a:lnB w="19050">
                      <a:solidFill>
                        <a:srgbClr val="F5F2E9"/>
                      </a:solidFill>
                    </a:lnB>
                    <a:solidFill>
                      <a:srgbClr val="E1EADC"/>
                    </a:solidFill>
                  </a:tcPr>
                </a:tc>
              </a:tr>
              <a:tr h="304800">
                <a:tc>
                  <a:txBody>
                    <a:bodyPr/>
                    <a:lstStyle/>
                    <a:p>
                      <a:pPr algn="l">
                        <a:buNone/>
                      </a:pPr>
                      <a:r>
                        <a:rPr sz="1500" b="1">
                          <a:solidFill>
                            <a:srgbClr val="103D3B"/>
                          </a:solidFill>
                          <a:latin typeface="Helvetica Neue"/>
                          <a:ea typeface="Helvetica Neue"/>
                          <a:cs typeface="Helvetica Neue"/>
                        </a:rPr>
                        <a:t>Delegate the task</a:t>
                      </a:r>
                    </a:p>
                  </a:txBody>
                  <a:tcPr marL="57150" marR="57150" marT="19050" marB="19050" anchor="ctr">
                    <a:lnL w="19050">
                      <a:solidFill>
                        <a:srgbClr val="F5F2E9"/>
                      </a:solidFill>
                    </a:lnL>
                    <a:lnR w="19050">
                      <a:solidFill>
                        <a:srgbClr val="F5F2E9"/>
                      </a:solidFill>
                    </a:lnR>
                    <a:lnT w="19050">
                      <a:solidFill>
                        <a:srgbClr val="F5F2E9"/>
                      </a:solidFill>
                    </a:lnT>
                    <a:lnB w="19050">
                      <a:solidFill>
                        <a:srgbClr val="F5F2E9"/>
                      </a:solidFill>
                    </a:lnB>
                    <a:solidFill>
                      <a:srgbClr val="F5F2E9"/>
                    </a:solidFill>
                  </a:tcPr>
                </a:tc>
                <a:tc>
                  <a:txBody>
                    <a:bodyPr/>
                    <a:lstStyle/>
                    <a:p>
                      <a:pPr algn="ctr">
                        <a:buNone/>
                      </a:pPr>
                      <a:r>
                        <a:rPr sz="1500" b="0">
                          <a:solidFill>
                            <a:srgbClr val="103D3B"/>
                          </a:solidFill>
                          <a:latin typeface="Helvetica Neue"/>
                          <a:ea typeface="Helvetica Neue"/>
                          <a:cs typeface="Helvetica Neue"/>
                        </a:rPr>
                        <a:t>–</a:t>
                      </a:r>
                    </a:p>
                  </a:txBody>
                  <a:tcPr marL="66675" marR="57150" marT="19050" marB="19050" anchor="ctr">
                    <a:lnL w="19050">
                      <a:solidFill>
                        <a:srgbClr val="F5F2E9"/>
                      </a:solidFill>
                    </a:lnL>
                    <a:lnR w="19050">
                      <a:solidFill>
                        <a:srgbClr val="F5F2E9"/>
                      </a:solidFill>
                    </a:lnR>
                    <a:lnT w="19050">
                      <a:solidFill>
                        <a:srgbClr val="F5F2E9"/>
                      </a:solidFill>
                    </a:lnT>
                    <a:lnB w="19050">
                      <a:solidFill>
                        <a:srgbClr val="F5F2E9"/>
                      </a:solidFill>
                    </a:lnB>
                    <a:solidFill>
                      <a:srgbClr val="ECECE5"/>
                    </a:solidFill>
                  </a:tcPr>
                </a:tc>
                <a:tc>
                  <a:txBody>
                    <a:bodyPr/>
                    <a:lstStyle/>
                    <a:p>
                      <a:pPr algn="ctr">
                        <a:buNone/>
                      </a:pPr>
                      <a:r>
                        <a:rPr sz="1500" b="0">
                          <a:solidFill>
                            <a:srgbClr val="103D3B"/>
                          </a:solidFill>
                          <a:latin typeface="Helvetica Neue"/>
                          <a:ea typeface="Helvetica Neue"/>
                          <a:cs typeface="Helvetica Neue"/>
                        </a:rPr>
                        <a:t>–</a:t>
                      </a:r>
                    </a:p>
                  </a:txBody>
                  <a:tcPr marL="66675" marR="57150" marT="19050" marB="19050" anchor="ctr">
                    <a:lnL w="19050">
                      <a:solidFill>
                        <a:srgbClr val="F5F2E9"/>
                      </a:solidFill>
                    </a:lnL>
                    <a:lnR w="19050">
                      <a:solidFill>
                        <a:srgbClr val="F5F2E9"/>
                      </a:solidFill>
                    </a:lnR>
                    <a:lnT w="19050">
                      <a:solidFill>
                        <a:srgbClr val="F5F2E9"/>
                      </a:solidFill>
                    </a:lnT>
                    <a:lnB w="19050">
                      <a:solidFill>
                        <a:srgbClr val="F5F2E9"/>
                      </a:solidFill>
                    </a:lnB>
                    <a:solidFill>
                      <a:srgbClr val="ECECE5"/>
                    </a:solidFill>
                  </a:tcPr>
                </a:tc>
                <a:tc>
                  <a:txBody>
                    <a:bodyPr/>
                    <a:lstStyle/>
                    <a:p>
                      <a:pPr algn="ctr">
                        <a:buNone/>
                      </a:pPr>
                      <a:r>
                        <a:rPr sz="1500" b="0">
                          <a:solidFill>
                            <a:srgbClr val="103D3B"/>
                          </a:solidFill>
                          <a:latin typeface="Helvetica Neue"/>
                          <a:ea typeface="Helvetica Neue"/>
                          <a:cs typeface="Helvetica Neue"/>
                        </a:rPr>
                        <a:t>–</a:t>
                      </a:r>
                    </a:p>
                  </a:txBody>
                  <a:tcPr marL="66675" marR="57150" marT="19050" marB="19050" anchor="ctr">
                    <a:lnL w="19050">
                      <a:solidFill>
                        <a:srgbClr val="F5F2E9"/>
                      </a:solidFill>
                    </a:lnL>
                    <a:lnR w="19050">
                      <a:solidFill>
                        <a:srgbClr val="F5F2E9"/>
                      </a:solidFill>
                    </a:lnR>
                    <a:lnT w="19050">
                      <a:solidFill>
                        <a:srgbClr val="F5F2E9"/>
                      </a:solidFill>
                    </a:lnT>
                    <a:lnB w="19050">
                      <a:solidFill>
                        <a:srgbClr val="F5F2E9"/>
                      </a:solidFill>
                    </a:lnB>
                    <a:solidFill>
                      <a:srgbClr val="ECECE5"/>
                    </a:solidFill>
                  </a:tcPr>
                </a:tc>
                <a:tc>
                  <a:txBody>
                    <a:bodyPr/>
                    <a:lstStyle/>
                    <a:p>
                      <a:pPr algn="ctr">
                        <a:buNone/>
                      </a:pPr>
                      <a:r>
                        <a:rPr sz="1500" b="0">
                          <a:solidFill>
                            <a:srgbClr val="103D3B"/>
                          </a:solidFill>
                          <a:latin typeface="Helvetica Neue"/>
                          <a:ea typeface="Helvetica Neue"/>
                          <a:cs typeface="Helvetica Neue"/>
                        </a:rPr>
                        <a:t>–</a:t>
                      </a:r>
                    </a:p>
                  </a:txBody>
                  <a:tcPr marL="66675" marR="57150" marT="19050" marB="19050" anchor="ctr">
                    <a:lnL w="19050">
                      <a:solidFill>
                        <a:srgbClr val="F5F2E9"/>
                      </a:solidFill>
                    </a:lnL>
                    <a:lnR w="19050">
                      <a:solidFill>
                        <a:srgbClr val="F5F2E9"/>
                      </a:solidFill>
                    </a:lnR>
                    <a:lnT w="19050">
                      <a:solidFill>
                        <a:srgbClr val="F5F2E9"/>
                      </a:solidFill>
                    </a:lnT>
                    <a:lnB w="19050">
                      <a:solidFill>
                        <a:srgbClr val="F5F2E9"/>
                      </a:solidFill>
                    </a:lnB>
                    <a:solidFill>
                      <a:srgbClr val="ECECE5"/>
                    </a:solidFill>
                  </a:tcPr>
                </a:tc>
                <a:tc>
                  <a:txBody>
                    <a:bodyPr/>
                    <a:lstStyle/>
                    <a:p>
                      <a:pPr algn="ctr">
                        <a:buNone/>
                      </a:pPr>
                      <a:r>
                        <a:rPr sz="1650" b="1">
                          <a:solidFill>
                            <a:srgbClr val="FFFFFF"/>
                          </a:solidFill>
                          <a:latin typeface="Helvetica Neue"/>
                          <a:ea typeface="Helvetica Neue"/>
                          <a:cs typeface="Helvetica Neue"/>
                        </a:rPr>
                        <a:t>✓</a:t>
                      </a:r>
                    </a:p>
                  </a:txBody>
                  <a:tcPr marL="66675" marR="57150" marT="19050" marB="19050" anchor="ctr">
                    <a:lnL w="19050">
                      <a:solidFill>
                        <a:srgbClr val="F5F2E9"/>
                      </a:solidFill>
                    </a:lnL>
                    <a:lnR w="19050">
                      <a:solidFill>
                        <a:srgbClr val="F5F2E9"/>
                      </a:solidFill>
                    </a:lnR>
                    <a:lnT w="19050">
                      <a:solidFill>
                        <a:srgbClr val="F5F2E9"/>
                      </a:solidFill>
                    </a:lnT>
                    <a:lnB w="19050">
                      <a:solidFill>
                        <a:srgbClr val="F5F2E9"/>
                      </a:solidFill>
                    </a:lnB>
                    <a:solidFill>
                      <a:srgbClr val="236C4E"/>
                    </a:solidFill>
                  </a:tcPr>
                </a:tc>
              </a:tr>
              <a:tr h="409575">
                <a:tc>
                  <a:txBody>
                    <a:bodyPr/>
                    <a:lstStyle/>
                    <a:p>
                      <a:pPr algn="l">
                        <a:buNone/>
                      </a:pPr>
                      <a:r>
                        <a:rPr sz="1500" b="1">
                          <a:solidFill>
                            <a:srgbClr val="A34E3F"/>
                          </a:solidFill>
                          <a:latin typeface="Helvetica Neue"/>
                          <a:ea typeface="Helvetica Neue"/>
                          <a:cs typeface="Helvetica Neue"/>
                        </a:rPr>
                        <a:t>Get quotes &amp; schedule</a:t>
                      </a:r>
                    </a:p>
                  </a:txBody>
                  <a:tcPr marL="57150" marR="57150" marT="19050" marB="19050" anchor="ctr">
                    <a:lnL w="19050">
                      <a:solidFill>
                        <a:srgbClr val="F5F2E9"/>
                      </a:solidFill>
                    </a:lnL>
                    <a:lnR w="19050">
                      <a:solidFill>
                        <a:srgbClr val="F5F2E9"/>
                      </a:solidFill>
                    </a:lnR>
                    <a:lnT w="19050" cmpd="sng">
                      <a:solidFill>
                        <a:srgbClr val="F5F2E9"/>
                      </a:solidFill>
                      <a:prstDash val="solid"/>
                    </a:lnT>
                    <a:lnB w="19050">
                      <a:solidFill>
                        <a:srgbClr val="F5F2E9"/>
                      </a:solidFill>
                    </a:lnB>
                    <a:solidFill>
                      <a:srgbClr val="F0E2D9"/>
                    </a:solidFill>
                  </a:tcPr>
                </a:tc>
                <a:tc rowSpan="2" gridSpan="5">
                  <a:txBody>
                    <a:bodyPr/>
                    <a:lstStyle/>
                    <a:p>
                      <a:pPr algn="ctr">
                        <a:buNone/>
                      </a:pPr>
                      <a:r>
                        <a:rPr sz="1650" b="1">
                          <a:solidFill>
                            <a:srgbClr val="A34E3F"/>
                          </a:solidFill>
                          <a:latin typeface="Helvetica Neue"/>
                          <a:ea typeface="Helvetica Neue"/>
                          <a:cs typeface="Helvetica Neue"/>
                        </a:rPr>
                        <a:t>Missing today: a live data layer with business pricing and availability.</a:t>
                      </a:r>
                    </a:p>
                    <a:p>
                      <a:pPr algn="ctr">
                        <a:buNone/>
                      </a:pPr>
                      <a:r>
                        <a:rPr sz="1650" b="1">
                          <a:solidFill>
                            <a:srgbClr val="A34E3F"/>
                          </a:solidFill>
                          <a:latin typeface="Helvetica Neue"/>
                          <a:ea typeface="Helvetica Neue"/>
                          <a:cs typeface="Helvetica Neue"/>
                        </a:rPr>
                        <a:t>Without it, agents cannot complete scheduling, booking or payment.</a:t>
                      </a:r>
                    </a:p>
                  </a:txBody>
                  <a:tcPr marL="66675" marR="57150" marT="19050" marB="19050" anchor="ctr">
                    <a:lnL w="19050">
                      <a:solidFill>
                        <a:srgbClr val="F5F2E9"/>
                      </a:solidFill>
                    </a:lnL>
                    <a:lnR w="19050">
                      <a:solidFill>
                        <a:srgbClr val="F5F2E9"/>
                      </a:solidFill>
                    </a:lnR>
                    <a:lnT w="19050" cmpd="sng">
                      <a:solidFill>
                        <a:srgbClr val="F5F2E9"/>
                      </a:solidFill>
                      <a:prstDash val="solid"/>
                    </a:lnT>
                    <a:lnB w="19050">
                      <a:solidFill>
                        <a:srgbClr val="F5F2E9"/>
                      </a:solidFill>
                    </a:lnB>
                    <a:solidFill>
                      <a:srgbClr val="F0E2D9"/>
                    </a:solidFill>
                  </a:tcPr>
                </a:tc>
                <a:tc rowSpan="2" hMerge="1">
                  <a:txBody>
                    <a:bodyPr/>
                    <a:lstStyle/>
                    <a:p>
                      <a:endParaRPr/>
                    </a:p>
                  </a:txBody>
                  <a:tcPr marL="66675" marR="57150" marT="19050" marB="19050" anchor="ctr">
                    <a:lnL w="19050">
                      <a:solidFill>
                        <a:srgbClr val="F5F2E9"/>
                      </a:solidFill>
                    </a:lnL>
                    <a:lnR w="19050">
                      <a:solidFill>
                        <a:srgbClr val="F5F2E9"/>
                      </a:solidFill>
                    </a:lnR>
                    <a:lnT w="66675">
                      <a:solidFill>
                        <a:srgbClr val="F5F2E9"/>
                      </a:solidFill>
                    </a:lnT>
                    <a:lnB w="19050">
                      <a:solidFill>
                        <a:srgbClr val="F5F2E9"/>
                      </a:solidFill>
                    </a:lnB>
                    <a:solidFill>
                      <a:srgbClr val="F0E2D9"/>
                    </a:solidFill>
                  </a:tcPr>
                </a:tc>
                <a:tc rowSpan="2" hMerge="1">
                  <a:txBody>
                    <a:bodyPr/>
                    <a:lstStyle/>
                    <a:p>
                      <a:endParaRPr/>
                    </a:p>
                  </a:txBody>
                  <a:tcPr marL="66675" marR="57150" marT="19050" marB="19050" anchor="ctr">
                    <a:lnL w="19050">
                      <a:solidFill>
                        <a:srgbClr val="F5F2E9"/>
                      </a:solidFill>
                    </a:lnL>
                    <a:lnR w="19050">
                      <a:solidFill>
                        <a:srgbClr val="F5F2E9"/>
                      </a:solidFill>
                    </a:lnR>
                    <a:lnT w="66675">
                      <a:solidFill>
                        <a:srgbClr val="F5F2E9"/>
                      </a:solidFill>
                    </a:lnT>
                    <a:lnB w="19050">
                      <a:solidFill>
                        <a:srgbClr val="F5F2E9"/>
                      </a:solidFill>
                    </a:lnB>
                    <a:solidFill>
                      <a:srgbClr val="F0E2D9"/>
                    </a:solidFill>
                  </a:tcPr>
                </a:tc>
                <a:tc rowSpan="2" hMerge="1">
                  <a:txBody>
                    <a:bodyPr/>
                    <a:lstStyle/>
                    <a:p>
                      <a:endParaRPr/>
                    </a:p>
                  </a:txBody>
                  <a:tcPr marL="66675" marR="57150" marT="19050" marB="19050" anchor="ctr">
                    <a:lnL w="19050">
                      <a:solidFill>
                        <a:srgbClr val="F5F2E9"/>
                      </a:solidFill>
                    </a:lnL>
                    <a:lnR w="19050">
                      <a:solidFill>
                        <a:srgbClr val="F5F2E9"/>
                      </a:solidFill>
                    </a:lnR>
                    <a:lnT w="66675">
                      <a:solidFill>
                        <a:srgbClr val="F5F2E9"/>
                      </a:solidFill>
                    </a:lnT>
                    <a:lnB w="19050">
                      <a:solidFill>
                        <a:srgbClr val="F5F2E9"/>
                      </a:solidFill>
                    </a:lnB>
                    <a:solidFill>
                      <a:srgbClr val="F0E2D9"/>
                    </a:solidFill>
                  </a:tcPr>
                </a:tc>
                <a:tc rowSpan="2" hMerge="1">
                  <a:txBody>
                    <a:bodyPr/>
                    <a:lstStyle/>
                    <a:p>
                      <a:endParaRPr/>
                    </a:p>
                  </a:txBody>
                  <a:tcPr marL="66675" marR="57150" marT="19050" marB="19050" anchor="ctr">
                    <a:lnL w="19050">
                      <a:solidFill>
                        <a:srgbClr val="F5F2E9"/>
                      </a:solidFill>
                    </a:lnL>
                    <a:lnR w="19050">
                      <a:solidFill>
                        <a:srgbClr val="F5F2E9"/>
                      </a:solidFill>
                    </a:lnR>
                    <a:lnT w="66675">
                      <a:solidFill>
                        <a:srgbClr val="F5F2E9"/>
                      </a:solidFill>
                    </a:lnT>
                    <a:lnB w="19050">
                      <a:solidFill>
                        <a:srgbClr val="F5F2E9"/>
                      </a:solidFill>
                    </a:lnB>
                    <a:solidFill>
                      <a:srgbClr val="F0E2D9"/>
                    </a:solidFill>
                  </a:tcPr>
                </a:tc>
              </a:tr>
              <a:tr h="409575">
                <a:tc>
                  <a:txBody>
                    <a:bodyPr/>
                    <a:lstStyle/>
                    <a:p>
                      <a:pPr algn="l">
                        <a:buNone/>
                      </a:pPr>
                      <a:r>
                        <a:rPr sz="1500" b="1">
                          <a:solidFill>
                            <a:srgbClr val="A34E3F"/>
                          </a:solidFill>
                          <a:latin typeface="Helvetica Neue"/>
                          <a:ea typeface="Helvetica Neue"/>
                          <a:cs typeface="Helvetica Neue"/>
                        </a:rPr>
                        <a:t>Book &amp; pay</a:t>
                      </a:r>
                    </a:p>
                  </a:txBody>
                  <a:tcPr marL="57150" marR="57150" marT="19050" marB="19050" anchor="ctr">
                    <a:lnL w="19050">
                      <a:solidFill>
                        <a:srgbClr val="F5F2E9"/>
                      </a:solidFill>
                    </a:lnL>
                    <a:lnR w="19050">
                      <a:solidFill>
                        <a:srgbClr val="F5F2E9"/>
                      </a:solidFill>
                    </a:lnR>
                    <a:lnT w="19050">
                      <a:solidFill>
                        <a:srgbClr val="F5F2E9"/>
                      </a:solidFill>
                    </a:lnT>
                    <a:lnB w="19050">
                      <a:solidFill>
                        <a:srgbClr val="F5F2E9"/>
                      </a:solidFill>
                    </a:lnB>
                    <a:solidFill>
                      <a:srgbClr val="F0E2D9"/>
                    </a:solidFill>
                  </a:tcPr>
                </a:tc>
                <a:tc gridSpan="5" vMerge="1">
                  <a:txBody>
                    <a:bodyPr/>
                    <a:lstStyle/>
                    <a:p>
                      <a:endParaRPr/>
                    </a:p>
                  </a:txBody>
                  <a:tcPr marL="66675" marR="57150" marT="19050" marB="19050" anchor="ctr">
                    <a:lnL w="19050">
                      <a:solidFill>
                        <a:srgbClr val="F5F2E9"/>
                      </a:solidFill>
                    </a:lnL>
                    <a:lnR w="19050">
                      <a:solidFill>
                        <a:srgbClr val="F5F2E9"/>
                      </a:solidFill>
                    </a:lnR>
                    <a:lnT w="19050">
                      <a:solidFill>
                        <a:srgbClr val="F5F2E9"/>
                      </a:solidFill>
                    </a:lnT>
                    <a:lnB w="19050">
                      <a:solidFill>
                        <a:srgbClr val="F5F2E9"/>
                      </a:solidFill>
                    </a:lnB>
                    <a:solidFill>
                      <a:srgbClr val="F0E2D9"/>
                    </a:solidFill>
                  </a:tcPr>
                </a:tc>
                <a:tc hMerge="1" vMerge="1">
                  <a:txBody>
                    <a:bodyPr/>
                    <a:lstStyle/>
                    <a:p>
                      <a:endParaRPr/>
                    </a:p>
                  </a:txBody>
                  <a:tcPr marL="66675" marR="57150" marT="19050" marB="19050" anchor="ctr">
                    <a:lnL w="19050">
                      <a:solidFill>
                        <a:srgbClr val="F5F2E9"/>
                      </a:solidFill>
                    </a:lnL>
                    <a:lnR w="19050">
                      <a:solidFill>
                        <a:srgbClr val="F5F2E9"/>
                      </a:solidFill>
                    </a:lnR>
                    <a:lnT w="19050">
                      <a:solidFill>
                        <a:srgbClr val="F5F2E9"/>
                      </a:solidFill>
                    </a:lnT>
                    <a:lnB w="19050">
                      <a:solidFill>
                        <a:srgbClr val="F5F2E9"/>
                      </a:solidFill>
                    </a:lnB>
                    <a:solidFill>
                      <a:srgbClr val="F0E2D9"/>
                    </a:solidFill>
                  </a:tcPr>
                </a:tc>
                <a:tc hMerge="1" vMerge="1">
                  <a:txBody>
                    <a:bodyPr/>
                    <a:lstStyle/>
                    <a:p>
                      <a:endParaRPr/>
                    </a:p>
                  </a:txBody>
                  <a:tcPr marL="66675" marR="57150" marT="19050" marB="19050" anchor="ctr">
                    <a:lnL w="19050">
                      <a:solidFill>
                        <a:srgbClr val="F5F2E9"/>
                      </a:solidFill>
                    </a:lnL>
                    <a:lnR w="19050">
                      <a:solidFill>
                        <a:srgbClr val="F5F2E9"/>
                      </a:solidFill>
                    </a:lnR>
                    <a:lnT w="19050">
                      <a:solidFill>
                        <a:srgbClr val="F5F2E9"/>
                      </a:solidFill>
                    </a:lnT>
                    <a:lnB w="19050">
                      <a:solidFill>
                        <a:srgbClr val="F5F2E9"/>
                      </a:solidFill>
                    </a:lnB>
                    <a:solidFill>
                      <a:srgbClr val="F0E2D9"/>
                    </a:solidFill>
                  </a:tcPr>
                </a:tc>
                <a:tc hMerge="1" vMerge="1">
                  <a:txBody>
                    <a:bodyPr/>
                    <a:lstStyle/>
                    <a:p>
                      <a:endParaRPr/>
                    </a:p>
                  </a:txBody>
                  <a:tcPr marL="66675" marR="57150" marT="19050" marB="19050" anchor="ctr">
                    <a:lnL w="19050">
                      <a:solidFill>
                        <a:srgbClr val="F5F2E9"/>
                      </a:solidFill>
                    </a:lnL>
                    <a:lnR w="19050">
                      <a:solidFill>
                        <a:srgbClr val="F5F2E9"/>
                      </a:solidFill>
                    </a:lnR>
                    <a:lnT w="19050">
                      <a:solidFill>
                        <a:srgbClr val="F5F2E9"/>
                      </a:solidFill>
                    </a:lnT>
                    <a:lnB w="19050">
                      <a:solidFill>
                        <a:srgbClr val="F5F2E9"/>
                      </a:solidFill>
                    </a:lnB>
                    <a:solidFill>
                      <a:srgbClr val="F0E2D9"/>
                    </a:solidFill>
                  </a:tcPr>
                </a:tc>
                <a:tc hMerge="1" vMerge="1">
                  <a:txBody>
                    <a:bodyPr/>
                    <a:lstStyle/>
                    <a:p>
                      <a:endParaRPr/>
                    </a:p>
                  </a:txBody>
                  <a:tcPr marL="66675" marR="57150" marT="19050" marB="19050" anchor="ctr">
                    <a:lnL w="19050">
                      <a:solidFill>
                        <a:srgbClr val="F5F2E9"/>
                      </a:solidFill>
                    </a:lnL>
                    <a:lnR w="19050">
                      <a:solidFill>
                        <a:srgbClr val="F5F2E9"/>
                      </a:solidFill>
                    </a:lnR>
                    <a:lnT w="19050">
                      <a:solidFill>
                        <a:srgbClr val="F5F2E9"/>
                      </a:solidFill>
                    </a:lnT>
                    <a:lnB w="19050">
                      <a:solidFill>
                        <a:srgbClr val="F5F2E9"/>
                      </a:solidFill>
                    </a:lnB>
                    <a:solidFill>
                      <a:srgbClr val="F0E2D9"/>
                    </a:solidFill>
                  </a:tcPr>
                </a:tc>
              </a:tr>
            </a:tbl>
          </a:graphicData>
        </a:graphic>
      </p:graphicFrame>
      <p:sp>
        <p:nvSpPr>
          <p:cNvPr id="5" name="v30-text-3">
            <a:extLst xmlns:a="http://schemas.openxmlformats.org/drawingml/2006/main">
              <a:ext uri="{FF2B5EF4-FFF2-40B4-BE49-F238E27FC236}">
                <a16:creationId xmlns:a16="http://schemas.microsoft.com/office/drawing/2014/main" id="{18B77D59-D1BB-43F2-8A95-F43D36E4DEA1}"/>
              </a:ext>
            </a:extLst>
          </p:cNvPr>
          <p:cNvSpPr>
            <a:spLocks xmlns:a="http://schemas.openxmlformats.org/drawingml/2006/main" noGrp="1"/>
          </p:cNvSpPr>
          <p:nvPr/>
        </p:nvSpPr>
        <p:spPr>
          <a:xfrm xmlns:a="http://schemas.openxmlformats.org/drawingml/2006/main">
            <a:off x="609600" y="5762625"/>
            <a:ext cx="10972800" cy="666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2100" b="1">
                <a:solidFill>
                  <a:srgbClr val="103D3B"/>
                </a:solidFill>
                <a:latin typeface="Helvetica Neue"/>
                <a:ea typeface="Helvetica Neue"/>
                <a:cs typeface="Helvetica Neue"/>
              </a:defRPr>
            </a:defPPr>
          </a:lstStyle>
          <a:p xmlns:a="http://schemas.openxmlformats.org/drawingml/2006/main">
            <a:pPr algn="l">
              <a:buNone/>
              <a:defRPr sz="2100" b="1">
                <a:solidFill>
                  <a:srgbClr val="103D3B"/>
                </a:solidFill>
                <a:latin typeface="Helvetica Neue"/>
                <a:ea typeface="Helvetica Neue"/>
                <a:cs typeface="Helvetica Neue"/>
              </a:defRPr>
            </a:pPr>
            <a:r>
              <a:rPr sz="2100" b="1">
                <a:solidFill>
                  <a:srgbClr val="103D3B"/>
                </a:solidFill>
                <a:latin typeface="Helvetica Neue"/>
                <a:ea typeface="Helvetica Neue"/>
                <a:cs typeface="Helvetica Neue"/>
              </a:rPr>
              <a:t>The live data layer that enables agent bookings can capture value</a:t>
            </a:r>
          </a:p>
          <a:p xmlns:a="http://schemas.openxmlformats.org/drawingml/2006/main">
            <a:pPr algn="l">
              <a:buNone/>
              <a:defRPr sz="2100" b="1">
                <a:solidFill>
                  <a:srgbClr val="103D3B"/>
                </a:solidFill>
                <a:latin typeface="Helvetica Neue"/>
                <a:ea typeface="Helvetica Neue"/>
                <a:cs typeface="Helvetica Neue"/>
              </a:defRPr>
            </a:pPr>
            <a:r>
              <a:rPr sz="2100" b="1">
                <a:solidFill>
                  <a:srgbClr val="103D3B"/>
                </a:solidFill>
                <a:latin typeface="Helvetica Neue"/>
                <a:ea typeface="Helvetica Neue"/>
                <a:cs typeface="Helvetica Neue"/>
              </a:rPr>
              <a:t>from the $1.2T local-services spending pool.</a:t>
            </a:r>
          </a:p>
        </p:txBody>
      </p:sp>
      <p:sp>
        <p:nvSpPr>
          <p:cNvPr id="6" name="v30-text-4">
            <a:extLst xmlns:a="http://schemas.openxmlformats.org/drawingml/2006/main">
              <a:ext uri="{FF2B5EF4-FFF2-40B4-BE49-F238E27FC236}">
                <a16:creationId xmlns:a16="http://schemas.microsoft.com/office/drawing/2014/main" id="{1F1DFEBF-554A-41C0-853E-1BA9FE87610F}"/>
              </a:ext>
            </a:extLst>
          </p:cNvPr>
          <p:cNvSpPr>
            <a:spLocks xmlns:a="http://schemas.openxmlformats.org/drawingml/2006/main" noGrp="1"/>
          </p:cNvSpPr>
          <p:nvPr/>
        </p:nvSpPr>
        <p:spPr>
          <a:xfrm xmlns:a="http://schemas.openxmlformats.org/drawingml/2006/main">
            <a:off x="609600" y="6486525"/>
            <a:ext cx="1066800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938" b="0">
                <a:solidFill>
                  <a:srgbClr val="53716A"/>
                </a:solidFill>
                <a:latin typeface="Helvetica Neue"/>
                <a:ea typeface="Helvetica Neue"/>
                <a:cs typeface="Helvetica Neue"/>
              </a:defRPr>
            </a:defPPr>
          </a:lstStyle>
          <a:p xmlns:a="http://schemas.openxmlformats.org/drawingml/2006/main">
            <a:pPr algn="l">
              <a:buNone/>
              <a:defRPr sz="938" b="0">
                <a:solidFill>
                  <a:srgbClr val="53716A"/>
                </a:solidFill>
                <a:latin typeface="Helvetica Neue"/>
                <a:ea typeface="Helvetica Neue"/>
                <a:cs typeface="Helvetica Neue"/>
              </a:defRPr>
            </a:pPr>
            <a:r>
              <a:rPr sz="938" b="0">
                <a:solidFill>
                  <a:srgbClr val="53716A"/>
                </a:solidFill>
                <a:latin typeface="Helvetica Neue"/>
                <a:ea typeface="Helvetica Neue"/>
                <a:cs typeface="Helvetica Neue"/>
              </a:rPr>
              <a:t>≈$1.2T annual U.S. spending across selected categories; mixed 2023–25 sources, including materials/DIY. </a:t>
            </a:r>
          </a:p>
        </p:txBody>
      </p:sp>
      <p:sp>
        <p:nvSpPr>
          <p:cNvPr id="7" name="v30-text-5">
            <a:extLst xmlns:a="http://schemas.openxmlformats.org/drawingml/2006/main">
              <a:ext uri="{FF2B5EF4-FFF2-40B4-BE49-F238E27FC236}">
                <a16:creationId xmlns:a16="http://schemas.microsoft.com/office/drawing/2014/main" id="{1B0D603A-7571-4A29-9CD2-469B869CB11D}"/>
              </a:ext>
            </a:extLst>
          </p:cNvPr>
          <p:cNvSpPr>
            <a:spLocks xmlns:a="http://schemas.openxmlformats.org/drawingml/2006/main" noGrp="1"/>
          </p:cNvSpPr>
          <p:nvPr/>
        </p:nvSpPr>
        <p:spPr>
          <a:xfrm xmlns:a="http://schemas.openxmlformats.org/drawingml/2006/main">
            <a:off x="11049000" y="6667500"/>
            <a:ext cx="666750" cy="1809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1125" b="0">
                <a:solidFill>
                  <a:srgbClr val="53716A"/>
                </a:solidFill>
                <a:latin typeface="Helvetica Neue"/>
                <a:ea typeface="Helvetica Neue"/>
                <a:cs typeface="Helvetica Neue"/>
              </a:defRPr>
            </a:defPPr>
          </a:lstStyle>
          <a:p xmlns:a="http://schemas.openxmlformats.org/drawingml/2006/main">
            <a:pPr algn="l">
              <a:buNone/>
              <a:defRPr sz="1125" b="0">
                <a:solidFill>
                  <a:srgbClr val="53716A"/>
                </a:solidFill>
                <a:latin typeface="Helvetica Neue"/>
                <a:ea typeface="Helvetica Neue"/>
                <a:cs typeface="Helvetica Neue"/>
              </a:defRPr>
            </a:pPr>
            <a:r>
              <a:rPr sz="1125" b="0">
                <a:solidFill>
                  <a:srgbClr val="53716A"/>
                </a:solidFill>
                <a:latin typeface="Helvetica Neue"/>
                <a:ea typeface="Helvetica Neue"/>
                <a:cs typeface="Helvetica Neue"/>
              </a:rPr>
              <a:t>2 / 7</a:t>
            </a:r>
          </a:p>
        </p:txBody>
      </p:sp>
    </p:spTree>
    <p:extLst>
      <p:ext uri="{BB962C8B-B14F-4D97-AF65-F5344CB8AC3E}">
        <p14:creationId xmlns:p14="http://schemas.microsoft.com/office/powerpoint/2010/main" val="457645913"/>
      </p:ext>
    </p:extLst>
  </p:cSld>
</p:sld>
</file>

<file path=ppt/slides/slide3.xml><?xml version="1.0" encoding="utf-8"?>
<p:sld xmlns:p="http://schemas.openxmlformats.org/presentationml/2006/main">
  <p:cSld>
    <p:bg>
      <p:bgPr>
        <a:solidFill xmlns:a="http://schemas.openxmlformats.org/drawingml/2006/main">
          <a:srgbClr val="F5F2E9"/>
        </a:solidFill>
      </p:bgPr>
    </p:bg>
    <p:spTree>
      <p:nvGrpSpPr>
        <p:cNvPr id="1" name=""/>
        <p:cNvGrpSpPr/>
        <p:nvPr/>
      </p:nvGrpSpPr>
      <p:grpSpPr>
        <a:xfrm xmlns:a="http://schemas.openxmlformats.org/drawingml/2006/main"/>
      </p:grpSpPr>
      <p:cxnSp>
        <p:nvCxnSpPr>
          <p:cNvPr id="57" name="Straight Arrow Connector 56">
            <a:extLst xmlns:a="http://schemas.openxmlformats.org/drawingml/2006/main">
              <a:ext uri="{FF2B5EF4-FFF2-40B4-BE49-F238E27FC236}">
                <a16:creationId xmlns:a16="http://schemas.microsoft.com/office/drawing/2014/main" id="{B294C362-B2EB-4E8B-8605-BDBF0D8FF02F}"/>
              </a:ext>
            </a:extLst>
          </p:cNvPr>
          <p:cNvCxnSpPr>
            <a:stCxn xmlns:a="http://schemas.openxmlformats.org/drawingml/2006/main" id="32" idx="3"/>
            <a:endCxn xmlns:a="http://schemas.openxmlformats.org/drawingml/2006/main" id="44" idx="1"/>
          </p:cNvCxnSpPr>
          <p:nvPr/>
        </p:nvCxnSpPr>
        <p:spPr>
          <a:xfrm xmlns:a="http://schemas.openxmlformats.org/drawingml/2006/main">
            <a:off x="9810750" y="4905375"/>
            <a:ext cx="552450" cy="0"/>
          </a:xfrm>
          <a:prstGeom xmlns:a="http://schemas.openxmlformats.org/drawingml/2006/main" prst="straightConnector1">
            <a:avLst/>
          </a:prstGeom>
          <a:ln xmlns:a="http://schemas.openxmlformats.org/drawingml/2006/main" w="19050">
            <a:solidFill>
              <a:srgbClr val="236C4E"/>
            </a:solidFill>
            <a:prstDash val="solid"/>
            <a:headEnd type="arrow" w="sm" len="sm"/>
            <a:tailEnd type="arrow" w="sm" len="sm"/>
          </a:ln>
        </p:spPr>
      </p:cxnSp>
      <p:cxnSp>
        <p:nvCxnSpPr>
          <p:cNvPr id="56" name="Elbow Connector 55">
            <a:extLst xmlns:a="http://schemas.openxmlformats.org/drawingml/2006/main">
              <a:ext uri="{FF2B5EF4-FFF2-40B4-BE49-F238E27FC236}">
                <a16:creationId xmlns:a16="http://schemas.microsoft.com/office/drawing/2014/main" id="{6816B95B-777E-43FA-BC52-72F45826C616}"/>
              </a:ext>
            </a:extLst>
          </p:cNvPr>
          <p:cNvCxnSpPr>
            <a:stCxn xmlns:a="http://schemas.openxmlformats.org/drawingml/2006/main" id="25" idx="3"/>
            <a:endCxn xmlns:a="http://schemas.openxmlformats.org/drawingml/2006/main" id="32" idx="1"/>
          </p:cNvCxnSpPr>
          <p:nvPr/>
        </p:nvCxnSpPr>
        <p:spPr>
          <a:xfrm xmlns:a="http://schemas.openxmlformats.org/drawingml/2006/main">
            <a:off x="6610350" y="4133850"/>
            <a:ext cx="533400" cy="771525"/>
          </a:xfrm>
          <a:prstGeom xmlns:a="http://schemas.openxmlformats.org/drawingml/2006/main" prst="bentConnector3">
            <a:avLst>
              <a:gd name="adj1" fmla="val 50000"/>
            </a:avLst>
          </a:prstGeom>
          <a:ln xmlns:a="http://schemas.openxmlformats.org/drawingml/2006/main" w="19050">
            <a:solidFill>
              <a:srgbClr val="236C4E"/>
            </a:solidFill>
            <a:prstDash val="solid"/>
            <a:headEnd type="arrow" w="sm" len="sm"/>
            <a:tailEnd type="arrow" w="sm" len="sm"/>
          </a:ln>
        </p:spPr>
      </p:cxnSp>
      <p:cxnSp>
        <p:nvCxnSpPr>
          <p:cNvPr id="55" name="Straight Arrow Connector 54">
            <a:extLst xmlns:a="http://schemas.openxmlformats.org/drawingml/2006/main">
              <a:ext uri="{FF2B5EF4-FFF2-40B4-BE49-F238E27FC236}">
                <a16:creationId xmlns:a16="http://schemas.microsoft.com/office/drawing/2014/main" id="{82D781A9-D5CB-44B5-8290-F83BF6BCFE75}"/>
              </a:ext>
            </a:extLst>
          </p:cNvPr>
          <p:cNvCxnSpPr>
            <a:stCxn xmlns:a="http://schemas.openxmlformats.org/drawingml/2006/main" id="31" idx="3"/>
            <a:endCxn xmlns:a="http://schemas.openxmlformats.org/drawingml/2006/main" id="43" idx="1"/>
          </p:cNvCxnSpPr>
          <p:nvPr/>
        </p:nvCxnSpPr>
        <p:spPr>
          <a:xfrm xmlns:a="http://schemas.openxmlformats.org/drawingml/2006/main">
            <a:off x="9810750" y="4000500"/>
            <a:ext cx="552450" cy="0"/>
          </a:xfrm>
          <a:prstGeom xmlns:a="http://schemas.openxmlformats.org/drawingml/2006/main" prst="straightConnector1">
            <a:avLst/>
          </a:prstGeom>
          <a:ln xmlns:a="http://schemas.openxmlformats.org/drawingml/2006/main" w="19050">
            <a:solidFill>
              <a:srgbClr val="236C4E"/>
            </a:solidFill>
            <a:prstDash val="solid"/>
            <a:headEnd type="arrow" w="sm" len="sm"/>
            <a:tailEnd type="arrow" w="sm" len="sm"/>
          </a:ln>
        </p:spPr>
      </p:cxnSp>
      <p:cxnSp>
        <p:nvCxnSpPr>
          <p:cNvPr id="54" name="Elbow Connector 53">
            <a:extLst xmlns:a="http://schemas.openxmlformats.org/drawingml/2006/main">
              <a:ext uri="{FF2B5EF4-FFF2-40B4-BE49-F238E27FC236}">
                <a16:creationId xmlns:a16="http://schemas.microsoft.com/office/drawing/2014/main" id="{9914CC6C-9EB6-4C7A-BF0F-150C87BA367D}"/>
              </a:ext>
            </a:extLst>
          </p:cNvPr>
          <p:cNvCxnSpPr>
            <a:stCxn xmlns:a="http://schemas.openxmlformats.org/drawingml/2006/main" id="25" idx="3"/>
            <a:endCxn xmlns:a="http://schemas.openxmlformats.org/drawingml/2006/main" id="31" idx="1"/>
          </p:cNvCxnSpPr>
          <p:nvPr/>
        </p:nvCxnSpPr>
        <p:spPr>
          <a:xfrm xmlns:a="http://schemas.openxmlformats.org/drawingml/2006/main" flipV="1">
            <a:off x="6610350" y="4000500"/>
            <a:ext cx="533400" cy="133350"/>
          </a:xfrm>
          <a:prstGeom xmlns:a="http://schemas.openxmlformats.org/drawingml/2006/main" prst="bentConnector3">
            <a:avLst>
              <a:gd name="adj1" fmla="val 50000"/>
            </a:avLst>
          </a:prstGeom>
          <a:ln xmlns:a="http://schemas.openxmlformats.org/drawingml/2006/main" w="19050">
            <a:solidFill>
              <a:srgbClr val="236C4E"/>
            </a:solidFill>
            <a:prstDash val="solid"/>
            <a:headEnd type="arrow" w="sm" len="sm"/>
            <a:tailEnd type="arrow" w="sm" len="sm"/>
          </a:ln>
        </p:spPr>
      </p:cxnSp>
      <p:cxnSp>
        <p:nvCxnSpPr>
          <p:cNvPr id="53" name="Straight Arrow Connector 52">
            <a:extLst xmlns:a="http://schemas.openxmlformats.org/drawingml/2006/main">
              <a:ext uri="{FF2B5EF4-FFF2-40B4-BE49-F238E27FC236}">
                <a16:creationId xmlns:a16="http://schemas.microsoft.com/office/drawing/2014/main" id="{05E84AB7-F8BD-4884-8AD2-9A7A232D4D1F}"/>
              </a:ext>
            </a:extLst>
          </p:cNvPr>
          <p:cNvCxnSpPr>
            <a:stCxn xmlns:a="http://schemas.openxmlformats.org/drawingml/2006/main" id="30" idx="3"/>
            <a:endCxn xmlns:a="http://schemas.openxmlformats.org/drawingml/2006/main" id="42" idx="1"/>
          </p:cNvCxnSpPr>
          <p:nvPr/>
        </p:nvCxnSpPr>
        <p:spPr>
          <a:xfrm xmlns:a="http://schemas.openxmlformats.org/drawingml/2006/main">
            <a:off x="9810750" y="3124200"/>
            <a:ext cx="552450" cy="0"/>
          </a:xfrm>
          <a:prstGeom xmlns:a="http://schemas.openxmlformats.org/drawingml/2006/main" prst="straightConnector1">
            <a:avLst/>
          </a:prstGeom>
          <a:ln xmlns:a="http://schemas.openxmlformats.org/drawingml/2006/main" w="19050">
            <a:solidFill>
              <a:srgbClr val="236C4E"/>
            </a:solidFill>
            <a:prstDash val="solid"/>
            <a:headEnd type="arrow" w="sm" len="sm"/>
            <a:tailEnd type="arrow" w="sm" len="sm"/>
          </a:ln>
        </p:spPr>
      </p:cxnSp>
      <p:cxnSp>
        <p:nvCxnSpPr>
          <p:cNvPr id="52" name="Elbow Connector 51">
            <a:extLst xmlns:a="http://schemas.openxmlformats.org/drawingml/2006/main">
              <a:ext uri="{FF2B5EF4-FFF2-40B4-BE49-F238E27FC236}">
                <a16:creationId xmlns:a16="http://schemas.microsoft.com/office/drawing/2014/main" id="{62B0F049-E3AE-4E5F-809B-F14A83D2069D}"/>
              </a:ext>
            </a:extLst>
          </p:cNvPr>
          <p:cNvCxnSpPr>
            <a:stCxn xmlns:a="http://schemas.openxmlformats.org/drawingml/2006/main" id="25" idx="3"/>
            <a:endCxn xmlns:a="http://schemas.openxmlformats.org/drawingml/2006/main" id="30" idx="1"/>
          </p:cNvCxnSpPr>
          <p:nvPr/>
        </p:nvCxnSpPr>
        <p:spPr>
          <a:xfrm xmlns:a="http://schemas.openxmlformats.org/drawingml/2006/main" flipV="1">
            <a:off x="6610350" y="3124200"/>
            <a:ext cx="533400" cy="1009650"/>
          </a:xfrm>
          <a:prstGeom xmlns:a="http://schemas.openxmlformats.org/drawingml/2006/main" prst="bentConnector3">
            <a:avLst>
              <a:gd name="adj1" fmla="val 50000"/>
            </a:avLst>
          </a:prstGeom>
          <a:ln xmlns:a="http://schemas.openxmlformats.org/drawingml/2006/main" w="19050">
            <a:solidFill>
              <a:srgbClr val="236C4E"/>
            </a:solidFill>
            <a:prstDash val="solid"/>
            <a:headEnd type="arrow" w="sm" len="sm"/>
            <a:tailEnd type="arrow" w="sm" len="sm"/>
          </a:ln>
        </p:spPr>
      </p:cxnSp>
      <p:cxnSp>
        <p:nvCxnSpPr>
          <p:cNvPr id="51" name="Elbow Connector 50">
            <a:extLst xmlns:a="http://schemas.openxmlformats.org/drawingml/2006/main">
              <a:ext uri="{FF2B5EF4-FFF2-40B4-BE49-F238E27FC236}">
                <a16:creationId xmlns:a16="http://schemas.microsoft.com/office/drawing/2014/main" id="{6328E423-1D79-4670-BFD5-257C074663D4}"/>
              </a:ext>
            </a:extLst>
          </p:cNvPr>
          <p:cNvCxnSpPr>
            <a:stCxn xmlns:a="http://schemas.openxmlformats.org/drawingml/2006/main" id="16" idx="3"/>
            <a:endCxn xmlns:a="http://schemas.openxmlformats.org/drawingml/2006/main" id="25" idx="1"/>
          </p:cNvCxnSpPr>
          <p:nvPr/>
        </p:nvCxnSpPr>
        <p:spPr>
          <a:xfrm xmlns:a="http://schemas.openxmlformats.org/drawingml/2006/main" flipV="1">
            <a:off x="2362200" y="4133850"/>
            <a:ext cx="838200" cy="1076325"/>
          </a:xfrm>
          <a:prstGeom xmlns:a="http://schemas.openxmlformats.org/drawingml/2006/main" prst="bentConnector3">
            <a:avLst>
              <a:gd name="adj1" fmla="val 50000"/>
            </a:avLst>
          </a:prstGeom>
          <a:ln xmlns:a="http://schemas.openxmlformats.org/drawingml/2006/main" w="19050">
            <a:solidFill>
              <a:srgbClr val="236C4E"/>
            </a:solidFill>
            <a:prstDash val="solid"/>
            <a:headEnd type="arrow" w="sm" len="sm"/>
            <a:tailEnd type="arrow" w="sm" len="sm"/>
          </a:ln>
        </p:spPr>
      </p:cxnSp>
      <p:cxnSp>
        <p:nvCxnSpPr>
          <p:cNvPr id="50" name="Elbow Connector 49">
            <a:extLst xmlns:a="http://schemas.openxmlformats.org/drawingml/2006/main">
              <a:ext uri="{FF2B5EF4-FFF2-40B4-BE49-F238E27FC236}">
                <a16:creationId xmlns:a16="http://schemas.microsoft.com/office/drawing/2014/main" id="{F86F48D7-65AA-4036-B03E-E496D3928529}"/>
              </a:ext>
            </a:extLst>
          </p:cNvPr>
          <p:cNvCxnSpPr>
            <a:stCxn xmlns:a="http://schemas.openxmlformats.org/drawingml/2006/main" id="15" idx="3"/>
            <a:endCxn xmlns:a="http://schemas.openxmlformats.org/drawingml/2006/main" id="25" idx="1"/>
          </p:cNvCxnSpPr>
          <p:nvPr/>
        </p:nvCxnSpPr>
        <p:spPr>
          <a:xfrm xmlns:a="http://schemas.openxmlformats.org/drawingml/2006/main" flipV="1">
            <a:off x="2362200" y="4133850"/>
            <a:ext cx="838200" cy="695325"/>
          </a:xfrm>
          <a:prstGeom xmlns:a="http://schemas.openxmlformats.org/drawingml/2006/main" prst="bentConnector3">
            <a:avLst>
              <a:gd name="adj1" fmla="val 50000"/>
            </a:avLst>
          </a:prstGeom>
          <a:ln xmlns:a="http://schemas.openxmlformats.org/drawingml/2006/main" w="19050">
            <a:solidFill>
              <a:srgbClr val="236C4E"/>
            </a:solidFill>
            <a:prstDash val="solid"/>
            <a:headEnd type="arrow" w="sm" len="sm"/>
            <a:tailEnd type="arrow" w="sm" len="sm"/>
          </a:ln>
        </p:spPr>
      </p:cxnSp>
      <p:cxnSp>
        <p:nvCxnSpPr>
          <p:cNvPr id="49" name="Elbow Connector 48">
            <a:extLst xmlns:a="http://schemas.openxmlformats.org/drawingml/2006/main">
              <a:ext uri="{FF2B5EF4-FFF2-40B4-BE49-F238E27FC236}">
                <a16:creationId xmlns:a16="http://schemas.microsoft.com/office/drawing/2014/main" id="{F8CB4314-E9B2-4B05-A169-3681DBFD1D6F}"/>
              </a:ext>
            </a:extLst>
          </p:cNvPr>
          <p:cNvCxnSpPr>
            <a:stCxn xmlns:a="http://schemas.openxmlformats.org/drawingml/2006/main" id="14" idx="3"/>
            <a:endCxn xmlns:a="http://schemas.openxmlformats.org/drawingml/2006/main" id="25" idx="1"/>
          </p:cNvCxnSpPr>
          <p:nvPr/>
        </p:nvCxnSpPr>
        <p:spPr>
          <a:xfrm xmlns:a="http://schemas.openxmlformats.org/drawingml/2006/main" flipV="1">
            <a:off x="2362200" y="4133850"/>
            <a:ext cx="838200" cy="314325"/>
          </a:xfrm>
          <a:prstGeom xmlns:a="http://schemas.openxmlformats.org/drawingml/2006/main" prst="bentConnector3">
            <a:avLst>
              <a:gd name="adj1" fmla="val 50000"/>
            </a:avLst>
          </a:prstGeom>
          <a:ln xmlns:a="http://schemas.openxmlformats.org/drawingml/2006/main" w="19050">
            <a:solidFill>
              <a:srgbClr val="236C4E"/>
            </a:solidFill>
            <a:prstDash val="solid"/>
            <a:headEnd type="arrow" w="sm" len="sm"/>
            <a:tailEnd type="arrow" w="sm" len="sm"/>
          </a:ln>
        </p:spPr>
      </p:cxnSp>
      <p:cxnSp>
        <p:nvCxnSpPr>
          <p:cNvPr id="48" name="Elbow Connector 47">
            <a:extLst xmlns:a="http://schemas.openxmlformats.org/drawingml/2006/main">
              <a:ext uri="{FF2B5EF4-FFF2-40B4-BE49-F238E27FC236}">
                <a16:creationId xmlns:a16="http://schemas.microsoft.com/office/drawing/2014/main" id="{6CE08369-DCA6-4C52-972A-BB9B8C669B78}"/>
              </a:ext>
            </a:extLst>
          </p:cNvPr>
          <p:cNvCxnSpPr>
            <a:stCxn xmlns:a="http://schemas.openxmlformats.org/drawingml/2006/main" id="13" idx="3"/>
            <a:endCxn xmlns:a="http://schemas.openxmlformats.org/drawingml/2006/main" id="25" idx="1"/>
          </p:cNvCxnSpPr>
          <p:nvPr/>
        </p:nvCxnSpPr>
        <p:spPr>
          <a:xfrm xmlns:a="http://schemas.openxmlformats.org/drawingml/2006/main">
            <a:off x="2362200" y="4067175"/>
            <a:ext cx="838200" cy="66675"/>
          </a:xfrm>
          <a:prstGeom xmlns:a="http://schemas.openxmlformats.org/drawingml/2006/main" prst="bentConnector3">
            <a:avLst>
              <a:gd name="adj1" fmla="val 50000"/>
            </a:avLst>
          </a:prstGeom>
          <a:ln xmlns:a="http://schemas.openxmlformats.org/drawingml/2006/main" w="19050">
            <a:solidFill>
              <a:srgbClr val="236C4E"/>
            </a:solidFill>
            <a:prstDash val="solid"/>
            <a:headEnd type="arrow" w="sm" len="sm"/>
            <a:tailEnd type="arrow" w="sm" len="sm"/>
          </a:ln>
        </p:spPr>
      </p:cxnSp>
      <p:cxnSp>
        <p:nvCxnSpPr>
          <p:cNvPr id="47" name="Elbow Connector 46">
            <a:extLst xmlns:a="http://schemas.openxmlformats.org/drawingml/2006/main">
              <a:ext uri="{FF2B5EF4-FFF2-40B4-BE49-F238E27FC236}">
                <a16:creationId xmlns:a16="http://schemas.microsoft.com/office/drawing/2014/main" id="{E3DD6495-8CB5-43A1-A49E-13CA0950A01E}"/>
              </a:ext>
            </a:extLst>
          </p:cNvPr>
          <p:cNvCxnSpPr>
            <a:stCxn xmlns:a="http://schemas.openxmlformats.org/drawingml/2006/main" id="12" idx="3"/>
            <a:endCxn xmlns:a="http://schemas.openxmlformats.org/drawingml/2006/main" id="25" idx="1"/>
          </p:cNvCxnSpPr>
          <p:nvPr/>
        </p:nvCxnSpPr>
        <p:spPr>
          <a:xfrm xmlns:a="http://schemas.openxmlformats.org/drawingml/2006/main">
            <a:off x="2362200" y="3686175"/>
            <a:ext cx="838200" cy="447675"/>
          </a:xfrm>
          <a:prstGeom xmlns:a="http://schemas.openxmlformats.org/drawingml/2006/main" prst="bentConnector3">
            <a:avLst>
              <a:gd name="adj1" fmla="val 50000"/>
            </a:avLst>
          </a:prstGeom>
          <a:ln xmlns:a="http://schemas.openxmlformats.org/drawingml/2006/main" w="19050">
            <a:solidFill>
              <a:srgbClr val="236C4E"/>
            </a:solidFill>
            <a:prstDash val="solid"/>
            <a:headEnd type="arrow" w="sm" len="sm"/>
            <a:tailEnd type="arrow" w="sm" len="sm"/>
          </a:ln>
        </p:spPr>
      </p:cxnSp>
      <p:cxnSp>
        <p:nvCxnSpPr>
          <p:cNvPr id="46" name="Elbow Connector 45">
            <a:extLst xmlns:a="http://schemas.openxmlformats.org/drawingml/2006/main">
              <a:ext uri="{FF2B5EF4-FFF2-40B4-BE49-F238E27FC236}">
                <a16:creationId xmlns:a16="http://schemas.microsoft.com/office/drawing/2014/main" id="{1F19D1E7-B813-4A2B-A5DF-1B746C19C566}"/>
              </a:ext>
            </a:extLst>
          </p:cNvPr>
          <p:cNvCxnSpPr>
            <a:stCxn xmlns:a="http://schemas.openxmlformats.org/drawingml/2006/main" id="11" idx="3"/>
            <a:endCxn xmlns:a="http://schemas.openxmlformats.org/drawingml/2006/main" id="25" idx="1"/>
          </p:cNvCxnSpPr>
          <p:nvPr/>
        </p:nvCxnSpPr>
        <p:spPr>
          <a:xfrm xmlns:a="http://schemas.openxmlformats.org/drawingml/2006/main">
            <a:off x="2362200" y="3305175"/>
            <a:ext cx="838200" cy="828675"/>
          </a:xfrm>
          <a:prstGeom xmlns:a="http://schemas.openxmlformats.org/drawingml/2006/main" prst="bentConnector3">
            <a:avLst>
              <a:gd name="adj1" fmla="val 50000"/>
            </a:avLst>
          </a:prstGeom>
          <a:ln xmlns:a="http://schemas.openxmlformats.org/drawingml/2006/main" w="19050">
            <a:solidFill>
              <a:srgbClr val="236C4E"/>
            </a:solidFill>
            <a:prstDash val="solid"/>
            <a:headEnd type="arrow" w="sm" len="sm"/>
            <a:tailEnd type="arrow" w="sm" len="sm"/>
          </a:ln>
        </p:spPr>
      </p:cxnSp>
      <p:cxnSp>
        <p:nvCxnSpPr>
          <p:cNvPr id="45" name="Elbow Connector 44">
            <a:extLst xmlns:a="http://schemas.openxmlformats.org/drawingml/2006/main">
              <a:ext uri="{FF2B5EF4-FFF2-40B4-BE49-F238E27FC236}">
                <a16:creationId xmlns:a16="http://schemas.microsoft.com/office/drawing/2014/main" id="{5DCB2637-0DE0-4576-8077-ED613A2E6D8B}"/>
              </a:ext>
            </a:extLst>
          </p:cNvPr>
          <p:cNvCxnSpPr>
            <a:stCxn xmlns:a="http://schemas.openxmlformats.org/drawingml/2006/main" id="10" idx="3"/>
            <a:endCxn xmlns:a="http://schemas.openxmlformats.org/drawingml/2006/main" id="25" idx="1"/>
          </p:cNvCxnSpPr>
          <p:nvPr/>
        </p:nvCxnSpPr>
        <p:spPr>
          <a:xfrm xmlns:a="http://schemas.openxmlformats.org/drawingml/2006/main">
            <a:off x="2362200" y="2924175"/>
            <a:ext cx="838200" cy="1209675"/>
          </a:xfrm>
          <a:prstGeom xmlns:a="http://schemas.openxmlformats.org/drawingml/2006/main" prst="bentConnector3">
            <a:avLst>
              <a:gd name="adj1" fmla="val 50000"/>
            </a:avLst>
          </a:prstGeom>
          <a:ln xmlns:a="http://schemas.openxmlformats.org/drawingml/2006/main" w="19050">
            <a:solidFill>
              <a:srgbClr val="236C4E"/>
            </a:solidFill>
            <a:prstDash val="solid"/>
            <a:headEnd type="arrow" w="sm" len="sm"/>
            <a:tailEnd type="arrow" w="sm" len="sm"/>
          </a:ln>
        </p:spPr>
      </p:cxnSp>
      <p:sp>
        <p:nvSpPr>
          <p:cNvPr id="63" name="booking-layer-text-0">
            <a:extLst xmlns:a="http://schemas.openxmlformats.org/drawingml/2006/main">
              <a:ext uri="{FF2B5EF4-FFF2-40B4-BE49-F238E27FC236}">
                <a16:creationId xmlns:a16="http://schemas.microsoft.com/office/drawing/2014/main" id="{780846B9-89B6-42C8-88A6-077B482B99AC}"/>
              </a:ext>
            </a:extLst>
          </p:cNvPr>
          <p:cNvSpPr>
            <a:spLocks xmlns:a="http://schemas.openxmlformats.org/drawingml/2006/main" noGrp="1"/>
          </p:cNvSpPr>
          <p:nvPr/>
        </p:nvSpPr>
        <p:spPr>
          <a:xfrm xmlns:a="http://schemas.openxmlformats.org/drawingml/2006/main">
            <a:off x="495300" y="257175"/>
            <a:ext cx="11201400" cy="2381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defRPr sz="1275" b="1">
                <a:solidFill>
                  <a:srgbClr val="65746C"/>
                </a:solidFill>
                <a:latin typeface="Helvetica Neue"/>
                <a:ea typeface="Helvetica Neue"/>
                <a:cs typeface="Helvetica Neue"/>
              </a:defRPr>
            </a:defPPr>
          </a:lstStyle>
          <a:p xmlns:a="http://schemas.openxmlformats.org/drawingml/2006/main">
            <a:pPr>
              <a:buNone/>
              <a:defRPr sz="1275" b="1">
                <a:solidFill>
                  <a:srgbClr val="65746C"/>
                </a:solidFill>
                <a:latin typeface="Helvetica Neue"/>
                <a:ea typeface="Helvetica Neue"/>
                <a:cs typeface="Helvetica Neue"/>
              </a:defRPr>
            </a:pPr>
            <a:r>
              <a:rPr sz="1275" b="1">
                <a:solidFill>
                  <a:srgbClr val="65746C"/>
                </a:solidFill>
                <a:latin typeface="Helvetica Neue"/>
                <a:ea typeface="Helvetica Neue"/>
                <a:cs typeface="Helvetica Neue"/>
              </a:rPr>
              <a:t>THE SHARED DATA AND BOOKING LAYER</a:t>
            </a:r>
          </a:p>
        </p:txBody>
      </p:sp>
      <p:sp>
        <p:nvSpPr>
          <p:cNvPr id="2" name="booking-layer-text-1">
            <a:extLst xmlns:a="http://schemas.openxmlformats.org/drawingml/2006/main">
              <a:ext uri="{FF2B5EF4-FFF2-40B4-BE49-F238E27FC236}">
                <a16:creationId xmlns:a16="http://schemas.microsoft.com/office/drawing/2014/main" id="{558838F4-FB49-405E-B523-5CF53F03D7AD}"/>
              </a:ext>
            </a:extLst>
          </p:cNvPr>
          <p:cNvSpPr>
            <a:spLocks xmlns:a="http://schemas.openxmlformats.org/drawingml/2006/main" noGrp="1"/>
          </p:cNvSpPr>
          <p:nvPr/>
        </p:nvSpPr>
        <p:spPr>
          <a:xfrm xmlns:a="http://schemas.openxmlformats.org/drawingml/2006/main">
            <a:off x="495300" y="619125"/>
            <a:ext cx="11201400" cy="628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defRPr sz="3300" b="1">
                <a:solidFill>
                  <a:srgbClr val="193C32"/>
                </a:solidFill>
                <a:latin typeface="Helvetica Neue"/>
                <a:ea typeface="Helvetica Neue"/>
                <a:cs typeface="Helvetica Neue"/>
              </a:defRPr>
            </a:defPPr>
          </a:lstStyle>
          <a:p xmlns:a="http://schemas.openxmlformats.org/drawingml/2006/main">
            <a:pPr>
              <a:buNone/>
              <a:defRPr sz="3300" b="1">
                <a:solidFill>
                  <a:srgbClr val="193C32"/>
                </a:solidFill>
                <a:latin typeface="Helvetica Neue"/>
                <a:ea typeface="Helvetica Neue"/>
                <a:cs typeface="Helvetica Neue"/>
              </a:defRPr>
            </a:pPr>
            <a:r>
              <a:rPr sz="3300" b="1">
                <a:solidFill>
                  <a:srgbClr val="193C32"/>
                </a:solidFill>
                <a:latin typeface="Helvetica Neue"/>
                <a:ea typeface="Helvetica Neue"/>
                <a:cs typeface="Helvetica Neue"/>
              </a:rPr>
              <a:t>One booking layer for agents and local businesses</a:t>
            </a:r>
          </a:p>
        </p:txBody>
      </p:sp>
      <p:sp>
        <p:nvSpPr>
          <p:cNvPr id="3" name="booking-layer-text-2">
            <a:extLst xmlns:a="http://schemas.openxmlformats.org/drawingml/2006/main">
              <a:ext uri="{FF2B5EF4-FFF2-40B4-BE49-F238E27FC236}">
                <a16:creationId xmlns:a16="http://schemas.microsoft.com/office/drawing/2014/main" id="{D5C55A98-D2FC-4D22-BDAF-425BD652E5A4}"/>
              </a:ext>
            </a:extLst>
          </p:cNvPr>
          <p:cNvSpPr>
            <a:spLocks xmlns:a="http://schemas.openxmlformats.org/drawingml/2006/main" noGrp="1"/>
          </p:cNvSpPr>
          <p:nvPr/>
        </p:nvSpPr>
        <p:spPr>
          <a:xfrm xmlns:a="http://schemas.openxmlformats.org/drawingml/2006/main">
            <a:off x="495300" y="1362075"/>
            <a:ext cx="11201400" cy="4572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defRPr sz="2025" b="0">
                <a:solidFill>
                  <a:srgbClr val="65746C"/>
                </a:solidFill>
                <a:latin typeface="Helvetica Neue"/>
                <a:ea typeface="Helvetica Neue"/>
                <a:cs typeface="Helvetica Neue"/>
              </a:defRPr>
            </a:defPPr>
          </a:lstStyle>
          <a:p xmlns:a="http://schemas.openxmlformats.org/drawingml/2006/main">
            <a:pPr>
              <a:buNone/>
              <a:defRPr sz="2025" b="0">
                <a:solidFill>
                  <a:srgbClr val="65746C"/>
                </a:solidFill>
                <a:latin typeface="Helvetica Neue"/>
                <a:ea typeface="Helvetica Neue"/>
                <a:cs typeface="Helvetica Neue"/>
              </a:defRPr>
            </a:pPr>
            <a:r>
              <a:rPr sz="2025" b="0">
                <a:solidFill>
                  <a:srgbClr val="65746C"/>
                </a:solidFill>
                <a:latin typeface="Helvetica Neue"/>
                <a:ea typeface="Helvetica Neue"/>
                <a:cs typeface="Helvetica Neue"/>
              </a:rPr>
              <a:t>We connect participating businesses through the software they already use.</a:t>
            </a:r>
          </a:p>
        </p:txBody>
      </p:sp>
      <p:sp>
        <p:nvSpPr>
          <p:cNvPr id="4" name="booking-layer-text-3">
            <a:extLst xmlns:a="http://schemas.openxmlformats.org/drawingml/2006/main">
              <a:ext uri="{FF2B5EF4-FFF2-40B4-BE49-F238E27FC236}">
                <a16:creationId xmlns:a16="http://schemas.microsoft.com/office/drawing/2014/main" id="{25D62D51-3ACC-42B9-AF5C-085EBB1C6C26}"/>
              </a:ext>
            </a:extLst>
          </p:cNvPr>
          <p:cNvSpPr>
            <a:spLocks xmlns:a="http://schemas.openxmlformats.org/drawingml/2006/main" noGrp="1"/>
          </p:cNvSpPr>
          <p:nvPr/>
        </p:nvSpPr>
        <p:spPr>
          <a:xfrm xmlns:a="http://schemas.openxmlformats.org/drawingml/2006/main">
            <a:off x="495300" y="2152650"/>
            <a:ext cx="186690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defRPr sz="1650" b="1">
                <a:solidFill>
                  <a:srgbClr val="193C32"/>
                </a:solidFill>
                <a:latin typeface="Helvetica Neue"/>
                <a:ea typeface="Helvetica Neue"/>
                <a:cs typeface="Helvetica Neue"/>
              </a:defRPr>
            </a:defPPr>
          </a:lstStyle>
          <a:p xmlns:a="http://schemas.openxmlformats.org/drawingml/2006/main">
            <a:pPr>
              <a:buNone/>
              <a:defRPr sz="1650" b="1">
                <a:solidFill>
                  <a:srgbClr val="193C32"/>
                </a:solidFill>
                <a:latin typeface="Helvetica Neue"/>
                <a:ea typeface="Helvetica Neue"/>
                <a:cs typeface="Helvetica Neue"/>
              </a:defRPr>
            </a:pPr>
            <a:r>
              <a:rPr sz="1650" b="1">
                <a:solidFill>
                  <a:srgbClr val="193C32"/>
                </a:solidFill>
                <a:latin typeface="Helvetica Neue"/>
                <a:ea typeface="Helvetica Neue"/>
                <a:cs typeface="Helvetica Neue"/>
              </a:rPr>
              <a:t>Personal agents</a:t>
            </a:r>
          </a:p>
        </p:txBody>
      </p:sp>
      <p:sp>
        <p:nvSpPr>
          <p:cNvPr id="5" name="booking-layer-text-4">
            <a:extLst xmlns:a="http://schemas.openxmlformats.org/drawingml/2006/main">
              <a:ext uri="{FF2B5EF4-FFF2-40B4-BE49-F238E27FC236}">
                <a16:creationId xmlns:a16="http://schemas.microsoft.com/office/drawing/2014/main" id="{D27E49B2-4AE1-4370-860E-31238EBC6788}"/>
              </a:ext>
            </a:extLst>
          </p:cNvPr>
          <p:cNvSpPr>
            <a:spLocks xmlns:a="http://schemas.openxmlformats.org/drawingml/2006/main" noGrp="1"/>
          </p:cNvSpPr>
          <p:nvPr/>
        </p:nvSpPr>
        <p:spPr>
          <a:xfrm xmlns:a="http://schemas.openxmlformats.org/drawingml/2006/main">
            <a:off x="495300" y="2476500"/>
            <a:ext cx="186690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defRPr sz="1425" b="0">
                <a:solidFill>
                  <a:srgbClr val="65746C"/>
                </a:solidFill>
                <a:latin typeface="Helvetica Neue"/>
                <a:ea typeface="Helvetica Neue"/>
                <a:cs typeface="Helvetica Neue"/>
              </a:defRPr>
            </a:defPPr>
          </a:lstStyle>
          <a:p xmlns:a="http://schemas.openxmlformats.org/drawingml/2006/main">
            <a:pPr>
              <a:buNone/>
              <a:defRPr sz="1425" b="0">
                <a:solidFill>
                  <a:srgbClr val="65746C"/>
                </a:solidFill>
                <a:latin typeface="Helvetica Neue"/>
                <a:ea typeface="Helvetica Neue"/>
                <a:cs typeface="Helvetica Neue"/>
              </a:defRPr>
            </a:pPr>
            <a:r>
              <a:rPr sz="1425" b="0">
                <a:solidFill>
                  <a:srgbClr val="65746C"/>
                </a:solidFill>
                <a:latin typeface="Helvetica Neue"/>
                <a:ea typeface="Helvetica Neue"/>
                <a:cs typeface="Helvetica Neue"/>
              </a:rPr>
              <a:t>$2B+ raised*</a:t>
            </a:r>
          </a:p>
        </p:txBody>
      </p:sp>
      <p:sp>
        <p:nvSpPr>
          <p:cNvPr id="6" name="booking-layer-text-5">
            <a:extLst xmlns:a="http://schemas.openxmlformats.org/drawingml/2006/main">
              <a:ext uri="{FF2B5EF4-FFF2-40B4-BE49-F238E27FC236}">
                <a16:creationId xmlns:a16="http://schemas.microsoft.com/office/drawing/2014/main" id="{1C0B045E-DE72-45BB-9114-EFBA9CC9C157}"/>
              </a:ext>
            </a:extLst>
          </p:cNvPr>
          <p:cNvSpPr>
            <a:spLocks xmlns:a="http://schemas.openxmlformats.org/drawingml/2006/main" noGrp="1"/>
          </p:cNvSpPr>
          <p:nvPr/>
        </p:nvSpPr>
        <p:spPr>
          <a:xfrm xmlns:a="http://schemas.openxmlformats.org/drawingml/2006/main">
            <a:off x="3200400" y="2152650"/>
            <a:ext cx="3409950" cy="2952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defRPr sz="1650" b="1">
                <a:solidFill>
                  <a:srgbClr val="193C32"/>
                </a:solidFill>
                <a:latin typeface="Helvetica Neue"/>
                <a:ea typeface="Helvetica Neue"/>
                <a:cs typeface="Helvetica Neue"/>
              </a:defRPr>
            </a:defPPr>
          </a:lstStyle>
          <a:p xmlns:a="http://schemas.openxmlformats.org/drawingml/2006/main">
            <a:pPr>
              <a:buNone/>
              <a:defRPr sz="1650" b="1">
                <a:solidFill>
                  <a:srgbClr val="193C32"/>
                </a:solidFill>
                <a:latin typeface="Helvetica Neue"/>
                <a:ea typeface="Helvetica Neue"/>
                <a:cs typeface="Helvetica Neue"/>
              </a:defRPr>
            </a:pPr>
            <a:r>
              <a:rPr sz="1650" b="1">
                <a:solidFill>
                  <a:srgbClr val="193C32"/>
                </a:solidFill>
                <a:latin typeface="Helvetica Neue"/>
                <a:ea typeface="Helvetica Neue"/>
                <a:cs typeface="Helvetica Neue"/>
              </a:rPr>
              <a:t>GoLocal</a:t>
            </a:r>
          </a:p>
        </p:txBody>
      </p:sp>
      <p:sp>
        <p:nvSpPr>
          <p:cNvPr id="7" name="booking-layer-text-6">
            <a:extLst xmlns:a="http://schemas.openxmlformats.org/drawingml/2006/main">
              <a:ext uri="{FF2B5EF4-FFF2-40B4-BE49-F238E27FC236}">
                <a16:creationId xmlns:a16="http://schemas.microsoft.com/office/drawing/2014/main" id="{2FC5CA1D-5A2A-4CEA-AF88-28C06E1AA264}"/>
              </a:ext>
            </a:extLst>
          </p:cNvPr>
          <p:cNvSpPr>
            <a:spLocks xmlns:a="http://schemas.openxmlformats.org/drawingml/2006/main" noGrp="1"/>
          </p:cNvSpPr>
          <p:nvPr/>
        </p:nvSpPr>
        <p:spPr>
          <a:xfrm xmlns:a="http://schemas.openxmlformats.org/drawingml/2006/main">
            <a:off x="7059386" y="2233617"/>
            <a:ext cx="2751364" cy="29526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defRPr sz="1575" b="1">
                <a:solidFill>
                  <a:srgbClr val="193C32"/>
                </a:solidFill>
                <a:latin typeface="Helvetica Neue"/>
                <a:ea typeface="Helvetica Neue"/>
                <a:cs typeface="Helvetica Neue"/>
              </a:defRPr>
            </a:defPPr>
          </a:lstStyle>
          <a:p xmlns:a="http://schemas.openxmlformats.org/drawingml/2006/main">
            <a:pPr>
              <a:buNone/>
              <a:defRPr sz="1575" b="1">
                <a:solidFill>
                  <a:srgbClr val="193C32"/>
                </a:solidFill>
                <a:latin typeface="Helvetica Neue"/>
                <a:ea typeface="Helvetica Neue"/>
                <a:cs typeface="Helvetica Neue"/>
              </a:defRPr>
            </a:pPr>
            <a:r>
              <a:rPr sz="1575" b="1">
                <a:solidFill>
                  <a:srgbClr val="193C32"/>
                </a:solidFill>
                <a:latin typeface="Helvetica Neue"/>
                <a:ea typeface="Helvetica Neue"/>
                <a:cs typeface="Helvetica Neue"/>
              </a:rPr>
              <a:t>Eg.</a:t>
            </a:r>
            <a:r>
              <a:rPr sz="1575" b="1">
                <a:solidFill>
                  <a:srgbClr val="193C32"/>
                </a:solidFill>
                <a:latin typeface="Helvetica Neue"/>
                <a:ea typeface="Helvetica Neue"/>
                <a:cs typeface="Helvetica Neue"/>
              </a:rPr>
              <a:t> </a:t>
            </a:r>
            <a:r>
              <a:rPr sz="1575" b="1">
                <a:solidFill>
                  <a:srgbClr val="193C32"/>
                </a:solidFill>
                <a:latin typeface="Helvetica Neue"/>
                <a:ea typeface="Helvetica Neue"/>
                <a:cs typeface="Helvetica Neue"/>
              </a:rPr>
              <a:t>Plumbing software stack</a:t>
            </a:r>
          </a:p>
        </p:txBody>
      </p:sp>
      <p:sp>
        <p:nvSpPr>
          <p:cNvPr id="9" name="booking-layer-text-8">
            <a:extLst xmlns:a="http://schemas.openxmlformats.org/drawingml/2006/main">
              <a:ext uri="{FF2B5EF4-FFF2-40B4-BE49-F238E27FC236}">
                <a16:creationId xmlns:a16="http://schemas.microsoft.com/office/drawing/2014/main" id="{D5ED5DD5-348A-40D0-B661-0AB61FC9256A}"/>
              </a:ext>
            </a:extLst>
          </p:cNvPr>
          <p:cNvSpPr>
            <a:spLocks xmlns:a="http://schemas.openxmlformats.org/drawingml/2006/main" noGrp="1"/>
          </p:cNvSpPr>
          <p:nvPr/>
        </p:nvSpPr>
        <p:spPr>
          <a:xfrm xmlns:a="http://schemas.openxmlformats.org/drawingml/2006/main">
            <a:off x="10363200" y="2124075"/>
            <a:ext cx="1333500" cy="5238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defRPr sz="1575" b="1">
                <a:solidFill>
                  <a:srgbClr val="193C32"/>
                </a:solidFill>
                <a:latin typeface="Helvetica Neue"/>
                <a:ea typeface="Helvetica Neue"/>
                <a:cs typeface="Helvetica Neue"/>
              </a:defRPr>
            </a:defPPr>
          </a:lstStyle>
          <a:p xmlns:a="http://schemas.openxmlformats.org/drawingml/2006/main">
            <a:pPr>
              <a:buNone/>
              <a:defRPr sz="1575" b="1">
                <a:solidFill>
                  <a:srgbClr val="193C32"/>
                </a:solidFill>
                <a:latin typeface="Helvetica Neue"/>
                <a:ea typeface="Helvetica Neue"/>
                <a:cs typeface="Helvetica Neue"/>
              </a:defRPr>
            </a:pPr>
            <a:r>
              <a:rPr sz="1575" b="1">
                <a:solidFill>
                  <a:srgbClr val="193C32"/>
                </a:solidFill>
                <a:latin typeface="Helvetica Neue"/>
                <a:ea typeface="Helvetica Neue"/>
                <a:cs typeface="Helvetica Neue"/>
              </a:rPr>
              <a:t>Plumbing</a:t>
            </a:r>
          </a:p>
          <a:p xmlns:a="http://schemas.openxmlformats.org/drawingml/2006/main">
            <a:pPr>
              <a:buNone/>
              <a:defRPr sz="1575" b="1">
                <a:solidFill>
                  <a:srgbClr val="193C32"/>
                </a:solidFill>
                <a:latin typeface="Helvetica Neue"/>
                <a:ea typeface="Helvetica Neue"/>
                <a:cs typeface="Helvetica Neue"/>
              </a:defRPr>
            </a:pPr>
            <a:r>
              <a:rPr sz="1575" b="1">
                <a:solidFill>
                  <a:srgbClr val="193C32"/>
                </a:solidFill>
                <a:latin typeface="Helvetica Neue"/>
                <a:ea typeface="Helvetica Neue"/>
                <a:cs typeface="Helvetica Neue"/>
              </a:rPr>
              <a:t>businesses</a:t>
            </a:r>
          </a:p>
        </p:txBody>
      </p:sp>
      <p:sp>
        <p:nvSpPr>
          <p:cNvPr id="10" name="booking-layer-node-9">
            <a:extLst xmlns:a="http://schemas.openxmlformats.org/drawingml/2006/main">
              <a:ext uri="{FF2B5EF4-FFF2-40B4-BE49-F238E27FC236}">
                <a16:creationId xmlns:a16="http://schemas.microsoft.com/office/drawing/2014/main" id="{C5BE2521-AF10-4909-92F1-A7D9E53DFEBA}"/>
              </a:ext>
            </a:extLst>
          </p:cNvPr>
          <p:cNvSpPr>
            <a:spLocks xmlns:a="http://schemas.openxmlformats.org/drawingml/2006/main" noGrp="1"/>
          </p:cNvSpPr>
          <p:nvPr/>
        </p:nvSpPr>
        <p:spPr>
          <a:xfrm xmlns:a="http://schemas.openxmlformats.org/drawingml/2006/main">
            <a:off x="495300" y="2762250"/>
            <a:ext cx="1866900" cy="323850"/>
          </a:xfrm>
          <a:prstGeom xmlns:a="http://schemas.openxmlformats.org/drawingml/2006/main" prst="rect">
            <a:avLst/>
          </a:prstGeom>
          <a:solidFill xmlns:a="http://schemas.openxmlformats.org/drawingml/2006/main">
            <a:srgbClr val="FFFFFF"/>
          </a:solidFill>
          <a:ln xmlns:a="http://schemas.openxmlformats.org/drawingml/2006/main" w="14288">
            <a:solidFill>
              <a:srgbClr val="CDD5CE"/>
            </a:solidFill>
            <a:prstDash val="solid"/>
          </a:ln>
        </p:spPr>
        <p:txBody>
          <a:bodyPr xmlns:a="http://schemas.openxmlformats.org/drawingml/2006/main" wrap="square" lIns="38100" tIns="38100" rIns="38100" bIns="38100" anchor="ctr">
            <a:noAutofit/>
          </a:bodyPr>
          <a:lstStyle xmlns:a="http://schemas.openxmlformats.org/drawingml/2006/main">
            <a:defPPr algn="ctr">
              <a:defRPr sz="1650" b="1">
                <a:solidFill>
                  <a:srgbClr val="101010"/>
                </a:solidFill>
                <a:latin typeface="Helvetica Neue"/>
                <a:ea typeface="Helvetica Neue"/>
                <a:cs typeface="Helvetica Neue"/>
              </a:defRPr>
            </a:defPPr>
          </a:lstStyle>
          <a:p xmlns:a="http://schemas.openxmlformats.org/drawingml/2006/main">
            <a:pPr algn="ctr">
              <a:buNone/>
              <a:defRPr sz="1650" b="1">
                <a:solidFill>
                  <a:srgbClr val="101010"/>
                </a:solidFill>
                <a:latin typeface="Helvetica Neue"/>
                <a:ea typeface="Helvetica Neue"/>
                <a:cs typeface="Helvetica Neue"/>
              </a:defRPr>
            </a:pPr>
            <a:r>
              <a:rPr sz="1650" b="1">
                <a:solidFill>
                  <a:srgbClr val="101010"/>
                </a:solidFill>
                <a:latin typeface="Helvetica Neue"/>
                <a:ea typeface="Helvetica Neue"/>
                <a:cs typeface="Helvetica Neue"/>
              </a:rPr>
              <a:t>Instinct</a:t>
            </a:r>
          </a:p>
        </p:txBody>
      </p:sp>
      <p:sp>
        <p:nvSpPr>
          <p:cNvPr id="11" name="booking-layer-node-10">
            <a:extLst xmlns:a="http://schemas.openxmlformats.org/drawingml/2006/main">
              <a:ext uri="{FF2B5EF4-FFF2-40B4-BE49-F238E27FC236}">
                <a16:creationId xmlns:a16="http://schemas.microsoft.com/office/drawing/2014/main" id="{5BE92FEF-B9A3-49B6-AE30-B5D9AE989CA7}"/>
              </a:ext>
            </a:extLst>
          </p:cNvPr>
          <p:cNvSpPr>
            <a:spLocks xmlns:a="http://schemas.openxmlformats.org/drawingml/2006/main" noGrp="1"/>
          </p:cNvSpPr>
          <p:nvPr/>
        </p:nvSpPr>
        <p:spPr>
          <a:xfrm xmlns:a="http://schemas.openxmlformats.org/drawingml/2006/main">
            <a:off x="495300" y="3143250"/>
            <a:ext cx="1866900" cy="323850"/>
          </a:xfrm>
          <a:prstGeom xmlns:a="http://schemas.openxmlformats.org/drawingml/2006/main" prst="rect">
            <a:avLst/>
          </a:prstGeom>
          <a:solidFill xmlns:a="http://schemas.openxmlformats.org/drawingml/2006/main">
            <a:srgbClr val="FFFFFF"/>
          </a:solidFill>
          <a:ln xmlns:a="http://schemas.openxmlformats.org/drawingml/2006/main" w="14288">
            <a:solidFill>
              <a:srgbClr val="CDD5CE"/>
            </a:solidFill>
            <a:prstDash val="solid"/>
          </a:ln>
        </p:spPr>
        <p:txBody>
          <a:bodyPr xmlns:a="http://schemas.openxmlformats.org/drawingml/2006/main" wrap="square" lIns="38100" tIns="38100" rIns="38100" bIns="38100" anchor="ctr">
            <a:noAutofit/>
          </a:bodyPr>
          <a:lstStyle xmlns:a="http://schemas.openxmlformats.org/drawingml/2006/main">
            <a:defPPr algn="ctr">
              <a:defRPr sz="1650" b="1">
                <a:solidFill>
                  <a:srgbClr val="101010"/>
                </a:solidFill>
                <a:latin typeface="Helvetica Neue"/>
                <a:ea typeface="Helvetica Neue"/>
                <a:cs typeface="Helvetica Neue"/>
              </a:defRPr>
            </a:defPPr>
          </a:lstStyle>
          <a:p xmlns:a="http://schemas.openxmlformats.org/drawingml/2006/main">
            <a:endParaRPr/>
          </a:p>
        </p:txBody>
      </p:sp>
      <p:sp>
        <p:nvSpPr>
          <p:cNvPr id="12" name="booking-layer-node-11">
            <a:extLst xmlns:a="http://schemas.openxmlformats.org/drawingml/2006/main">
              <a:ext uri="{FF2B5EF4-FFF2-40B4-BE49-F238E27FC236}">
                <a16:creationId xmlns:a16="http://schemas.microsoft.com/office/drawing/2014/main" id="{9AC664CA-0C30-422C-802F-2582A5C5E69A}"/>
              </a:ext>
            </a:extLst>
          </p:cNvPr>
          <p:cNvSpPr>
            <a:spLocks xmlns:a="http://schemas.openxmlformats.org/drawingml/2006/main" noGrp="1"/>
          </p:cNvSpPr>
          <p:nvPr/>
        </p:nvSpPr>
        <p:spPr>
          <a:xfrm xmlns:a="http://schemas.openxmlformats.org/drawingml/2006/main">
            <a:off x="495300" y="3524250"/>
            <a:ext cx="1866900" cy="323850"/>
          </a:xfrm>
          <a:prstGeom xmlns:a="http://schemas.openxmlformats.org/drawingml/2006/main" prst="rect">
            <a:avLst/>
          </a:prstGeom>
          <a:solidFill xmlns:a="http://schemas.openxmlformats.org/drawingml/2006/main">
            <a:srgbClr val="FFFFFF"/>
          </a:solidFill>
          <a:ln xmlns:a="http://schemas.openxmlformats.org/drawingml/2006/main" w="14288">
            <a:solidFill>
              <a:srgbClr val="CDD5CE"/>
            </a:solidFill>
            <a:prstDash val="solid"/>
          </a:ln>
        </p:spPr>
        <p:txBody>
          <a:bodyPr xmlns:a="http://schemas.openxmlformats.org/drawingml/2006/main" wrap="square" lIns="38100" tIns="38100" rIns="38100" bIns="38100" anchor="ctr">
            <a:noAutofit/>
          </a:bodyPr>
          <a:lstStyle xmlns:a="http://schemas.openxmlformats.org/drawingml/2006/main">
            <a:defPPr algn="ctr">
              <a:defRPr sz="1650" b="1">
                <a:solidFill>
                  <a:srgbClr val="101010"/>
                </a:solidFill>
                <a:latin typeface="Helvetica Neue"/>
                <a:ea typeface="Helvetica Neue"/>
                <a:cs typeface="Helvetica Neue"/>
              </a:defRPr>
            </a:defPPr>
          </a:lstStyle>
          <a:p xmlns:a="http://schemas.openxmlformats.org/drawingml/2006/main">
            <a:pPr algn="ctr">
              <a:buNone/>
              <a:defRPr sz="1650" b="1">
                <a:solidFill>
                  <a:srgbClr val="101010"/>
                </a:solidFill>
                <a:latin typeface="Helvetica Neue"/>
                <a:ea typeface="Helvetica Neue"/>
                <a:cs typeface="Helvetica Neue"/>
              </a:defRPr>
            </a:pPr>
            <a:r>
              <a:rPr sz="1650" b="1">
                <a:solidFill>
                  <a:srgbClr val="101010"/>
                </a:solidFill>
                <a:latin typeface="Helvetica Neue"/>
                <a:ea typeface="Helvetica Neue"/>
                <a:cs typeface="Helvetica Neue"/>
              </a:rPr>
              <a:t>Dots</a:t>
            </a:r>
          </a:p>
        </p:txBody>
      </p:sp>
      <p:sp>
        <p:nvSpPr>
          <p:cNvPr id="13" name="booking-layer-node-12">
            <a:extLst xmlns:a="http://schemas.openxmlformats.org/drawingml/2006/main">
              <a:ext uri="{FF2B5EF4-FFF2-40B4-BE49-F238E27FC236}">
                <a16:creationId xmlns:a16="http://schemas.microsoft.com/office/drawing/2014/main" id="{184F9E6D-A0F9-433B-BC7B-8B634B43FA0D}"/>
              </a:ext>
            </a:extLst>
          </p:cNvPr>
          <p:cNvSpPr>
            <a:spLocks xmlns:a="http://schemas.openxmlformats.org/drawingml/2006/main" noGrp="1"/>
          </p:cNvSpPr>
          <p:nvPr/>
        </p:nvSpPr>
        <p:spPr>
          <a:xfrm xmlns:a="http://schemas.openxmlformats.org/drawingml/2006/main">
            <a:off x="495300" y="3905250"/>
            <a:ext cx="1866900" cy="323850"/>
          </a:xfrm>
          <a:prstGeom xmlns:a="http://schemas.openxmlformats.org/drawingml/2006/main" prst="rect">
            <a:avLst/>
          </a:prstGeom>
          <a:solidFill xmlns:a="http://schemas.openxmlformats.org/drawingml/2006/main">
            <a:srgbClr val="FFFFFF"/>
          </a:solidFill>
          <a:ln xmlns:a="http://schemas.openxmlformats.org/drawingml/2006/main" w="14288">
            <a:solidFill>
              <a:srgbClr val="CDD5CE"/>
            </a:solidFill>
            <a:prstDash val="solid"/>
          </a:ln>
        </p:spPr>
        <p:txBody>
          <a:bodyPr xmlns:a="http://schemas.openxmlformats.org/drawingml/2006/main" wrap="square" lIns="38100" tIns="38100" rIns="38100" bIns="38100" anchor="ctr">
            <a:noAutofit/>
          </a:bodyPr>
          <a:lstStyle xmlns:a="http://schemas.openxmlformats.org/drawingml/2006/main">
            <a:defPPr algn="ctr">
              <a:defRPr sz="1650" b="1">
                <a:solidFill>
                  <a:srgbClr val="101010"/>
                </a:solidFill>
                <a:latin typeface="Helvetica Neue"/>
                <a:ea typeface="Helvetica Neue"/>
                <a:cs typeface="Helvetica Neue"/>
              </a:defRPr>
            </a:defPPr>
          </a:lstStyle>
          <a:p xmlns:a="http://schemas.openxmlformats.org/drawingml/2006/main">
            <a:endParaRPr/>
          </a:p>
        </p:txBody>
      </p:sp>
      <p:sp>
        <p:nvSpPr>
          <p:cNvPr id="14" name="booking-layer-node-13">
            <a:extLst xmlns:a="http://schemas.openxmlformats.org/drawingml/2006/main">
              <a:ext uri="{FF2B5EF4-FFF2-40B4-BE49-F238E27FC236}">
                <a16:creationId xmlns:a16="http://schemas.microsoft.com/office/drawing/2014/main" id="{657ECBFD-9328-43BE-9C40-9DD102C43416}"/>
              </a:ext>
            </a:extLst>
          </p:cNvPr>
          <p:cNvSpPr>
            <a:spLocks xmlns:a="http://schemas.openxmlformats.org/drawingml/2006/main" noGrp="1"/>
          </p:cNvSpPr>
          <p:nvPr/>
        </p:nvSpPr>
        <p:spPr>
          <a:xfrm xmlns:a="http://schemas.openxmlformats.org/drawingml/2006/main">
            <a:off x="495300" y="4286250"/>
            <a:ext cx="1866900" cy="323850"/>
          </a:xfrm>
          <a:prstGeom xmlns:a="http://schemas.openxmlformats.org/drawingml/2006/main" prst="rect">
            <a:avLst/>
          </a:prstGeom>
          <a:solidFill xmlns:a="http://schemas.openxmlformats.org/drawingml/2006/main">
            <a:srgbClr val="FFFFFF"/>
          </a:solidFill>
          <a:ln xmlns:a="http://schemas.openxmlformats.org/drawingml/2006/main" w="14288">
            <a:solidFill>
              <a:srgbClr val="CDD5CE"/>
            </a:solidFill>
            <a:prstDash val="solid"/>
          </a:ln>
        </p:spPr>
        <p:txBody>
          <a:bodyPr xmlns:a="http://schemas.openxmlformats.org/drawingml/2006/main" wrap="square" lIns="38100" tIns="38100" rIns="38100" bIns="38100" anchor="ctr">
            <a:noAutofit/>
          </a:bodyPr>
          <a:lstStyle xmlns:a="http://schemas.openxmlformats.org/drawingml/2006/main">
            <a:defPPr algn="ctr">
              <a:defRPr sz="1650" b="1">
                <a:solidFill>
                  <a:srgbClr val="101010"/>
                </a:solidFill>
                <a:latin typeface="Helvetica Neue"/>
                <a:ea typeface="Helvetica Neue"/>
                <a:cs typeface="Helvetica Neue"/>
              </a:defRPr>
            </a:defPPr>
          </a:lstStyle>
          <a:p xmlns:a="http://schemas.openxmlformats.org/drawingml/2006/main">
            <a:endParaRPr/>
          </a:p>
        </p:txBody>
      </p:sp>
      <p:sp>
        <p:nvSpPr>
          <p:cNvPr id="15" name="booking-layer-node-14">
            <a:extLst xmlns:a="http://schemas.openxmlformats.org/drawingml/2006/main">
              <a:ext uri="{FF2B5EF4-FFF2-40B4-BE49-F238E27FC236}">
                <a16:creationId xmlns:a16="http://schemas.microsoft.com/office/drawing/2014/main" id="{877FB408-43FD-4283-86ED-F2F9299DC889}"/>
              </a:ext>
            </a:extLst>
          </p:cNvPr>
          <p:cNvSpPr>
            <a:spLocks xmlns:a="http://schemas.openxmlformats.org/drawingml/2006/main" noGrp="1"/>
          </p:cNvSpPr>
          <p:nvPr/>
        </p:nvSpPr>
        <p:spPr>
          <a:xfrm xmlns:a="http://schemas.openxmlformats.org/drawingml/2006/main">
            <a:off x="495300" y="4667250"/>
            <a:ext cx="1866900" cy="323850"/>
          </a:xfrm>
          <a:prstGeom xmlns:a="http://schemas.openxmlformats.org/drawingml/2006/main" prst="rect">
            <a:avLst/>
          </a:prstGeom>
          <a:solidFill xmlns:a="http://schemas.openxmlformats.org/drawingml/2006/main">
            <a:srgbClr val="FFFFFF"/>
          </a:solidFill>
          <a:ln xmlns:a="http://schemas.openxmlformats.org/drawingml/2006/main" w="14288">
            <a:solidFill>
              <a:srgbClr val="CDD5CE"/>
            </a:solidFill>
            <a:prstDash val="solid"/>
          </a:ln>
        </p:spPr>
        <p:txBody>
          <a:bodyPr xmlns:a="http://schemas.openxmlformats.org/drawingml/2006/main" wrap="square" lIns="38100" tIns="38100" rIns="38100" bIns="38100" anchor="ctr">
            <a:noAutofit/>
          </a:bodyPr>
          <a:lstStyle xmlns:a="http://schemas.openxmlformats.org/drawingml/2006/main">
            <a:defPPr algn="ctr">
              <a:defRPr sz="1650" b="1">
                <a:solidFill>
                  <a:srgbClr val="101010"/>
                </a:solidFill>
                <a:latin typeface="Helvetica Neue"/>
                <a:ea typeface="Helvetica Neue"/>
                <a:cs typeface="Helvetica Neue"/>
              </a:defRPr>
            </a:defPPr>
          </a:lstStyle>
          <a:p xmlns:a="http://schemas.openxmlformats.org/drawingml/2006/main">
            <a:endParaRPr/>
          </a:p>
        </p:txBody>
      </p:sp>
      <p:sp>
        <p:nvSpPr>
          <p:cNvPr id="16" name="booking-layer-node-15">
            <a:extLst xmlns:a="http://schemas.openxmlformats.org/drawingml/2006/main">
              <a:ext uri="{FF2B5EF4-FFF2-40B4-BE49-F238E27FC236}">
                <a16:creationId xmlns:a16="http://schemas.microsoft.com/office/drawing/2014/main" id="{4ADA72F3-71A5-474A-82D5-32213561CCCF}"/>
              </a:ext>
            </a:extLst>
          </p:cNvPr>
          <p:cNvSpPr>
            <a:spLocks xmlns:a="http://schemas.openxmlformats.org/drawingml/2006/main" noGrp="1"/>
          </p:cNvSpPr>
          <p:nvPr/>
        </p:nvSpPr>
        <p:spPr>
          <a:xfrm xmlns:a="http://schemas.openxmlformats.org/drawingml/2006/main">
            <a:off x="495300" y="5048250"/>
            <a:ext cx="1866900" cy="323850"/>
          </a:xfrm>
          <a:prstGeom xmlns:a="http://schemas.openxmlformats.org/drawingml/2006/main" prst="rect">
            <a:avLst/>
          </a:prstGeom>
          <a:solidFill xmlns:a="http://schemas.openxmlformats.org/drawingml/2006/main">
            <a:srgbClr val="FFFFFF"/>
          </a:solidFill>
          <a:ln xmlns:a="http://schemas.openxmlformats.org/drawingml/2006/main" w="14288">
            <a:solidFill>
              <a:srgbClr val="CDD5CE"/>
            </a:solidFill>
            <a:prstDash val="solid"/>
          </a:ln>
        </p:spPr>
        <p:txBody>
          <a:bodyPr xmlns:a="http://schemas.openxmlformats.org/drawingml/2006/main" wrap="square" lIns="38100" tIns="38100" rIns="38100" bIns="38100" anchor="ctr">
            <a:noAutofit/>
          </a:bodyPr>
          <a:lstStyle xmlns:a="http://schemas.openxmlformats.org/drawingml/2006/main">
            <a:defPPr algn="ctr">
              <a:defRPr sz="1650" b="1">
                <a:solidFill>
                  <a:srgbClr val="101010"/>
                </a:solidFill>
                <a:latin typeface="Helvetica Neue"/>
                <a:ea typeface="Helvetica Neue"/>
                <a:cs typeface="Helvetica Neue"/>
              </a:defRPr>
            </a:defPPr>
          </a:lstStyle>
          <a:p xmlns:a="http://schemas.openxmlformats.org/drawingml/2006/main">
            <a:endParaRPr/>
          </a:p>
        </p:txBody>
      </p:sp>
      <p:pic>
        <p:nvPicPr>
          <p:cNvPr id="17" name="Picture 16">
            <a:extLst xmlns:a="http://schemas.openxmlformats.org/drawingml/2006/main">
              <a:ext uri="{FF2B5EF4-FFF2-40B4-BE49-F238E27FC236}">
                <a16:creationId xmlns:a16="http://schemas.microsoft.com/office/drawing/2014/main" id="{008DB057-CBE4-42C2-B879-A107EA37A6D1}"/>
              </a:ext>
            </a:extLst>
          </p:cNvPr>
          <p:cNvPicPr>
            <a:picLocks xmlns:a="http://schemas.openxmlformats.org/drawingml/2006/main" noChangeAspect="1"/>
          </p:cNvPicPr>
          <p:nvPr/>
        </p:nvPicPr>
        <p:blipFill>
          <a:blip xmlns:r="http://schemas.openxmlformats.org/officeDocument/2006/relationships" xmlns:a="http://schemas.openxmlformats.org/drawingml/2006/main" r:embed="R6da8747f65a94057"/>
          <a:srcRect xmlns:a="http://schemas.openxmlformats.org/drawingml/2006/main" l="8000" t="33000" r="6500" b="35000"/>
          <a:stretch xmlns:a="http://schemas.openxmlformats.org/drawingml/2006/main"/>
        </p:blipFill>
        <p:spPr>
          <a:xfrm xmlns:a="http://schemas.openxmlformats.org/drawingml/2006/main">
            <a:off x="904875" y="3181350"/>
            <a:ext cx="1047750" cy="257175"/>
          </a:xfrm>
          <a:prstGeom xmlns:a="http://schemas.openxmlformats.org/drawingml/2006/main" prst="rect">
            <a:avLst/>
          </a:prstGeom>
        </p:spPr>
      </p:pic>
      <p:pic>
        <p:nvPicPr>
          <p:cNvPr id="18" name="Picture 17">
            <a:extLst xmlns:a="http://schemas.openxmlformats.org/drawingml/2006/main">
              <a:ext uri="{FF2B5EF4-FFF2-40B4-BE49-F238E27FC236}">
                <a16:creationId xmlns:a16="http://schemas.microsoft.com/office/drawing/2014/main" id="{61ED14B9-7AEE-4F4D-86A5-37048FFF29A5}"/>
              </a:ext>
            </a:extLst>
          </p:cNvPr>
          <p:cNvPicPr>
            <a:picLocks xmlns:a="http://schemas.openxmlformats.org/drawingml/2006/main" noChangeAspect="1"/>
          </p:cNvPicPr>
          <p:nvPr/>
        </p:nvPicPr>
        <p:blipFill>
          <a:blip xmlns:r="http://schemas.openxmlformats.org/officeDocument/2006/relationships" xmlns:a="http://schemas.openxmlformats.org/drawingml/2006/main" r:embed="R58c8070cf26b4437"/>
          <a:srcRect xmlns:a="http://schemas.openxmlformats.org/drawingml/2006/main" l="6000" t="39500" r="9500" b="37000"/>
          <a:stretch xmlns:a="http://schemas.openxmlformats.org/drawingml/2006/main"/>
        </p:blipFill>
        <p:spPr>
          <a:xfrm xmlns:a="http://schemas.openxmlformats.org/drawingml/2006/main">
            <a:off x="828675" y="3943350"/>
            <a:ext cx="1200150" cy="257175"/>
          </a:xfrm>
          <a:prstGeom xmlns:a="http://schemas.openxmlformats.org/drawingml/2006/main" prst="rect">
            <a:avLst/>
          </a:prstGeom>
        </p:spPr>
      </p:pic>
      <p:pic>
        <p:nvPicPr>
          <p:cNvPr id="19" name="Picture 18">
            <a:extLst xmlns:a="http://schemas.openxmlformats.org/drawingml/2006/main">
              <a:ext uri="{FF2B5EF4-FFF2-40B4-BE49-F238E27FC236}">
                <a16:creationId xmlns:a16="http://schemas.microsoft.com/office/drawing/2014/main" id="{CE5E42DD-B09C-4615-A89C-AA23DEC20BC3}"/>
              </a:ext>
            </a:extLst>
          </p:cNvPr>
          <p:cNvPicPr>
            <a:picLocks xmlns:a="http://schemas.openxmlformats.org/drawingml/2006/main" noChangeAspect="1"/>
          </p:cNvPicPr>
          <p:nvPr/>
        </p:nvPicPr>
        <p:blipFill>
          <a:blip xmlns:r="http://schemas.openxmlformats.org/officeDocument/2006/relationships" xmlns:a="http://schemas.openxmlformats.org/drawingml/2006/main" r:embed="R3d9bf1e2ae5245f2"/>
          <a:srcRect xmlns:a="http://schemas.openxmlformats.org/drawingml/2006/main" l="21000" t="26000" r="21000" b="32000"/>
          <a:stretch xmlns:a="http://schemas.openxmlformats.org/drawingml/2006/main"/>
        </p:blipFill>
        <p:spPr>
          <a:xfrm xmlns:a="http://schemas.openxmlformats.org/drawingml/2006/main">
            <a:off x="962025" y="4314825"/>
            <a:ext cx="933450" cy="266700"/>
          </a:xfrm>
          <a:prstGeom xmlns:a="http://schemas.openxmlformats.org/drawingml/2006/main" prst="rect">
            <a:avLst/>
          </a:prstGeom>
        </p:spPr>
      </p:pic>
      <p:pic>
        <p:nvPicPr>
          <p:cNvPr id="20" name="Picture 19">
            <a:extLst xmlns:a="http://schemas.openxmlformats.org/drawingml/2006/main">
              <a:ext uri="{FF2B5EF4-FFF2-40B4-BE49-F238E27FC236}">
                <a16:creationId xmlns:a16="http://schemas.microsoft.com/office/drawing/2014/main" id="{533A02D7-CFFA-4B2C-A9A8-0FCD30257815}"/>
              </a:ext>
            </a:extLst>
          </p:cNvPr>
          <p:cNvPicPr>
            <a:picLocks xmlns:a="http://schemas.openxmlformats.org/drawingml/2006/main" noChangeAspect="1"/>
          </p:cNvPicPr>
          <p:nvPr/>
        </p:nvPicPr>
        <p:blipFill>
          <a:blip xmlns:r="http://schemas.openxmlformats.org/officeDocument/2006/relationships" xmlns:a="http://schemas.openxmlformats.org/drawingml/2006/main" r:embed="R5f6e5703db084484"/>
          <a:srcRect xmlns:a="http://schemas.openxmlformats.org/drawingml/2006/main" l="3500" t="7000" r="69500" b="11000"/>
          <a:stretch xmlns:a="http://schemas.openxmlformats.org/drawingml/2006/main"/>
        </p:blipFill>
        <p:spPr>
          <a:xfrm xmlns:a="http://schemas.openxmlformats.org/drawingml/2006/main">
            <a:off x="838200" y="4695825"/>
            <a:ext cx="257175" cy="266700"/>
          </a:xfrm>
          <a:prstGeom xmlns:a="http://schemas.openxmlformats.org/drawingml/2006/main" prst="rect">
            <a:avLst/>
          </a:prstGeom>
        </p:spPr>
      </p:pic>
      <p:sp>
        <p:nvSpPr>
          <p:cNvPr id="21" name="booking-layer-text-16">
            <a:extLst xmlns:a="http://schemas.openxmlformats.org/drawingml/2006/main">
              <a:ext uri="{FF2B5EF4-FFF2-40B4-BE49-F238E27FC236}">
                <a16:creationId xmlns:a16="http://schemas.microsoft.com/office/drawing/2014/main" id="{B44C165E-AEAF-47F5-8904-554268F63319}"/>
              </a:ext>
            </a:extLst>
          </p:cNvPr>
          <p:cNvSpPr>
            <a:spLocks xmlns:a="http://schemas.openxmlformats.org/drawingml/2006/main" noGrp="1"/>
          </p:cNvSpPr>
          <p:nvPr/>
        </p:nvSpPr>
        <p:spPr>
          <a:xfrm xmlns:a="http://schemas.openxmlformats.org/drawingml/2006/main">
            <a:off x="1209675" y="4714875"/>
            <a:ext cx="1095375" cy="2381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defRPr sz="1575" b="1">
                <a:solidFill>
                  <a:srgbClr val="101010"/>
                </a:solidFill>
                <a:latin typeface="Helvetica Neue"/>
                <a:ea typeface="Helvetica Neue"/>
                <a:cs typeface="Helvetica Neue"/>
              </a:defRPr>
            </a:defPPr>
          </a:lstStyle>
          <a:p xmlns:a="http://schemas.openxmlformats.org/drawingml/2006/main">
            <a:pPr>
              <a:buNone/>
              <a:defRPr sz="1575" b="1">
                <a:solidFill>
                  <a:srgbClr val="101010"/>
                </a:solidFill>
                <a:latin typeface="Helvetica Neue"/>
                <a:ea typeface="Helvetica Neue"/>
                <a:cs typeface="Helvetica Neue"/>
              </a:defRPr>
            </a:pPr>
            <a:r>
              <a:rPr sz="1575" b="1">
                <a:solidFill>
                  <a:srgbClr val="101010"/>
                </a:solidFill>
                <a:latin typeface="Helvetica Neue"/>
                <a:ea typeface="Helvetica Neue"/>
                <a:cs typeface="Helvetica Neue"/>
              </a:rPr>
              <a:t>OpenClaw</a:t>
            </a:r>
          </a:p>
        </p:txBody>
      </p:sp>
      <p:pic>
        <p:nvPicPr>
          <p:cNvPr id="22" name="Picture 21">
            <a:extLst xmlns:a="http://schemas.openxmlformats.org/drawingml/2006/main">
              <a:ext uri="{FF2B5EF4-FFF2-40B4-BE49-F238E27FC236}">
                <a16:creationId xmlns:a16="http://schemas.microsoft.com/office/drawing/2014/main" id="{6B121572-67BF-419E-B184-0F844194777D}"/>
              </a:ext>
            </a:extLst>
          </p:cNvPr>
          <p:cNvPicPr>
            <a:picLocks xmlns:a="http://schemas.openxmlformats.org/drawingml/2006/main" noChangeAspect="1"/>
          </p:cNvPicPr>
          <p:nvPr/>
        </p:nvPicPr>
        <p:blipFill>
          <a:blip xmlns:r="http://schemas.openxmlformats.org/officeDocument/2006/relationships" xmlns:a="http://schemas.openxmlformats.org/drawingml/2006/main" r:embed="R548e79857bfa4e45"/>
          <a:srcRect xmlns:a="http://schemas.openxmlformats.org/drawingml/2006/main" l="0" t="0" r="0" b="0"/>
          <a:stretch xmlns:a="http://schemas.openxmlformats.org/drawingml/2006/main"/>
        </p:blipFill>
        <p:spPr>
          <a:xfrm xmlns:a="http://schemas.openxmlformats.org/drawingml/2006/main">
            <a:off x="981075" y="5086350"/>
            <a:ext cx="247650" cy="247650"/>
          </a:xfrm>
          <a:prstGeom xmlns:a="http://schemas.openxmlformats.org/drawingml/2006/main" prst="rect">
            <a:avLst/>
          </a:prstGeom>
        </p:spPr>
      </p:pic>
      <p:sp>
        <p:nvSpPr>
          <p:cNvPr id="23" name="booking-layer-text-17">
            <a:extLst xmlns:a="http://schemas.openxmlformats.org/drawingml/2006/main">
              <a:ext uri="{FF2B5EF4-FFF2-40B4-BE49-F238E27FC236}">
                <a16:creationId xmlns:a16="http://schemas.microsoft.com/office/drawing/2014/main" id="{7807ACC5-6E11-4442-8DAE-E40658E334E7}"/>
              </a:ext>
            </a:extLst>
          </p:cNvPr>
          <p:cNvSpPr>
            <a:spLocks xmlns:a="http://schemas.openxmlformats.org/drawingml/2006/main" noGrp="1"/>
          </p:cNvSpPr>
          <p:nvPr/>
        </p:nvSpPr>
        <p:spPr>
          <a:xfrm xmlns:a="http://schemas.openxmlformats.org/drawingml/2006/main">
            <a:off x="1323975" y="5095875"/>
            <a:ext cx="857250" cy="2381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defRPr sz="1575" b="1">
                <a:solidFill>
                  <a:srgbClr val="101010"/>
                </a:solidFill>
                <a:latin typeface="Helvetica Neue"/>
                <a:ea typeface="Helvetica Neue"/>
                <a:cs typeface="Helvetica Neue"/>
              </a:defRPr>
            </a:defPPr>
          </a:lstStyle>
          <a:p xmlns:a="http://schemas.openxmlformats.org/drawingml/2006/main">
            <a:pPr>
              <a:buNone/>
              <a:defRPr sz="1575" b="1">
                <a:solidFill>
                  <a:srgbClr val="101010"/>
                </a:solidFill>
                <a:latin typeface="Helvetica Neue"/>
                <a:ea typeface="Helvetica Neue"/>
                <a:cs typeface="Helvetica Neue"/>
              </a:defRPr>
            </a:pPr>
            <a:r>
              <a:rPr sz="1575" b="1">
                <a:solidFill>
                  <a:srgbClr val="101010"/>
                </a:solidFill>
                <a:latin typeface="Helvetica Neue"/>
                <a:ea typeface="Helvetica Neue"/>
                <a:cs typeface="Helvetica Neue"/>
              </a:rPr>
              <a:t>Hermes</a:t>
            </a:r>
          </a:p>
        </p:txBody>
      </p:sp>
      <p:sp>
        <p:nvSpPr>
          <p:cNvPr id="24" name="booking-layer-text-18">
            <a:extLst xmlns:a="http://schemas.openxmlformats.org/drawingml/2006/main">
              <a:ext uri="{FF2B5EF4-FFF2-40B4-BE49-F238E27FC236}">
                <a16:creationId xmlns:a16="http://schemas.microsoft.com/office/drawing/2014/main" id="{32C0CC3B-119F-4144-9827-BE99EADABABB}"/>
              </a:ext>
            </a:extLst>
          </p:cNvPr>
          <p:cNvSpPr>
            <a:spLocks xmlns:a="http://schemas.openxmlformats.org/drawingml/2006/main" noGrp="1"/>
          </p:cNvSpPr>
          <p:nvPr/>
        </p:nvSpPr>
        <p:spPr>
          <a:xfrm xmlns:a="http://schemas.openxmlformats.org/drawingml/2006/main">
            <a:off x="495300" y="5445578"/>
            <a:ext cx="2190750" cy="247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defRPr sz="1350" b="0">
                <a:solidFill>
                  <a:srgbClr val="65746C"/>
                </a:solidFill>
                <a:latin typeface="Helvetica Neue"/>
                <a:ea typeface="Helvetica Neue"/>
                <a:cs typeface="Helvetica Neue"/>
              </a:defRPr>
            </a:defPPr>
          </a:lstStyle>
          <a:p xmlns:a="http://schemas.openxmlformats.org/drawingml/2006/main">
            <a:pPr>
              <a:buNone/>
              <a:defRPr sz="1350" b="0">
                <a:solidFill>
                  <a:srgbClr val="65746C"/>
                </a:solidFill>
                <a:latin typeface="Helvetica Neue"/>
                <a:ea typeface="Helvetica Neue"/>
                <a:cs typeface="Helvetica Neue"/>
              </a:defRPr>
            </a:pPr>
            <a:r>
              <a:rPr sz="1100" b="0">
                <a:solidFill>
                  <a:srgbClr val="65746C"/>
                </a:solidFill>
                <a:latin typeface="Helvetica Neue"/>
                <a:ea typeface="Helvetica Neue"/>
                <a:cs typeface="Helvetica Neue"/>
              </a:rPr>
              <a:t>*</a:t>
            </a:r>
            <a:r>
              <a:rPr sz="1100" b="0">
                <a:solidFill>
                  <a:srgbClr val="65746C"/>
                </a:solidFill>
                <a:latin typeface="Helvetica Neue"/>
                <a:ea typeface="Helvetica Neue"/>
                <a:cs typeface="Helvetica Neue"/>
              </a:rPr>
              <a:t>Claude</a:t>
            </a:r>
            <a:r>
              <a:rPr sz="1100" b="0">
                <a:solidFill>
                  <a:srgbClr val="65746C"/>
                </a:solidFill>
                <a:latin typeface="Helvetica Neue"/>
                <a:ea typeface="Helvetica Neue"/>
                <a:cs typeface="Helvetica Neue"/>
              </a:rPr>
              <a:t> &amp;</a:t>
            </a:r>
            <a:r>
              <a:rPr sz="1100">
                <a:solidFill>
                  <a:srgbClr val="65746C"/>
                </a:solidFill>
                <a:latin typeface="Helvetica Neue"/>
                <a:ea typeface="Helvetica Neue"/>
                <a:cs typeface="Helvetica Neue"/>
              </a:rPr>
              <a:t> Google launching soon</a:t>
            </a:r>
            <a:r>
              <a:rPr sz="1350" b="0">
                <a:solidFill>
                  <a:srgbClr val="65746C"/>
                </a:solidFill>
                <a:latin typeface="Helvetica Neue"/>
                <a:ea typeface="Helvetica Neue"/>
                <a:cs typeface="Helvetica Neue"/>
              </a:rPr>
              <a:t> </a:t>
            </a:r>
          </a:p>
        </p:txBody>
      </p:sp>
      <p:sp>
        <p:nvSpPr>
          <p:cNvPr id="25" name="booking-layer-node-19">
            <a:extLst xmlns:a="http://schemas.openxmlformats.org/drawingml/2006/main">
              <a:ext uri="{FF2B5EF4-FFF2-40B4-BE49-F238E27FC236}">
                <a16:creationId xmlns:a16="http://schemas.microsoft.com/office/drawing/2014/main" id="{74AA40FC-02C1-4BE0-8313-7735099DCF1D}"/>
              </a:ext>
            </a:extLst>
          </p:cNvPr>
          <p:cNvSpPr>
            <a:spLocks xmlns:a="http://schemas.openxmlformats.org/drawingml/2006/main" noGrp="1"/>
          </p:cNvSpPr>
          <p:nvPr/>
        </p:nvSpPr>
        <p:spPr>
          <a:xfrm xmlns:a="http://schemas.openxmlformats.org/drawingml/2006/main">
            <a:off x="3200400" y="2762250"/>
            <a:ext cx="3409950" cy="2743200"/>
          </a:xfrm>
          <a:prstGeom xmlns:a="http://schemas.openxmlformats.org/drawingml/2006/main" prst="rect">
            <a:avLst/>
          </a:prstGeom>
          <a:solidFill xmlns:a="http://schemas.openxmlformats.org/drawingml/2006/main">
            <a:srgbClr val="236C4E"/>
          </a:solidFill>
          <a:ln xmlns:a="http://schemas.openxmlformats.org/drawingml/2006/main" w="14288">
            <a:solidFill>
              <a:srgbClr val="236C4E"/>
            </a:solidFill>
            <a:prstDash val="solid"/>
          </a:ln>
        </p:spPr>
        <p:txBody>
          <a:bodyPr xmlns:a="http://schemas.openxmlformats.org/drawingml/2006/main" wrap="square" lIns="76200" tIns="76200" rIns="76200" bIns="76200" anchor="ctr">
            <a:noAutofit/>
          </a:bodyPr>
          <a:lstStyle xmlns:a="http://schemas.openxmlformats.org/drawingml/2006/main">
            <a:defPPr algn="ctr">
              <a:defRPr sz="1800" b="1">
                <a:solidFill>
                  <a:srgbClr val="FFFFFF"/>
                </a:solidFill>
                <a:latin typeface="Helvetica Neue"/>
                <a:ea typeface="Helvetica Neue"/>
                <a:cs typeface="Helvetica Neue"/>
              </a:defRPr>
            </a:defPPr>
          </a:lstStyle>
          <a:p xmlns:a="http://schemas.openxmlformats.org/drawingml/2006/main">
            <a:endParaRPr/>
          </a:p>
        </p:txBody>
      </p:sp>
      <p:sp>
        <p:nvSpPr>
          <p:cNvPr id="26" name="booking-layer-text-20">
            <a:extLst xmlns:a="http://schemas.openxmlformats.org/drawingml/2006/main">
              <a:ext uri="{FF2B5EF4-FFF2-40B4-BE49-F238E27FC236}">
                <a16:creationId xmlns:a16="http://schemas.microsoft.com/office/drawing/2014/main" id="{C6D36CF4-F934-46A7-A7ED-AE0B6B0A28B7}"/>
              </a:ext>
            </a:extLst>
          </p:cNvPr>
          <p:cNvSpPr>
            <a:spLocks xmlns:a="http://schemas.openxmlformats.org/drawingml/2006/main" noGrp="1"/>
          </p:cNvSpPr>
          <p:nvPr/>
        </p:nvSpPr>
        <p:spPr>
          <a:xfrm xmlns:a="http://schemas.openxmlformats.org/drawingml/2006/main">
            <a:off x="3400425" y="2971800"/>
            <a:ext cx="3000375" cy="4476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defRPr sz="2775" b="1">
                <a:solidFill>
                  <a:srgbClr val="FFFFFF"/>
                </a:solidFill>
                <a:latin typeface="Helvetica Neue"/>
                <a:ea typeface="Helvetica Neue"/>
                <a:cs typeface="Helvetica Neue"/>
              </a:defRPr>
            </a:defPPr>
          </a:lstStyle>
          <a:p xmlns:a="http://schemas.openxmlformats.org/drawingml/2006/main">
            <a:pPr>
              <a:buNone/>
              <a:defRPr sz="2775" b="1">
                <a:solidFill>
                  <a:srgbClr val="FFFFFF"/>
                </a:solidFill>
                <a:latin typeface="Helvetica Neue"/>
                <a:ea typeface="Helvetica Neue"/>
                <a:cs typeface="Helvetica Neue"/>
              </a:defRPr>
            </a:pPr>
            <a:r>
              <a:rPr sz="2775" b="1">
                <a:solidFill>
                  <a:srgbClr val="FFFFFF"/>
                </a:solidFill>
                <a:latin typeface="Helvetica Neue"/>
                <a:ea typeface="Helvetica Neue"/>
                <a:cs typeface="Helvetica Neue"/>
              </a:rPr>
              <a:t>GoLocal</a:t>
            </a:r>
          </a:p>
        </p:txBody>
      </p:sp>
      <p:sp>
        <p:nvSpPr>
          <p:cNvPr id="27" name="booking-layer-text-21">
            <a:extLst xmlns:a="http://schemas.openxmlformats.org/drawingml/2006/main">
              <a:ext uri="{FF2B5EF4-FFF2-40B4-BE49-F238E27FC236}">
                <a16:creationId xmlns:a16="http://schemas.microsoft.com/office/drawing/2014/main" id="{D2E9DA3D-BADC-411C-9816-D7B830B85686}"/>
              </a:ext>
            </a:extLst>
          </p:cNvPr>
          <p:cNvSpPr>
            <a:spLocks xmlns:a="http://schemas.openxmlformats.org/drawingml/2006/main" noGrp="1"/>
          </p:cNvSpPr>
          <p:nvPr/>
        </p:nvSpPr>
        <p:spPr>
          <a:xfrm xmlns:a="http://schemas.openxmlformats.org/drawingml/2006/main">
            <a:off x="3400425" y="3495675"/>
            <a:ext cx="3000375" cy="3524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defRPr sz="1725" b="1">
                <a:solidFill>
                  <a:srgbClr val="FFFFFF"/>
                </a:solidFill>
                <a:latin typeface="Helvetica Neue"/>
                <a:ea typeface="Helvetica Neue"/>
                <a:cs typeface="Helvetica Neue"/>
              </a:defRPr>
            </a:defPPr>
          </a:lstStyle>
          <a:p xmlns:a="http://schemas.openxmlformats.org/drawingml/2006/main">
            <a:pPr>
              <a:buNone/>
              <a:defRPr sz="1725" b="1">
                <a:solidFill>
                  <a:srgbClr val="FFFFFF"/>
                </a:solidFill>
                <a:latin typeface="Helvetica Neue"/>
                <a:ea typeface="Helvetica Neue"/>
                <a:cs typeface="Helvetica Neue"/>
              </a:defRPr>
            </a:pPr>
            <a:r>
              <a:rPr sz="1725" b="1">
                <a:solidFill>
                  <a:srgbClr val="FFFFFF"/>
                </a:solidFill>
                <a:latin typeface="Helvetica Neue"/>
                <a:ea typeface="Helvetica Neue"/>
                <a:cs typeface="Helvetica Neue"/>
              </a:rPr>
              <a:t>Data and booking API</a:t>
            </a:r>
          </a:p>
        </p:txBody>
      </p:sp>
      <p:sp>
        <p:nvSpPr>
          <p:cNvPr id="28" name="booking-layer-text-22">
            <a:extLst xmlns:a="http://schemas.openxmlformats.org/drawingml/2006/main">
              <a:ext uri="{FF2B5EF4-FFF2-40B4-BE49-F238E27FC236}">
                <a16:creationId xmlns:a16="http://schemas.microsoft.com/office/drawing/2014/main" id="{C930747B-9306-4183-8241-FF8F43990C91}"/>
              </a:ext>
            </a:extLst>
          </p:cNvPr>
          <p:cNvSpPr>
            <a:spLocks xmlns:a="http://schemas.openxmlformats.org/drawingml/2006/main" noGrp="1"/>
          </p:cNvSpPr>
          <p:nvPr/>
        </p:nvSpPr>
        <p:spPr>
          <a:xfrm xmlns:a="http://schemas.openxmlformats.org/drawingml/2006/main">
            <a:off x="3400425" y="4010025"/>
            <a:ext cx="3000375" cy="8382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defRPr sz="1575" b="0">
                <a:solidFill>
                  <a:srgbClr val="FFFFFF"/>
                </a:solidFill>
                <a:latin typeface="Helvetica Neue"/>
                <a:ea typeface="Helvetica Neue"/>
                <a:cs typeface="Helvetica Neue"/>
              </a:defRPr>
            </a:defPPr>
          </a:lstStyle>
          <a:p xmlns:a="http://schemas.openxmlformats.org/drawingml/2006/main">
            <a:pPr>
              <a:buNone/>
              <a:defRPr sz="1575" b="0">
                <a:solidFill>
                  <a:srgbClr val="FFFFFF"/>
                </a:solidFill>
                <a:latin typeface="Helvetica Neue"/>
                <a:ea typeface="Helvetica Neue"/>
                <a:cs typeface="Helvetica Neue"/>
              </a:defRPr>
            </a:pPr>
            <a:r>
              <a:rPr sz="1575" b="0">
                <a:solidFill>
                  <a:srgbClr val="FFFFFF"/>
                </a:solidFill>
                <a:latin typeface="Helvetica Neue"/>
                <a:ea typeface="Helvetica Neue"/>
                <a:cs typeface="Helvetica Neue"/>
              </a:rPr>
              <a:t>Services &amp; coverage</a:t>
            </a:r>
          </a:p>
          <a:p xmlns:a="http://schemas.openxmlformats.org/drawingml/2006/main">
            <a:pPr>
              <a:buNone/>
              <a:defRPr sz="1575" b="0">
                <a:solidFill>
                  <a:srgbClr val="FFFFFF"/>
                </a:solidFill>
                <a:latin typeface="Helvetica Neue"/>
                <a:ea typeface="Helvetica Neue"/>
                <a:cs typeface="Helvetica Neue"/>
              </a:defRPr>
            </a:pPr>
            <a:r>
              <a:rPr sz="1575" b="0">
                <a:solidFill>
                  <a:srgbClr val="FFFFFF"/>
                </a:solidFill>
                <a:latin typeface="Helvetica Neue"/>
                <a:ea typeface="Helvetica Neue"/>
                <a:cs typeface="Helvetica Neue"/>
              </a:rPr>
              <a:t>Pricing &amp; quote requirements</a:t>
            </a:r>
          </a:p>
          <a:p xmlns:a="http://schemas.openxmlformats.org/drawingml/2006/main">
            <a:pPr>
              <a:buNone/>
              <a:defRPr sz="1575" b="0">
                <a:solidFill>
                  <a:srgbClr val="FFFFFF"/>
                </a:solidFill>
                <a:latin typeface="Helvetica Neue"/>
                <a:ea typeface="Helvetica Neue"/>
                <a:cs typeface="Helvetica Neue"/>
              </a:defRPr>
            </a:pPr>
            <a:r>
              <a:rPr sz="1575" b="0">
                <a:solidFill>
                  <a:srgbClr val="FFFFFF"/>
                </a:solidFill>
                <a:latin typeface="Helvetica Neue"/>
                <a:ea typeface="Helvetica Neue"/>
                <a:cs typeface="Helvetica Neue"/>
              </a:rPr>
              <a:t>Live availability</a:t>
            </a:r>
          </a:p>
        </p:txBody>
      </p:sp>
      <p:sp>
        <p:nvSpPr>
          <p:cNvPr id="29" name="booking-layer-text-23">
            <a:extLst xmlns:a="http://schemas.openxmlformats.org/drawingml/2006/main">
              <a:ext uri="{FF2B5EF4-FFF2-40B4-BE49-F238E27FC236}">
                <a16:creationId xmlns:a16="http://schemas.microsoft.com/office/drawing/2014/main" id="{85C28355-C62A-4204-9E75-6908910F82D4}"/>
              </a:ext>
            </a:extLst>
          </p:cNvPr>
          <p:cNvSpPr>
            <a:spLocks xmlns:a="http://schemas.openxmlformats.org/drawingml/2006/main" noGrp="1"/>
          </p:cNvSpPr>
          <p:nvPr/>
        </p:nvSpPr>
        <p:spPr>
          <a:xfrm xmlns:a="http://schemas.openxmlformats.org/drawingml/2006/main">
            <a:off x="3400425" y="5067300"/>
            <a:ext cx="3000375" cy="2952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defRPr sz="1650" b="1">
                <a:solidFill>
                  <a:srgbClr val="FFFFFF"/>
                </a:solidFill>
                <a:latin typeface="Helvetica Neue"/>
                <a:ea typeface="Helvetica Neue"/>
                <a:cs typeface="Helvetica Neue"/>
              </a:defRPr>
            </a:defPPr>
          </a:lstStyle>
          <a:p xmlns:a="http://schemas.openxmlformats.org/drawingml/2006/main">
            <a:pPr>
              <a:buNone/>
              <a:defRPr sz="1650" b="1">
                <a:solidFill>
                  <a:srgbClr val="FFFFFF"/>
                </a:solidFill>
                <a:latin typeface="Helvetica Neue"/>
                <a:ea typeface="Helvetica Neue"/>
                <a:cs typeface="Helvetica Neue"/>
              </a:defRPr>
            </a:pPr>
            <a:r>
              <a:rPr sz="1650" b="1">
                <a:solidFill>
                  <a:srgbClr val="FFFFFF"/>
                </a:solidFill>
                <a:latin typeface="Helvetica Neue"/>
                <a:ea typeface="Helvetica Neue"/>
                <a:cs typeface="Helvetica Neue"/>
              </a:rPr>
              <a:t>Quote, book, pay &amp; manage</a:t>
            </a:r>
          </a:p>
        </p:txBody>
      </p:sp>
      <p:sp>
        <p:nvSpPr>
          <p:cNvPr id="30" name="booking-layer-node-24">
            <a:extLst xmlns:a="http://schemas.openxmlformats.org/drawingml/2006/main">
              <a:ext uri="{FF2B5EF4-FFF2-40B4-BE49-F238E27FC236}">
                <a16:creationId xmlns:a16="http://schemas.microsoft.com/office/drawing/2014/main" id="{A4A8E40D-D041-4171-A580-3214F68214AE}"/>
              </a:ext>
            </a:extLst>
          </p:cNvPr>
          <p:cNvSpPr>
            <a:spLocks xmlns:a="http://schemas.openxmlformats.org/drawingml/2006/main" noGrp="1"/>
          </p:cNvSpPr>
          <p:nvPr/>
        </p:nvSpPr>
        <p:spPr>
          <a:xfrm xmlns:a="http://schemas.openxmlformats.org/drawingml/2006/main">
            <a:off x="7143750" y="2752725"/>
            <a:ext cx="2667000" cy="742950"/>
          </a:xfrm>
          <a:prstGeom xmlns:a="http://schemas.openxmlformats.org/drawingml/2006/main" prst="rect">
            <a:avLst/>
          </a:prstGeom>
          <a:solidFill xmlns:a="http://schemas.openxmlformats.org/drawingml/2006/main">
            <a:srgbClr val="F0F2EE"/>
          </a:solidFill>
          <a:ln xmlns:a="http://schemas.openxmlformats.org/drawingml/2006/main" w="14288">
            <a:solidFill>
              <a:srgbClr val="CDD5CE"/>
            </a:solidFill>
            <a:prstDash val="solid"/>
          </a:ln>
        </p:spPr>
        <p:txBody>
          <a:bodyPr xmlns:a="http://schemas.openxmlformats.org/drawingml/2006/main" wrap="square" lIns="76200" tIns="76200" rIns="76200" bIns="76200" anchor="ctr">
            <a:noAutofit/>
          </a:bodyPr>
          <a:lstStyle xmlns:a="http://schemas.openxmlformats.org/drawingml/2006/main">
            <a:defPPr algn="ctr">
              <a:defRPr sz="1800" b="1">
                <a:solidFill>
                  <a:srgbClr val="193C32"/>
                </a:solidFill>
                <a:latin typeface="Helvetica Neue"/>
                <a:ea typeface="Helvetica Neue"/>
                <a:cs typeface="Helvetica Neue"/>
              </a:defRPr>
            </a:defPPr>
          </a:lstStyle>
          <a:p xmlns:a="http://schemas.openxmlformats.org/drawingml/2006/main">
            <a:endParaRPr/>
          </a:p>
        </p:txBody>
      </p:sp>
      <p:sp>
        <p:nvSpPr>
          <p:cNvPr id="31" name="booking-layer-node-25">
            <a:extLst xmlns:a="http://schemas.openxmlformats.org/drawingml/2006/main">
              <a:ext uri="{FF2B5EF4-FFF2-40B4-BE49-F238E27FC236}">
                <a16:creationId xmlns:a16="http://schemas.microsoft.com/office/drawing/2014/main" id="{381E847E-A9FA-4F37-B3E5-C61763DD5015}"/>
              </a:ext>
            </a:extLst>
          </p:cNvPr>
          <p:cNvSpPr>
            <a:spLocks xmlns:a="http://schemas.openxmlformats.org/drawingml/2006/main" noGrp="1"/>
          </p:cNvSpPr>
          <p:nvPr/>
        </p:nvSpPr>
        <p:spPr>
          <a:xfrm xmlns:a="http://schemas.openxmlformats.org/drawingml/2006/main">
            <a:off x="7143750" y="3629025"/>
            <a:ext cx="2667000" cy="742950"/>
          </a:xfrm>
          <a:prstGeom xmlns:a="http://schemas.openxmlformats.org/drawingml/2006/main" prst="rect">
            <a:avLst/>
          </a:prstGeom>
          <a:solidFill xmlns:a="http://schemas.openxmlformats.org/drawingml/2006/main">
            <a:srgbClr val="F0F2EE"/>
          </a:solidFill>
          <a:ln xmlns:a="http://schemas.openxmlformats.org/drawingml/2006/main" w="14288">
            <a:solidFill>
              <a:srgbClr val="CDD5CE"/>
            </a:solidFill>
            <a:prstDash val="solid"/>
          </a:ln>
        </p:spPr>
        <p:txBody>
          <a:bodyPr xmlns:a="http://schemas.openxmlformats.org/drawingml/2006/main" wrap="square" lIns="76200" tIns="76200" rIns="76200" bIns="76200" anchor="ctr">
            <a:noAutofit/>
          </a:bodyPr>
          <a:lstStyle xmlns:a="http://schemas.openxmlformats.org/drawingml/2006/main">
            <a:defPPr algn="ctr">
              <a:defRPr sz="1800" b="1">
                <a:solidFill>
                  <a:srgbClr val="193C32"/>
                </a:solidFill>
                <a:latin typeface="Helvetica Neue"/>
                <a:ea typeface="Helvetica Neue"/>
                <a:cs typeface="Helvetica Neue"/>
              </a:defRPr>
            </a:defPPr>
          </a:lstStyle>
          <a:p xmlns:a="http://schemas.openxmlformats.org/drawingml/2006/main">
            <a:endParaRPr/>
          </a:p>
        </p:txBody>
      </p:sp>
      <p:sp>
        <p:nvSpPr>
          <p:cNvPr id="32" name="booking-layer-node-26">
            <a:extLst xmlns:a="http://schemas.openxmlformats.org/drawingml/2006/main">
              <a:ext uri="{FF2B5EF4-FFF2-40B4-BE49-F238E27FC236}">
                <a16:creationId xmlns:a16="http://schemas.microsoft.com/office/drawing/2014/main" id="{6C43306A-9317-4532-A9D7-E457E756AD02}"/>
              </a:ext>
            </a:extLst>
          </p:cNvPr>
          <p:cNvSpPr>
            <a:spLocks xmlns:a="http://schemas.openxmlformats.org/drawingml/2006/main" noGrp="1"/>
          </p:cNvSpPr>
          <p:nvPr/>
        </p:nvSpPr>
        <p:spPr>
          <a:xfrm xmlns:a="http://schemas.openxmlformats.org/drawingml/2006/main">
            <a:off x="7143750" y="4505325"/>
            <a:ext cx="2667000" cy="800100"/>
          </a:xfrm>
          <a:prstGeom xmlns:a="http://schemas.openxmlformats.org/drawingml/2006/main" prst="rect">
            <a:avLst/>
          </a:prstGeom>
          <a:solidFill xmlns:a="http://schemas.openxmlformats.org/drawingml/2006/main">
            <a:srgbClr val="F0F2EE"/>
          </a:solidFill>
          <a:ln xmlns:a="http://schemas.openxmlformats.org/drawingml/2006/main" w="14288">
            <a:solidFill>
              <a:srgbClr val="CDD5CE"/>
            </a:solidFill>
            <a:prstDash val="solid"/>
          </a:ln>
        </p:spPr>
        <p:txBody>
          <a:bodyPr xmlns:a="http://schemas.openxmlformats.org/drawingml/2006/main" wrap="square" lIns="76200" tIns="76200" rIns="76200" bIns="76200" anchor="ctr">
            <a:noAutofit/>
          </a:bodyPr>
          <a:lstStyle xmlns:a="http://schemas.openxmlformats.org/drawingml/2006/main">
            <a:defPPr algn="ctr">
              <a:defRPr sz="1800" b="1">
                <a:solidFill>
                  <a:srgbClr val="193C32"/>
                </a:solidFill>
                <a:latin typeface="Helvetica Neue"/>
                <a:ea typeface="Helvetica Neue"/>
                <a:cs typeface="Helvetica Neue"/>
              </a:defRPr>
            </a:defPPr>
          </a:lstStyle>
          <a:p xmlns:a="http://schemas.openxmlformats.org/drawingml/2006/main">
            <a:endParaRPr/>
          </a:p>
        </p:txBody>
      </p:sp>
      <p:sp>
        <p:nvSpPr>
          <p:cNvPr id="33" name="booking-layer-text-27">
            <a:extLst xmlns:a="http://schemas.openxmlformats.org/drawingml/2006/main">
              <a:ext uri="{FF2B5EF4-FFF2-40B4-BE49-F238E27FC236}">
                <a16:creationId xmlns:a16="http://schemas.microsoft.com/office/drawing/2014/main" id="{F7AA3C7C-9687-4831-B1E3-609571EA6283}"/>
              </a:ext>
            </a:extLst>
          </p:cNvPr>
          <p:cNvSpPr>
            <a:spLocks xmlns:a="http://schemas.openxmlformats.org/drawingml/2006/main" noGrp="1"/>
          </p:cNvSpPr>
          <p:nvPr/>
        </p:nvSpPr>
        <p:spPr>
          <a:xfrm xmlns:a="http://schemas.openxmlformats.org/drawingml/2006/main">
            <a:off x="7258050" y="2819400"/>
            <a:ext cx="24384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defRPr sz="1425" b="1">
                <a:solidFill>
                  <a:srgbClr val="193C32"/>
                </a:solidFill>
                <a:latin typeface="Helvetica Neue"/>
                <a:ea typeface="Helvetica Neue"/>
                <a:cs typeface="Helvetica Neue"/>
              </a:defRPr>
            </a:defPPr>
          </a:lstStyle>
          <a:p xmlns:a="http://schemas.openxmlformats.org/drawingml/2006/main">
            <a:pPr>
              <a:buNone/>
              <a:defRPr sz="1425" b="1">
                <a:solidFill>
                  <a:srgbClr val="193C32"/>
                </a:solidFill>
                <a:latin typeface="Helvetica Neue"/>
                <a:ea typeface="Helvetica Neue"/>
                <a:cs typeface="Helvetica Neue"/>
              </a:defRPr>
            </a:pPr>
            <a:r>
              <a:rPr sz="1425" b="1">
                <a:solidFill>
                  <a:srgbClr val="193C32"/>
                </a:solidFill>
                <a:latin typeface="Helvetica Neue"/>
                <a:ea typeface="Helvetica Neue"/>
                <a:cs typeface="Helvetica Neue"/>
              </a:rPr>
              <a:t>BuildOps, ServiceTitan</a:t>
            </a:r>
          </a:p>
        </p:txBody>
      </p:sp>
      <p:sp>
        <p:nvSpPr>
          <p:cNvPr id="34" name="booking-layer-text-28">
            <a:extLst xmlns:a="http://schemas.openxmlformats.org/drawingml/2006/main">
              <a:ext uri="{FF2B5EF4-FFF2-40B4-BE49-F238E27FC236}">
                <a16:creationId xmlns:a16="http://schemas.microsoft.com/office/drawing/2014/main" id="{DAF92F19-6F68-463C-A5D7-17C7BF943389}"/>
              </a:ext>
            </a:extLst>
          </p:cNvPr>
          <p:cNvSpPr>
            <a:spLocks xmlns:a="http://schemas.openxmlformats.org/drawingml/2006/main" noGrp="1"/>
          </p:cNvSpPr>
          <p:nvPr/>
        </p:nvSpPr>
        <p:spPr>
          <a:xfrm xmlns:a="http://schemas.openxmlformats.org/drawingml/2006/main">
            <a:off x="7258050" y="3048000"/>
            <a:ext cx="24384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defRPr sz="1425" b="1">
                <a:solidFill>
                  <a:srgbClr val="193C32"/>
                </a:solidFill>
                <a:latin typeface="Helvetica Neue"/>
                <a:ea typeface="Helvetica Neue"/>
                <a:cs typeface="Helvetica Neue"/>
              </a:defRPr>
            </a:defPPr>
          </a:lstStyle>
          <a:p xmlns:a="http://schemas.openxmlformats.org/drawingml/2006/main">
            <a:pPr>
              <a:buNone/>
              <a:defRPr sz="1425" b="1">
                <a:solidFill>
                  <a:srgbClr val="193C32"/>
                </a:solidFill>
                <a:latin typeface="Helvetica Neue"/>
                <a:ea typeface="Helvetica Neue"/>
                <a:cs typeface="Helvetica Neue"/>
              </a:defRPr>
            </a:pPr>
            <a:r>
              <a:rPr sz="1425" b="1">
                <a:solidFill>
                  <a:srgbClr val="193C32"/>
                </a:solidFill>
                <a:latin typeface="Helvetica Neue"/>
                <a:ea typeface="Helvetica Neue"/>
                <a:cs typeface="Helvetica Neue"/>
              </a:rPr>
              <a:t>Simpro</a:t>
            </a:r>
          </a:p>
        </p:txBody>
      </p:sp>
      <p:sp>
        <p:nvSpPr>
          <p:cNvPr id="35" name="booking-layer-text-29">
            <a:extLst xmlns:a="http://schemas.openxmlformats.org/drawingml/2006/main">
              <a:ext uri="{FF2B5EF4-FFF2-40B4-BE49-F238E27FC236}">
                <a16:creationId xmlns:a16="http://schemas.microsoft.com/office/drawing/2014/main" id="{EFFD3163-3DDB-4787-B7DC-5B310C25C6B8}"/>
              </a:ext>
            </a:extLst>
          </p:cNvPr>
          <p:cNvSpPr>
            <a:spLocks xmlns:a="http://schemas.openxmlformats.org/drawingml/2006/main" noGrp="1"/>
          </p:cNvSpPr>
          <p:nvPr/>
        </p:nvSpPr>
        <p:spPr>
          <a:xfrm xmlns:a="http://schemas.openxmlformats.org/drawingml/2006/main">
            <a:off x="7258050" y="3276600"/>
            <a:ext cx="243840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defRPr sz="1275" b="0">
                <a:solidFill>
                  <a:srgbClr val="65746C"/>
                </a:solidFill>
                <a:latin typeface="Helvetica Neue"/>
                <a:ea typeface="Helvetica Neue"/>
                <a:cs typeface="Helvetica Neue"/>
              </a:defRPr>
            </a:defPPr>
          </a:lstStyle>
          <a:p xmlns:a="http://schemas.openxmlformats.org/drawingml/2006/main">
            <a:pPr>
              <a:buNone/>
              <a:defRPr sz="1275" b="0">
                <a:solidFill>
                  <a:srgbClr val="65746C"/>
                </a:solidFill>
                <a:latin typeface="Helvetica Neue"/>
                <a:ea typeface="Helvetica Neue"/>
                <a:cs typeface="Helvetica Neue"/>
              </a:defRPr>
            </a:pPr>
            <a:r>
              <a:rPr sz="1275" b="0">
                <a:solidFill>
                  <a:srgbClr val="65746C"/>
                </a:solidFill>
                <a:latin typeface="Helvetica Neue"/>
                <a:ea typeface="Helvetica Neue"/>
                <a:cs typeface="Helvetica Neue"/>
              </a:rPr>
              <a:t>+ other platforms</a:t>
            </a:r>
          </a:p>
        </p:txBody>
      </p:sp>
      <p:sp>
        <p:nvSpPr>
          <p:cNvPr id="36" name="booking-layer-text-30">
            <a:extLst xmlns:a="http://schemas.openxmlformats.org/drawingml/2006/main">
              <a:ext uri="{FF2B5EF4-FFF2-40B4-BE49-F238E27FC236}">
                <a16:creationId xmlns:a16="http://schemas.microsoft.com/office/drawing/2014/main" id="{640864B5-5C1A-4DE5-9D3F-17B4BF336541}"/>
              </a:ext>
            </a:extLst>
          </p:cNvPr>
          <p:cNvSpPr>
            <a:spLocks xmlns:a="http://schemas.openxmlformats.org/drawingml/2006/main" noGrp="1"/>
          </p:cNvSpPr>
          <p:nvPr/>
        </p:nvSpPr>
        <p:spPr>
          <a:xfrm xmlns:a="http://schemas.openxmlformats.org/drawingml/2006/main">
            <a:off x="7258050" y="3695700"/>
            <a:ext cx="24384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defRPr sz="1425" b="1">
                <a:solidFill>
                  <a:srgbClr val="193C32"/>
                </a:solidFill>
                <a:latin typeface="Helvetica Neue"/>
                <a:ea typeface="Helvetica Neue"/>
                <a:cs typeface="Helvetica Neue"/>
              </a:defRPr>
            </a:defPPr>
          </a:lstStyle>
          <a:p xmlns:a="http://schemas.openxmlformats.org/drawingml/2006/main">
            <a:pPr>
              <a:buNone/>
              <a:defRPr sz="1425" b="1">
                <a:solidFill>
                  <a:srgbClr val="193C32"/>
                </a:solidFill>
                <a:latin typeface="Helvetica Neue"/>
                <a:ea typeface="Helvetica Neue"/>
                <a:cs typeface="Helvetica Neue"/>
              </a:defRPr>
            </a:pPr>
            <a:r>
              <a:rPr sz="1425" b="1">
                <a:solidFill>
                  <a:srgbClr val="193C32"/>
                </a:solidFill>
                <a:latin typeface="Helvetica Neue"/>
                <a:ea typeface="Helvetica Neue"/>
                <a:cs typeface="Helvetica Neue"/>
              </a:rPr>
              <a:t>Housecall Pro, FieldEdge</a:t>
            </a:r>
          </a:p>
        </p:txBody>
      </p:sp>
      <p:sp>
        <p:nvSpPr>
          <p:cNvPr id="37" name="booking-layer-text-31">
            <a:extLst xmlns:a="http://schemas.openxmlformats.org/drawingml/2006/main">
              <a:ext uri="{FF2B5EF4-FFF2-40B4-BE49-F238E27FC236}">
                <a16:creationId xmlns:a16="http://schemas.microsoft.com/office/drawing/2014/main" id="{623A8565-8E22-49E9-BA3D-0EFB49F4B012}"/>
              </a:ext>
            </a:extLst>
          </p:cNvPr>
          <p:cNvSpPr>
            <a:spLocks xmlns:a="http://schemas.openxmlformats.org/drawingml/2006/main" noGrp="1"/>
          </p:cNvSpPr>
          <p:nvPr/>
        </p:nvSpPr>
        <p:spPr>
          <a:xfrm xmlns:a="http://schemas.openxmlformats.org/drawingml/2006/main">
            <a:off x="7258050" y="3924300"/>
            <a:ext cx="24384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defRPr sz="1425" b="1">
                <a:solidFill>
                  <a:srgbClr val="193C32"/>
                </a:solidFill>
                <a:latin typeface="Helvetica Neue"/>
                <a:ea typeface="Helvetica Neue"/>
                <a:cs typeface="Helvetica Neue"/>
              </a:defRPr>
            </a:defPPr>
          </a:lstStyle>
          <a:p xmlns:a="http://schemas.openxmlformats.org/drawingml/2006/main">
            <a:pPr>
              <a:buNone/>
              <a:defRPr sz="1425" b="1">
                <a:solidFill>
                  <a:srgbClr val="193C32"/>
                </a:solidFill>
                <a:latin typeface="Helvetica Neue"/>
                <a:ea typeface="Helvetica Neue"/>
                <a:cs typeface="Helvetica Neue"/>
              </a:defRPr>
            </a:pPr>
            <a:r>
              <a:rPr sz="1425" b="1">
                <a:solidFill>
                  <a:srgbClr val="193C32"/>
                </a:solidFill>
                <a:latin typeface="Helvetica Neue"/>
                <a:ea typeface="Helvetica Neue"/>
                <a:cs typeface="Helvetica Neue"/>
              </a:rPr>
              <a:t>Cactus AI</a:t>
            </a:r>
          </a:p>
        </p:txBody>
      </p:sp>
      <p:sp>
        <p:nvSpPr>
          <p:cNvPr id="38" name="booking-layer-text-32">
            <a:extLst xmlns:a="http://schemas.openxmlformats.org/drawingml/2006/main">
              <a:ext uri="{FF2B5EF4-FFF2-40B4-BE49-F238E27FC236}">
                <a16:creationId xmlns:a16="http://schemas.microsoft.com/office/drawing/2014/main" id="{E69B47E3-FC57-4C21-B033-DB430D828C62}"/>
              </a:ext>
            </a:extLst>
          </p:cNvPr>
          <p:cNvSpPr>
            <a:spLocks xmlns:a="http://schemas.openxmlformats.org/drawingml/2006/main" noGrp="1"/>
          </p:cNvSpPr>
          <p:nvPr/>
        </p:nvSpPr>
        <p:spPr>
          <a:xfrm xmlns:a="http://schemas.openxmlformats.org/drawingml/2006/main">
            <a:off x="7258050" y="4152900"/>
            <a:ext cx="243840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defRPr sz="1350" b="1">
                <a:solidFill>
                  <a:srgbClr val="193C32"/>
                </a:solidFill>
                <a:latin typeface="Helvetica Neue"/>
                <a:ea typeface="Helvetica Neue"/>
                <a:cs typeface="Helvetica Neue"/>
              </a:defRPr>
            </a:defPPr>
          </a:lstStyle>
          <a:p xmlns:a="http://schemas.openxmlformats.org/drawingml/2006/main">
            <a:pPr>
              <a:buNone/>
              <a:defRPr sz="1350" b="1">
                <a:solidFill>
                  <a:srgbClr val="193C32"/>
                </a:solidFill>
                <a:latin typeface="Helvetica Neue"/>
                <a:ea typeface="Helvetica Neue"/>
                <a:cs typeface="Helvetica Neue"/>
              </a:defRPr>
            </a:pPr>
            <a:r>
              <a:rPr sz="1350" b="1">
                <a:solidFill>
                  <a:srgbClr val="193C32"/>
                </a:solidFill>
                <a:latin typeface="Helvetica Neue"/>
                <a:ea typeface="Helvetica Neue"/>
                <a:cs typeface="Helvetica Neue"/>
              </a:rPr>
              <a:t>+ other platforms</a:t>
            </a:r>
          </a:p>
        </p:txBody>
      </p:sp>
      <p:sp>
        <p:nvSpPr>
          <p:cNvPr id="39" name="booking-layer-text-33">
            <a:extLst xmlns:a="http://schemas.openxmlformats.org/drawingml/2006/main">
              <a:ext uri="{FF2B5EF4-FFF2-40B4-BE49-F238E27FC236}">
                <a16:creationId xmlns:a16="http://schemas.microsoft.com/office/drawing/2014/main" id="{34FFBC60-20E6-445B-9EB8-05E52E28C49C}"/>
              </a:ext>
            </a:extLst>
          </p:cNvPr>
          <p:cNvSpPr>
            <a:spLocks xmlns:a="http://schemas.openxmlformats.org/drawingml/2006/main" noGrp="1"/>
          </p:cNvSpPr>
          <p:nvPr/>
        </p:nvSpPr>
        <p:spPr>
          <a:xfrm xmlns:a="http://schemas.openxmlformats.org/drawingml/2006/main">
            <a:off x="7258050" y="4572000"/>
            <a:ext cx="24384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defRPr sz="1425" b="1">
                <a:solidFill>
                  <a:srgbClr val="193C32"/>
                </a:solidFill>
                <a:latin typeface="Helvetica Neue"/>
                <a:ea typeface="Helvetica Neue"/>
                <a:cs typeface="Helvetica Neue"/>
              </a:defRPr>
            </a:defPPr>
          </a:lstStyle>
          <a:p xmlns:a="http://schemas.openxmlformats.org/drawingml/2006/main">
            <a:pPr>
              <a:buNone/>
              <a:defRPr sz="1425" b="1">
                <a:solidFill>
                  <a:srgbClr val="193C32"/>
                </a:solidFill>
                <a:latin typeface="Helvetica Neue"/>
                <a:ea typeface="Helvetica Neue"/>
                <a:cs typeface="Helvetica Neue"/>
              </a:defRPr>
            </a:pPr>
            <a:r>
              <a:rPr sz="1425" b="1">
                <a:solidFill>
                  <a:srgbClr val="193C32"/>
                </a:solidFill>
                <a:latin typeface="Helvetica Neue"/>
                <a:ea typeface="Helvetica Neue"/>
                <a:cs typeface="Helvetica Neue"/>
              </a:rPr>
              <a:t>Jobber, Workiz, ServiceM8</a:t>
            </a:r>
          </a:p>
        </p:txBody>
      </p:sp>
      <p:sp>
        <p:nvSpPr>
          <p:cNvPr id="40" name="booking-layer-text-34">
            <a:extLst xmlns:a="http://schemas.openxmlformats.org/drawingml/2006/main">
              <a:ext uri="{FF2B5EF4-FFF2-40B4-BE49-F238E27FC236}">
                <a16:creationId xmlns:a16="http://schemas.microsoft.com/office/drawing/2014/main" id="{75764D65-252C-45A0-9B39-5D9214475394}"/>
              </a:ext>
            </a:extLst>
          </p:cNvPr>
          <p:cNvSpPr>
            <a:spLocks xmlns:a="http://schemas.openxmlformats.org/drawingml/2006/main" noGrp="1"/>
          </p:cNvSpPr>
          <p:nvPr/>
        </p:nvSpPr>
        <p:spPr>
          <a:xfrm xmlns:a="http://schemas.openxmlformats.org/drawingml/2006/main">
            <a:off x="7258050" y="4810125"/>
            <a:ext cx="24384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defRPr sz="1425" b="1">
                <a:solidFill>
                  <a:srgbClr val="193C32"/>
                </a:solidFill>
                <a:latin typeface="Helvetica Neue"/>
                <a:ea typeface="Helvetica Neue"/>
                <a:cs typeface="Helvetica Neue"/>
              </a:defRPr>
            </a:defPPr>
          </a:lstStyle>
          <a:p xmlns:a="http://schemas.openxmlformats.org/drawingml/2006/main">
            <a:pPr>
              <a:buNone/>
              <a:defRPr sz="1425" b="1">
                <a:solidFill>
                  <a:srgbClr val="193C32"/>
                </a:solidFill>
                <a:latin typeface="Helvetica Neue"/>
                <a:ea typeface="Helvetica Neue"/>
                <a:cs typeface="Helvetica Neue"/>
              </a:defRPr>
            </a:pPr>
            <a:r>
              <a:rPr sz="1425" b="1">
                <a:solidFill>
                  <a:srgbClr val="193C32"/>
                </a:solidFill>
                <a:latin typeface="Helvetica Neue"/>
                <a:ea typeface="Helvetica Neue"/>
                <a:cs typeface="Helvetica Neue"/>
              </a:rPr>
              <a:t>+ other platforms</a:t>
            </a:r>
          </a:p>
        </p:txBody>
      </p:sp>
      <p:sp>
        <p:nvSpPr>
          <p:cNvPr id="41" name="booking-layer-text-35">
            <a:extLst xmlns:a="http://schemas.openxmlformats.org/drawingml/2006/main">
              <a:ext uri="{FF2B5EF4-FFF2-40B4-BE49-F238E27FC236}">
                <a16:creationId xmlns:a16="http://schemas.microsoft.com/office/drawing/2014/main" id="{1F54E58A-93CF-4529-BE74-48271C8062FA}"/>
              </a:ext>
            </a:extLst>
          </p:cNvPr>
          <p:cNvSpPr>
            <a:spLocks xmlns:a="http://schemas.openxmlformats.org/drawingml/2006/main" noGrp="1"/>
          </p:cNvSpPr>
          <p:nvPr/>
        </p:nvSpPr>
        <p:spPr>
          <a:xfrm xmlns:a="http://schemas.openxmlformats.org/drawingml/2006/main">
            <a:off x="7258050" y="5067300"/>
            <a:ext cx="2438400" cy="2000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defRPr sz="1275" b="0">
                <a:solidFill>
                  <a:srgbClr val="65746C"/>
                </a:solidFill>
                <a:latin typeface="Helvetica Neue"/>
                <a:ea typeface="Helvetica Neue"/>
                <a:cs typeface="Helvetica Neue"/>
              </a:defRPr>
            </a:defPPr>
          </a:lstStyle>
          <a:p xmlns:a="http://schemas.openxmlformats.org/drawingml/2006/main">
            <a:pPr>
              <a:buNone/>
              <a:defRPr sz="1275" b="0">
                <a:solidFill>
                  <a:srgbClr val="65746C"/>
                </a:solidFill>
                <a:latin typeface="Helvetica Neue"/>
                <a:ea typeface="Helvetica Neue"/>
                <a:cs typeface="Helvetica Neue"/>
              </a:defRPr>
            </a:pPr>
            <a:endParaRPr/>
          </a:p>
        </p:txBody>
      </p:sp>
      <p:sp>
        <p:nvSpPr>
          <p:cNvPr id="42" name="booking-layer-node-36">
            <a:extLst xmlns:a="http://schemas.openxmlformats.org/drawingml/2006/main">
              <a:ext uri="{FF2B5EF4-FFF2-40B4-BE49-F238E27FC236}">
                <a16:creationId xmlns:a16="http://schemas.microsoft.com/office/drawing/2014/main" id="{F23562F6-92C0-4E2A-9C4E-14CAF1AB025D}"/>
              </a:ext>
            </a:extLst>
          </p:cNvPr>
          <p:cNvSpPr>
            <a:spLocks xmlns:a="http://schemas.openxmlformats.org/drawingml/2006/main" noGrp="1"/>
          </p:cNvSpPr>
          <p:nvPr/>
        </p:nvSpPr>
        <p:spPr>
          <a:xfrm xmlns:a="http://schemas.openxmlformats.org/drawingml/2006/main">
            <a:off x="10363200" y="2752725"/>
            <a:ext cx="1333500" cy="742950"/>
          </a:xfrm>
          <a:prstGeom xmlns:a="http://schemas.openxmlformats.org/drawingml/2006/main" prst="rect">
            <a:avLst/>
          </a:prstGeom>
          <a:solidFill xmlns:a="http://schemas.openxmlformats.org/drawingml/2006/main">
            <a:srgbClr val="F0F2EE"/>
          </a:solidFill>
          <a:ln xmlns:a="http://schemas.openxmlformats.org/drawingml/2006/main" w="14288">
            <a:solidFill>
              <a:srgbClr val="CDD5CE"/>
            </a:solidFill>
            <a:prstDash val="solid"/>
          </a:ln>
        </p:spPr>
        <p:txBody>
          <a:bodyPr xmlns:a="http://schemas.openxmlformats.org/drawingml/2006/main" wrap="square" lIns="76200" tIns="76200" rIns="76200" bIns="76200" anchor="ctr">
            <a:noAutofit/>
          </a:bodyPr>
          <a:lstStyle xmlns:a="http://schemas.openxmlformats.org/drawingml/2006/main">
            <a:defPPr algn="ctr">
              <a:defRPr sz="1575" b="1">
                <a:solidFill>
                  <a:srgbClr val="193C32"/>
                </a:solidFill>
                <a:latin typeface="Helvetica Neue"/>
                <a:ea typeface="Helvetica Neue"/>
                <a:cs typeface="Helvetica Neue"/>
              </a:defRPr>
            </a:defPPr>
          </a:lstStyle>
          <a:p xmlns:a="http://schemas.openxmlformats.org/drawingml/2006/main">
            <a:pPr algn="ctr">
              <a:buNone/>
              <a:defRPr sz="1575" b="1">
                <a:solidFill>
                  <a:srgbClr val="193C32"/>
                </a:solidFill>
                <a:latin typeface="Helvetica Neue"/>
                <a:ea typeface="Helvetica Neue"/>
                <a:cs typeface="Helvetica Neue"/>
              </a:defRPr>
            </a:pPr>
            <a:r>
              <a:rPr sz="1575" b="1">
                <a:solidFill>
                  <a:srgbClr val="193C32"/>
                </a:solidFill>
                <a:latin typeface="Helvetica Neue"/>
                <a:ea typeface="Helvetica Neue"/>
                <a:cs typeface="Helvetica Neue"/>
              </a:rPr>
              <a:t>Enterprise</a:t>
            </a:r>
          </a:p>
        </p:txBody>
      </p:sp>
      <p:sp>
        <p:nvSpPr>
          <p:cNvPr id="43" name="booking-layer-node-37">
            <a:extLst xmlns:a="http://schemas.openxmlformats.org/drawingml/2006/main">
              <a:ext uri="{FF2B5EF4-FFF2-40B4-BE49-F238E27FC236}">
                <a16:creationId xmlns:a16="http://schemas.microsoft.com/office/drawing/2014/main" id="{E0913280-755C-4FC9-B294-B8877BA719C3}"/>
              </a:ext>
            </a:extLst>
          </p:cNvPr>
          <p:cNvSpPr>
            <a:spLocks xmlns:a="http://schemas.openxmlformats.org/drawingml/2006/main" noGrp="1"/>
          </p:cNvSpPr>
          <p:nvPr/>
        </p:nvSpPr>
        <p:spPr>
          <a:xfrm xmlns:a="http://schemas.openxmlformats.org/drawingml/2006/main">
            <a:off x="10363200" y="3629025"/>
            <a:ext cx="1333500" cy="742950"/>
          </a:xfrm>
          <a:prstGeom xmlns:a="http://schemas.openxmlformats.org/drawingml/2006/main" prst="rect">
            <a:avLst/>
          </a:prstGeom>
          <a:solidFill xmlns:a="http://schemas.openxmlformats.org/drawingml/2006/main">
            <a:srgbClr val="F0F2EE"/>
          </a:solidFill>
          <a:ln xmlns:a="http://schemas.openxmlformats.org/drawingml/2006/main" w="14288">
            <a:solidFill>
              <a:srgbClr val="CDD5CE"/>
            </a:solidFill>
            <a:prstDash val="solid"/>
          </a:ln>
        </p:spPr>
        <p:txBody>
          <a:bodyPr xmlns:a="http://schemas.openxmlformats.org/drawingml/2006/main" wrap="square" lIns="76200" tIns="76200" rIns="76200" bIns="76200" anchor="ctr">
            <a:noAutofit/>
          </a:bodyPr>
          <a:lstStyle xmlns:a="http://schemas.openxmlformats.org/drawingml/2006/main">
            <a:defPPr algn="ctr">
              <a:defRPr sz="1575" b="1">
                <a:solidFill>
                  <a:srgbClr val="193C32"/>
                </a:solidFill>
                <a:latin typeface="Helvetica Neue"/>
                <a:ea typeface="Helvetica Neue"/>
                <a:cs typeface="Helvetica Neue"/>
              </a:defRPr>
            </a:defPPr>
          </a:lstStyle>
          <a:p xmlns:a="http://schemas.openxmlformats.org/drawingml/2006/main">
            <a:pPr algn="ctr">
              <a:buNone/>
              <a:defRPr sz="1575" b="1">
                <a:solidFill>
                  <a:srgbClr val="193C32"/>
                </a:solidFill>
                <a:latin typeface="Helvetica Neue"/>
                <a:ea typeface="Helvetica Neue"/>
                <a:cs typeface="Helvetica Neue"/>
              </a:defRPr>
            </a:pPr>
            <a:r>
              <a:rPr sz="1575" b="1">
                <a:solidFill>
                  <a:srgbClr val="193C32"/>
                </a:solidFill>
                <a:latin typeface="Helvetica Neue"/>
                <a:ea typeface="Helvetica Neue"/>
                <a:cs typeface="Helvetica Neue"/>
              </a:rPr>
              <a:t>Mid-market</a:t>
            </a:r>
          </a:p>
        </p:txBody>
      </p:sp>
      <p:sp>
        <p:nvSpPr>
          <p:cNvPr id="44" name="booking-layer-node-38">
            <a:extLst xmlns:a="http://schemas.openxmlformats.org/drawingml/2006/main">
              <a:ext uri="{FF2B5EF4-FFF2-40B4-BE49-F238E27FC236}">
                <a16:creationId xmlns:a16="http://schemas.microsoft.com/office/drawing/2014/main" id="{CD61F4F2-BFCA-4380-B3D6-9E65D8B5C450}"/>
              </a:ext>
            </a:extLst>
          </p:cNvPr>
          <p:cNvSpPr>
            <a:spLocks xmlns:a="http://schemas.openxmlformats.org/drawingml/2006/main" noGrp="1"/>
          </p:cNvSpPr>
          <p:nvPr/>
        </p:nvSpPr>
        <p:spPr>
          <a:xfrm xmlns:a="http://schemas.openxmlformats.org/drawingml/2006/main">
            <a:off x="10363200" y="4505325"/>
            <a:ext cx="1333500" cy="800100"/>
          </a:xfrm>
          <a:prstGeom xmlns:a="http://schemas.openxmlformats.org/drawingml/2006/main" prst="rect">
            <a:avLst/>
          </a:prstGeom>
          <a:solidFill xmlns:a="http://schemas.openxmlformats.org/drawingml/2006/main">
            <a:srgbClr val="F0F2EE"/>
          </a:solidFill>
          <a:ln xmlns:a="http://schemas.openxmlformats.org/drawingml/2006/main" w="14288">
            <a:solidFill>
              <a:srgbClr val="CDD5CE"/>
            </a:solidFill>
            <a:prstDash val="solid"/>
          </a:ln>
        </p:spPr>
        <p:txBody>
          <a:bodyPr xmlns:a="http://schemas.openxmlformats.org/drawingml/2006/main" wrap="square" lIns="76200" tIns="76200" rIns="76200" bIns="76200" anchor="ctr">
            <a:noAutofit/>
          </a:bodyPr>
          <a:lstStyle xmlns:a="http://schemas.openxmlformats.org/drawingml/2006/main">
            <a:defPPr algn="ctr">
              <a:defRPr sz="1575" b="1">
                <a:solidFill>
                  <a:srgbClr val="193C32"/>
                </a:solidFill>
                <a:latin typeface="Helvetica Neue"/>
                <a:ea typeface="Helvetica Neue"/>
                <a:cs typeface="Helvetica Neue"/>
              </a:defRPr>
            </a:defPPr>
          </a:lstStyle>
          <a:p xmlns:a="http://schemas.openxmlformats.org/drawingml/2006/main">
            <a:pPr algn="ctr">
              <a:buNone/>
              <a:defRPr sz="1575" b="1">
                <a:solidFill>
                  <a:srgbClr val="193C32"/>
                </a:solidFill>
                <a:latin typeface="Helvetica Neue"/>
                <a:ea typeface="Helvetica Neue"/>
                <a:cs typeface="Helvetica Neue"/>
              </a:defRPr>
            </a:pPr>
            <a:r>
              <a:rPr sz="1575" b="1">
                <a:solidFill>
                  <a:srgbClr val="193C32"/>
                </a:solidFill>
                <a:latin typeface="Helvetica Neue"/>
                <a:ea typeface="Helvetica Neue"/>
                <a:cs typeface="Helvetica Neue"/>
              </a:rPr>
              <a:t>Small</a:t>
            </a:r>
          </a:p>
          <a:p xmlns:a="http://schemas.openxmlformats.org/drawingml/2006/main">
            <a:pPr algn="ctr">
              <a:buNone/>
              <a:defRPr sz="1575" b="1">
                <a:solidFill>
                  <a:srgbClr val="193C32"/>
                </a:solidFill>
                <a:latin typeface="Helvetica Neue"/>
                <a:ea typeface="Helvetica Neue"/>
                <a:cs typeface="Helvetica Neue"/>
              </a:defRPr>
            </a:pPr>
            <a:r>
              <a:rPr sz="1575" b="1">
                <a:solidFill>
                  <a:srgbClr val="193C32"/>
                </a:solidFill>
                <a:latin typeface="Helvetica Neue"/>
                <a:ea typeface="Helvetica Neue"/>
                <a:cs typeface="Helvetica Neue"/>
              </a:rPr>
              <a:t>businesses</a:t>
            </a:r>
          </a:p>
        </p:txBody>
      </p:sp>
      <p:sp>
        <p:nvSpPr>
          <p:cNvPr id="58" name="booking-layer-text-39">
            <a:extLst xmlns:a="http://schemas.openxmlformats.org/drawingml/2006/main">
              <a:ext uri="{FF2B5EF4-FFF2-40B4-BE49-F238E27FC236}">
                <a16:creationId xmlns:a16="http://schemas.microsoft.com/office/drawing/2014/main" id="{FA822E6B-449C-4790-9B5C-EF573D939BBE}"/>
              </a:ext>
            </a:extLst>
          </p:cNvPr>
          <p:cNvSpPr>
            <a:spLocks xmlns:a="http://schemas.openxmlformats.org/drawingml/2006/main" noGrp="1"/>
          </p:cNvSpPr>
          <p:nvPr/>
        </p:nvSpPr>
        <p:spPr>
          <a:xfrm xmlns:a="http://schemas.openxmlformats.org/drawingml/2006/main">
            <a:off x="7143750" y="5400675"/>
            <a:ext cx="4552950" cy="3714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defRPr sz="1350" b="1">
                <a:solidFill>
                  <a:srgbClr val="236C4E"/>
                </a:solidFill>
                <a:latin typeface="Helvetica Neue"/>
                <a:ea typeface="Helvetica Neue"/>
                <a:cs typeface="Helvetica Neue"/>
              </a:defRPr>
            </a:defPPr>
          </a:lstStyle>
          <a:p xmlns:a="http://schemas.openxmlformats.org/drawingml/2006/main">
            <a:pPr>
              <a:buNone/>
              <a:defRPr sz="1350" b="1">
                <a:solidFill>
                  <a:srgbClr val="236C4E"/>
                </a:solidFill>
                <a:latin typeface="Helvetica Neue"/>
                <a:ea typeface="Helvetica Neue"/>
                <a:cs typeface="Helvetica Neue"/>
              </a:defRPr>
            </a:pPr>
            <a:r>
              <a:rPr sz="1350" b="1">
                <a:solidFill>
                  <a:srgbClr val="236C4E"/>
                </a:solidFill>
                <a:latin typeface="Helvetica Neue"/>
                <a:ea typeface="Helvetica Neue"/>
                <a:cs typeface="Helvetica Neue"/>
              </a:rPr>
              <a:t>Each category has its own software mix.</a:t>
            </a:r>
          </a:p>
        </p:txBody>
      </p:sp>
      <p:sp>
        <p:nvSpPr>
          <p:cNvPr id="59" name="booking-layer-text-40">
            <a:extLst xmlns:a="http://schemas.openxmlformats.org/drawingml/2006/main">
              <a:ext uri="{FF2B5EF4-FFF2-40B4-BE49-F238E27FC236}">
                <a16:creationId xmlns:a16="http://schemas.microsoft.com/office/drawing/2014/main" id="{F64613CD-0DA4-4247-B4D8-7BA61504B61F}"/>
              </a:ext>
            </a:extLst>
          </p:cNvPr>
          <p:cNvSpPr>
            <a:spLocks xmlns:a="http://schemas.openxmlformats.org/drawingml/2006/main" noGrp="1"/>
          </p:cNvSpPr>
          <p:nvPr/>
        </p:nvSpPr>
        <p:spPr>
          <a:xfrm xmlns:a="http://schemas.openxmlformats.org/drawingml/2006/main">
            <a:off x="495300" y="5781675"/>
            <a:ext cx="11201400" cy="3810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defRPr sz="2100" b="1">
                <a:solidFill>
                  <a:srgbClr val="193C32"/>
                </a:solidFill>
                <a:latin typeface="Helvetica Neue"/>
                <a:ea typeface="Helvetica Neue"/>
                <a:cs typeface="Helvetica Neue"/>
              </a:defRPr>
            </a:defPPr>
          </a:lstStyle>
          <a:p xmlns:a="http://schemas.openxmlformats.org/drawingml/2006/main">
            <a:pPr>
              <a:buNone/>
              <a:defRPr sz="2100" b="1">
                <a:solidFill>
                  <a:srgbClr val="193C32"/>
                </a:solidFill>
                <a:latin typeface="Helvetica Neue"/>
                <a:ea typeface="Helvetica Neue"/>
                <a:cs typeface="Helvetica Neue"/>
              </a:defRPr>
            </a:pPr>
            <a:r>
              <a:rPr sz="2100" b="1">
                <a:solidFill>
                  <a:srgbClr val="193C32"/>
                </a:solidFill>
                <a:latin typeface="Helvetica Neue"/>
                <a:ea typeface="Helvetica Neue"/>
                <a:cs typeface="Helvetica Neue"/>
              </a:rPr>
              <a:t>Agents reach local supply through one connection.</a:t>
            </a:r>
          </a:p>
        </p:txBody>
      </p:sp>
      <p:sp>
        <p:nvSpPr>
          <p:cNvPr id="60" name="booking-layer-text-41">
            <a:extLst xmlns:a="http://schemas.openxmlformats.org/drawingml/2006/main">
              <a:ext uri="{FF2B5EF4-FFF2-40B4-BE49-F238E27FC236}">
                <a16:creationId xmlns:a16="http://schemas.microsoft.com/office/drawing/2014/main" id="{03CB5374-FA64-4A7A-AD8D-323F3E11523C}"/>
              </a:ext>
            </a:extLst>
          </p:cNvPr>
          <p:cNvSpPr>
            <a:spLocks xmlns:a="http://schemas.openxmlformats.org/drawingml/2006/main" noGrp="1"/>
          </p:cNvSpPr>
          <p:nvPr/>
        </p:nvSpPr>
        <p:spPr>
          <a:xfrm xmlns:a="http://schemas.openxmlformats.org/drawingml/2006/main">
            <a:off x="495300" y="6210300"/>
            <a:ext cx="1120140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defRPr sz="1875" b="0">
                <a:solidFill>
                  <a:srgbClr val="236C4E"/>
                </a:solidFill>
                <a:latin typeface="Helvetica Neue"/>
                <a:ea typeface="Helvetica Neue"/>
                <a:cs typeface="Helvetica Neue"/>
              </a:defRPr>
            </a:defPPr>
          </a:lstStyle>
          <a:p xmlns:a="http://schemas.openxmlformats.org/drawingml/2006/main">
            <a:pPr>
              <a:buNone/>
              <a:defRPr sz="1875" b="0">
                <a:solidFill>
                  <a:srgbClr val="236C4E"/>
                </a:solidFill>
                <a:latin typeface="Helvetica Neue"/>
                <a:ea typeface="Helvetica Neue"/>
                <a:cs typeface="Helvetica Neue"/>
              </a:defRPr>
            </a:pPr>
            <a:r>
              <a:rPr sz="1875" b="0">
                <a:solidFill>
                  <a:srgbClr val="236C4E"/>
                </a:solidFill>
                <a:latin typeface="Helvetica Neue"/>
                <a:ea typeface="Helvetica Neue"/>
                <a:cs typeface="Helvetica Neue"/>
              </a:rPr>
              <a:t>Businesses reach connected agents through one integration.</a:t>
            </a:r>
          </a:p>
        </p:txBody>
      </p:sp>
      <p:sp>
        <p:nvSpPr>
          <p:cNvPr id="62" name="booking-layer-text-43">
            <a:extLst xmlns:a="http://schemas.openxmlformats.org/drawingml/2006/main">
              <a:ext uri="{FF2B5EF4-FFF2-40B4-BE49-F238E27FC236}">
                <a16:creationId xmlns:a16="http://schemas.microsoft.com/office/drawing/2014/main" id="{5CD82E1E-F31D-41BF-B159-FA5EFFFF6B38}"/>
              </a:ext>
            </a:extLst>
          </p:cNvPr>
          <p:cNvSpPr>
            <a:spLocks xmlns:a="http://schemas.openxmlformats.org/drawingml/2006/main" noGrp="1"/>
          </p:cNvSpPr>
          <p:nvPr/>
        </p:nvSpPr>
        <p:spPr>
          <a:xfrm xmlns:a="http://schemas.openxmlformats.org/drawingml/2006/main">
            <a:off x="11049000" y="6619875"/>
            <a:ext cx="666750" cy="2000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defRPr sz="1275" b="0">
                <a:solidFill>
                  <a:srgbClr val="65746C"/>
                </a:solidFill>
                <a:latin typeface="Helvetica Neue"/>
                <a:ea typeface="Helvetica Neue"/>
                <a:cs typeface="Helvetica Neue"/>
              </a:defRPr>
            </a:defPPr>
          </a:lstStyle>
          <a:p xmlns:a="http://schemas.openxmlformats.org/drawingml/2006/main">
            <a:pPr>
              <a:buNone/>
              <a:defRPr sz="1275" b="0">
                <a:solidFill>
                  <a:srgbClr val="65746C"/>
                </a:solidFill>
                <a:latin typeface="Helvetica Neue"/>
                <a:ea typeface="Helvetica Neue"/>
                <a:cs typeface="Helvetica Neue"/>
              </a:defRPr>
            </a:pPr>
            <a:r>
              <a:rPr sz="1275" b="0">
                <a:solidFill>
                  <a:srgbClr val="65746C"/>
                </a:solidFill>
                <a:latin typeface="Helvetica Neue"/>
                <a:ea typeface="Helvetica Neue"/>
                <a:cs typeface="Helvetica Neue"/>
              </a:rPr>
              <a:t>3 / 7</a:t>
            </a:r>
          </a:p>
        </p:txBody>
      </p:sp>
    </p:spTree>
    <p:extLst>
      <p:ext uri="{BB962C8B-B14F-4D97-AF65-F5344CB8AC3E}">
        <p14:creationId xmlns:p14="http://schemas.microsoft.com/office/powerpoint/2010/main" val="596186317"/>
      </p:ext>
    </p:extLst>
  </p:cSld>
</p:sld>
</file>

<file path=ppt/slides/slide4.xml><?xml version="1.0" encoding="utf-8"?>
<p:sld xmlns:p="http://schemas.openxmlformats.org/presentationml/2006/main">
  <p:cSld>
    <p:bg>
      <p:bgPr>
        <a:solidFill xmlns:a="http://schemas.openxmlformats.org/drawingml/2006/main">
          <a:srgbClr val="F5F2E9"/>
        </a:solidFill>
      </p:bgPr>
    </p:bg>
    <p:spTree>
      <p:nvGrpSpPr>
        <p:cNvPr id="1" name=""/>
        <p:cNvGrpSpPr/>
        <p:nvPr/>
      </p:nvGrpSpPr>
      <p:grpSpPr>
        <a:xfrm xmlns:a="http://schemas.openxmlformats.org/drawingml/2006/main"/>
      </p:grpSpPr>
      <p:sp>
        <p:nvSpPr>
          <p:cNvPr id="19" name="v31-text-0">
            <a:extLst xmlns:a="http://schemas.openxmlformats.org/drawingml/2006/main">
              <a:ext uri="{FF2B5EF4-FFF2-40B4-BE49-F238E27FC236}">
                <a16:creationId xmlns:a16="http://schemas.microsoft.com/office/drawing/2014/main" id="{F1F8C8EB-1D23-44A0-8DFF-F6E656B0CDBF}"/>
              </a:ext>
            </a:extLst>
          </p:cNvPr>
          <p:cNvSpPr>
            <a:spLocks xmlns:a="http://schemas.openxmlformats.org/drawingml/2006/main" noGrp="1"/>
          </p:cNvSpPr>
          <p:nvPr/>
        </p:nvSpPr>
        <p:spPr>
          <a:xfrm xmlns:a="http://schemas.openxmlformats.org/drawingml/2006/main">
            <a:off x="609600" y="285750"/>
            <a:ext cx="9525000" cy="247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1275" b="1">
                <a:solidFill>
                  <a:srgbClr val="53716A"/>
                </a:solidFill>
                <a:latin typeface="Helvetica Neue"/>
                <a:ea typeface="Helvetica Neue"/>
                <a:cs typeface="Helvetica Neue"/>
              </a:defRPr>
            </a:defPPr>
          </a:lstStyle>
          <a:p xmlns:a="http://schemas.openxmlformats.org/drawingml/2006/main">
            <a:pPr algn="l">
              <a:buNone/>
              <a:defRPr sz="1275" b="1">
                <a:solidFill>
                  <a:srgbClr val="53716A"/>
                </a:solidFill>
                <a:latin typeface="Helvetica Neue"/>
                <a:ea typeface="Helvetica Neue"/>
                <a:cs typeface="Helvetica Neue"/>
              </a:defRPr>
            </a:pPr>
            <a:r>
              <a:rPr sz="1275" b="1">
                <a:solidFill>
                  <a:srgbClr val="53716A"/>
                </a:solidFill>
                <a:latin typeface="Helvetica Neue"/>
                <a:ea typeface="Helvetica Neue"/>
                <a:cs typeface="Helvetica Neue"/>
              </a:rPr>
              <a:t>THE CUSTOMER EXPERIENCE</a:t>
            </a:r>
          </a:p>
        </p:txBody>
      </p:sp>
      <p:sp>
        <p:nvSpPr>
          <p:cNvPr id="2" name="v31-text-1">
            <a:extLst xmlns:a="http://schemas.openxmlformats.org/drawingml/2006/main">
              <a:ext uri="{FF2B5EF4-FFF2-40B4-BE49-F238E27FC236}">
                <a16:creationId xmlns:a16="http://schemas.microsoft.com/office/drawing/2014/main" id="{E9923D42-483B-46BE-AAAB-E583237E4C10}"/>
              </a:ext>
            </a:extLst>
          </p:cNvPr>
          <p:cNvSpPr>
            <a:spLocks xmlns:a="http://schemas.openxmlformats.org/drawingml/2006/main" noGrp="1"/>
          </p:cNvSpPr>
          <p:nvPr/>
        </p:nvSpPr>
        <p:spPr>
          <a:xfrm xmlns:a="http://schemas.openxmlformats.org/drawingml/2006/main">
            <a:off x="609600" y="742950"/>
            <a:ext cx="10972800" cy="571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3225" b="1">
                <a:solidFill>
                  <a:srgbClr val="103D3B"/>
                </a:solidFill>
                <a:latin typeface="Helvetica Neue"/>
                <a:ea typeface="Helvetica Neue"/>
                <a:cs typeface="Helvetica Neue"/>
              </a:defRPr>
            </a:defPPr>
          </a:lstStyle>
          <a:p xmlns:a="http://schemas.openxmlformats.org/drawingml/2006/main">
            <a:pPr algn="l">
              <a:buNone/>
              <a:defRPr sz="3225" b="1">
                <a:solidFill>
                  <a:srgbClr val="103D3B"/>
                </a:solidFill>
                <a:latin typeface="Helvetica Neue"/>
                <a:ea typeface="Helvetica Neue"/>
                <a:cs typeface="Helvetica Neue"/>
              </a:defRPr>
            </a:pPr>
            <a:r>
              <a:rPr sz="3225" b="1">
                <a:solidFill>
                  <a:srgbClr val="103D3B"/>
                </a:solidFill>
                <a:latin typeface="Helvetica Neue"/>
                <a:ea typeface="Helvetica Neue"/>
                <a:cs typeface="Helvetica Neue"/>
              </a:rPr>
              <a:t>GoLocal turns a scoped job into a better booking</a:t>
            </a:r>
          </a:p>
        </p:txBody>
      </p:sp>
      <p:sp>
        <p:nvSpPr>
          <p:cNvPr id="3" name="v31-text-2">
            <a:extLst xmlns:a="http://schemas.openxmlformats.org/drawingml/2006/main">
              <a:ext uri="{FF2B5EF4-FFF2-40B4-BE49-F238E27FC236}">
                <a16:creationId xmlns:a16="http://schemas.microsoft.com/office/drawing/2014/main" id="{3ECA9D22-E94A-4735-8333-93BAA2F9AEB5}"/>
              </a:ext>
            </a:extLst>
          </p:cNvPr>
          <p:cNvSpPr>
            <a:spLocks xmlns:a="http://schemas.openxmlformats.org/drawingml/2006/main" noGrp="1"/>
          </p:cNvSpPr>
          <p:nvPr/>
        </p:nvSpPr>
        <p:spPr>
          <a:xfrm xmlns:a="http://schemas.openxmlformats.org/drawingml/2006/main">
            <a:off x="609600" y="1400175"/>
            <a:ext cx="10972800" cy="3810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1800" b="0">
                <a:solidFill>
                  <a:srgbClr val="53716A"/>
                </a:solidFill>
                <a:latin typeface="Helvetica Neue"/>
                <a:ea typeface="Helvetica Neue"/>
                <a:cs typeface="Helvetica Neue"/>
              </a:defRPr>
            </a:defPPr>
          </a:lstStyle>
          <a:p xmlns:a="http://schemas.openxmlformats.org/drawingml/2006/main">
            <a:pPr algn="l">
              <a:buNone/>
              <a:defRPr sz="1800" b="0">
                <a:solidFill>
                  <a:srgbClr val="53716A"/>
                </a:solidFill>
                <a:latin typeface="Helvetica Neue"/>
                <a:ea typeface="Helvetica Neue"/>
                <a:cs typeface="Helvetica Neue"/>
              </a:defRPr>
            </a:pPr>
            <a:r>
              <a:rPr sz="1800" b="0">
                <a:solidFill>
                  <a:srgbClr val="53716A"/>
                </a:solidFill>
                <a:latin typeface="Helvetica Neue"/>
                <a:ea typeface="Helvetica Neue"/>
                <a:cs typeface="Helvetica Neue"/>
              </a:rPr>
              <a:t>Agents can scope the job today. Live business data changes how they find the right provider.</a:t>
            </a:r>
          </a:p>
        </p:txBody>
      </p:sp>
      <p:graphicFrame>
        <p:nvGraphicFramePr>
          <p:cNvPr id="4" name="Table 3">
            <a:extLst xmlns:a="http://schemas.openxmlformats.org/drawingml/2006/main">
              <a:ext uri="{FF2B5EF4-FFF2-40B4-BE49-F238E27FC236}">
                <a16:creationId xmlns:a16="http://schemas.microsoft.com/office/drawing/2014/main" id="{E2FC0A3F-8100-4C5D-9FEC-1378E8D6A5D7}"/>
              </a:ext>
            </a:extLst>
          </p:cNvPr>
          <p:cNvGraphicFramePr/>
          <p:nvPr/>
        </p:nvGraphicFramePr>
        <p:xfrm>
          <a:off xmlns:a="http://schemas.openxmlformats.org/drawingml/2006/main" x="609600" y="1905000"/>
          <a:ext xmlns:a="http://schemas.openxmlformats.org/drawingml/2006/main" cx="10972800" cy="1562100"/>
        </p:xfrm>
        <a:graphic xmlns:a="http://schemas.openxmlformats.org/drawingml/2006/main">
          <a:graphicData uri="http://schemas.openxmlformats.org/drawingml/2006/table">
            <a:tbl>
              <a:tblPr/>
              <a:tblGrid>
                <a:gridCol w="1581150"/>
                <a:gridCol w="4552950"/>
                <a:gridCol w="4838700"/>
              </a:tblGrid>
              <a:tr h="781050">
                <a:tc>
                  <a:txBody>
                    <a:bodyPr/>
                    <a:lstStyle/>
                    <a:p>
                      <a:pPr algn="l">
                        <a:buNone/>
                      </a:pPr>
                      <a:r>
                        <a:rPr sz="1350" b="1">
                          <a:solidFill>
                            <a:srgbClr val="A34E3F"/>
                          </a:solidFill>
                          <a:latin typeface="Helvetica Neue"/>
                          <a:ea typeface="Helvetica Neue"/>
                          <a:cs typeface="Helvetica Neue"/>
                        </a:rPr>
                        <a:t>TODAY</a:t>
                      </a:r>
                    </a:p>
                  </a:txBody>
                  <a:tcPr marL="114300" marR="95250" marT="85725" marB="85725" anchor="ctr">
                    <a:lnL w="0">
                      <a:solidFill>
                        <a:srgbClr val="F5F2E9"/>
                      </a:solidFill>
                    </a:lnL>
                    <a:lnR w="0">
                      <a:solidFill>
                        <a:srgbClr val="F5F2E9"/>
                      </a:solidFill>
                    </a:lnR>
                    <a:lnT w="0">
                      <a:solidFill>
                        <a:srgbClr val="F5F2E9"/>
                      </a:solidFill>
                    </a:lnT>
                    <a:lnB w="0">
                      <a:solidFill>
                        <a:srgbClr val="F5F2E9"/>
                      </a:solidFill>
                    </a:lnB>
                    <a:solidFill>
                      <a:srgbClr val="F0E2D9"/>
                    </a:solidFill>
                  </a:tcPr>
                </a:tc>
                <a:tc>
                  <a:txBody>
                    <a:bodyPr/>
                    <a:lstStyle/>
                    <a:p>
                      <a:pPr algn="l">
                        <a:buNone/>
                      </a:pPr>
                      <a:r>
                        <a:rPr sz="1575" b="0">
                          <a:solidFill>
                            <a:srgbClr val="103D3B"/>
                          </a:solidFill>
                          <a:latin typeface="Helvetica Neue"/>
                          <a:ea typeface="Helvetica Neue"/>
                          <a:cs typeface="Helvetica Neue"/>
                        </a:rPr>
                        <a:t>Search Google listings. Call 2–3 businesses.</a:t>
                      </a:r>
                    </a:p>
                    <a:p>
                      <a:pPr algn="l">
                        <a:buNone/>
                      </a:pPr>
                      <a:r>
                        <a:rPr sz="1575" b="0">
                          <a:solidFill>
                            <a:srgbClr val="103D3B"/>
                          </a:solidFill>
                          <a:latin typeface="Helvetica Neue"/>
                          <a:ea typeface="Helvetica Neue"/>
                          <a:cs typeface="Helvetica Neue"/>
                        </a:rPr>
                        <a:t>Check price and availability one at a time.</a:t>
                      </a:r>
                    </a:p>
                  </a:txBody>
                  <a:tcPr marL="114300" marR="95250" marT="85725" marB="85725" anchor="ctr">
                    <a:lnL w="0">
                      <a:solidFill>
                        <a:srgbClr val="F5F2E9"/>
                      </a:solidFill>
                    </a:lnL>
                    <a:lnR w="0">
                      <a:solidFill>
                        <a:srgbClr val="F5F2E9"/>
                      </a:solidFill>
                    </a:lnR>
                    <a:lnT w="0">
                      <a:solidFill>
                        <a:srgbClr val="F5F2E9"/>
                      </a:solidFill>
                    </a:lnT>
                    <a:lnB w="0">
                      <a:solidFill>
                        <a:srgbClr val="F5F2E9"/>
                      </a:solidFill>
                    </a:lnB>
                    <a:solidFill>
                      <a:srgbClr val="F0E2D9"/>
                    </a:solidFill>
                  </a:tcPr>
                </a:tc>
                <a:tc>
                  <a:txBody>
                    <a:bodyPr/>
                    <a:lstStyle/>
                    <a:p>
                      <a:pPr algn="l">
                        <a:buNone/>
                      </a:pPr>
                      <a:r>
                        <a:rPr sz="1575" b="0">
                          <a:solidFill>
                            <a:srgbClr val="103D3B"/>
                          </a:solidFill>
                          <a:latin typeface="Helvetica Neue"/>
                          <a:ea typeface="Helvetica Neue"/>
                          <a:cs typeface="Helvetica Neue"/>
                        </a:rPr>
                        <a:t>A narrow search can miss better matches.</a:t>
                      </a:r>
                    </a:p>
                    <a:p>
                      <a:pPr algn="l">
                        <a:buNone/>
                      </a:pPr>
                      <a:r>
                        <a:rPr sz="1575" b="0">
                          <a:solidFill>
                            <a:srgbClr val="103D3B"/>
                          </a:solidFill>
                          <a:latin typeface="Helvetica Neue"/>
                          <a:ea typeface="Helvetica Neue"/>
                          <a:cs typeface="Helvetica Neue"/>
                        </a:rPr>
                        <a:t>Repeated browsing and calls consume tokens.</a:t>
                      </a:r>
                    </a:p>
                  </a:txBody>
                  <a:tcPr marL="114300" marR="95250" marT="85725" marB="85725" anchor="ctr">
                    <a:lnL w="0">
                      <a:solidFill>
                        <a:srgbClr val="F5F2E9"/>
                      </a:solidFill>
                    </a:lnL>
                    <a:lnR w="0">
                      <a:solidFill>
                        <a:srgbClr val="F5F2E9"/>
                      </a:solidFill>
                    </a:lnR>
                    <a:lnT w="0">
                      <a:solidFill>
                        <a:srgbClr val="F5F2E9"/>
                      </a:solidFill>
                    </a:lnT>
                    <a:lnB w="0">
                      <a:solidFill>
                        <a:srgbClr val="F5F2E9"/>
                      </a:solidFill>
                    </a:lnB>
                    <a:solidFill>
                      <a:srgbClr val="F0E2D9"/>
                    </a:solidFill>
                  </a:tcPr>
                </a:tc>
              </a:tr>
              <a:tr h="781050">
                <a:tc>
                  <a:txBody>
                    <a:bodyPr/>
                    <a:lstStyle/>
                    <a:p>
                      <a:pPr algn="l">
                        <a:buNone/>
                      </a:pPr>
                      <a:r>
                        <a:rPr sz="1350" b="1">
                          <a:solidFill>
                            <a:srgbClr val="236C4E"/>
                          </a:solidFill>
                          <a:latin typeface="Helvetica Neue"/>
                          <a:ea typeface="Helvetica Neue"/>
                          <a:cs typeface="Helvetica Neue"/>
                        </a:rPr>
                        <a:t>WITH GOLOCAL</a:t>
                      </a:r>
                    </a:p>
                  </a:txBody>
                  <a:tcPr marL="114300" marR="95250" marT="85725" marB="85725" anchor="ctr">
                    <a:lnL w="0">
                      <a:solidFill>
                        <a:srgbClr val="F5F2E9"/>
                      </a:solidFill>
                    </a:lnL>
                    <a:lnR w="0">
                      <a:solidFill>
                        <a:srgbClr val="F5F2E9"/>
                      </a:solidFill>
                    </a:lnR>
                    <a:lnT w="0" cmpd="sng">
                      <a:solidFill>
                        <a:srgbClr val="F5F2E9"/>
                      </a:solidFill>
                      <a:prstDash val="solid"/>
                    </a:lnT>
                    <a:lnB w="0">
                      <a:solidFill>
                        <a:srgbClr val="F5F2E9"/>
                      </a:solidFill>
                    </a:lnB>
                    <a:solidFill>
                      <a:srgbClr val="E1EADC"/>
                    </a:solidFill>
                  </a:tcPr>
                </a:tc>
                <a:tc>
                  <a:txBody>
                    <a:bodyPr/>
                    <a:lstStyle/>
                    <a:p>
                      <a:pPr algn="l">
                        <a:buNone/>
                      </a:pPr>
                      <a:r>
                        <a:rPr sz="1575" b="0">
                          <a:solidFill>
                            <a:srgbClr val="103D3B"/>
                          </a:solidFill>
                          <a:latin typeface="Helvetica Neue"/>
                          <a:ea typeface="Helvetica Neue"/>
                          <a:cs typeface="Helvetica Neue"/>
                        </a:rPr>
                        <a:t>Search hundreds of connected businesses.</a:t>
                      </a:r>
                    </a:p>
                    <a:p>
                      <a:pPr algn="l">
                        <a:buNone/>
                      </a:pPr>
                      <a:r>
                        <a:rPr sz="1575" b="0">
                          <a:solidFill>
                            <a:srgbClr val="103D3B"/>
                          </a:solidFill>
                          <a:latin typeface="Helvetica Neue"/>
                          <a:ea typeface="Helvetica Neue"/>
                          <a:cs typeface="Helvetica Neue"/>
                        </a:rPr>
                        <a:t>Target: match in a fraction of a second.</a:t>
                      </a:r>
                    </a:p>
                  </a:txBody>
                  <a:tcPr marL="114300" marR="95250" marT="85725" marB="85725" anchor="ctr">
                    <a:lnL w="0">
                      <a:solidFill>
                        <a:srgbClr val="F5F2E9"/>
                      </a:solidFill>
                    </a:lnL>
                    <a:lnR w="0">
                      <a:solidFill>
                        <a:srgbClr val="F5F2E9"/>
                      </a:solidFill>
                    </a:lnR>
                    <a:lnT w="0" cmpd="sng">
                      <a:solidFill>
                        <a:srgbClr val="F5F2E9"/>
                      </a:solidFill>
                      <a:prstDash val="solid"/>
                    </a:lnT>
                    <a:lnB w="0">
                      <a:solidFill>
                        <a:srgbClr val="F5F2E9"/>
                      </a:solidFill>
                    </a:lnB>
                    <a:solidFill>
                      <a:srgbClr val="E1EADC"/>
                    </a:solidFill>
                  </a:tcPr>
                </a:tc>
                <a:tc>
                  <a:txBody>
                    <a:bodyPr/>
                    <a:lstStyle/>
                    <a:p>
                      <a:pPr algn="l">
                        <a:buNone/>
                      </a:pPr>
                      <a:r>
                        <a:rPr sz="1575" b="0">
                          <a:solidFill>
                            <a:srgbClr val="103D3B"/>
                          </a:solidFill>
                          <a:latin typeface="Helvetica Neue"/>
                          <a:ea typeface="Helvetica Neue"/>
                          <a:cs typeface="Helvetica Neue"/>
                        </a:rPr>
                        <a:t>Compare price, live availability, specialization</a:t>
                      </a:r>
                    </a:p>
                    <a:p>
                      <a:pPr algn="l">
                        <a:buNone/>
                      </a:pPr>
                      <a:r>
                        <a:rPr sz="1575" b="0">
                          <a:solidFill>
                            <a:srgbClr val="103D3B"/>
                          </a:solidFill>
                          <a:latin typeface="Helvetica Neue"/>
                          <a:ea typeface="Helvetica Neue"/>
                          <a:cs typeface="Helvetica Neue"/>
                        </a:rPr>
                        <a:t>and past transaction reviews to find the best fit.</a:t>
                      </a:r>
                    </a:p>
                  </a:txBody>
                  <a:tcPr marL="114300" marR="95250" marT="85725" marB="85725" anchor="ctr">
                    <a:lnL w="0">
                      <a:solidFill>
                        <a:srgbClr val="F5F2E9"/>
                      </a:solidFill>
                    </a:lnL>
                    <a:lnR w="0">
                      <a:solidFill>
                        <a:srgbClr val="F5F2E9"/>
                      </a:solidFill>
                    </a:lnR>
                    <a:lnT w="0" cmpd="sng">
                      <a:solidFill>
                        <a:srgbClr val="F5F2E9"/>
                      </a:solidFill>
                      <a:prstDash val="solid"/>
                    </a:lnT>
                    <a:lnB w="0">
                      <a:solidFill>
                        <a:srgbClr val="F5F2E9"/>
                      </a:solidFill>
                    </a:lnB>
                    <a:solidFill>
                      <a:srgbClr val="E1EADC"/>
                    </a:solidFill>
                  </a:tcPr>
                </a:tc>
              </a:tr>
            </a:tbl>
          </a:graphicData>
        </a:graphic>
      </p:graphicFrame>
      <p:sp>
        <p:nvSpPr>
          <p:cNvPr id="5" name="v31-text-3">
            <a:extLst xmlns:a="http://schemas.openxmlformats.org/drawingml/2006/main">
              <a:ext uri="{FF2B5EF4-FFF2-40B4-BE49-F238E27FC236}">
                <a16:creationId xmlns:a16="http://schemas.microsoft.com/office/drawing/2014/main" id="{B132B958-7D87-42F4-A5A2-2A0A917B7366}"/>
              </a:ext>
            </a:extLst>
          </p:cNvPr>
          <p:cNvSpPr>
            <a:spLocks xmlns:a="http://schemas.openxmlformats.org/drawingml/2006/main" noGrp="1"/>
          </p:cNvSpPr>
          <p:nvPr/>
        </p:nvSpPr>
        <p:spPr>
          <a:xfrm xmlns:a="http://schemas.openxmlformats.org/drawingml/2006/main">
            <a:off x="609600" y="3762375"/>
            <a:ext cx="10477500" cy="2381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1200" b="1">
                <a:solidFill>
                  <a:srgbClr val="53716A"/>
                </a:solidFill>
                <a:latin typeface="Helvetica Neue"/>
                <a:ea typeface="Helvetica Neue"/>
                <a:cs typeface="Helvetica Neue"/>
              </a:defRPr>
            </a:defPPr>
          </a:lstStyle>
          <a:p xmlns:a="http://schemas.openxmlformats.org/drawingml/2006/main">
            <a:pPr algn="l">
              <a:buNone/>
              <a:defRPr sz="1200" b="1">
                <a:solidFill>
                  <a:srgbClr val="53716A"/>
                </a:solidFill>
                <a:latin typeface="Helvetica Neue"/>
                <a:ea typeface="Helvetica Neue"/>
                <a:cs typeface="Helvetica Neue"/>
              </a:defRPr>
            </a:pPr>
            <a:r>
              <a:rPr sz="1200" b="1">
                <a:solidFill>
                  <a:srgbClr val="53716A"/>
                </a:solidFill>
                <a:latin typeface="Helvetica Neue"/>
                <a:ea typeface="Helvetica Neue"/>
                <a:cs typeface="Helvetica Neue"/>
              </a:rPr>
              <a:t>THE GOLOCAL BOOKING JOURNEY</a:t>
            </a:r>
          </a:p>
        </p:txBody>
      </p:sp>
      <p:sp>
        <p:nvSpPr>
          <p:cNvPr id="6" name="v31-text-4">
            <a:extLst xmlns:a="http://schemas.openxmlformats.org/drawingml/2006/main">
              <a:ext uri="{FF2B5EF4-FFF2-40B4-BE49-F238E27FC236}">
                <a16:creationId xmlns:a16="http://schemas.microsoft.com/office/drawing/2014/main" id="{3A22AD76-2F77-44FC-B236-472374BFC5E3}"/>
              </a:ext>
            </a:extLst>
          </p:cNvPr>
          <p:cNvSpPr>
            <a:spLocks xmlns:a="http://schemas.openxmlformats.org/drawingml/2006/main" noGrp="1"/>
          </p:cNvSpPr>
          <p:nvPr/>
        </p:nvSpPr>
        <p:spPr>
          <a:xfrm xmlns:a="http://schemas.openxmlformats.org/drawingml/2006/main">
            <a:off x="609600" y="4086225"/>
            <a:ext cx="10972800" cy="4000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2025" b="1">
                <a:solidFill>
                  <a:srgbClr val="103D3B"/>
                </a:solidFill>
                <a:latin typeface="Helvetica Neue"/>
                <a:ea typeface="Helvetica Neue"/>
                <a:cs typeface="Helvetica Neue"/>
              </a:defRPr>
            </a:defPPr>
          </a:lstStyle>
          <a:p xmlns:a="http://schemas.openxmlformats.org/drawingml/2006/main">
            <a:pPr algn="l">
              <a:buNone/>
              <a:defRPr sz="2025" b="1">
                <a:solidFill>
                  <a:srgbClr val="103D3B"/>
                </a:solidFill>
                <a:latin typeface="Helvetica Neue"/>
                <a:ea typeface="Helvetica Neue"/>
                <a:cs typeface="Helvetica Neue"/>
              </a:defRPr>
            </a:pPr>
            <a:r>
              <a:rPr sz="2025" b="1">
                <a:solidFill>
                  <a:srgbClr val="103D3B"/>
                </a:solidFill>
                <a:latin typeface="Helvetica Neue"/>
                <a:ea typeface="Helvetica Neue"/>
                <a:cs typeface="Helvetica Neue"/>
              </a:rPr>
              <a:t>“Book a plumber tomorrow morning for my leaking kitchen tap.”</a:t>
            </a:r>
          </a:p>
        </p:txBody>
      </p:sp>
      <p:sp>
        <p:nvSpPr>
          <p:cNvPr id="7" name="v31-text-5">
            <a:extLst xmlns:a="http://schemas.openxmlformats.org/drawingml/2006/main">
              <a:ext uri="{FF2B5EF4-FFF2-40B4-BE49-F238E27FC236}">
                <a16:creationId xmlns:a16="http://schemas.microsoft.com/office/drawing/2014/main" id="{966DF0A5-16BD-43A5-A573-344F93B48D31}"/>
              </a:ext>
            </a:extLst>
          </p:cNvPr>
          <p:cNvSpPr>
            <a:spLocks xmlns:a="http://schemas.openxmlformats.org/drawingml/2006/main" noGrp="1"/>
          </p:cNvSpPr>
          <p:nvPr/>
        </p:nvSpPr>
        <p:spPr>
          <a:xfrm xmlns:a="http://schemas.openxmlformats.org/drawingml/2006/main">
            <a:off x="609600" y="4610100"/>
            <a:ext cx="2647950" cy="3048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1650" b="1">
                <a:solidFill>
                  <a:srgbClr val="103D3B"/>
                </a:solidFill>
                <a:latin typeface="Helvetica Neue"/>
                <a:ea typeface="Helvetica Neue"/>
                <a:cs typeface="Helvetica Neue"/>
              </a:defRPr>
            </a:defPPr>
          </a:lstStyle>
          <a:p xmlns:a="http://schemas.openxmlformats.org/drawingml/2006/main">
            <a:pPr algn="l">
              <a:buNone/>
              <a:defRPr sz="1650" b="1">
                <a:solidFill>
                  <a:srgbClr val="103D3B"/>
                </a:solidFill>
                <a:latin typeface="Helvetica Neue"/>
                <a:ea typeface="Helvetica Neue"/>
                <a:cs typeface="Helvetica Neue"/>
              </a:defRPr>
            </a:pPr>
            <a:r>
              <a:rPr sz="1650" b="1">
                <a:solidFill>
                  <a:srgbClr val="103D3B"/>
                </a:solidFill>
                <a:latin typeface="Helvetica Neue"/>
                <a:ea typeface="Helvetica Neue"/>
                <a:cs typeface="Helvetica Neue"/>
              </a:rPr>
              <a:t>1  Agent scopes the job</a:t>
            </a:r>
          </a:p>
        </p:txBody>
      </p:sp>
      <p:sp>
        <p:nvSpPr>
          <p:cNvPr id="8" name="v31-text-6">
            <a:extLst xmlns:a="http://schemas.openxmlformats.org/drawingml/2006/main">
              <a:ext uri="{FF2B5EF4-FFF2-40B4-BE49-F238E27FC236}">
                <a16:creationId xmlns:a16="http://schemas.microsoft.com/office/drawing/2014/main" id="{E3A497E9-ABD5-4FDD-B03F-605AC0CC5904}"/>
              </a:ext>
            </a:extLst>
          </p:cNvPr>
          <p:cNvSpPr>
            <a:spLocks xmlns:a="http://schemas.openxmlformats.org/drawingml/2006/main" noGrp="1"/>
          </p:cNvSpPr>
          <p:nvPr/>
        </p:nvSpPr>
        <p:spPr>
          <a:xfrm xmlns:a="http://schemas.openxmlformats.org/drawingml/2006/main">
            <a:off x="609600" y="5010150"/>
            <a:ext cx="2647950" cy="7905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1500" b="0">
                <a:solidFill>
                  <a:srgbClr val="103D3B"/>
                </a:solidFill>
                <a:latin typeface="Helvetica Neue"/>
                <a:ea typeface="Helvetica Neue"/>
                <a:cs typeface="Helvetica Neue"/>
              </a:defRPr>
            </a:defPPr>
          </a:lstStyle>
          <a:p xmlns:a="http://schemas.openxmlformats.org/drawingml/2006/main">
            <a:pPr algn="l">
              <a:buNone/>
              <a:defRPr sz="1500" b="0">
                <a:solidFill>
                  <a:srgbClr val="103D3B"/>
                </a:solidFill>
                <a:latin typeface="Helvetica Neue"/>
                <a:ea typeface="Helvetica Neue"/>
                <a:cs typeface="Helvetica Neue"/>
              </a:defRPr>
            </a:pPr>
            <a:r>
              <a:rPr sz="1500" b="0">
                <a:solidFill>
                  <a:srgbClr val="103D3B"/>
                </a:solidFill>
                <a:latin typeface="Helvetica Neue"/>
                <a:ea typeface="Helvetica Neue"/>
                <a:cs typeface="Helvetica Neue"/>
              </a:rPr>
              <a:t>Agent works with user and </a:t>
            </a:r>
          </a:p>
          <a:p xmlns:a="http://schemas.openxmlformats.org/drawingml/2006/main">
            <a:pPr algn="l">
              <a:buNone/>
              <a:defRPr sz="1500" b="0">
                <a:solidFill>
                  <a:srgbClr val="103D3B"/>
                </a:solidFill>
                <a:latin typeface="Helvetica Neue"/>
                <a:ea typeface="Helvetica Neue"/>
                <a:cs typeface="Helvetica Neue"/>
              </a:defRPr>
            </a:pPr>
            <a:r>
              <a:rPr sz="1500" b="0">
                <a:solidFill>
                  <a:srgbClr val="103D3B"/>
                </a:solidFill>
                <a:latin typeface="Helvetica Neue"/>
                <a:ea typeface="Helvetica Neue"/>
                <a:cs typeface="Helvetica Neue"/>
              </a:rPr>
              <a:t>Go-local to scope the work with photos and questions </a:t>
            </a:r>
            <a:endParaRPr sz="1500" b="0">
              <a:solidFill>
                <a:srgbClr val="103D3B"/>
              </a:solidFill>
              <a:latin typeface="Helvetica Neue"/>
              <a:ea typeface="Helvetica Neue"/>
              <a:cs typeface="Helvetica Neue"/>
            </a:endParaRPr>
          </a:p>
        </p:txBody>
      </p:sp>
      <p:sp>
        <p:nvSpPr>
          <p:cNvPr id="9" name="v31-text-7">
            <a:extLst xmlns:a="http://schemas.openxmlformats.org/drawingml/2006/main">
              <a:ext uri="{FF2B5EF4-FFF2-40B4-BE49-F238E27FC236}">
                <a16:creationId xmlns:a16="http://schemas.microsoft.com/office/drawing/2014/main" id="{618604E1-578F-40B3-90EF-1B9319CC3E0E}"/>
              </a:ext>
            </a:extLst>
          </p:cNvPr>
          <p:cNvSpPr>
            <a:spLocks xmlns:a="http://schemas.openxmlformats.org/drawingml/2006/main" noGrp="1"/>
          </p:cNvSpPr>
          <p:nvPr/>
        </p:nvSpPr>
        <p:spPr>
          <a:xfrm xmlns:a="http://schemas.openxmlformats.org/drawingml/2006/main">
            <a:off x="3467100" y="4610100"/>
            <a:ext cx="2647950" cy="3048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1650" b="1">
                <a:solidFill>
                  <a:srgbClr val="236C4E"/>
                </a:solidFill>
                <a:latin typeface="Helvetica Neue"/>
                <a:ea typeface="Helvetica Neue"/>
                <a:cs typeface="Helvetica Neue"/>
              </a:defRPr>
            </a:defPPr>
          </a:lstStyle>
          <a:p xmlns:a="http://schemas.openxmlformats.org/drawingml/2006/main">
            <a:pPr algn="l">
              <a:buNone/>
              <a:defRPr sz="1650" b="1">
                <a:solidFill>
                  <a:srgbClr val="236C4E"/>
                </a:solidFill>
                <a:latin typeface="Helvetica Neue"/>
                <a:ea typeface="Helvetica Neue"/>
                <a:cs typeface="Helvetica Neue"/>
              </a:defRPr>
            </a:pPr>
            <a:r>
              <a:rPr sz="1650" b="1">
                <a:solidFill>
                  <a:srgbClr val="236C4E"/>
                </a:solidFill>
                <a:latin typeface="Helvetica Neue"/>
                <a:ea typeface="Helvetica Neue"/>
                <a:cs typeface="Helvetica Neue"/>
              </a:rPr>
              <a:t>2  GoLocal compares</a:t>
            </a:r>
          </a:p>
        </p:txBody>
      </p:sp>
      <p:sp>
        <p:nvSpPr>
          <p:cNvPr id="10" name="v31-text-8">
            <a:extLst xmlns:a="http://schemas.openxmlformats.org/drawingml/2006/main">
              <a:ext uri="{FF2B5EF4-FFF2-40B4-BE49-F238E27FC236}">
                <a16:creationId xmlns:a16="http://schemas.microsoft.com/office/drawing/2014/main" id="{E57A3C66-702B-49A7-8267-BD5381F09756}"/>
              </a:ext>
            </a:extLst>
          </p:cNvPr>
          <p:cNvSpPr>
            <a:spLocks xmlns:a="http://schemas.openxmlformats.org/drawingml/2006/main" noGrp="1"/>
          </p:cNvSpPr>
          <p:nvPr/>
        </p:nvSpPr>
        <p:spPr>
          <a:xfrm xmlns:a="http://schemas.openxmlformats.org/drawingml/2006/main">
            <a:off x="3467100" y="5010150"/>
            <a:ext cx="2647950" cy="7905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1500" b="0">
                <a:solidFill>
                  <a:srgbClr val="103D3B"/>
                </a:solidFill>
                <a:latin typeface="Helvetica Neue"/>
                <a:ea typeface="Helvetica Neue"/>
                <a:cs typeface="Helvetica Neue"/>
              </a:defRPr>
            </a:defPPr>
          </a:lstStyle>
          <a:p xmlns:a="http://schemas.openxmlformats.org/drawingml/2006/main">
            <a:pPr algn="l">
              <a:buNone/>
              <a:defRPr sz="1500" b="0">
                <a:solidFill>
                  <a:srgbClr val="103D3B"/>
                </a:solidFill>
                <a:latin typeface="Helvetica Neue"/>
                <a:ea typeface="Helvetica Neue"/>
                <a:cs typeface="Helvetica Neue"/>
              </a:defRPr>
            </a:pPr>
            <a:r>
              <a:rPr sz="1500" b="0">
                <a:solidFill>
                  <a:srgbClr val="103D3B"/>
                </a:solidFill>
                <a:latin typeface="Helvetica Neue"/>
                <a:ea typeface="Helvetica Neue"/>
                <a:cs typeface="Helvetica Neue"/>
              </a:rPr>
              <a:t>Finds suitable providers</a:t>
            </a:r>
            <a:r>
              <a:rPr sz="1500">
                <a:solidFill>
                  <a:srgbClr val="103D3B"/>
                </a:solidFill>
                <a:latin typeface="Helvetica Neue"/>
                <a:ea typeface="Helvetica Neue"/>
                <a:cs typeface="Helvetica Neue"/>
              </a:rPr>
              <a:t> across </a:t>
            </a:r>
            <a:r>
              <a:rPr sz="1500" b="0">
                <a:solidFill>
                  <a:srgbClr val="103D3B"/>
                </a:solidFill>
                <a:latin typeface="Helvetica Neue"/>
                <a:ea typeface="Helvetica Neue"/>
                <a:cs typeface="Helvetica Neue"/>
              </a:rPr>
              <a:t> ratings</a:t>
            </a:r>
            <a:r>
              <a:rPr sz="1500" b="0">
                <a:solidFill>
                  <a:srgbClr val="103D3B"/>
                </a:solidFill>
                <a:latin typeface="Helvetica Neue"/>
                <a:ea typeface="Helvetica Neue"/>
                <a:cs typeface="Helvetica Neue"/>
              </a:rPr>
              <a:t>,</a:t>
            </a:r>
            <a:r>
              <a:rPr sz="1500">
                <a:solidFill>
                  <a:srgbClr val="103D3B"/>
                </a:solidFill>
                <a:latin typeface="Helvetica Neue"/>
                <a:ea typeface="Helvetica Neue"/>
                <a:cs typeface="Helvetica Neue"/>
              </a:rPr>
              <a:t> </a:t>
            </a:r>
            <a:r>
              <a:rPr sz="1500" b="0">
                <a:solidFill>
                  <a:srgbClr val="103D3B"/>
                </a:solidFill>
                <a:latin typeface="Helvetica Neue"/>
                <a:ea typeface="Helvetica Neue"/>
                <a:cs typeface="Helvetica Neue"/>
              </a:rPr>
              <a:t>availability</a:t>
            </a:r>
            <a:r>
              <a:rPr sz="1500" b="0">
                <a:solidFill>
                  <a:srgbClr val="103D3B"/>
                </a:solidFill>
                <a:latin typeface="Helvetica Neue"/>
                <a:ea typeface="Helvetica Neue"/>
                <a:cs typeface="Helvetica Neue"/>
              </a:rPr>
              <a:t> and pricing</a:t>
            </a:r>
            <a:endParaRPr sz="1500" b="0">
              <a:solidFill>
                <a:srgbClr val="103D3B"/>
              </a:solidFill>
              <a:latin typeface="Helvetica Neue"/>
              <a:ea typeface="Helvetica Neue"/>
              <a:cs typeface="Helvetica Neue"/>
            </a:endParaRPr>
          </a:p>
        </p:txBody>
      </p:sp>
      <p:sp>
        <p:nvSpPr>
          <p:cNvPr id="11" name="v31-text-9">
            <a:extLst xmlns:a="http://schemas.openxmlformats.org/drawingml/2006/main">
              <a:ext uri="{FF2B5EF4-FFF2-40B4-BE49-F238E27FC236}">
                <a16:creationId xmlns:a16="http://schemas.microsoft.com/office/drawing/2014/main" id="{A6535DB2-F6C2-4C61-AA3A-F2783DF038A5}"/>
              </a:ext>
            </a:extLst>
          </p:cNvPr>
          <p:cNvSpPr>
            <a:spLocks xmlns:a="http://schemas.openxmlformats.org/drawingml/2006/main" noGrp="1"/>
          </p:cNvSpPr>
          <p:nvPr/>
        </p:nvSpPr>
        <p:spPr>
          <a:xfrm xmlns:a="http://schemas.openxmlformats.org/drawingml/2006/main">
            <a:off x="6324600" y="4610100"/>
            <a:ext cx="2647950" cy="3048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1650" b="1">
                <a:solidFill>
                  <a:srgbClr val="103D3B"/>
                </a:solidFill>
                <a:latin typeface="Helvetica Neue"/>
                <a:ea typeface="Helvetica Neue"/>
                <a:cs typeface="Helvetica Neue"/>
              </a:defRPr>
            </a:defPPr>
          </a:lstStyle>
          <a:p xmlns:a="http://schemas.openxmlformats.org/drawingml/2006/main">
            <a:pPr algn="l">
              <a:buNone/>
              <a:defRPr sz="1650" b="1">
                <a:solidFill>
                  <a:srgbClr val="103D3B"/>
                </a:solidFill>
                <a:latin typeface="Helvetica Neue"/>
                <a:ea typeface="Helvetica Neue"/>
                <a:cs typeface="Helvetica Neue"/>
              </a:defRPr>
            </a:pPr>
            <a:r>
              <a:rPr sz="1650" b="1">
                <a:solidFill>
                  <a:srgbClr val="103D3B"/>
                </a:solidFill>
                <a:latin typeface="Helvetica Neue"/>
                <a:ea typeface="Helvetica Neue"/>
                <a:cs typeface="Helvetica Neue"/>
              </a:rPr>
              <a:t>3  Customer approves</a:t>
            </a:r>
          </a:p>
        </p:txBody>
      </p:sp>
      <p:sp>
        <p:nvSpPr>
          <p:cNvPr id="12" name="v31-text-10">
            <a:extLst xmlns:a="http://schemas.openxmlformats.org/drawingml/2006/main">
              <a:ext uri="{FF2B5EF4-FFF2-40B4-BE49-F238E27FC236}">
                <a16:creationId xmlns:a16="http://schemas.microsoft.com/office/drawing/2014/main" id="{18B02C09-B853-4E71-827C-037B91BF763B}"/>
              </a:ext>
            </a:extLst>
          </p:cNvPr>
          <p:cNvSpPr>
            <a:spLocks xmlns:a="http://schemas.openxmlformats.org/drawingml/2006/main" noGrp="1"/>
          </p:cNvSpPr>
          <p:nvPr/>
        </p:nvSpPr>
        <p:spPr>
          <a:xfrm xmlns:a="http://schemas.openxmlformats.org/drawingml/2006/main">
            <a:off x="6324600" y="5010150"/>
            <a:ext cx="2647950" cy="7905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1500" b="0">
                <a:solidFill>
                  <a:srgbClr val="103D3B"/>
                </a:solidFill>
                <a:latin typeface="Helvetica Neue"/>
                <a:ea typeface="Helvetica Neue"/>
                <a:cs typeface="Helvetica Neue"/>
              </a:defRPr>
            </a:defPPr>
          </a:lstStyle>
          <a:p xmlns:a="http://schemas.openxmlformats.org/drawingml/2006/main">
            <a:pPr algn="l">
              <a:buNone/>
              <a:defRPr sz="1500" b="0">
                <a:solidFill>
                  <a:srgbClr val="103D3B"/>
                </a:solidFill>
                <a:latin typeface="Helvetica Neue"/>
                <a:ea typeface="Helvetica Neue"/>
                <a:cs typeface="Helvetica Neue"/>
              </a:defRPr>
            </a:pPr>
            <a:r>
              <a:rPr sz="1500" b="0">
                <a:solidFill>
                  <a:srgbClr val="103D3B"/>
                </a:solidFill>
                <a:latin typeface="Helvetica Neue"/>
                <a:ea typeface="Helvetica Neue"/>
                <a:cs typeface="Helvetica Neue"/>
              </a:rPr>
              <a:t>Chooses </a:t>
            </a:r>
            <a:r>
              <a:rPr sz="1500" b="0">
                <a:solidFill>
                  <a:srgbClr val="103D3B"/>
                </a:solidFill>
                <a:latin typeface="Helvetica Neue"/>
                <a:ea typeface="Helvetica Neue"/>
                <a:cs typeface="Helvetica Neue"/>
              </a:rPr>
              <a:t>best match </a:t>
            </a:r>
            <a:endParaRPr sz="1500" b="0">
              <a:solidFill>
                <a:srgbClr val="103D3B"/>
              </a:solidFill>
              <a:latin typeface="Helvetica Neue"/>
              <a:ea typeface="Helvetica Neue"/>
              <a:cs typeface="Helvetica Neue"/>
            </a:endParaRPr>
          </a:p>
          <a:p xmlns:a="http://schemas.openxmlformats.org/drawingml/2006/main">
            <a:pPr algn="l">
              <a:buNone/>
              <a:defRPr sz="1500" b="0">
                <a:solidFill>
                  <a:srgbClr val="103D3B"/>
                </a:solidFill>
                <a:latin typeface="Helvetica Neue"/>
                <a:ea typeface="Helvetica Neue"/>
                <a:cs typeface="Helvetica Neue"/>
              </a:defRPr>
            </a:pPr>
            <a:r>
              <a:rPr sz="1500" b="0">
                <a:solidFill>
                  <a:srgbClr val="103D3B"/>
                </a:solidFill>
                <a:latin typeface="Helvetica Neue"/>
                <a:ea typeface="Helvetica Neue"/>
                <a:cs typeface="Helvetica Neue"/>
              </a:rPr>
              <a:t>Authorizes the $79 visit</a:t>
            </a:r>
          </a:p>
          <a:p xmlns:a="http://schemas.openxmlformats.org/drawingml/2006/main">
            <a:pPr algn="l">
              <a:buNone/>
              <a:defRPr sz="1500" b="0">
                <a:solidFill>
                  <a:srgbClr val="103D3B"/>
                </a:solidFill>
                <a:latin typeface="Helvetica Neue"/>
                <a:ea typeface="Helvetica Neue"/>
                <a:cs typeface="Helvetica Neue"/>
              </a:defRPr>
            </a:pPr>
            <a:r>
              <a:rPr sz="1500" b="0">
                <a:solidFill>
                  <a:srgbClr val="103D3B"/>
                </a:solidFill>
                <a:latin typeface="Helvetica Neue"/>
                <a:ea typeface="Helvetica Neue"/>
                <a:cs typeface="Helvetica Neue"/>
              </a:rPr>
              <a:t>and payment.</a:t>
            </a:r>
          </a:p>
        </p:txBody>
      </p:sp>
      <p:sp>
        <p:nvSpPr>
          <p:cNvPr id="13" name="v31-text-11">
            <a:extLst xmlns:a="http://schemas.openxmlformats.org/drawingml/2006/main">
              <a:ext uri="{FF2B5EF4-FFF2-40B4-BE49-F238E27FC236}">
                <a16:creationId xmlns:a16="http://schemas.microsoft.com/office/drawing/2014/main" id="{FF4FCD7E-B9C0-4B0B-B470-6CA543F2E900}"/>
              </a:ext>
            </a:extLst>
          </p:cNvPr>
          <p:cNvSpPr>
            <a:spLocks xmlns:a="http://schemas.openxmlformats.org/drawingml/2006/main" noGrp="1"/>
          </p:cNvSpPr>
          <p:nvPr/>
        </p:nvSpPr>
        <p:spPr>
          <a:xfrm xmlns:a="http://schemas.openxmlformats.org/drawingml/2006/main">
            <a:off x="9182100" y="4610100"/>
            <a:ext cx="2400300" cy="3048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1650" b="1">
                <a:solidFill>
                  <a:srgbClr val="236C4E"/>
                </a:solidFill>
                <a:latin typeface="Helvetica Neue"/>
                <a:ea typeface="Helvetica Neue"/>
                <a:cs typeface="Helvetica Neue"/>
              </a:defRPr>
            </a:defPPr>
          </a:lstStyle>
          <a:p xmlns:a="http://schemas.openxmlformats.org/drawingml/2006/main">
            <a:pPr algn="l">
              <a:buNone/>
              <a:defRPr sz="1650" b="1">
                <a:solidFill>
                  <a:srgbClr val="236C4E"/>
                </a:solidFill>
                <a:latin typeface="Helvetica Neue"/>
                <a:ea typeface="Helvetica Neue"/>
                <a:cs typeface="Helvetica Neue"/>
              </a:defRPr>
            </a:pPr>
            <a:r>
              <a:rPr sz="1650" b="1">
                <a:solidFill>
                  <a:srgbClr val="236C4E"/>
                </a:solidFill>
                <a:latin typeface="Helvetica Neue"/>
                <a:ea typeface="Helvetica Neue"/>
                <a:cs typeface="Helvetica Neue"/>
              </a:rPr>
              <a:t>4  GoLocal books</a:t>
            </a:r>
          </a:p>
        </p:txBody>
      </p:sp>
      <p:sp>
        <p:nvSpPr>
          <p:cNvPr id="14" name="v31-text-12">
            <a:extLst xmlns:a="http://schemas.openxmlformats.org/drawingml/2006/main">
              <a:ext uri="{FF2B5EF4-FFF2-40B4-BE49-F238E27FC236}">
                <a16:creationId xmlns:a16="http://schemas.microsoft.com/office/drawing/2014/main" id="{CB0F95B8-9D3F-42BF-913E-60A45DE272FB}"/>
              </a:ext>
            </a:extLst>
          </p:cNvPr>
          <p:cNvSpPr>
            <a:spLocks xmlns:a="http://schemas.openxmlformats.org/drawingml/2006/main" noGrp="1"/>
          </p:cNvSpPr>
          <p:nvPr/>
        </p:nvSpPr>
        <p:spPr>
          <a:xfrm xmlns:a="http://schemas.openxmlformats.org/drawingml/2006/main">
            <a:off x="9182100" y="5010150"/>
            <a:ext cx="2400300" cy="7905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1500" b="0">
                <a:solidFill>
                  <a:srgbClr val="103D3B"/>
                </a:solidFill>
                <a:latin typeface="Helvetica Neue"/>
                <a:ea typeface="Helvetica Neue"/>
                <a:cs typeface="Helvetica Neue"/>
              </a:defRPr>
            </a:defPPr>
          </a:lstStyle>
          <a:p xmlns:a="http://schemas.openxmlformats.org/drawingml/2006/main">
            <a:pPr algn="l">
              <a:buNone/>
              <a:defRPr sz="1500" b="0">
                <a:solidFill>
                  <a:srgbClr val="103D3B"/>
                </a:solidFill>
                <a:latin typeface="Helvetica Neue"/>
                <a:ea typeface="Helvetica Neue"/>
                <a:cs typeface="Helvetica Neue"/>
              </a:defRPr>
            </a:pPr>
            <a:r>
              <a:rPr sz="1500" b="0">
                <a:solidFill>
                  <a:srgbClr val="103D3B"/>
                </a:solidFill>
                <a:latin typeface="Helvetica Neue"/>
                <a:ea typeface="Helvetica Neue"/>
                <a:cs typeface="Helvetica Neue"/>
              </a:rPr>
              <a:t>Books in provider system.</a:t>
            </a:r>
          </a:p>
          <a:p xmlns:a="http://schemas.openxmlformats.org/drawingml/2006/main">
            <a:pPr algn="l">
              <a:buNone/>
              <a:defRPr sz="1500" b="0">
                <a:solidFill>
                  <a:srgbClr val="103D3B"/>
                </a:solidFill>
                <a:latin typeface="Helvetica Neue"/>
                <a:ea typeface="Helvetica Neue"/>
                <a:cs typeface="Helvetica Neue"/>
              </a:defRPr>
            </a:pPr>
            <a:r>
              <a:rPr sz="1500" b="0">
                <a:solidFill>
                  <a:srgbClr val="103D3B"/>
                </a:solidFill>
                <a:latin typeface="Helvetica Neue"/>
                <a:ea typeface="Helvetica Neue"/>
                <a:cs typeface="Helvetica Neue"/>
              </a:rPr>
              <a:t>Returns booking ID and</a:t>
            </a:r>
          </a:p>
          <a:p xmlns:a="http://schemas.openxmlformats.org/drawingml/2006/main">
            <a:pPr algn="l">
              <a:buNone/>
              <a:defRPr sz="1500" b="0">
                <a:solidFill>
                  <a:srgbClr val="103D3B"/>
                </a:solidFill>
                <a:latin typeface="Helvetica Neue"/>
                <a:ea typeface="Helvetica Neue"/>
                <a:cs typeface="Helvetica Neue"/>
              </a:defRPr>
            </a:pPr>
            <a:r>
              <a:rPr sz="1500" b="0">
                <a:solidFill>
                  <a:srgbClr val="103D3B"/>
                </a:solidFill>
                <a:latin typeface="Helvetica Neue"/>
                <a:ea typeface="Helvetica Neue"/>
                <a:cs typeface="Helvetica Neue"/>
              </a:rPr>
              <a:t>payment status.</a:t>
            </a:r>
          </a:p>
        </p:txBody>
      </p:sp>
      <p:sp>
        <p:nvSpPr>
          <p:cNvPr id="15" name="v31-text-13">
            <a:extLst xmlns:a="http://schemas.openxmlformats.org/drawingml/2006/main">
              <a:ext uri="{FF2B5EF4-FFF2-40B4-BE49-F238E27FC236}">
                <a16:creationId xmlns:a16="http://schemas.microsoft.com/office/drawing/2014/main" id="{6D3B9BBC-6172-46AA-8D0C-E94267AD8D1F}"/>
              </a:ext>
            </a:extLst>
          </p:cNvPr>
          <p:cNvSpPr>
            <a:spLocks xmlns:a="http://schemas.openxmlformats.org/drawingml/2006/main" noGrp="1"/>
          </p:cNvSpPr>
          <p:nvPr/>
        </p:nvSpPr>
        <p:spPr>
          <a:xfrm xmlns:a="http://schemas.openxmlformats.org/drawingml/2006/main">
            <a:off x="609600" y="5905500"/>
            <a:ext cx="10972800" cy="3810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2100" b="1">
                <a:solidFill>
                  <a:srgbClr val="236C4E"/>
                </a:solidFill>
                <a:latin typeface="Helvetica Neue"/>
                <a:ea typeface="Helvetica Neue"/>
                <a:cs typeface="Helvetica Neue"/>
              </a:defRPr>
            </a:defPPr>
          </a:lstStyle>
          <a:p xmlns:a="http://schemas.openxmlformats.org/drawingml/2006/main">
            <a:pPr algn="l">
              <a:buNone/>
              <a:defRPr sz="2100" b="1">
                <a:solidFill>
                  <a:srgbClr val="236C4E"/>
                </a:solidFill>
                <a:latin typeface="Helvetica Neue"/>
                <a:ea typeface="Helvetica Neue"/>
                <a:cs typeface="Helvetica Neue"/>
              </a:defRPr>
            </a:pPr>
            <a:r>
              <a:rPr sz="2100" b="1">
                <a:solidFill>
                  <a:srgbClr val="236C4E"/>
                </a:solidFill>
                <a:latin typeface="Helvetica Neue"/>
                <a:ea typeface="Helvetica Neue"/>
                <a:cs typeface="Helvetica Neue"/>
              </a:rPr>
              <a:t>Confirmed: Oak Plumbing, tomorrow 9–11 am</a:t>
            </a:r>
          </a:p>
        </p:txBody>
      </p:sp>
      <p:sp>
        <p:nvSpPr>
          <p:cNvPr id="16" name="v31-text-14">
            <a:extLst xmlns:a="http://schemas.openxmlformats.org/drawingml/2006/main">
              <a:ext uri="{FF2B5EF4-FFF2-40B4-BE49-F238E27FC236}">
                <a16:creationId xmlns:a16="http://schemas.microsoft.com/office/drawing/2014/main" id="{22C67580-34D1-49BC-ADD6-B9B4C984F269}"/>
              </a:ext>
            </a:extLst>
          </p:cNvPr>
          <p:cNvSpPr>
            <a:spLocks xmlns:a="http://schemas.openxmlformats.org/drawingml/2006/main" noGrp="1"/>
          </p:cNvSpPr>
          <p:nvPr/>
        </p:nvSpPr>
        <p:spPr>
          <a:xfrm xmlns:a="http://schemas.openxmlformats.org/drawingml/2006/main">
            <a:off x="609600" y="6257925"/>
            <a:ext cx="10972800" cy="2571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1350" b="0">
                <a:solidFill>
                  <a:srgbClr val="53716A"/>
                </a:solidFill>
                <a:latin typeface="Helvetica Neue"/>
                <a:ea typeface="Helvetica Neue"/>
                <a:cs typeface="Helvetica Neue"/>
              </a:defRPr>
            </a:defPPr>
          </a:lstStyle>
          <a:p xmlns:a="http://schemas.openxmlformats.org/drawingml/2006/main">
            <a:pPr algn="l">
              <a:buNone/>
              <a:defRPr sz="1350" b="0">
                <a:solidFill>
                  <a:srgbClr val="53716A"/>
                </a:solidFill>
                <a:latin typeface="Helvetica Neue"/>
                <a:ea typeface="Helvetica Neue"/>
                <a:cs typeface="Helvetica Neue"/>
              </a:defRPr>
            </a:pPr>
            <a:r>
              <a:rPr sz="1350" b="0">
                <a:solidFill>
                  <a:srgbClr val="53716A"/>
                </a:solidFill>
                <a:latin typeface="Helvetica Neue"/>
                <a:ea typeface="Helvetica Neue"/>
                <a:cs typeface="Helvetica Neue"/>
              </a:rPr>
              <a:t>Booking GL-1042. $79 visit fee authorized. </a:t>
            </a:r>
          </a:p>
        </p:txBody>
      </p:sp>
      <p:sp>
        <p:nvSpPr>
          <p:cNvPr id="18" name="v31-text-16">
            <a:extLst xmlns:a="http://schemas.openxmlformats.org/drawingml/2006/main">
              <a:ext uri="{FF2B5EF4-FFF2-40B4-BE49-F238E27FC236}">
                <a16:creationId xmlns:a16="http://schemas.microsoft.com/office/drawing/2014/main" id="{72DB3F0C-6E0B-4F99-BBEC-61E0A9585480}"/>
              </a:ext>
            </a:extLst>
          </p:cNvPr>
          <p:cNvSpPr>
            <a:spLocks xmlns:a="http://schemas.openxmlformats.org/drawingml/2006/main" noGrp="1"/>
          </p:cNvSpPr>
          <p:nvPr/>
        </p:nvSpPr>
        <p:spPr>
          <a:xfrm xmlns:a="http://schemas.openxmlformats.org/drawingml/2006/main">
            <a:off x="11049000" y="6638925"/>
            <a:ext cx="66675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1125" b="0">
                <a:solidFill>
                  <a:srgbClr val="53716A"/>
                </a:solidFill>
                <a:latin typeface="Helvetica Neue"/>
                <a:ea typeface="Helvetica Neue"/>
                <a:cs typeface="Helvetica Neue"/>
              </a:defRPr>
            </a:defPPr>
          </a:lstStyle>
          <a:p xmlns:a="http://schemas.openxmlformats.org/drawingml/2006/main">
            <a:pPr algn="l">
              <a:buNone/>
              <a:defRPr sz="1125" b="0">
                <a:solidFill>
                  <a:srgbClr val="53716A"/>
                </a:solidFill>
                <a:latin typeface="Helvetica Neue"/>
                <a:ea typeface="Helvetica Neue"/>
                <a:cs typeface="Helvetica Neue"/>
              </a:defRPr>
            </a:pPr>
            <a:r>
              <a:rPr sz="1125" b="0">
                <a:solidFill>
                  <a:srgbClr val="53716A"/>
                </a:solidFill>
                <a:latin typeface="Helvetica Neue"/>
                <a:ea typeface="Helvetica Neue"/>
                <a:cs typeface="Helvetica Neue"/>
              </a:rPr>
              <a:t>4 / 7</a:t>
            </a:r>
          </a:p>
        </p:txBody>
      </p:sp>
    </p:spTree>
    <p:extLst>
      <p:ext uri="{BB962C8B-B14F-4D97-AF65-F5344CB8AC3E}">
        <p14:creationId xmlns:p14="http://schemas.microsoft.com/office/powerpoint/2010/main" val="262451054"/>
      </p:ext>
    </p:extLst>
  </p:cSld>
</p:sld>
</file>

<file path=ppt/slides/slide5.xml><?xml version="1.0" encoding="utf-8"?>
<p:sld xmlns:p="http://schemas.openxmlformats.org/presentationml/2006/main">
  <p:cSld>
    <p:bg>
      <p:bgPr>
        <a:solidFill xmlns:a="http://schemas.openxmlformats.org/drawingml/2006/main">
          <a:srgbClr val="F5F2E9"/>
        </a:solidFill>
      </p:bgPr>
    </p:bg>
    <p:spTree>
      <p:nvGrpSpPr>
        <p:cNvPr id="1" name=""/>
        <p:cNvGrpSpPr/>
        <p:nvPr/>
      </p:nvGrpSpPr>
      <p:grpSpPr>
        <a:xfrm xmlns:a="http://schemas.openxmlformats.org/drawingml/2006/main"/>
      </p:grpSpPr>
      <p:cxnSp>
        <p:nvCxnSpPr>
          <p:cNvPr id="17" name="Straight Arrow Connector 16">
            <a:extLst xmlns:a="http://schemas.openxmlformats.org/drawingml/2006/main">
              <a:ext uri="{FF2B5EF4-FFF2-40B4-BE49-F238E27FC236}">
                <a16:creationId xmlns:a16="http://schemas.microsoft.com/office/drawing/2014/main" id="{5A7439E8-FC8F-43AE-A2CD-77512980AB64}"/>
              </a:ext>
            </a:extLst>
          </p:cNvPr>
          <p:cNvCxnSpPr>
            <a:stCxn xmlns:a="http://schemas.openxmlformats.org/drawingml/2006/main" id="13" idx="0"/>
            <a:endCxn xmlns:a="http://schemas.openxmlformats.org/drawingml/2006/main" id="10" idx="2"/>
          </p:cNvCxnSpPr>
          <p:nvPr/>
        </p:nvCxnSpPr>
        <p:spPr>
          <a:xfrm xmlns:a="http://schemas.openxmlformats.org/drawingml/2006/main" flipV="1">
            <a:off x="5881688" y="3514725"/>
            <a:ext cx="0" cy="609600"/>
          </a:xfrm>
          <a:prstGeom xmlns:a="http://schemas.openxmlformats.org/drawingml/2006/main" prst="straightConnector1">
            <a:avLst/>
          </a:prstGeom>
          <a:ln xmlns:a="http://schemas.openxmlformats.org/drawingml/2006/main" w="19050">
            <a:solidFill>
              <a:srgbClr val="236C4E"/>
            </a:solidFill>
            <a:prstDash val="solid"/>
            <a:tailEnd type="arrow" w="sm" len="sm"/>
          </a:ln>
        </p:spPr>
      </p:cxnSp>
      <p:cxnSp>
        <p:nvCxnSpPr>
          <p:cNvPr id="16" name="Straight Arrow Connector 15">
            <a:extLst xmlns:a="http://schemas.openxmlformats.org/drawingml/2006/main">
              <a:ext uri="{FF2B5EF4-FFF2-40B4-BE49-F238E27FC236}">
                <a16:creationId xmlns:a16="http://schemas.microsoft.com/office/drawing/2014/main" id="{CD069645-AC58-4CB3-B60D-251EB87DCF9A}"/>
              </a:ext>
            </a:extLst>
          </p:cNvPr>
          <p:cNvCxnSpPr/>
          <p:nvPr/>
        </p:nvCxnSpPr>
        <p:spPr>
          <a:xfrm xmlns:a="http://schemas.openxmlformats.org/drawingml/2006/main" flipH="1" flipV="1">
            <a:off x="7790328" y="4486275"/>
            <a:ext cx="962025" cy="9525"/>
          </a:xfrm>
          <a:prstGeom xmlns:a="http://schemas.openxmlformats.org/drawingml/2006/main" prst="straightConnector1">
            <a:avLst/>
          </a:prstGeom>
          <a:ln xmlns:a="http://schemas.openxmlformats.org/drawingml/2006/main" w="19050">
            <a:solidFill>
              <a:srgbClr val="236C4E"/>
            </a:solidFill>
            <a:prstDash val="solid"/>
            <a:tailEnd type="arrow" w="sm" len="sm"/>
          </a:ln>
        </p:spPr>
      </p:cxnSp>
      <p:cxnSp>
        <p:nvCxnSpPr>
          <p:cNvPr id="15" name="Straight Arrow Connector 14">
            <a:extLst xmlns:a="http://schemas.openxmlformats.org/drawingml/2006/main">
              <a:ext uri="{FF2B5EF4-FFF2-40B4-BE49-F238E27FC236}">
                <a16:creationId xmlns:a16="http://schemas.microsoft.com/office/drawing/2014/main" id="{5BB6A19A-BD06-4B3E-BC41-AC539B74F81C}"/>
              </a:ext>
            </a:extLst>
          </p:cNvPr>
          <p:cNvCxnSpPr>
            <a:stCxn xmlns:a="http://schemas.openxmlformats.org/drawingml/2006/main" id="11" idx="2"/>
            <a:endCxn xmlns:a="http://schemas.openxmlformats.org/drawingml/2006/main" id="12" idx="0"/>
          </p:cNvCxnSpPr>
          <p:nvPr/>
        </p:nvCxnSpPr>
        <p:spPr>
          <a:xfrm xmlns:a="http://schemas.openxmlformats.org/drawingml/2006/main">
            <a:off x="10063163" y="3695700"/>
            <a:ext cx="0" cy="476250"/>
          </a:xfrm>
          <a:prstGeom xmlns:a="http://schemas.openxmlformats.org/drawingml/2006/main" prst="straightConnector1">
            <a:avLst/>
          </a:prstGeom>
          <a:ln xmlns:a="http://schemas.openxmlformats.org/drawingml/2006/main" w="19050">
            <a:solidFill>
              <a:srgbClr val="236C4E"/>
            </a:solidFill>
            <a:prstDash val="solid"/>
            <a:tailEnd type="arrow" w="sm" len="sm"/>
          </a:ln>
        </p:spPr>
      </p:cxnSp>
      <p:cxnSp>
        <p:nvCxnSpPr>
          <p:cNvPr id="14" name="Straight Arrow Connector 13">
            <a:extLst xmlns:a="http://schemas.openxmlformats.org/drawingml/2006/main">
              <a:ext uri="{FF2B5EF4-FFF2-40B4-BE49-F238E27FC236}">
                <a16:creationId xmlns:a16="http://schemas.microsoft.com/office/drawing/2014/main" id="{65630E1B-6CC7-42CD-B951-67E502324AF7}"/>
              </a:ext>
            </a:extLst>
          </p:cNvPr>
          <p:cNvCxnSpPr>
            <a:stCxn xmlns:a="http://schemas.openxmlformats.org/drawingml/2006/main" id="10" idx="3"/>
            <a:endCxn xmlns:a="http://schemas.openxmlformats.org/drawingml/2006/main" id="11" idx="1"/>
          </p:cNvCxnSpPr>
          <p:nvPr/>
        </p:nvCxnSpPr>
        <p:spPr>
          <a:xfrm xmlns:a="http://schemas.openxmlformats.org/drawingml/2006/main">
            <a:off x="7467600" y="3195638"/>
            <a:ext cx="962025" cy="9525"/>
          </a:xfrm>
          <a:prstGeom xmlns:a="http://schemas.openxmlformats.org/drawingml/2006/main" prst="straightConnector1">
            <a:avLst/>
          </a:prstGeom>
          <a:ln xmlns:a="http://schemas.openxmlformats.org/drawingml/2006/main" w="19050">
            <a:solidFill>
              <a:srgbClr val="236C4E"/>
            </a:solidFill>
            <a:prstDash val="solid"/>
            <a:tailEnd type="arrow" w="sm" len="sm"/>
          </a:ln>
        </p:spPr>
      </p:cxnSp>
      <p:sp>
        <p:nvSpPr>
          <p:cNvPr id="23" name="v27-text-7">
            <a:extLst xmlns:a="http://schemas.openxmlformats.org/drawingml/2006/main">
              <a:ext uri="{FF2B5EF4-FFF2-40B4-BE49-F238E27FC236}">
                <a16:creationId xmlns:a16="http://schemas.microsoft.com/office/drawing/2014/main" id="{552406B7-7212-4A4E-9D8F-4BF49224FCF5}"/>
              </a:ext>
            </a:extLst>
          </p:cNvPr>
          <p:cNvSpPr>
            <a:spLocks xmlns:a="http://schemas.openxmlformats.org/drawingml/2006/main" noGrp="1"/>
          </p:cNvSpPr>
          <p:nvPr/>
        </p:nvSpPr>
        <p:spPr>
          <a:xfrm xmlns:a="http://schemas.openxmlformats.org/drawingml/2006/main">
            <a:off x="495300" y="257175"/>
            <a:ext cx="11201400" cy="2381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1275" b="1">
                <a:solidFill>
                  <a:srgbClr val="65746C"/>
                </a:solidFill>
                <a:latin typeface="Helvetica Neue"/>
                <a:ea typeface="Helvetica Neue"/>
                <a:cs typeface="Helvetica Neue"/>
              </a:defRPr>
            </a:defPPr>
          </a:lstStyle>
          <a:p xmlns:a="http://schemas.openxmlformats.org/drawingml/2006/main">
            <a:pPr algn="l">
              <a:buNone/>
              <a:defRPr sz="1275" b="1">
                <a:solidFill>
                  <a:srgbClr val="65746C"/>
                </a:solidFill>
                <a:latin typeface="Helvetica Neue"/>
                <a:ea typeface="Helvetica Neue"/>
                <a:cs typeface="Helvetica Neue"/>
              </a:defRPr>
            </a:pPr>
            <a:r>
              <a:rPr sz="1275" b="1">
                <a:solidFill>
                  <a:srgbClr val="65746C"/>
                </a:solidFill>
                <a:latin typeface="Helvetica Neue"/>
                <a:ea typeface="Helvetica Neue"/>
                <a:cs typeface="Helvetica Neue"/>
              </a:rPr>
              <a:t>LAUNCH AND GROWTH</a:t>
            </a:r>
          </a:p>
        </p:txBody>
      </p:sp>
      <p:sp>
        <p:nvSpPr>
          <p:cNvPr id="2" name="v27-text-8">
            <a:extLst xmlns:a="http://schemas.openxmlformats.org/drawingml/2006/main">
              <a:ext uri="{FF2B5EF4-FFF2-40B4-BE49-F238E27FC236}">
                <a16:creationId xmlns:a16="http://schemas.microsoft.com/office/drawing/2014/main" id="{09EF2AB4-50EE-4D03-BB1C-EA0D87949576}"/>
              </a:ext>
            </a:extLst>
          </p:cNvPr>
          <p:cNvSpPr>
            <a:spLocks xmlns:a="http://schemas.openxmlformats.org/drawingml/2006/main" noGrp="1"/>
          </p:cNvSpPr>
          <p:nvPr/>
        </p:nvSpPr>
        <p:spPr>
          <a:xfrm xmlns:a="http://schemas.openxmlformats.org/drawingml/2006/main">
            <a:off x="495300" y="619125"/>
            <a:ext cx="11201400" cy="6000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3300" b="1">
                <a:solidFill>
                  <a:srgbClr val="193C32"/>
                </a:solidFill>
                <a:latin typeface="Helvetica Neue"/>
                <a:ea typeface="Helvetica Neue"/>
                <a:cs typeface="Helvetica Neue"/>
              </a:defRPr>
            </a:defPPr>
          </a:lstStyle>
          <a:p xmlns:a="http://schemas.openxmlformats.org/drawingml/2006/main">
            <a:pPr algn="l">
              <a:buNone/>
              <a:defRPr sz="3300" b="1">
                <a:solidFill>
                  <a:srgbClr val="193C32"/>
                </a:solidFill>
                <a:latin typeface="Helvetica Neue"/>
                <a:ea typeface="Helvetica Neue"/>
                <a:cs typeface="Helvetica Neue"/>
              </a:defRPr>
            </a:pPr>
            <a:r>
              <a:rPr sz="3300" b="1">
                <a:solidFill>
                  <a:srgbClr val="193C32"/>
                </a:solidFill>
                <a:latin typeface="Helvetica Neue"/>
                <a:ea typeface="Helvetica Neue"/>
                <a:cs typeface="Helvetica Neue"/>
              </a:rPr>
              <a:t>Local bookings can build a stronger local network</a:t>
            </a:r>
          </a:p>
        </p:txBody>
      </p:sp>
      <p:sp>
        <p:nvSpPr>
          <p:cNvPr id="3" name="v27-text-9">
            <a:extLst xmlns:a="http://schemas.openxmlformats.org/drawingml/2006/main">
              <a:ext uri="{FF2B5EF4-FFF2-40B4-BE49-F238E27FC236}">
                <a16:creationId xmlns:a16="http://schemas.microsoft.com/office/drawing/2014/main" id="{6751AF65-204F-462C-93D4-1DBF2FD9D9F9}"/>
              </a:ext>
            </a:extLst>
          </p:cNvPr>
          <p:cNvSpPr>
            <a:spLocks xmlns:a="http://schemas.openxmlformats.org/drawingml/2006/main" noGrp="1"/>
          </p:cNvSpPr>
          <p:nvPr/>
        </p:nvSpPr>
        <p:spPr>
          <a:xfrm xmlns:a="http://schemas.openxmlformats.org/drawingml/2006/main">
            <a:off x="495300" y="1343025"/>
            <a:ext cx="11201400" cy="4381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2025" b="0">
                <a:solidFill>
                  <a:srgbClr val="65746C"/>
                </a:solidFill>
                <a:latin typeface="Helvetica Neue"/>
                <a:ea typeface="Helvetica Neue"/>
                <a:cs typeface="Helvetica Neue"/>
              </a:defRPr>
            </a:defPPr>
          </a:lstStyle>
          <a:p xmlns:a="http://schemas.openxmlformats.org/drawingml/2006/main">
            <a:pPr algn="l">
              <a:buNone/>
              <a:defRPr sz="2025" b="0">
                <a:solidFill>
                  <a:srgbClr val="65746C"/>
                </a:solidFill>
                <a:latin typeface="Helvetica Neue"/>
                <a:ea typeface="Helvetica Neue"/>
                <a:cs typeface="Helvetica Neue"/>
              </a:defRPr>
            </a:pPr>
            <a:r>
              <a:rPr sz="2025" b="0">
                <a:solidFill>
                  <a:srgbClr val="65746C"/>
                </a:solidFill>
                <a:latin typeface="Helvetica Neue"/>
                <a:ea typeface="Helvetica Neue"/>
                <a:cs typeface="Helvetica Neue"/>
              </a:rPr>
              <a:t>One city and one service category first.</a:t>
            </a:r>
          </a:p>
        </p:txBody>
      </p:sp>
      <p:sp>
        <p:nvSpPr>
          <p:cNvPr id="4" name="v27-text-10">
            <a:extLst xmlns:a="http://schemas.openxmlformats.org/drawingml/2006/main">
              <a:ext uri="{FF2B5EF4-FFF2-40B4-BE49-F238E27FC236}">
                <a16:creationId xmlns:a16="http://schemas.microsoft.com/office/drawing/2014/main" id="{6C7C6279-3DD2-4E61-BB69-C15A5C0182D3}"/>
              </a:ext>
            </a:extLst>
          </p:cNvPr>
          <p:cNvSpPr>
            <a:spLocks xmlns:a="http://schemas.openxmlformats.org/drawingml/2006/main" noGrp="1"/>
          </p:cNvSpPr>
          <p:nvPr/>
        </p:nvSpPr>
        <p:spPr>
          <a:xfrm xmlns:a="http://schemas.openxmlformats.org/drawingml/2006/main">
            <a:off x="495300" y="2105025"/>
            <a:ext cx="3286125" cy="3810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2100" b="1">
                <a:solidFill>
                  <a:srgbClr val="193C32"/>
                </a:solidFill>
                <a:latin typeface="Helvetica Neue"/>
                <a:ea typeface="Helvetica Neue"/>
                <a:cs typeface="Helvetica Neue"/>
              </a:defRPr>
            </a:defPPr>
          </a:lstStyle>
          <a:p xmlns:a="http://schemas.openxmlformats.org/drawingml/2006/main">
            <a:pPr algn="l">
              <a:buNone/>
              <a:defRPr sz="2100" b="1">
                <a:solidFill>
                  <a:srgbClr val="193C32"/>
                </a:solidFill>
                <a:latin typeface="Helvetica Neue"/>
                <a:ea typeface="Helvetica Neue"/>
                <a:cs typeface="Helvetica Neue"/>
              </a:defRPr>
            </a:pPr>
            <a:r>
              <a:rPr sz="2100" b="1">
                <a:solidFill>
                  <a:srgbClr val="193C32"/>
                </a:solidFill>
                <a:latin typeface="Helvetica Neue"/>
                <a:ea typeface="Helvetica Neue"/>
                <a:cs typeface="Helvetica Neue"/>
              </a:rPr>
              <a:t>1  Build a local market</a:t>
            </a:r>
          </a:p>
        </p:txBody>
      </p:sp>
      <p:sp>
        <p:nvSpPr>
          <p:cNvPr id="5" name="v27-text-11">
            <a:extLst xmlns:a="http://schemas.openxmlformats.org/drawingml/2006/main">
              <a:ext uri="{FF2B5EF4-FFF2-40B4-BE49-F238E27FC236}">
                <a16:creationId xmlns:a16="http://schemas.microsoft.com/office/drawing/2014/main" id="{A4B74ED6-7AE9-47F3-9C6C-57CA1ABDE3C1}"/>
              </a:ext>
            </a:extLst>
          </p:cNvPr>
          <p:cNvSpPr>
            <a:spLocks xmlns:a="http://schemas.openxmlformats.org/drawingml/2006/main" noGrp="1"/>
          </p:cNvSpPr>
          <p:nvPr/>
        </p:nvSpPr>
        <p:spPr>
          <a:xfrm xmlns:a="http://schemas.openxmlformats.org/drawingml/2006/main">
            <a:off x="495300" y="2600325"/>
            <a:ext cx="3286125" cy="9810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1875" b="0">
                <a:solidFill>
                  <a:srgbClr val="193C32"/>
                </a:solidFill>
                <a:latin typeface="Helvetica Neue"/>
                <a:ea typeface="Helvetica Neue"/>
                <a:cs typeface="Helvetica Neue"/>
              </a:defRPr>
            </a:defPPr>
          </a:lstStyle>
          <a:p xmlns:a="http://schemas.openxmlformats.org/drawingml/2006/main">
            <a:pPr algn="l">
              <a:buNone/>
              <a:defRPr sz="1875" b="0">
                <a:solidFill>
                  <a:srgbClr val="193C32"/>
                </a:solidFill>
                <a:latin typeface="Helvetica Neue"/>
                <a:ea typeface="Helvetica Neue"/>
                <a:cs typeface="Helvetica Neue"/>
              </a:defRPr>
            </a:pPr>
            <a:r>
              <a:rPr sz="1875" b="0">
                <a:solidFill>
                  <a:srgbClr val="193C32"/>
                </a:solidFill>
                <a:latin typeface="Helvetica Neue"/>
                <a:ea typeface="Helvetica Neue"/>
                <a:cs typeface="Helvetica Neue"/>
              </a:rPr>
              <a:t>Recruit providers and users</a:t>
            </a:r>
          </a:p>
          <a:p xmlns:a="http://schemas.openxmlformats.org/drawingml/2006/main">
            <a:pPr algn="l">
              <a:buNone/>
              <a:defRPr sz="1875" b="0">
                <a:solidFill>
                  <a:srgbClr val="193C32"/>
                </a:solidFill>
                <a:latin typeface="Helvetica Neue"/>
                <a:ea typeface="Helvetica Neue"/>
                <a:cs typeface="Helvetica Neue"/>
              </a:defRPr>
            </a:pPr>
            <a:r>
              <a:rPr sz="1875" b="0">
                <a:solidFill>
                  <a:srgbClr val="193C32"/>
                </a:solidFill>
                <a:latin typeface="Helvetica Neue"/>
                <a:ea typeface="Helvetica Neue"/>
                <a:cs typeface="Helvetica Neue"/>
              </a:rPr>
              <a:t>with a specific booking need</a:t>
            </a:r>
          </a:p>
          <a:p xmlns:a="http://schemas.openxmlformats.org/drawingml/2006/main">
            <a:pPr algn="l">
              <a:buNone/>
              <a:defRPr sz="1875" b="0">
                <a:solidFill>
                  <a:srgbClr val="193C32"/>
                </a:solidFill>
                <a:latin typeface="Helvetica Neue"/>
                <a:ea typeface="Helvetica Neue"/>
                <a:cs typeface="Helvetica Neue"/>
              </a:defRPr>
            </a:pPr>
            <a:r>
              <a:rPr sz="1875" b="0">
                <a:solidFill>
                  <a:srgbClr val="193C32"/>
                </a:solidFill>
                <a:latin typeface="Helvetica Neue"/>
                <a:ea typeface="Helvetica Neue"/>
                <a:cs typeface="Helvetica Neue"/>
              </a:rPr>
              <a:t>in one city and category.</a:t>
            </a:r>
          </a:p>
        </p:txBody>
      </p:sp>
      <p:sp>
        <p:nvSpPr>
          <p:cNvPr id="6" name="v27-text-12">
            <a:extLst xmlns:a="http://schemas.openxmlformats.org/drawingml/2006/main">
              <a:ext uri="{FF2B5EF4-FFF2-40B4-BE49-F238E27FC236}">
                <a16:creationId xmlns:a16="http://schemas.microsoft.com/office/drawing/2014/main" id="{D038FF64-F9D1-4FBB-8426-6E1D62BB74DC}"/>
              </a:ext>
            </a:extLst>
          </p:cNvPr>
          <p:cNvSpPr>
            <a:spLocks xmlns:a="http://schemas.openxmlformats.org/drawingml/2006/main" noGrp="1"/>
          </p:cNvSpPr>
          <p:nvPr/>
        </p:nvSpPr>
        <p:spPr>
          <a:xfrm xmlns:a="http://schemas.openxmlformats.org/drawingml/2006/main">
            <a:off x="495300" y="3914775"/>
            <a:ext cx="3286125" cy="3810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2100" b="1">
                <a:solidFill>
                  <a:srgbClr val="193C32"/>
                </a:solidFill>
                <a:latin typeface="Helvetica Neue"/>
                <a:ea typeface="Helvetica Neue"/>
                <a:cs typeface="Helvetica Neue"/>
              </a:defRPr>
            </a:defPPr>
          </a:lstStyle>
          <a:p xmlns:a="http://schemas.openxmlformats.org/drawingml/2006/main">
            <a:pPr algn="l">
              <a:buNone/>
              <a:defRPr sz="2100" b="1">
                <a:solidFill>
                  <a:srgbClr val="193C32"/>
                </a:solidFill>
                <a:latin typeface="Helvetica Neue"/>
                <a:ea typeface="Helvetica Neue"/>
                <a:cs typeface="Helvetica Neue"/>
              </a:defRPr>
            </a:pPr>
            <a:r>
              <a:rPr sz="2100" b="1">
                <a:solidFill>
                  <a:srgbClr val="193C32"/>
                </a:solidFill>
                <a:latin typeface="Helvetica Neue"/>
                <a:ea typeface="Helvetica Neue"/>
                <a:cs typeface="Helvetica Neue"/>
              </a:rPr>
              <a:t>2  Connect their agents</a:t>
            </a:r>
          </a:p>
        </p:txBody>
      </p:sp>
      <p:sp>
        <p:nvSpPr>
          <p:cNvPr id="7" name="v27-text-13">
            <a:extLst xmlns:a="http://schemas.openxmlformats.org/drawingml/2006/main">
              <a:ext uri="{FF2B5EF4-FFF2-40B4-BE49-F238E27FC236}">
                <a16:creationId xmlns:a16="http://schemas.microsoft.com/office/drawing/2014/main" id="{191837B7-7E9C-449A-BADA-EA779B7CD341}"/>
              </a:ext>
            </a:extLst>
          </p:cNvPr>
          <p:cNvSpPr>
            <a:spLocks xmlns:a="http://schemas.openxmlformats.org/drawingml/2006/main" noGrp="1"/>
          </p:cNvSpPr>
          <p:nvPr/>
        </p:nvSpPr>
        <p:spPr>
          <a:xfrm xmlns:a="http://schemas.openxmlformats.org/drawingml/2006/main">
            <a:off x="495300" y="4410075"/>
            <a:ext cx="3286125" cy="6191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2025" b="1">
                <a:solidFill>
                  <a:srgbClr val="236C4E"/>
                </a:solidFill>
                <a:latin typeface="Helvetica Neue"/>
                <a:ea typeface="Helvetica Neue"/>
                <a:cs typeface="Helvetica Neue"/>
              </a:defRPr>
            </a:defPPr>
          </a:lstStyle>
          <a:p xmlns:a="http://schemas.openxmlformats.org/drawingml/2006/main">
            <a:pPr algn="l">
              <a:buNone/>
              <a:defRPr sz="2025" b="1">
                <a:solidFill>
                  <a:srgbClr val="236C4E"/>
                </a:solidFill>
                <a:latin typeface="Helvetica Neue"/>
                <a:ea typeface="Helvetica Neue"/>
                <a:cs typeface="Helvetica Neue"/>
              </a:defRPr>
            </a:pPr>
            <a:r>
              <a:rPr sz="2025" b="1">
                <a:solidFill>
                  <a:srgbClr val="236C4E"/>
                </a:solidFill>
                <a:latin typeface="Helvetica Neue"/>
                <a:ea typeface="Helvetica Neue"/>
                <a:cs typeface="Helvetica Neue"/>
              </a:rPr>
              <a:t>“Add GoLocal to find</a:t>
            </a:r>
          </a:p>
          <a:p xmlns:a="http://schemas.openxmlformats.org/drawingml/2006/main">
            <a:pPr algn="l">
              <a:buNone/>
              <a:defRPr sz="2025" b="1">
                <a:solidFill>
                  <a:srgbClr val="236C4E"/>
                </a:solidFill>
                <a:latin typeface="Helvetica Neue"/>
                <a:ea typeface="Helvetica Neue"/>
                <a:cs typeface="Helvetica Neue"/>
              </a:defRPr>
            </a:pPr>
            <a:r>
              <a:rPr sz="2025" b="1">
                <a:solidFill>
                  <a:srgbClr val="236C4E"/>
                </a:solidFill>
                <a:latin typeface="Helvetica Neue"/>
                <a:ea typeface="Helvetica Neue"/>
                <a:cs typeface="Helvetica Neue"/>
              </a:rPr>
              <a:t>me local services.”</a:t>
            </a:r>
          </a:p>
        </p:txBody>
      </p:sp>
      <p:sp>
        <p:nvSpPr>
          <p:cNvPr id="8" name="v27-text-14">
            <a:extLst xmlns:a="http://schemas.openxmlformats.org/drawingml/2006/main">
              <a:ext uri="{FF2B5EF4-FFF2-40B4-BE49-F238E27FC236}">
                <a16:creationId xmlns:a16="http://schemas.microsoft.com/office/drawing/2014/main" id="{F35D870C-26D8-4432-8D17-27531F6A6155}"/>
              </a:ext>
            </a:extLst>
          </p:cNvPr>
          <p:cNvSpPr>
            <a:spLocks xmlns:a="http://schemas.openxmlformats.org/drawingml/2006/main" noGrp="1"/>
          </p:cNvSpPr>
          <p:nvPr/>
        </p:nvSpPr>
        <p:spPr>
          <a:xfrm xmlns:a="http://schemas.openxmlformats.org/drawingml/2006/main">
            <a:off x="495300" y="5191125"/>
            <a:ext cx="3333750" cy="5143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1500" b="0">
                <a:solidFill>
                  <a:srgbClr val="65746C"/>
                </a:solidFill>
                <a:latin typeface="Helvetica Neue"/>
                <a:ea typeface="Helvetica Neue"/>
                <a:cs typeface="Helvetica Neue"/>
              </a:defRPr>
            </a:defPPr>
          </a:lstStyle>
          <a:p xmlns:a="http://schemas.openxmlformats.org/drawingml/2006/main">
            <a:pPr algn="l">
              <a:buNone/>
              <a:defRPr sz="1500" b="0">
                <a:solidFill>
                  <a:srgbClr val="65746C"/>
                </a:solidFill>
                <a:latin typeface="Helvetica Neue"/>
                <a:ea typeface="Helvetica Neue"/>
                <a:cs typeface="Helvetica Neue"/>
              </a:defRPr>
            </a:pPr>
            <a:r>
              <a:rPr sz="1500" b="0">
                <a:solidFill>
                  <a:srgbClr val="65746C"/>
                </a:solidFill>
                <a:latin typeface="Helvetica Neue"/>
                <a:ea typeface="Helvetica Neue"/>
                <a:cs typeface="Helvetica Neue"/>
              </a:rPr>
              <a:t>One-time setup on a compatible</a:t>
            </a:r>
          </a:p>
          <a:p xmlns:a="http://schemas.openxmlformats.org/drawingml/2006/main">
            <a:pPr algn="l">
              <a:buNone/>
              <a:defRPr sz="1500" b="0">
                <a:solidFill>
                  <a:srgbClr val="65746C"/>
                </a:solidFill>
                <a:latin typeface="Helvetica Neue"/>
                <a:ea typeface="Helvetica Neue"/>
                <a:cs typeface="Helvetica Neue"/>
              </a:defRPr>
            </a:pPr>
            <a:r>
              <a:rPr sz="1500" b="0">
                <a:solidFill>
                  <a:srgbClr val="65746C"/>
                </a:solidFill>
                <a:latin typeface="Helvetica Neue"/>
                <a:ea typeface="Helvetica Neue"/>
                <a:cs typeface="Helvetica Neue"/>
              </a:rPr>
              <a:t>agent, with sign-in and approval.</a:t>
            </a:r>
          </a:p>
        </p:txBody>
      </p:sp>
      <p:sp>
        <p:nvSpPr>
          <p:cNvPr id="9" name="v27-text-15">
            <a:extLst xmlns:a="http://schemas.openxmlformats.org/drawingml/2006/main">
              <a:ext uri="{FF2B5EF4-FFF2-40B4-BE49-F238E27FC236}">
                <a16:creationId xmlns:a16="http://schemas.microsoft.com/office/drawing/2014/main" id="{6529E900-B225-4C1D-AAC0-C63E23B875B5}"/>
              </a:ext>
            </a:extLst>
          </p:cNvPr>
          <p:cNvSpPr>
            <a:spLocks xmlns:a="http://schemas.openxmlformats.org/drawingml/2006/main" noGrp="1"/>
          </p:cNvSpPr>
          <p:nvPr/>
        </p:nvSpPr>
        <p:spPr>
          <a:xfrm xmlns:a="http://schemas.openxmlformats.org/drawingml/2006/main">
            <a:off x="4295775" y="2105025"/>
            <a:ext cx="7400925" cy="3810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2100" b="1">
                <a:solidFill>
                  <a:srgbClr val="193C32"/>
                </a:solidFill>
                <a:latin typeface="Helvetica Neue"/>
                <a:ea typeface="Helvetica Neue"/>
                <a:cs typeface="Helvetica Neue"/>
              </a:defRPr>
            </a:defPPr>
          </a:lstStyle>
          <a:p xmlns:a="http://schemas.openxmlformats.org/drawingml/2006/main">
            <a:pPr algn="l">
              <a:buNone/>
              <a:defRPr sz="2100" b="1">
                <a:solidFill>
                  <a:srgbClr val="193C32"/>
                </a:solidFill>
                <a:latin typeface="Helvetica Neue"/>
                <a:ea typeface="Helvetica Neue"/>
                <a:cs typeface="Helvetica Neue"/>
              </a:defRPr>
            </a:pPr>
            <a:r>
              <a:rPr sz="2100" b="1">
                <a:solidFill>
                  <a:srgbClr val="193C32"/>
                </a:solidFill>
                <a:latin typeface="Helvetica Neue"/>
                <a:ea typeface="Helvetica Neue"/>
                <a:cs typeface="Helvetica Neue"/>
              </a:rPr>
              <a:t>3  The network effect</a:t>
            </a:r>
          </a:p>
        </p:txBody>
      </p:sp>
      <p:sp>
        <p:nvSpPr>
          <p:cNvPr id="10" name="v27-text-16">
            <a:extLst xmlns:a="http://schemas.openxmlformats.org/drawingml/2006/main">
              <a:ext uri="{FF2B5EF4-FFF2-40B4-BE49-F238E27FC236}">
                <a16:creationId xmlns:a16="http://schemas.microsoft.com/office/drawing/2014/main" id="{41F248C4-2E34-45F4-B7A0-3D0F4A273D15}"/>
              </a:ext>
            </a:extLst>
          </p:cNvPr>
          <p:cNvSpPr>
            <a:spLocks xmlns:a="http://schemas.openxmlformats.org/drawingml/2006/main" noGrp="1"/>
          </p:cNvSpPr>
          <p:nvPr/>
        </p:nvSpPr>
        <p:spPr>
          <a:xfrm xmlns:a="http://schemas.openxmlformats.org/drawingml/2006/main">
            <a:off x="4295775" y="2876550"/>
            <a:ext cx="3171825" cy="6381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ctr">
              <a:defRPr sz="2100" b="1">
                <a:solidFill>
                  <a:srgbClr val="236C4E"/>
                </a:solidFill>
                <a:latin typeface="Helvetica Neue"/>
                <a:ea typeface="Helvetica Neue"/>
                <a:cs typeface="Helvetica Neue"/>
              </a:defRPr>
            </a:defPPr>
          </a:lstStyle>
          <a:p xmlns:a="http://schemas.openxmlformats.org/drawingml/2006/main">
            <a:pPr algn="ctr">
              <a:buNone/>
              <a:defRPr sz="2100" b="1">
                <a:solidFill>
                  <a:srgbClr val="236C4E"/>
                </a:solidFill>
                <a:latin typeface="Helvetica Neue"/>
                <a:ea typeface="Helvetica Neue"/>
                <a:cs typeface="Helvetica Neue"/>
              </a:defRPr>
            </a:pPr>
            <a:r>
              <a:rPr sz="2100" b="1">
                <a:solidFill>
                  <a:srgbClr val="236C4E"/>
                </a:solidFill>
                <a:latin typeface="Helvetica Neue"/>
                <a:ea typeface="Helvetica Neue"/>
                <a:cs typeface="Helvetica Neue"/>
              </a:rPr>
              <a:t>Successful</a:t>
            </a:r>
          </a:p>
          <a:p xmlns:a="http://schemas.openxmlformats.org/drawingml/2006/main">
            <a:pPr algn="ctr">
              <a:buNone/>
              <a:defRPr sz="2100" b="1">
                <a:solidFill>
                  <a:srgbClr val="236C4E"/>
                </a:solidFill>
                <a:latin typeface="Helvetica Neue"/>
                <a:ea typeface="Helvetica Neue"/>
                <a:cs typeface="Helvetica Neue"/>
              </a:defRPr>
            </a:pPr>
            <a:r>
              <a:rPr sz="2100" b="1">
                <a:solidFill>
                  <a:srgbClr val="236C4E"/>
                </a:solidFill>
                <a:latin typeface="Helvetica Neue"/>
                <a:ea typeface="Helvetica Neue"/>
                <a:cs typeface="Helvetica Neue"/>
              </a:rPr>
              <a:t>bookings</a:t>
            </a:r>
          </a:p>
        </p:txBody>
      </p:sp>
      <p:sp>
        <p:nvSpPr>
          <p:cNvPr id="11" name="v27-text-17">
            <a:extLst xmlns:a="http://schemas.openxmlformats.org/drawingml/2006/main">
              <a:ext uri="{FF2B5EF4-FFF2-40B4-BE49-F238E27FC236}">
                <a16:creationId xmlns:a16="http://schemas.microsoft.com/office/drawing/2014/main" id="{97FBEBDF-09DA-4E8D-83F4-1657A435BB03}"/>
              </a:ext>
            </a:extLst>
          </p:cNvPr>
          <p:cNvSpPr>
            <a:spLocks xmlns:a="http://schemas.openxmlformats.org/drawingml/2006/main" noGrp="1"/>
          </p:cNvSpPr>
          <p:nvPr/>
        </p:nvSpPr>
        <p:spPr>
          <a:xfrm xmlns:a="http://schemas.openxmlformats.org/drawingml/2006/main">
            <a:off x="8429625" y="2714625"/>
            <a:ext cx="3267075" cy="9810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ctr">
              <a:defRPr sz="1950" b="1">
                <a:solidFill>
                  <a:srgbClr val="193C32"/>
                </a:solidFill>
                <a:latin typeface="Helvetica Neue"/>
                <a:ea typeface="Helvetica Neue"/>
                <a:cs typeface="Helvetica Neue"/>
              </a:defRPr>
            </a:defPPr>
          </a:lstStyle>
          <a:p xmlns:a="http://schemas.openxmlformats.org/drawingml/2006/main">
            <a:pPr algn="ctr">
              <a:buNone/>
              <a:defRPr sz="1950" b="1">
                <a:solidFill>
                  <a:srgbClr val="193C32"/>
                </a:solidFill>
                <a:latin typeface="Helvetica Neue"/>
                <a:ea typeface="Helvetica Neue"/>
                <a:cs typeface="Helvetica Neue"/>
              </a:defRPr>
            </a:pPr>
            <a:r>
              <a:rPr sz="1950" b="1">
                <a:solidFill>
                  <a:srgbClr val="193C32"/>
                </a:solidFill>
                <a:latin typeface="Helvetica Neue"/>
                <a:ea typeface="Helvetica Neue"/>
                <a:cs typeface="Helvetica Neue"/>
              </a:rPr>
              <a:t>Agents suggest GoLocal</a:t>
            </a:r>
          </a:p>
          <a:p xmlns:a="http://schemas.openxmlformats.org/drawingml/2006/main">
            <a:pPr algn="ctr">
              <a:buNone/>
              <a:defRPr sz="1950" b="1">
                <a:solidFill>
                  <a:srgbClr val="193C32"/>
                </a:solidFill>
                <a:latin typeface="Helvetica Neue"/>
                <a:ea typeface="Helvetica Neue"/>
                <a:cs typeface="Helvetica Neue"/>
              </a:defRPr>
            </a:pPr>
            <a:r>
              <a:rPr sz="1950" b="1">
                <a:solidFill>
                  <a:srgbClr val="193C32"/>
                </a:solidFill>
                <a:latin typeface="Helvetica Neue"/>
                <a:ea typeface="Helvetica Neue"/>
                <a:cs typeface="Helvetica Neue"/>
              </a:rPr>
              <a:t>to more users with</a:t>
            </a:r>
          </a:p>
          <a:p xmlns:a="http://schemas.openxmlformats.org/drawingml/2006/main">
            <a:pPr algn="ctr">
              <a:buNone/>
              <a:defRPr sz="1950" b="1">
                <a:solidFill>
                  <a:srgbClr val="193C32"/>
                </a:solidFill>
                <a:latin typeface="Helvetica Neue"/>
                <a:ea typeface="Helvetica Neue"/>
                <a:cs typeface="Helvetica Neue"/>
              </a:defRPr>
            </a:pPr>
            <a:r>
              <a:rPr sz="1950" b="1">
                <a:solidFill>
                  <a:srgbClr val="193C32"/>
                </a:solidFill>
                <a:latin typeface="Helvetica Neue"/>
                <a:ea typeface="Helvetica Neue"/>
                <a:cs typeface="Helvetica Neue"/>
              </a:rPr>
              <a:t>similar requests*</a:t>
            </a:r>
          </a:p>
        </p:txBody>
      </p:sp>
      <p:sp>
        <p:nvSpPr>
          <p:cNvPr id="12" name="v27-text-18">
            <a:extLst xmlns:a="http://schemas.openxmlformats.org/drawingml/2006/main">
              <a:ext uri="{FF2B5EF4-FFF2-40B4-BE49-F238E27FC236}">
                <a16:creationId xmlns:a16="http://schemas.microsoft.com/office/drawing/2014/main" id="{D8C682C3-FB27-45C7-9DD3-12C2E8E52A0D}"/>
              </a:ext>
            </a:extLst>
          </p:cNvPr>
          <p:cNvSpPr>
            <a:spLocks xmlns:a="http://schemas.openxmlformats.org/drawingml/2006/main" noGrp="1"/>
          </p:cNvSpPr>
          <p:nvPr/>
        </p:nvSpPr>
        <p:spPr>
          <a:xfrm xmlns:a="http://schemas.openxmlformats.org/drawingml/2006/main">
            <a:off x="8429625" y="4171950"/>
            <a:ext cx="3267075" cy="647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ctr">
              <a:defRPr sz="2100" b="1">
                <a:solidFill>
                  <a:srgbClr val="236C4E"/>
                </a:solidFill>
                <a:latin typeface="Helvetica Neue"/>
                <a:ea typeface="Helvetica Neue"/>
                <a:cs typeface="Helvetica Neue"/>
              </a:defRPr>
            </a:defPPr>
          </a:lstStyle>
          <a:p xmlns:a="http://schemas.openxmlformats.org/drawingml/2006/main">
            <a:pPr algn="ctr">
              <a:buNone/>
              <a:defRPr sz="2100" b="1">
                <a:solidFill>
                  <a:srgbClr val="236C4E"/>
                </a:solidFill>
                <a:latin typeface="Helvetica Neue"/>
                <a:ea typeface="Helvetica Neue"/>
                <a:cs typeface="Helvetica Neue"/>
              </a:defRPr>
            </a:pPr>
            <a:r>
              <a:rPr sz="2100" b="1">
                <a:solidFill>
                  <a:srgbClr val="236C4E"/>
                </a:solidFill>
                <a:latin typeface="Helvetica Neue"/>
                <a:ea typeface="Helvetica Neue"/>
                <a:cs typeface="Helvetica Neue"/>
              </a:rPr>
              <a:t>More local</a:t>
            </a:r>
          </a:p>
          <a:p xmlns:a="http://schemas.openxmlformats.org/drawingml/2006/main">
            <a:pPr algn="ctr">
              <a:buNone/>
              <a:defRPr sz="2100" b="1">
                <a:solidFill>
                  <a:srgbClr val="236C4E"/>
                </a:solidFill>
                <a:latin typeface="Helvetica Neue"/>
                <a:ea typeface="Helvetica Neue"/>
                <a:cs typeface="Helvetica Neue"/>
              </a:defRPr>
            </a:pPr>
            <a:r>
              <a:rPr sz="2100" b="1">
                <a:solidFill>
                  <a:srgbClr val="236C4E"/>
                </a:solidFill>
                <a:latin typeface="Helvetica Neue"/>
                <a:ea typeface="Helvetica Neue"/>
                <a:cs typeface="Helvetica Neue"/>
              </a:rPr>
              <a:t>bookings</a:t>
            </a:r>
          </a:p>
        </p:txBody>
      </p:sp>
      <p:sp>
        <p:nvSpPr>
          <p:cNvPr id="13" name="v27-text-19">
            <a:extLst xmlns:a="http://schemas.openxmlformats.org/drawingml/2006/main">
              <a:ext uri="{FF2B5EF4-FFF2-40B4-BE49-F238E27FC236}">
                <a16:creationId xmlns:a16="http://schemas.microsoft.com/office/drawing/2014/main" id="{9DA05B9F-2AE2-4577-8F47-50D875FC15C5}"/>
              </a:ext>
            </a:extLst>
          </p:cNvPr>
          <p:cNvSpPr>
            <a:spLocks xmlns:a="http://schemas.openxmlformats.org/drawingml/2006/main" noGrp="1"/>
          </p:cNvSpPr>
          <p:nvPr/>
        </p:nvSpPr>
        <p:spPr>
          <a:xfrm xmlns:a="http://schemas.openxmlformats.org/drawingml/2006/main">
            <a:off x="4295775" y="4124325"/>
            <a:ext cx="3171825" cy="7239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ctr">
              <a:defRPr sz="1875" b="1">
                <a:solidFill>
                  <a:srgbClr val="193C32"/>
                </a:solidFill>
                <a:latin typeface="Helvetica Neue"/>
                <a:ea typeface="Helvetica Neue"/>
                <a:cs typeface="Helvetica Neue"/>
              </a:defRPr>
            </a:defPPr>
          </a:lstStyle>
          <a:p xmlns:a="http://schemas.openxmlformats.org/drawingml/2006/main">
            <a:pPr algn="ctr">
              <a:buNone/>
              <a:defRPr sz="1875" b="1">
                <a:solidFill>
                  <a:srgbClr val="193C32"/>
                </a:solidFill>
                <a:latin typeface="Helvetica Neue"/>
                <a:ea typeface="Helvetica Neue"/>
                <a:cs typeface="Helvetica Neue"/>
              </a:defRPr>
            </a:pPr>
            <a:r>
              <a:rPr sz="1875" b="1">
                <a:solidFill>
                  <a:srgbClr val="193C32"/>
                </a:solidFill>
                <a:latin typeface="Helvetica Neue"/>
                <a:ea typeface="Helvetica Neue"/>
                <a:cs typeface="Helvetica Neue"/>
              </a:rPr>
              <a:t>More local businesses join,</a:t>
            </a:r>
          </a:p>
          <a:p xmlns:a="http://schemas.openxmlformats.org/drawingml/2006/main">
            <a:pPr algn="ctr">
              <a:buNone/>
              <a:defRPr sz="1875" b="1">
                <a:solidFill>
                  <a:srgbClr val="193C32"/>
                </a:solidFill>
                <a:latin typeface="Helvetica Neue"/>
                <a:ea typeface="Helvetica Neue"/>
                <a:cs typeface="Helvetica Neue"/>
              </a:defRPr>
            </a:pPr>
            <a:r>
              <a:rPr sz="1875" b="1">
                <a:solidFill>
                  <a:srgbClr val="193C32"/>
                </a:solidFill>
                <a:latin typeface="Helvetica Neue"/>
                <a:ea typeface="Helvetica Neue"/>
                <a:cs typeface="Helvetica Neue"/>
              </a:rPr>
              <a:t>expanding useful coverage</a:t>
            </a:r>
          </a:p>
        </p:txBody>
      </p:sp>
      <p:sp>
        <p:nvSpPr>
          <p:cNvPr id="18" name="v27-text-20">
            <a:extLst xmlns:a="http://schemas.openxmlformats.org/drawingml/2006/main">
              <a:ext uri="{FF2B5EF4-FFF2-40B4-BE49-F238E27FC236}">
                <a16:creationId xmlns:a16="http://schemas.microsoft.com/office/drawing/2014/main" id="{E3B4DB50-D0D0-4E6D-874A-FBCC20F6A1F3}"/>
              </a:ext>
            </a:extLst>
          </p:cNvPr>
          <p:cNvSpPr>
            <a:spLocks xmlns:a="http://schemas.openxmlformats.org/drawingml/2006/main" noGrp="1"/>
          </p:cNvSpPr>
          <p:nvPr/>
        </p:nvSpPr>
        <p:spPr>
          <a:xfrm xmlns:a="http://schemas.openxmlformats.org/drawingml/2006/main">
            <a:off x="4295775" y="5219700"/>
            <a:ext cx="7400925" cy="6000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1875" b="1">
                <a:solidFill>
                  <a:srgbClr val="236C4E"/>
                </a:solidFill>
                <a:latin typeface="Helvetica Neue"/>
                <a:ea typeface="Helvetica Neue"/>
                <a:cs typeface="Helvetica Neue"/>
              </a:defRPr>
            </a:defPPr>
          </a:lstStyle>
          <a:p xmlns:a="http://schemas.openxmlformats.org/drawingml/2006/main">
            <a:pPr algn="l">
              <a:buNone/>
              <a:defRPr sz="1875" b="1">
                <a:solidFill>
                  <a:srgbClr val="236C4E"/>
                </a:solidFill>
                <a:latin typeface="Helvetica Neue"/>
                <a:ea typeface="Helvetica Neue"/>
                <a:cs typeface="Helvetica Neue"/>
              </a:defRPr>
            </a:pPr>
            <a:r>
              <a:rPr sz="1875" b="1">
                <a:solidFill>
                  <a:srgbClr val="236C4E"/>
                </a:solidFill>
                <a:latin typeface="Helvetica Neue"/>
                <a:ea typeface="Helvetica Neue"/>
                <a:cs typeface="Helvetica Neue"/>
              </a:rPr>
              <a:t>Proof in one city supports more categories there,</a:t>
            </a:r>
          </a:p>
          <a:p xmlns:a="http://schemas.openxmlformats.org/drawingml/2006/main">
            <a:pPr algn="l">
              <a:buNone/>
              <a:defRPr sz="1875" b="1">
                <a:solidFill>
                  <a:srgbClr val="236C4E"/>
                </a:solidFill>
                <a:latin typeface="Helvetica Neue"/>
                <a:ea typeface="Helvetica Neue"/>
                <a:cs typeface="Helvetica Neue"/>
              </a:defRPr>
            </a:pPr>
            <a:r>
              <a:rPr sz="1875" b="1">
                <a:solidFill>
                  <a:srgbClr val="236C4E"/>
                </a:solidFill>
                <a:latin typeface="Helvetica Neue"/>
                <a:ea typeface="Helvetica Neue"/>
                <a:cs typeface="Helvetica Neue"/>
              </a:rPr>
              <a:t>then expansion into more cities.</a:t>
            </a:r>
          </a:p>
        </p:txBody>
      </p:sp>
      <p:sp>
        <p:nvSpPr>
          <p:cNvPr id="19" name="v27-text-21">
            <a:extLst xmlns:a="http://schemas.openxmlformats.org/drawingml/2006/main">
              <a:ext uri="{FF2B5EF4-FFF2-40B4-BE49-F238E27FC236}">
                <a16:creationId xmlns:a16="http://schemas.microsoft.com/office/drawing/2014/main" id="{DDCB9C01-99BC-4627-A8E9-CB047DB5BA0F}"/>
              </a:ext>
            </a:extLst>
          </p:cNvPr>
          <p:cNvSpPr>
            <a:spLocks xmlns:a="http://schemas.openxmlformats.org/drawingml/2006/main" noGrp="1"/>
          </p:cNvSpPr>
          <p:nvPr/>
        </p:nvSpPr>
        <p:spPr>
          <a:xfrm xmlns:a="http://schemas.openxmlformats.org/drawingml/2006/main">
            <a:off x="495300" y="5994026"/>
            <a:ext cx="1120140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1200" b="1">
                <a:solidFill>
                  <a:srgbClr val="236C4E"/>
                </a:solidFill>
                <a:latin typeface="Helvetica Neue"/>
                <a:ea typeface="Helvetica Neue"/>
                <a:cs typeface="Helvetica Neue"/>
              </a:defRPr>
            </a:defPPr>
          </a:lstStyle>
          <a:p xmlns:a="http://schemas.openxmlformats.org/drawingml/2006/main">
            <a:pPr algn="l">
              <a:buNone/>
              <a:defRPr sz="1200" b="1">
                <a:solidFill>
                  <a:srgbClr val="236C4E"/>
                </a:solidFill>
                <a:latin typeface="Helvetica Neue"/>
                <a:ea typeface="Helvetica Neue"/>
                <a:cs typeface="Helvetica Neue"/>
              </a:defRPr>
            </a:pPr>
            <a:r>
              <a:rPr sz="1200" b="1">
                <a:solidFill>
                  <a:srgbClr val="236C4E"/>
                </a:solidFill>
                <a:latin typeface="Helvetica Neue"/>
                <a:ea typeface="Helvetica Neue"/>
                <a:cs typeface="Helvetica Neue"/>
              </a:rPr>
              <a:t>REVENUE MODEL</a:t>
            </a:r>
          </a:p>
        </p:txBody>
      </p:sp>
      <p:sp>
        <p:nvSpPr>
          <p:cNvPr id="20" name="v27-text-22">
            <a:extLst xmlns:a="http://schemas.openxmlformats.org/drawingml/2006/main">
              <a:ext uri="{FF2B5EF4-FFF2-40B4-BE49-F238E27FC236}">
                <a16:creationId xmlns:a16="http://schemas.microsoft.com/office/drawing/2014/main" id="{0522C01E-D05D-4CA4-9C25-943BC026B5AF}"/>
              </a:ext>
            </a:extLst>
          </p:cNvPr>
          <p:cNvSpPr>
            <a:spLocks xmlns:a="http://schemas.openxmlformats.org/drawingml/2006/main" noGrp="1"/>
          </p:cNvSpPr>
          <p:nvPr/>
        </p:nvSpPr>
        <p:spPr>
          <a:xfrm xmlns:a="http://schemas.openxmlformats.org/drawingml/2006/main">
            <a:off x="495300" y="6222626"/>
            <a:ext cx="11201400" cy="4953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1575" b="0">
                <a:solidFill>
                  <a:srgbClr val="103D3B"/>
                </a:solidFill>
                <a:latin typeface="Helvetica Neue"/>
                <a:ea typeface="Helvetica Neue"/>
                <a:cs typeface="Helvetica Neue"/>
              </a:defRPr>
            </a:defPPr>
          </a:lstStyle>
          <a:p xmlns:a="http://schemas.openxmlformats.org/drawingml/2006/main">
            <a:pPr algn="l">
              <a:buNone/>
              <a:defRPr sz="1575" b="0">
                <a:solidFill>
                  <a:srgbClr val="103D3B"/>
                </a:solidFill>
                <a:latin typeface="Helvetica Neue"/>
                <a:ea typeface="Helvetica Neue"/>
                <a:cs typeface="Helvetica Neue"/>
              </a:defRPr>
            </a:pPr>
            <a:r>
              <a:rPr sz="1575" b="0">
                <a:solidFill>
                  <a:srgbClr val="103D3B"/>
                </a:solidFill>
                <a:latin typeface="Helvetica Neue"/>
                <a:ea typeface="Helvetica Neue"/>
                <a:cs typeface="Helvetica Neue"/>
              </a:rPr>
              <a:t>Businesses pay 10% of the booking amount.</a:t>
            </a:r>
            <a:r>
              <a:rPr sz="1575" b="0">
                <a:solidFill>
                  <a:srgbClr val="103D3B"/>
                </a:solidFill>
                <a:latin typeface="Helvetica Neue"/>
                <a:ea typeface="Helvetica Neue"/>
                <a:cs typeface="Helvetica Neue"/>
              </a:rPr>
              <a:t> </a:t>
            </a:r>
            <a:r>
              <a:rPr sz="1575" b="0">
                <a:solidFill>
                  <a:srgbClr val="103D3B"/>
                </a:solidFill>
                <a:latin typeface="Helvetica Neue"/>
                <a:ea typeface="Helvetica Neue"/>
                <a:cs typeface="Helvetica Neue"/>
              </a:rPr>
              <a:t>That 10% fee is shared between GoLocal and software or channel partners.</a:t>
            </a:r>
          </a:p>
        </p:txBody>
      </p:sp>
      <p:sp>
        <p:nvSpPr>
          <p:cNvPr id="22" name="v27-text-24">
            <a:extLst xmlns:a="http://schemas.openxmlformats.org/drawingml/2006/main">
              <a:ext uri="{FF2B5EF4-FFF2-40B4-BE49-F238E27FC236}">
                <a16:creationId xmlns:a16="http://schemas.microsoft.com/office/drawing/2014/main" id="{5FEF83CC-D718-44D3-B7C7-D7399EFDA53A}"/>
              </a:ext>
            </a:extLst>
          </p:cNvPr>
          <p:cNvSpPr>
            <a:spLocks xmlns:a="http://schemas.openxmlformats.org/drawingml/2006/main" noGrp="1"/>
          </p:cNvSpPr>
          <p:nvPr/>
        </p:nvSpPr>
        <p:spPr>
          <a:xfrm xmlns:a="http://schemas.openxmlformats.org/drawingml/2006/main">
            <a:off x="11049000" y="6619875"/>
            <a:ext cx="666750" cy="2000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1275" b="0">
                <a:solidFill>
                  <a:srgbClr val="65746C"/>
                </a:solidFill>
                <a:latin typeface="Helvetica Neue"/>
                <a:ea typeface="Helvetica Neue"/>
                <a:cs typeface="Helvetica Neue"/>
              </a:defRPr>
            </a:defPPr>
          </a:lstStyle>
          <a:p xmlns:a="http://schemas.openxmlformats.org/drawingml/2006/main">
            <a:pPr algn="l">
              <a:buNone/>
              <a:defRPr sz="1275" b="0">
                <a:solidFill>
                  <a:srgbClr val="65746C"/>
                </a:solidFill>
                <a:latin typeface="Helvetica Neue"/>
                <a:ea typeface="Helvetica Neue"/>
                <a:cs typeface="Helvetica Neue"/>
              </a:defRPr>
            </a:pPr>
            <a:r>
              <a:rPr sz="1275" b="0">
                <a:solidFill>
                  <a:srgbClr val="65746C"/>
                </a:solidFill>
                <a:latin typeface="Helvetica Neue"/>
                <a:ea typeface="Helvetica Neue"/>
                <a:cs typeface="Helvetica Neue"/>
              </a:rPr>
              <a:t>5 / 7</a:t>
            </a:r>
          </a:p>
        </p:txBody>
      </p:sp>
      <p:sp>
        <p:nvSpPr>
          <p:cNvPr id="25" name="Straight Connector 24">
            <a:extLst xmlns:a="http://schemas.openxmlformats.org/drawingml/2006/main">
              <a:ext uri="{FF2B5EF4-FFF2-40B4-BE49-F238E27FC236}">
                <a16:creationId xmlns:a16="http://schemas.microsoft.com/office/drawing/2014/main" id="{398712CF-8A18-4B40-A366-94DFC58393DC}"/>
              </a:ext>
            </a:extLst>
          </p:cNvPr>
          <p:cNvSpPr>
            <a:spLocks xmlns:a="http://schemas.openxmlformats.org/drawingml/2006/main" noGrp="1"/>
          </p:cNvSpPr>
          <p:nvPr/>
        </p:nvSpPr>
        <p:spPr>
          <a:xfrm xmlns:a="http://schemas.openxmlformats.org/drawingml/2006/main">
            <a:off x="3833132" y="2130879"/>
            <a:ext cx="0" cy="3816000"/>
          </a:xfrm>
          <a:prstGeom xmlns:a="http://schemas.openxmlformats.org/drawingml/2006/main" prst="line">
            <a:avLst/>
          </a:prstGeom>
          <a:ln xmlns:a="http://schemas.openxmlformats.org/drawingml/2006/main" w="28575"/>
        </p:spPr>
        <p:style>
          <a:lnRef xmlns:a="http://schemas.openxmlformats.org/drawingml/2006/main" idx="2">
            <a:schemeClr val="accent3"/>
          </a:lnRef>
          <a:fillRef xmlns:a="http://schemas.openxmlformats.org/drawingml/2006/main" idx="0">
            <a:schemeClr val="accent3"/>
          </a:fillRef>
          <a:effectRef xmlns:a="http://schemas.openxmlformats.org/drawingml/2006/main" idx="1">
            <a:schemeClr val="accent3"/>
          </a:effectRef>
          <a:fontRef xmlns:a="http://schemas.openxmlformats.org/drawingml/2006/main" idx="minor">
            <a:schemeClr val="tx1"/>
          </a:fontRef>
        </p:style>
      </p:sp>
      <p:cxnSp>
        <p:nvCxnSpPr>
          <p:cNvPr id="29" name="Straight Arrow Connector 28">
            <a:extLst xmlns:a="http://schemas.openxmlformats.org/drawingml/2006/main">
              <a:ext uri="{FF2B5EF4-FFF2-40B4-BE49-F238E27FC236}">
                <a16:creationId xmlns:a16="http://schemas.microsoft.com/office/drawing/2014/main" id="{A559DA2B-134F-4335-9258-EE213DA61E0F}"/>
              </a:ext>
            </a:extLst>
          </p:cNvPr>
          <p:cNvCxnSpPr/>
          <p:nvPr/>
        </p:nvCxnSpPr>
        <p:spPr>
          <a:xfrm xmlns:a="http://schemas.openxmlformats.org/drawingml/2006/main">
            <a:off x="2003612" y="3554506"/>
            <a:ext cx="0" cy="333375"/>
          </a:xfrm>
          <a:prstGeom xmlns:a="http://schemas.openxmlformats.org/drawingml/2006/main" prst="straightConnector1">
            <a:avLst/>
          </a:prstGeom>
          <a:ln xmlns:a="http://schemas.openxmlformats.org/drawingml/2006/main" w="25400">
            <a:tailEnd type="triangle"/>
          </a:ln>
        </p:spPr>
        <p:style>
          <a:lnRef xmlns:a="http://schemas.openxmlformats.org/drawingml/2006/main" idx="1">
            <a:schemeClr val="accent1"/>
          </a:lnRef>
          <a:fillRef xmlns:a="http://schemas.openxmlformats.org/drawingml/2006/main" idx="0">
            <a:schemeClr val="accent1"/>
          </a:fillRef>
          <a:effectRef xmlns:a="http://schemas.openxmlformats.org/drawingml/2006/main" idx="0">
            <a:schemeClr val="accent1"/>
          </a:effectRef>
          <a:fontRef xmlns:a="http://schemas.openxmlformats.org/drawingml/2006/main" idx="minor">
            <a:schemeClr val="tx1"/>
          </a:fontRef>
        </p:style>
      </p:cxnSp>
    </p:spTree>
    <p:extLst>
      <p:ext uri="{BB962C8B-B14F-4D97-AF65-F5344CB8AC3E}">
        <p14:creationId xmlns:p14="http://schemas.microsoft.com/office/powerpoint/2010/main" val="113766741"/>
      </p:ext>
    </p:extLst>
  </p:cSld>
</p:sld>
</file>

<file path=ppt/slides/slide6.xml><?xml version="1.0" encoding="utf-8"?>
<p:sld xmlns:p="http://schemas.openxmlformats.org/presentationml/2006/main">
  <p:cSld>
    <p:bg>
      <p:bgPr>
        <a:solidFill xmlns:a="http://schemas.openxmlformats.org/drawingml/2006/main">
          <a:srgbClr val="103D3B"/>
        </a:solidFill>
      </p:bgPr>
    </p:bg>
    <p:spTree>
      <p:nvGrpSpPr>
        <p:cNvPr id="1" name=""/>
        <p:cNvGrpSpPr/>
        <p:nvPr/>
      </p:nvGrpSpPr>
      <p:grpSpPr>
        <a:xfrm xmlns:a="http://schemas.openxmlformats.org/drawingml/2006/main"/>
      </p:grpSpPr>
      <p:cxnSp>
        <p:nvCxnSpPr>
          <p:cNvPr id="20" name="">
            <a:extLst xmlns:a="http://schemas.openxmlformats.org/drawingml/2006/main">
              <a:ext uri="{FF2B5EF4-FFF2-40B4-BE49-F238E27FC236}">
                <a16:creationId xmlns:a16="http://schemas.microsoft.com/office/drawing/2014/main" id="{63AADED0-74A8-49E1-9624-BE056BE0D2AA}"/>
              </a:ext>
            </a:extLst>
          </p:cNvPr>
          <p:cNvCxnSpPr>
            <a:stCxn xmlns:a="http://schemas.openxmlformats.org/drawingml/2006/main" id="12" idx="3"/>
            <a:endCxn xmlns:a="http://schemas.openxmlformats.org/drawingml/2006/main" id="13" idx="1"/>
          </p:cNvCxnSpPr>
          <p:nvPr/>
        </p:nvCxnSpPr>
        <p:spPr>
          <a:xfrm xmlns:a="http://schemas.openxmlformats.org/drawingml/2006/main">
            <a:off x="7620000" y="5915025"/>
            <a:ext cx="1028700" cy="0"/>
          </a:xfrm>
          <a:prstGeom xmlns:a="http://schemas.openxmlformats.org/drawingml/2006/main" prst="straightConnector1">
            <a:avLst/>
          </a:prstGeom>
          <a:ln xmlns:a="http://schemas.openxmlformats.org/drawingml/2006/main" w="19050">
            <a:solidFill>
              <a:srgbClr val="BDCCAD"/>
            </a:solidFill>
            <a:prstDash val="solid"/>
            <a:tailEnd type="arrow" w="sm" len="sm"/>
          </a:ln>
        </p:spPr>
      </p:cxnSp>
      <p:cxnSp>
        <p:nvCxnSpPr>
          <p:cNvPr id="19" name="">
            <a:extLst xmlns:a="http://schemas.openxmlformats.org/drawingml/2006/main">
              <a:ext uri="{FF2B5EF4-FFF2-40B4-BE49-F238E27FC236}">
                <a16:creationId xmlns:a16="http://schemas.microsoft.com/office/drawing/2014/main" id="{202F8273-11D0-4A38-8DB2-6B49DDAD7AC6}"/>
              </a:ext>
            </a:extLst>
          </p:cNvPr>
          <p:cNvCxnSpPr>
            <a:stCxn xmlns:a="http://schemas.openxmlformats.org/drawingml/2006/main" id="11" idx="3"/>
            <a:endCxn xmlns:a="http://schemas.openxmlformats.org/drawingml/2006/main" id="12" idx="1"/>
          </p:cNvCxnSpPr>
          <p:nvPr/>
        </p:nvCxnSpPr>
        <p:spPr>
          <a:xfrm xmlns:a="http://schemas.openxmlformats.org/drawingml/2006/main">
            <a:off x="3543300" y="5915025"/>
            <a:ext cx="1028700" cy="0"/>
          </a:xfrm>
          <a:prstGeom xmlns:a="http://schemas.openxmlformats.org/drawingml/2006/main" prst="straightConnector1">
            <a:avLst/>
          </a:prstGeom>
          <a:ln xmlns:a="http://schemas.openxmlformats.org/drawingml/2006/main" w="19050">
            <a:solidFill>
              <a:srgbClr val="BDCCAD"/>
            </a:solidFill>
            <a:prstDash val="solid"/>
            <a:tailEnd type="arrow" w="sm" len="sm"/>
          </a:ln>
        </p:spPr>
      </p:cxnSp>
      <p:sp>
        <p:nvSpPr>
          <p:cNvPr id="18" name="v27-text-25">
            <a:extLst xmlns:a="http://schemas.openxmlformats.org/drawingml/2006/main">
              <a:ext uri="{FF2B5EF4-FFF2-40B4-BE49-F238E27FC236}">
                <a16:creationId xmlns:a16="http://schemas.microsoft.com/office/drawing/2014/main" id="{8CDEA6FE-6022-4A89-85B7-85384BBD90F2}"/>
              </a:ext>
            </a:extLst>
          </p:cNvPr>
          <p:cNvSpPr>
            <a:spLocks xmlns:a="http://schemas.openxmlformats.org/drawingml/2006/main" noGrp="1"/>
          </p:cNvSpPr>
          <p:nvPr/>
        </p:nvSpPr>
        <p:spPr>
          <a:xfrm xmlns:a="http://schemas.openxmlformats.org/drawingml/2006/main">
            <a:off x="495300" y="257175"/>
            <a:ext cx="11201400" cy="2381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1275" b="1">
                <a:solidFill>
                  <a:srgbClr val="BDCCAD"/>
                </a:solidFill>
                <a:latin typeface="Helvetica Neue"/>
                <a:ea typeface="Helvetica Neue"/>
                <a:cs typeface="Helvetica Neue"/>
              </a:defRPr>
            </a:defPPr>
          </a:lstStyle>
          <a:p xmlns:a="http://schemas.openxmlformats.org/drawingml/2006/main">
            <a:pPr algn="l">
              <a:buNone/>
              <a:defRPr sz="1275" b="1">
                <a:solidFill>
                  <a:srgbClr val="BDCCAD"/>
                </a:solidFill>
                <a:latin typeface="Helvetica Neue"/>
                <a:ea typeface="Helvetica Neue"/>
                <a:cs typeface="Helvetica Neue"/>
              </a:defRPr>
            </a:pPr>
            <a:r>
              <a:rPr sz="1275" b="1">
                <a:solidFill>
                  <a:srgbClr val="BDCCAD"/>
                </a:solidFill>
                <a:latin typeface="Helvetica Neue"/>
                <a:ea typeface="Helvetica Neue"/>
                <a:cs typeface="Helvetica Neue"/>
              </a:rPr>
              <a:t>PARTNERSHIPS AND PILOT</a:t>
            </a:r>
          </a:p>
        </p:txBody>
      </p:sp>
      <p:sp>
        <p:nvSpPr>
          <p:cNvPr id="2" name="v27-text-26">
            <a:extLst xmlns:a="http://schemas.openxmlformats.org/drawingml/2006/main">
              <a:ext uri="{FF2B5EF4-FFF2-40B4-BE49-F238E27FC236}">
                <a16:creationId xmlns:a16="http://schemas.microsoft.com/office/drawing/2014/main" id="{B30EE2F4-AA61-4FD3-B96E-3D2DCEE5947A}"/>
              </a:ext>
            </a:extLst>
          </p:cNvPr>
          <p:cNvSpPr>
            <a:spLocks xmlns:a="http://schemas.openxmlformats.org/drawingml/2006/main" noGrp="1"/>
          </p:cNvSpPr>
          <p:nvPr/>
        </p:nvSpPr>
        <p:spPr>
          <a:xfrm xmlns:a="http://schemas.openxmlformats.org/drawingml/2006/main">
            <a:off x="495300" y="619125"/>
            <a:ext cx="11201400" cy="6000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3300" b="1">
                <a:solidFill>
                  <a:srgbClr val="F5F2E9"/>
                </a:solidFill>
                <a:latin typeface="Helvetica Neue"/>
                <a:ea typeface="Helvetica Neue"/>
                <a:cs typeface="Helvetica Neue"/>
              </a:defRPr>
            </a:defPPr>
          </a:lstStyle>
          <a:p xmlns:a="http://schemas.openxmlformats.org/drawingml/2006/main">
            <a:pPr algn="l">
              <a:buNone/>
              <a:defRPr sz="3300" b="1">
                <a:solidFill>
                  <a:srgbClr val="F5F2E9"/>
                </a:solidFill>
                <a:latin typeface="Helvetica Neue"/>
                <a:ea typeface="Helvetica Neue"/>
                <a:cs typeface="Helvetica Neue"/>
              </a:defRPr>
            </a:pPr>
            <a:r>
              <a:rPr sz="3300" b="1">
                <a:solidFill>
                  <a:srgbClr val="F5F2E9"/>
                </a:solidFill>
                <a:latin typeface="Helvetica Neue"/>
                <a:ea typeface="Helvetica Neue"/>
                <a:cs typeface="Helvetica Neue"/>
              </a:rPr>
              <a:t>First pilot lined up in Salt Lake City</a:t>
            </a:r>
          </a:p>
        </p:txBody>
      </p:sp>
      <p:sp>
        <p:nvSpPr>
          <p:cNvPr id="3" name="v27-text-27">
            <a:extLst xmlns:a="http://schemas.openxmlformats.org/drawingml/2006/main">
              <a:ext uri="{FF2B5EF4-FFF2-40B4-BE49-F238E27FC236}">
                <a16:creationId xmlns:a16="http://schemas.microsoft.com/office/drawing/2014/main" id="{68333EAB-847D-41F6-B55B-E9CE4227D4E8}"/>
              </a:ext>
            </a:extLst>
          </p:cNvPr>
          <p:cNvSpPr>
            <a:spLocks xmlns:a="http://schemas.openxmlformats.org/drawingml/2006/main" noGrp="1"/>
          </p:cNvSpPr>
          <p:nvPr/>
        </p:nvSpPr>
        <p:spPr>
          <a:xfrm xmlns:a="http://schemas.openxmlformats.org/drawingml/2006/main">
            <a:off x="495300" y="1343025"/>
            <a:ext cx="11201400" cy="4381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2025" b="0">
                <a:solidFill>
                  <a:srgbClr val="F5F2E9"/>
                </a:solidFill>
                <a:latin typeface="Helvetica Neue"/>
                <a:ea typeface="Helvetica Neue"/>
                <a:cs typeface="Helvetica Neue"/>
              </a:defRPr>
            </a:defPPr>
          </a:lstStyle>
          <a:p xmlns:a="http://schemas.openxmlformats.org/drawingml/2006/main">
            <a:pPr algn="l">
              <a:buNone/>
              <a:defRPr sz="2025" b="0">
                <a:solidFill>
                  <a:srgbClr val="F5F2E9"/>
                </a:solidFill>
                <a:latin typeface="Helvetica Neue"/>
                <a:ea typeface="Helvetica Neue"/>
                <a:cs typeface="Helvetica Neue"/>
              </a:defRPr>
            </a:pPr>
            <a:r>
              <a:rPr sz="2025" b="0">
                <a:solidFill>
                  <a:srgbClr val="F5F2E9"/>
                </a:solidFill>
                <a:latin typeface="Helvetica Neue"/>
                <a:ea typeface="Helvetica Neue"/>
                <a:cs typeface="Helvetica Neue"/>
              </a:rPr>
              <a:t>60+ plumbing companies already in the pipeline.</a:t>
            </a:r>
          </a:p>
        </p:txBody>
      </p:sp>
      <p:sp>
        <p:nvSpPr>
          <p:cNvPr id="4" name="v27-text-28">
            <a:extLst xmlns:a="http://schemas.openxmlformats.org/drawingml/2006/main">
              <a:ext uri="{FF2B5EF4-FFF2-40B4-BE49-F238E27FC236}">
                <a16:creationId xmlns:a16="http://schemas.microsoft.com/office/drawing/2014/main" id="{F2B4C196-67E2-4BFC-9EE2-4381623CBCEF}"/>
              </a:ext>
            </a:extLst>
          </p:cNvPr>
          <p:cNvSpPr>
            <a:spLocks xmlns:a="http://schemas.openxmlformats.org/drawingml/2006/main" noGrp="1"/>
          </p:cNvSpPr>
          <p:nvPr/>
        </p:nvSpPr>
        <p:spPr>
          <a:xfrm xmlns:a="http://schemas.openxmlformats.org/drawingml/2006/main">
            <a:off x="495300" y="2076450"/>
            <a:ext cx="4857750" cy="11049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7650" b="1">
                <a:solidFill>
                  <a:srgbClr val="F5F2E9"/>
                </a:solidFill>
                <a:latin typeface="Helvetica Neue"/>
                <a:ea typeface="Helvetica Neue"/>
                <a:cs typeface="Helvetica Neue"/>
              </a:defRPr>
            </a:defPPr>
          </a:lstStyle>
          <a:p xmlns:a="http://schemas.openxmlformats.org/drawingml/2006/main">
            <a:pPr algn="l">
              <a:buNone/>
              <a:defRPr sz="7650" b="1">
                <a:solidFill>
                  <a:srgbClr val="F5F2E9"/>
                </a:solidFill>
                <a:latin typeface="Helvetica Neue"/>
                <a:ea typeface="Helvetica Neue"/>
                <a:cs typeface="Helvetica Neue"/>
              </a:defRPr>
            </a:pPr>
            <a:r>
              <a:rPr sz="7650" b="1">
                <a:solidFill>
                  <a:srgbClr val="F5F2E9"/>
                </a:solidFill>
                <a:latin typeface="Helvetica Neue"/>
                <a:ea typeface="Helvetica Neue"/>
                <a:cs typeface="Helvetica Neue"/>
              </a:rPr>
              <a:t>50+</a:t>
            </a:r>
          </a:p>
        </p:txBody>
      </p:sp>
      <p:sp>
        <p:nvSpPr>
          <p:cNvPr id="5" name="v27-text-29">
            <a:extLst xmlns:a="http://schemas.openxmlformats.org/drawingml/2006/main">
              <a:ext uri="{FF2B5EF4-FFF2-40B4-BE49-F238E27FC236}">
                <a16:creationId xmlns:a16="http://schemas.microsoft.com/office/drawing/2014/main" id="{9CC75DF1-7295-4137-AEC4-7E0CC4FEB9DE}"/>
              </a:ext>
            </a:extLst>
          </p:cNvPr>
          <p:cNvSpPr>
            <a:spLocks xmlns:a="http://schemas.openxmlformats.org/drawingml/2006/main" noGrp="1"/>
          </p:cNvSpPr>
          <p:nvPr/>
        </p:nvSpPr>
        <p:spPr>
          <a:xfrm xmlns:a="http://schemas.openxmlformats.org/drawingml/2006/main">
            <a:off x="495300" y="3257550"/>
            <a:ext cx="4857750" cy="4095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2550" b="1">
                <a:solidFill>
                  <a:srgbClr val="F5F2E9"/>
                </a:solidFill>
                <a:latin typeface="Helvetica Neue"/>
                <a:ea typeface="Helvetica Neue"/>
                <a:cs typeface="Helvetica Neue"/>
              </a:defRPr>
            </a:defPPr>
          </a:lstStyle>
          <a:p xmlns:a="http://schemas.openxmlformats.org/drawingml/2006/main">
            <a:pPr algn="l">
              <a:buNone/>
              <a:defRPr sz="2550" b="1">
                <a:solidFill>
                  <a:srgbClr val="F5F2E9"/>
                </a:solidFill>
                <a:latin typeface="Helvetica Neue"/>
                <a:ea typeface="Helvetica Neue"/>
                <a:cs typeface="Helvetica Neue"/>
              </a:defRPr>
            </a:pPr>
            <a:r>
              <a:rPr sz="2550" b="1">
                <a:solidFill>
                  <a:srgbClr val="F5F2E9"/>
                </a:solidFill>
                <a:latin typeface="Helvetica Neue"/>
                <a:ea typeface="Helvetica Neue"/>
                <a:cs typeface="Helvetica Neue"/>
              </a:rPr>
              <a:t>Cactus AI</a:t>
            </a:r>
          </a:p>
        </p:txBody>
      </p:sp>
      <p:sp>
        <p:nvSpPr>
          <p:cNvPr id="6" name="v27-text-30">
            <a:extLst xmlns:a="http://schemas.openxmlformats.org/drawingml/2006/main">
              <a:ext uri="{FF2B5EF4-FFF2-40B4-BE49-F238E27FC236}">
                <a16:creationId xmlns:a16="http://schemas.microsoft.com/office/drawing/2014/main" id="{8170CF0F-AA38-4196-999E-4DAFE6288CA0}"/>
              </a:ext>
            </a:extLst>
          </p:cNvPr>
          <p:cNvSpPr>
            <a:spLocks xmlns:a="http://schemas.openxmlformats.org/drawingml/2006/main" noGrp="1"/>
          </p:cNvSpPr>
          <p:nvPr/>
        </p:nvSpPr>
        <p:spPr>
          <a:xfrm xmlns:a="http://schemas.openxmlformats.org/drawingml/2006/main">
            <a:off x="495300" y="3800475"/>
            <a:ext cx="4857750" cy="7334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2100" b="0">
                <a:solidFill>
                  <a:srgbClr val="F5F2E9"/>
                </a:solidFill>
                <a:latin typeface="Helvetica Neue"/>
                <a:ea typeface="Helvetica Neue"/>
                <a:cs typeface="Helvetica Neue"/>
              </a:defRPr>
            </a:defPPr>
          </a:lstStyle>
          <a:p xmlns:a="http://schemas.openxmlformats.org/drawingml/2006/main">
            <a:pPr algn="l">
              <a:buNone/>
              <a:defRPr sz="2100" b="0">
                <a:solidFill>
                  <a:srgbClr val="F5F2E9"/>
                </a:solidFill>
                <a:latin typeface="Helvetica Neue"/>
                <a:ea typeface="Helvetica Neue"/>
                <a:cs typeface="Helvetica Neue"/>
              </a:defRPr>
            </a:pPr>
            <a:r>
              <a:rPr sz="2100" b="0">
                <a:solidFill>
                  <a:srgbClr val="F5F2E9"/>
                </a:solidFill>
                <a:latin typeface="Helvetica Neue"/>
                <a:ea typeface="Helvetica Neue"/>
                <a:cs typeface="Helvetica Neue"/>
              </a:rPr>
              <a:t>YC-backed AI front office</a:t>
            </a:r>
          </a:p>
          <a:p xmlns:a="http://schemas.openxmlformats.org/drawingml/2006/main">
            <a:pPr algn="l">
              <a:buNone/>
              <a:defRPr sz="2100" b="0">
                <a:solidFill>
                  <a:srgbClr val="F5F2E9"/>
                </a:solidFill>
                <a:latin typeface="Helvetica Neue"/>
                <a:ea typeface="Helvetica Neue"/>
                <a:cs typeface="Helvetica Neue"/>
              </a:defRPr>
            </a:pPr>
            <a:r>
              <a:rPr sz="2100" b="0">
                <a:solidFill>
                  <a:srgbClr val="F5F2E9"/>
                </a:solidFill>
                <a:latin typeface="Helvetica Neue"/>
                <a:ea typeface="Helvetica Neue"/>
                <a:cs typeface="Helvetica Neue"/>
              </a:rPr>
              <a:t>for local trades.</a:t>
            </a:r>
          </a:p>
        </p:txBody>
      </p:sp>
      <p:sp>
        <p:nvSpPr>
          <p:cNvPr id="7" name="v27-text-31">
            <a:extLst xmlns:a="http://schemas.openxmlformats.org/drawingml/2006/main">
              <a:ext uri="{FF2B5EF4-FFF2-40B4-BE49-F238E27FC236}">
                <a16:creationId xmlns:a16="http://schemas.microsoft.com/office/drawing/2014/main" id="{E9E0E8FA-C44E-42A0-B4E6-C2D30B1C2FDC}"/>
              </a:ext>
            </a:extLst>
          </p:cNvPr>
          <p:cNvSpPr>
            <a:spLocks xmlns:a="http://schemas.openxmlformats.org/drawingml/2006/main" noGrp="1"/>
          </p:cNvSpPr>
          <p:nvPr/>
        </p:nvSpPr>
        <p:spPr>
          <a:xfrm xmlns:a="http://schemas.openxmlformats.org/drawingml/2006/main">
            <a:off x="6553200" y="2076450"/>
            <a:ext cx="5143500" cy="11049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7650" b="1">
                <a:solidFill>
                  <a:srgbClr val="F5F2E9"/>
                </a:solidFill>
                <a:latin typeface="Helvetica Neue"/>
                <a:ea typeface="Helvetica Neue"/>
                <a:cs typeface="Helvetica Neue"/>
              </a:defRPr>
            </a:defPPr>
          </a:lstStyle>
          <a:p xmlns:a="http://schemas.openxmlformats.org/drawingml/2006/main">
            <a:pPr algn="l">
              <a:buNone/>
              <a:defRPr sz="7650" b="1">
                <a:solidFill>
                  <a:srgbClr val="F5F2E9"/>
                </a:solidFill>
                <a:latin typeface="Helvetica Neue"/>
                <a:ea typeface="Helvetica Neue"/>
                <a:cs typeface="Helvetica Neue"/>
              </a:defRPr>
            </a:pPr>
            <a:r>
              <a:rPr sz="7650" b="1">
                <a:solidFill>
                  <a:srgbClr val="F5F2E9"/>
                </a:solidFill>
                <a:latin typeface="Helvetica Neue"/>
                <a:ea typeface="Helvetica Neue"/>
                <a:cs typeface="Helvetica Neue"/>
              </a:rPr>
              <a:t>10+</a:t>
            </a:r>
          </a:p>
        </p:txBody>
      </p:sp>
      <p:sp>
        <p:nvSpPr>
          <p:cNvPr id="8" name="v27-text-32">
            <a:extLst xmlns:a="http://schemas.openxmlformats.org/drawingml/2006/main">
              <a:ext uri="{FF2B5EF4-FFF2-40B4-BE49-F238E27FC236}">
                <a16:creationId xmlns:a16="http://schemas.microsoft.com/office/drawing/2014/main" id="{4B2BABC2-6450-40EC-B70F-D11DC084AD5E}"/>
              </a:ext>
            </a:extLst>
          </p:cNvPr>
          <p:cNvSpPr>
            <a:spLocks xmlns:a="http://schemas.openxmlformats.org/drawingml/2006/main" noGrp="1"/>
          </p:cNvSpPr>
          <p:nvPr/>
        </p:nvSpPr>
        <p:spPr>
          <a:xfrm xmlns:a="http://schemas.openxmlformats.org/drawingml/2006/main">
            <a:off x="6553200" y="3257550"/>
            <a:ext cx="5143500" cy="4095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2550" b="1">
                <a:solidFill>
                  <a:srgbClr val="F5F2E9"/>
                </a:solidFill>
                <a:latin typeface="Helvetica Neue"/>
                <a:ea typeface="Helvetica Neue"/>
                <a:cs typeface="Helvetica Neue"/>
              </a:defRPr>
            </a:defPPr>
          </a:lstStyle>
          <a:p xmlns:a="http://schemas.openxmlformats.org/drawingml/2006/main">
            <a:pPr algn="l">
              <a:buNone/>
              <a:defRPr sz="2550" b="1">
                <a:solidFill>
                  <a:srgbClr val="F5F2E9"/>
                </a:solidFill>
                <a:latin typeface="Helvetica Neue"/>
                <a:ea typeface="Helvetica Neue"/>
                <a:cs typeface="Helvetica Neue"/>
              </a:defRPr>
            </a:pPr>
            <a:r>
              <a:rPr sz="2550" b="1">
                <a:solidFill>
                  <a:srgbClr val="F5F2E9"/>
                </a:solidFill>
                <a:latin typeface="Helvetica Neue"/>
                <a:ea typeface="Helvetica Neue"/>
                <a:cs typeface="Helvetica Neue"/>
              </a:rPr>
              <a:t>YourCardare</a:t>
            </a:r>
          </a:p>
        </p:txBody>
      </p:sp>
      <p:sp>
        <p:nvSpPr>
          <p:cNvPr id="9" name="v27-text-33">
            <a:extLst xmlns:a="http://schemas.openxmlformats.org/drawingml/2006/main">
              <a:ext uri="{FF2B5EF4-FFF2-40B4-BE49-F238E27FC236}">
                <a16:creationId xmlns:a16="http://schemas.microsoft.com/office/drawing/2014/main" id="{4711A170-9F96-486F-B1B1-ADEC38729566}"/>
              </a:ext>
            </a:extLst>
          </p:cNvPr>
          <p:cNvSpPr>
            <a:spLocks xmlns:a="http://schemas.openxmlformats.org/drawingml/2006/main" noGrp="1"/>
          </p:cNvSpPr>
          <p:nvPr/>
        </p:nvSpPr>
        <p:spPr>
          <a:xfrm xmlns:a="http://schemas.openxmlformats.org/drawingml/2006/main">
            <a:off x="6553200" y="3800475"/>
            <a:ext cx="5143500" cy="7334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2025" b="0">
                <a:solidFill>
                  <a:srgbClr val="F5F2E9"/>
                </a:solidFill>
                <a:latin typeface="Helvetica Neue"/>
                <a:ea typeface="Helvetica Neue"/>
                <a:cs typeface="Helvetica Neue"/>
              </a:defRPr>
            </a:defPPr>
          </a:lstStyle>
          <a:p xmlns:a="http://schemas.openxmlformats.org/drawingml/2006/main">
            <a:pPr algn="l">
              <a:buNone/>
              <a:defRPr sz="2025" b="0">
                <a:solidFill>
                  <a:srgbClr val="F5F2E9"/>
                </a:solidFill>
                <a:latin typeface="Helvetica Neue"/>
                <a:ea typeface="Helvetica Neue"/>
                <a:cs typeface="Helvetica Neue"/>
              </a:defRPr>
            </a:pPr>
            <a:r>
              <a:rPr sz="2025" b="0">
                <a:solidFill>
                  <a:srgbClr val="F5F2E9"/>
                </a:solidFill>
                <a:latin typeface="Helvetica Neue"/>
                <a:ea typeface="Helvetica Neue"/>
                <a:cs typeface="Helvetica Neue"/>
              </a:rPr>
              <a:t>Regional back-office partner.</a:t>
            </a:r>
          </a:p>
        </p:txBody>
      </p:sp>
      <p:sp>
        <p:nvSpPr>
          <p:cNvPr id="10" name="v27-text-34">
            <a:extLst xmlns:a="http://schemas.openxmlformats.org/drawingml/2006/main">
              <a:ext uri="{FF2B5EF4-FFF2-40B4-BE49-F238E27FC236}">
                <a16:creationId xmlns:a16="http://schemas.microsoft.com/office/drawing/2014/main" id="{F1697D3A-CDEE-4E34-B96E-50E20D79BF32}"/>
              </a:ext>
            </a:extLst>
          </p:cNvPr>
          <p:cNvSpPr>
            <a:spLocks xmlns:a="http://schemas.openxmlformats.org/drawingml/2006/main" noGrp="1"/>
          </p:cNvSpPr>
          <p:nvPr/>
        </p:nvSpPr>
        <p:spPr>
          <a:xfrm xmlns:a="http://schemas.openxmlformats.org/drawingml/2006/main">
            <a:off x="495300" y="4914900"/>
            <a:ext cx="11201400" cy="4381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2325" b="1">
                <a:solidFill>
                  <a:srgbClr val="F5F2E9"/>
                </a:solidFill>
                <a:latin typeface="Helvetica Neue"/>
                <a:ea typeface="Helvetica Neue"/>
                <a:cs typeface="Helvetica Neue"/>
              </a:defRPr>
            </a:defPPr>
          </a:lstStyle>
          <a:p xmlns:a="http://schemas.openxmlformats.org/drawingml/2006/main">
            <a:pPr algn="l">
              <a:buNone/>
              <a:defRPr sz="2325" b="1">
                <a:solidFill>
                  <a:srgbClr val="F5F2E9"/>
                </a:solidFill>
                <a:latin typeface="Helvetica Neue"/>
                <a:ea typeface="Helvetica Neue"/>
                <a:cs typeface="Helvetica Neue"/>
              </a:defRPr>
            </a:pPr>
            <a:r>
              <a:rPr sz="2325" b="1">
                <a:solidFill>
                  <a:srgbClr val="F5F2E9"/>
                </a:solidFill>
                <a:latin typeface="Helvetica Neue"/>
                <a:ea typeface="Helvetica Neue"/>
                <a:cs typeface="Helvetica Neue"/>
              </a:rPr>
              <a:t>30-day target: launch the GoLocal MCP</a:t>
            </a:r>
          </a:p>
        </p:txBody>
      </p:sp>
      <p:sp>
        <p:nvSpPr>
          <p:cNvPr id="11" name="v27-text-35">
            <a:extLst xmlns:a="http://schemas.openxmlformats.org/drawingml/2006/main">
              <a:ext uri="{FF2B5EF4-FFF2-40B4-BE49-F238E27FC236}">
                <a16:creationId xmlns:a16="http://schemas.microsoft.com/office/drawing/2014/main" id="{383220E3-CB4C-40A8-BC8E-40D2C06DF114}"/>
              </a:ext>
            </a:extLst>
          </p:cNvPr>
          <p:cNvSpPr>
            <a:spLocks xmlns:a="http://schemas.openxmlformats.org/drawingml/2006/main" noGrp="1"/>
          </p:cNvSpPr>
          <p:nvPr/>
        </p:nvSpPr>
        <p:spPr>
          <a:xfrm xmlns:a="http://schemas.openxmlformats.org/drawingml/2006/main">
            <a:off x="495300" y="5524500"/>
            <a:ext cx="3048000" cy="7810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Autofit/>
          </a:bodyPr>
          <a:lstStyle xmlns:a="http://schemas.openxmlformats.org/drawingml/2006/main">
            <a:defPPr algn="ctr">
              <a:defRPr sz="1950" b="1">
                <a:solidFill>
                  <a:srgbClr val="F5F2E9"/>
                </a:solidFill>
                <a:latin typeface="Helvetica Neue"/>
                <a:ea typeface="Helvetica Neue"/>
                <a:cs typeface="Helvetica Neue"/>
              </a:defRPr>
            </a:defPPr>
          </a:lstStyle>
          <a:p xmlns:a="http://schemas.openxmlformats.org/drawingml/2006/main">
            <a:pPr algn="ctr">
              <a:buNone/>
              <a:defRPr sz="1950" b="1">
                <a:solidFill>
                  <a:srgbClr val="F5F2E9"/>
                </a:solidFill>
                <a:latin typeface="Helvetica Neue"/>
                <a:ea typeface="Helvetica Neue"/>
                <a:cs typeface="Helvetica Neue"/>
              </a:defRPr>
            </a:pPr>
            <a:r>
              <a:rPr sz="1950" b="1">
                <a:solidFill>
                  <a:srgbClr val="F5F2E9"/>
                </a:solidFill>
                <a:latin typeface="Helvetica Neue"/>
                <a:ea typeface="Helvetica Neue"/>
                <a:cs typeface="Helvetica Neue"/>
              </a:rPr>
              <a:t>Onboard pilot</a:t>
            </a:r>
          </a:p>
          <a:p xmlns:a="http://schemas.openxmlformats.org/drawingml/2006/main">
            <a:pPr algn="ctr">
              <a:buNone/>
              <a:defRPr sz="1950" b="1">
                <a:solidFill>
                  <a:srgbClr val="F5F2E9"/>
                </a:solidFill>
                <a:latin typeface="Helvetica Neue"/>
                <a:ea typeface="Helvetica Neue"/>
                <a:cs typeface="Helvetica Neue"/>
              </a:defRPr>
            </a:pPr>
            <a:r>
              <a:rPr sz="1950" b="1">
                <a:solidFill>
                  <a:srgbClr val="F5F2E9"/>
                </a:solidFill>
                <a:latin typeface="Helvetica Neue"/>
                <a:ea typeface="Helvetica Neue"/>
                <a:cs typeface="Helvetica Neue"/>
              </a:rPr>
              <a:t>providers</a:t>
            </a:r>
          </a:p>
        </p:txBody>
      </p:sp>
      <p:sp>
        <p:nvSpPr>
          <p:cNvPr id="12" name="v27-text-36">
            <a:extLst xmlns:a="http://schemas.openxmlformats.org/drawingml/2006/main">
              <a:ext uri="{FF2B5EF4-FFF2-40B4-BE49-F238E27FC236}">
                <a16:creationId xmlns:a16="http://schemas.microsoft.com/office/drawing/2014/main" id="{6341BF38-1761-4079-BC8F-8130D8D93DBC}"/>
              </a:ext>
            </a:extLst>
          </p:cNvPr>
          <p:cNvSpPr>
            <a:spLocks xmlns:a="http://schemas.openxmlformats.org/drawingml/2006/main" noGrp="1"/>
          </p:cNvSpPr>
          <p:nvPr/>
        </p:nvSpPr>
        <p:spPr>
          <a:xfrm xmlns:a="http://schemas.openxmlformats.org/drawingml/2006/main">
            <a:off x="4572000" y="5524500"/>
            <a:ext cx="3048000" cy="7810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Autofit/>
          </a:bodyPr>
          <a:lstStyle xmlns:a="http://schemas.openxmlformats.org/drawingml/2006/main">
            <a:defPPr algn="ctr">
              <a:defRPr sz="1950" b="1">
                <a:solidFill>
                  <a:srgbClr val="F5F2E9"/>
                </a:solidFill>
                <a:latin typeface="Helvetica Neue"/>
                <a:ea typeface="Helvetica Neue"/>
                <a:cs typeface="Helvetica Neue"/>
              </a:defRPr>
            </a:defPPr>
          </a:lstStyle>
          <a:p xmlns:a="http://schemas.openxmlformats.org/drawingml/2006/main">
            <a:pPr algn="ctr">
              <a:buNone/>
              <a:defRPr sz="1950" b="1">
                <a:solidFill>
                  <a:srgbClr val="F5F2E9"/>
                </a:solidFill>
                <a:latin typeface="Helvetica Neue"/>
                <a:ea typeface="Helvetica Neue"/>
                <a:cs typeface="Helvetica Neue"/>
              </a:defRPr>
            </a:pPr>
            <a:r>
              <a:rPr sz="1950" b="1">
                <a:solidFill>
                  <a:srgbClr val="F5F2E9"/>
                </a:solidFill>
                <a:latin typeface="Helvetica Neue"/>
                <a:ea typeface="Helvetica Neue"/>
                <a:cs typeface="Helvetica Neue"/>
              </a:rPr>
              <a:t>Connect live pricing</a:t>
            </a:r>
          </a:p>
          <a:p xmlns:a="http://schemas.openxmlformats.org/drawingml/2006/main">
            <a:pPr algn="ctr">
              <a:buNone/>
              <a:defRPr sz="1950" b="1">
                <a:solidFill>
                  <a:srgbClr val="F5F2E9"/>
                </a:solidFill>
                <a:latin typeface="Helvetica Neue"/>
                <a:ea typeface="Helvetica Neue"/>
                <a:cs typeface="Helvetica Neue"/>
              </a:defRPr>
            </a:pPr>
            <a:r>
              <a:rPr sz="1950" b="1">
                <a:solidFill>
                  <a:srgbClr val="F5F2E9"/>
                </a:solidFill>
                <a:latin typeface="Helvetica Neue"/>
                <a:ea typeface="Helvetica Neue"/>
                <a:cs typeface="Helvetica Neue"/>
              </a:rPr>
              <a:t>and availability</a:t>
            </a:r>
          </a:p>
        </p:txBody>
      </p:sp>
      <p:sp>
        <p:nvSpPr>
          <p:cNvPr id="13" name="v27-text-37">
            <a:extLst xmlns:a="http://schemas.openxmlformats.org/drawingml/2006/main">
              <a:ext uri="{FF2B5EF4-FFF2-40B4-BE49-F238E27FC236}">
                <a16:creationId xmlns:a16="http://schemas.microsoft.com/office/drawing/2014/main" id="{D4322935-603A-4E67-84FC-D6251CC32E27}"/>
              </a:ext>
            </a:extLst>
          </p:cNvPr>
          <p:cNvSpPr>
            <a:spLocks xmlns:a="http://schemas.openxmlformats.org/drawingml/2006/main" noGrp="1"/>
          </p:cNvSpPr>
          <p:nvPr/>
        </p:nvSpPr>
        <p:spPr>
          <a:xfrm xmlns:a="http://schemas.openxmlformats.org/drawingml/2006/main">
            <a:off x="8648700" y="5524500"/>
            <a:ext cx="3048000" cy="7810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Autofit/>
          </a:bodyPr>
          <a:lstStyle xmlns:a="http://schemas.openxmlformats.org/drawingml/2006/main">
            <a:defPPr algn="ctr">
              <a:defRPr sz="1950" b="1">
                <a:solidFill>
                  <a:srgbClr val="F5F2E9"/>
                </a:solidFill>
                <a:latin typeface="Helvetica Neue"/>
                <a:ea typeface="Helvetica Neue"/>
                <a:cs typeface="Helvetica Neue"/>
              </a:defRPr>
            </a:defPPr>
          </a:lstStyle>
          <a:p xmlns:a="http://schemas.openxmlformats.org/drawingml/2006/main">
            <a:pPr algn="ctr">
              <a:buNone/>
              <a:defRPr sz="1950" b="1">
                <a:solidFill>
                  <a:srgbClr val="F5F2E9"/>
                </a:solidFill>
                <a:latin typeface="Helvetica Neue"/>
                <a:ea typeface="Helvetica Neue"/>
                <a:cs typeface="Helvetica Neue"/>
              </a:defRPr>
            </a:pPr>
            <a:r>
              <a:rPr sz="1950" b="1">
                <a:solidFill>
                  <a:srgbClr val="F5F2E9"/>
                </a:solidFill>
                <a:latin typeface="Helvetica Neue"/>
                <a:ea typeface="Helvetica Neue"/>
                <a:cs typeface="Helvetica Neue"/>
              </a:rPr>
              <a:t>Launch MCP and test</a:t>
            </a:r>
          </a:p>
          <a:p xmlns:a="http://schemas.openxmlformats.org/drawingml/2006/main">
            <a:pPr algn="ctr">
              <a:buNone/>
              <a:defRPr sz="1950" b="1">
                <a:solidFill>
                  <a:srgbClr val="F5F2E9"/>
                </a:solidFill>
                <a:latin typeface="Helvetica Neue"/>
                <a:ea typeface="Helvetica Neue"/>
                <a:cs typeface="Helvetica Neue"/>
              </a:defRPr>
            </a:pPr>
            <a:r>
              <a:rPr sz="1950" b="1">
                <a:solidFill>
                  <a:srgbClr val="F5F2E9"/>
                </a:solidFill>
                <a:latin typeface="Helvetica Neue"/>
                <a:ea typeface="Helvetica Neue"/>
                <a:cs typeface="Helvetica Neue"/>
              </a:rPr>
              <a:t>first agent bookings</a:t>
            </a:r>
          </a:p>
        </p:txBody>
      </p:sp>
      <p:sp>
        <p:nvSpPr>
          <p:cNvPr id="17" name="v27-text-39">
            <a:extLst xmlns:a="http://schemas.openxmlformats.org/drawingml/2006/main">
              <a:ext uri="{FF2B5EF4-FFF2-40B4-BE49-F238E27FC236}">
                <a16:creationId xmlns:a16="http://schemas.microsoft.com/office/drawing/2014/main" id="{55AFBA45-A988-4AA9-9E76-851EFE96F695}"/>
              </a:ext>
            </a:extLst>
          </p:cNvPr>
          <p:cNvSpPr>
            <a:spLocks xmlns:a="http://schemas.openxmlformats.org/drawingml/2006/main" noGrp="1"/>
          </p:cNvSpPr>
          <p:nvPr/>
        </p:nvSpPr>
        <p:spPr>
          <a:xfrm xmlns:a="http://schemas.openxmlformats.org/drawingml/2006/main">
            <a:off x="11049000" y="6619875"/>
            <a:ext cx="666750" cy="2000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1275" b="0">
                <a:solidFill>
                  <a:srgbClr val="F5F2E9"/>
                </a:solidFill>
                <a:latin typeface="Helvetica Neue"/>
                <a:ea typeface="Helvetica Neue"/>
                <a:cs typeface="Helvetica Neue"/>
              </a:defRPr>
            </a:defPPr>
          </a:lstStyle>
          <a:p xmlns:a="http://schemas.openxmlformats.org/drawingml/2006/main">
            <a:pPr algn="l">
              <a:buNone/>
              <a:defRPr sz="1275" b="0">
                <a:solidFill>
                  <a:srgbClr val="F5F2E9"/>
                </a:solidFill>
                <a:latin typeface="Helvetica Neue"/>
                <a:ea typeface="Helvetica Neue"/>
                <a:cs typeface="Helvetica Neue"/>
              </a:defRPr>
            </a:pPr>
            <a:r>
              <a:rPr sz="1275" b="0">
                <a:solidFill>
                  <a:srgbClr val="F5F2E9"/>
                </a:solidFill>
                <a:latin typeface="Helvetica Neue"/>
                <a:ea typeface="Helvetica Neue"/>
                <a:cs typeface="Helvetica Neue"/>
              </a:rPr>
              <a:t>6 / 7</a:t>
            </a:r>
          </a:p>
        </p:txBody>
      </p:sp>
    </p:spTree>
    <p:extLst>
      <p:ext uri="{BB962C8B-B14F-4D97-AF65-F5344CB8AC3E}">
        <p14:creationId xmlns:p14="http://schemas.microsoft.com/office/powerpoint/2010/main" val="22905360"/>
      </p:ext>
    </p:extLst>
  </p:cSld>
</p:sld>
</file>

<file path=ppt/slides/slide7.xml><?xml version="1.0" encoding="utf-8"?>
<p:sld xmlns:p="http://schemas.openxmlformats.org/presentationml/2006/main">
  <p:cSld>
    <p:bg>
      <p:bgPr>
        <a:solidFill xmlns:a="http://schemas.openxmlformats.org/drawingml/2006/main">
          <a:srgbClr val="F5F2E9"/>
        </a:solidFill>
      </p:bgPr>
    </p:bg>
    <p:spTree>
      <p:nvGrpSpPr>
        <p:cNvPr id="1" name=""/>
        <p:cNvGrpSpPr/>
        <p:nvPr/>
      </p:nvGrpSpPr>
      <p:grpSpPr>
        <a:xfrm xmlns:a="http://schemas.openxmlformats.org/drawingml/2006/main"/>
      </p:grpSpPr>
      <p:sp>
        <p:nvSpPr>
          <p:cNvPr id="20" name="team-premium-0">
            <a:extLst xmlns:a="http://schemas.openxmlformats.org/drawingml/2006/main">
              <a:ext uri="{FF2B5EF4-FFF2-40B4-BE49-F238E27FC236}">
                <a16:creationId xmlns:a16="http://schemas.microsoft.com/office/drawing/2014/main" id="{FE086505-BCA8-42A1-A449-4AA38B3E9D34}"/>
              </a:ext>
            </a:extLst>
          </p:cNvPr>
          <p:cNvSpPr>
            <a:spLocks xmlns:a="http://schemas.openxmlformats.org/drawingml/2006/main" noGrp="1"/>
          </p:cNvSpPr>
          <p:nvPr/>
        </p:nvSpPr>
        <p:spPr>
          <a:xfrm xmlns:a="http://schemas.openxmlformats.org/drawingml/2006/main">
            <a:off x="495300" y="257175"/>
            <a:ext cx="11201400" cy="2381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1275" b="1">
                <a:solidFill>
                  <a:srgbClr val="65746C"/>
                </a:solidFill>
                <a:latin typeface="Helvetica Neue"/>
                <a:ea typeface="Helvetica Neue"/>
                <a:cs typeface="Helvetica Neue"/>
              </a:defRPr>
            </a:defPPr>
          </a:lstStyle>
          <a:p xmlns:a="http://schemas.openxmlformats.org/drawingml/2006/main">
            <a:pPr algn="l">
              <a:buNone/>
              <a:defRPr sz="1275" b="1">
                <a:solidFill>
                  <a:srgbClr val="65746C"/>
                </a:solidFill>
                <a:latin typeface="Helvetica Neue"/>
                <a:ea typeface="Helvetica Neue"/>
                <a:cs typeface="Helvetica Neue"/>
              </a:defRPr>
            </a:pPr>
            <a:r>
              <a:rPr sz="1275" b="1">
                <a:solidFill>
                  <a:srgbClr val="65746C"/>
                </a:solidFill>
                <a:latin typeface="Helvetica Neue"/>
                <a:ea typeface="Helvetica Neue"/>
                <a:cs typeface="Helvetica Neue"/>
              </a:rPr>
              <a:t>THE TEAM</a:t>
            </a:r>
          </a:p>
        </p:txBody>
      </p:sp>
      <p:sp>
        <p:nvSpPr>
          <p:cNvPr id="2" name="team-premium-1">
            <a:extLst xmlns:a="http://schemas.openxmlformats.org/drawingml/2006/main">
              <a:ext uri="{FF2B5EF4-FFF2-40B4-BE49-F238E27FC236}">
                <a16:creationId xmlns:a16="http://schemas.microsoft.com/office/drawing/2014/main" id="{9137416B-2BE1-4055-BEEA-E988545DADB8}"/>
              </a:ext>
            </a:extLst>
          </p:cNvPr>
          <p:cNvSpPr>
            <a:spLocks xmlns:a="http://schemas.openxmlformats.org/drawingml/2006/main" noGrp="1"/>
          </p:cNvSpPr>
          <p:nvPr/>
        </p:nvSpPr>
        <p:spPr>
          <a:xfrm xmlns:a="http://schemas.openxmlformats.org/drawingml/2006/main">
            <a:off x="495300" y="609600"/>
            <a:ext cx="11201400" cy="952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3150" b="1">
                <a:solidFill>
                  <a:srgbClr val="193C32"/>
                </a:solidFill>
                <a:latin typeface="Helvetica Neue"/>
                <a:ea typeface="Helvetica Neue"/>
                <a:cs typeface="Helvetica Neue"/>
              </a:defRPr>
            </a:defPPr>
          </a:lstStyle>
          <a:p xmlns:a="http://schemas.openxmlformats.org/drawingml/2006/main">
            <a:pPr algn="l">
              <a:buNone/>
              <a:defRPr sz="3150" b="1">
                <a:solidFill>
                  <a:srgbClr val="193C32"/>
                </a:solidFill>
                <a:latin typeface="Helvetica Neue"/>
                <a:ea typeface="Helvetica Neue"/>
                <a:cs typeface="Helvetica Neue"/>
              </a:defRPr>
            </a:pPr>
            <a:r>
              <a:rPr sz="3150" b="1">
                <a:solidFill>
                  <a:srgbClr val="193C32"/>
                </a:solidFill>
                <a:latin typeface="Helvetica Neue"/>
                <a:ea typeface="Helvetica Neue"/>
                <a:cs typeface="Helvetica Neue"/>
              </a:rPr>
              <a:t>Built for consumer apps.</a:t>
            </a:r>
          </a:p>
          <a:p xmlns:a="http://schemas.openxmlformats.org/drawingml/2006/main">
            <a:pPr algn="l">
              <a:buNone/>
              <a:defRPr sz="3150" b="1">
                <a:solidFill>
                  <a:srgbClr val="193C32"/>
                </a:solidFill>
                <a:latin typeface="Helvetica Neue"/>
                <a:ea typeface="Helvetica Neue"/>
                <a:cs typeface="Helvetica Neue"/>
              </a:defRPr>
            </a:pPr>
            <a:r>
              <a:rPr sz="3150" b="1">
                <a:solidFill>
                  <a:srgbClr val="193C32"/>
                </a:solidFill>
                <a:latin typeface="Helvetica Neue"/>
                <a:ea typeface="Helvetica Neue"/>
                <a:cs typeface="Helvetica Neue"/>
              </a:rPr>
              <a:t>Now building for the agent layer.</a:t>
            </a:r>
          </a:p>
        </p:txBody>
      </p:sp>
      <p:pic>
        <p:nvPicPr>
          <p:cNvPr id="3" name="Picture 2">
            <a:extLst xmlns:a="http://schemas.openxmlformats.org/drawingml/2006/main">
              <a:ext uri="{FF2B5EF4-FFF2-40B4-BE49-F238E27FC236}">
                <a16:creationId xmlns:a16="http://schemas.microsoft.com/office/drawing/2014/main" id="{05D4EA4D-271C-4EB4-82E3-7E2ED08AA5C6}"/>
              </a:ext>
            </a:extLst>
          </p:cNvPr>
          <p:cNvPicPr>
            <a:picLocks xmlns:a="http://schemas.openxmlformats.org/drawingml/2006/main" noChangeAspect="1"/>
          </p:cNvPicPr>
          <p:nvPr/>
        </p:nvPicPr>
        <p:blipFill>
          <a:blip xmlns:r="http://schemas.openxmlformats.org/officeDocument/2006/relationships" xmlns:a="http://schemas.openxmlformats.org/drawingml/2006/main" r:embed="R51c4ab9939614348"/>
          <a:stretch xmlns:a="http://schemas.openxmlformats.org/drawingml/2006/main"/>
        </p:blipFill>
        <p:spPr>
          <a:xfrm xmlns:a="http://schemas.openxmlformats.org/drawingml/2006/main">
            <a:off x="495300" y="1666875"/>
            <a:ext cx="1257300" cy="1257300"/>
          </a:xfrm>
          <a:prstGeom xmlns:a="http://schemas.openxmlformats.org/drawingml/2006/main" prst="roundRect">
            <a:avLst>
              <a:gd name="adj" fmla="val 12121"/>
            </a:avLst>
          </a:prstGeom>
        </p:spPr>
      </p:pic>
      <p:pic>
        <p:nvPicPr>
          <p:cNvPr id="4" name="Picture 3">
            <a:extLst xmlns:a="http://schemas.openxmlformats.org/drawingml/2006/main">
              <a:ext uri="{FF2B5EF4-FFF2-40B4-BE49-F238E27FC236}">
                <a16:creationId xmlns:a16="http://schemas.microsoft.com/office/drawing/2014/main" id="{5C9EBBB0-641D-4977-9A32-9FEBDF147C40}"/>
              </a:ext>
            </a:extLst>
          </p:cNvPr>
          <p:cNvPicPr>
            <a:picLocks xmlns:a="http://schemas.openxmlformats.org/drawingml/2006/main" noChangeAspect="1"/>
          </p:cNvPicPr>
          <p:nvPr/>
        </p:nvPicPr>
        <p:blipFill>
          <a:blip xmlns:r="http://schemas.openxmlformats.org/officeDocument/2006/relationships" xmlns:a="http://schemas.openxmlformats.org/drawingml/2006/main" r:embed="R1e8c81d6d295439e"/>
          <a:stretch xmlns:a="http://schemas.openxmlformats.org/drawingml/2006/main"/>
        </p:blipFill>
        <p:spPr>
          <a:xfrm xmlns:a="http://schemas.openxmlformats.org/drawingml/2006/main">
            <a:off x="6553200" y="1666875"/>
            <a:ext cx="1257300" cy="1257300"/>
          </a:xfrm>
          <a:prstGeom xmlns:a="http://schemas.openxmlformats.org/drawingml/2006/main" prst="roundRect">
            <a:avLst>
              <a:gd name="adj" fmla="val 12121"/>
            </a:avLst>
          </a:prstGeom>
        </p:spPr>
      </p:pic>
      <p:sp>
        <p:nvSpPr>
          <p:cNvPr id="5" name="team-premium-2">
            <a:extLst xmlns:a="http://schemas.openxmlformats.org/drawingml/2006/main">
              <a:ext uri="{FF2B5EF4-FFF2-40B4-BE49-F238E27FC236}">
                <a16:creationId xmlns:a16="http://schemas.microsoft.com/office/drawing/2014/main" id="{6876597E-8A94-49AA-A5D1-9C782D39AE84}"/>
              </a:ext>
            </a:extLst>
          </p:cNvPr>
          <p:cNvSpPr>
            <a:spLocks xmlns:a="http://schemas.openxmlformats.org/drawingml/2006/main" noGrp="1"/>
          </p:cNvSpPr>
          <p:nvPr/>
        </p:nvSpPr>
        <p:spPr>
          <a:xfrm xmlns:a="http://schemas.openxmlformats.org/drawingml/2006/main">
            <a:off x="2000250" y="1666875"/>
            <a:ext cx="2667000" cy="4667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2700" b="1">
                <a:solidFill>
                  <a:srgbClr val="193C32"/>
                </a:solidFill>
                <a:latin typeface="Helvetica Neue"/>
                <a:ea typeface="Helvetica Neue"/>
                <a:cs typeface="Helvetica Neue"/>
              </a:defRPr>
            </a:defPPr>
          </a:lstStyle>
          <a:p xmlns:a="http://schemas.openxmlformats.org/drawingml/2006/main">
            <a:pPr algn="l">
              <a:buNone/>
              <a:defRPr sz="2700" b="1">
                <a:solidFill>
                  <a:srgbClr val="193C32"/>
                </a:solidFill>
                <a:latin typeface="Helvetica Neue"/>
                <a:ea typeface="Helvetica Neue"/>
                <a:cs typeface="Helvetica Neue"/>
              </a:defRPr>
            </a:pPr>
            <a:r>
              <a:rPr sz="2700" b="1">
                <a:solidFill>
                  <a:srgbClr val="193C32"/>
                </a:solidFill>
                <a:latin typeface="Helvetica Neue"/>
                <a:ea typeface="Helvetica Neue"/>
                <a:cs typeface="Helvetica Neue"/>
              </a:rPr>
              <a:t>Pulkit Walia</a:t>
            </a:r>
          </a:p>
        </p:txBody>
      </p:sp>
      <p:sp>
        <p:nvSpPr>
          <p:cNvPr id="6" name="team-premium-3">
            <a:extLst xmlns:a="http://schemas.openxmlformats.org/drawingml/2006/main">
              <a:ext uri="{FF2B5EF4-FFF2-40B4-BE49-F238E27FC236}">
                <a16:creationId xmlns:a16="http://schemas.microsoft.com/office/drawing/2014/main" id="{9C6B3158-020C-4CA1-863B-72B584401299}"/>
              </a:ext>
            </a:extLst>
          </p:cNvPr>
          <p:cNvSpPr>
            <a:spLocks xmlns:a="http://schemas.openxmlformats.org/drawingml/2006/main" noGrp="1"/>
          </p:cNvSpPr>
          <p:nvPr/>
        </p:nvSpPr>
        <p:spPr>
          <a:xfrm xmlns:a="http://schemas.openxmlformats.org/drawingml/2006/main">
            <a:off x="2000250" y="2152650"/>
            <a:ext cx="381000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1725" b="1">
                <a:solidFill>
                  <a:srgbClr val="236C4E"/>
                </a:solidFill>
                <a:latin typeface="Helvetica Neue"/>
                <a:ea typeface="Helvetica Neue"/>
                <a:cs typeface="Helvetica Neue"/>
              </a:defRPr>
            </a:defPPr>
          </a:lstStyle>
          <a:p xmlns:a="http://schemas.openxmlformats.org/drawingml/2006/main">
            <a:pPr algn="l">
              <a:buNone/>
              <a:defRPr sz="1725" b="1">
                <a:solidFill>
                  <a:srgbClr val="236C4E"/>
                </a:solidFill>
                <a:latin typeface="Helvetica Neue"/>
                <a:ea typeface="Helvetica Neue"/>
                <a:cs typeface="Helvetica Neue"/>
              </a:defRPr>
            </a:pPr>
            <a:r>
              <a:rPr sz="1725" b="1">
                <a:solidFill>
                  <a:srgbClr val="236C4E"/>
                </a:solidFill>
                <a:latin typeface="Helvetica Neue"/>
                <a:ea typeface="Helvetica Neue"/>
                <a:cs typeface="Helvetica Neue"/>
              </a:rPr>
              <a:t>Operations and Partnerships</a:t>
            </a:r>
          </a:p>
        </p:txBody>
      </p:sp>
      <p:sp>
        <p:nvSpPr>
          <p:cNvPr id="7" name="team-premium-4">
            <a:extLst xmlns:a="http://schemas.openxmlformats.org/drawingml/2006/main">
              <a:ext uri="{FF2B5EF4-FFF2-40B4-BE49-F238E27FC236}">
                <a16:creationId xmlns:a16="http://schemas.microsoft.com/office/drawing/2014/main" id="{2FF1F676-1DD0-4611-B3A3-B0D7011C83D2}"/>
              </a:ext>
            </a:extLst>
          </p:cNvPr>
          <p:cNvSpPr>
            <a:spLocks xmlns:a="http://schemas.openxmlformats.org/drawingml/2006/main" noGrp="1"/>
          </p:cNvSpPr>
          <p:nvPr/>
        </p:nvSpPr>
        <p:spPr>
          <a:xfrm xmlns:a="http://schemas.openxmlformats.org/drawingml/2006/main">
            <a:off x="4905375" y="1781175"/>
            <a:ext cx="904875" cy="2762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1350" b="0">
                <a:solidFill>
                  <a:srgbClr val="65746C"/>
                </a:solidFill>
                <a:latin typeface="Helvetica Neue"/>
                <a:ea typeface="Helvetica Neue"/>
                <a:cs typeface="Helvetica Neue"/>
              </a:defRPr>
            </a:defPPr>
          </a:lstStyle>
          <a:p xmlns:a="http://schemas.openxmlformats.org/drawingml/2006/main">
            <a:pPr algn="l">
              <a:buNone/>
              <a:defRPr sz="1350" b="0">
                <a:solidFill>
                  <a:srgbClr val="65746C"/>
                </a:solidFill>
                <a:latin typeface="Helvetica Neue"/>
                <a:ea typeface="Helvetica Neue"/>
                <a:cs typeface="Helvetica Neue"/>
              </a:defRPr>
            </a:pPr>
            <a:r>
              <a:rPr sz="1350" b="0">
                <a:solidFill>
                  <a:srgbClr val="65746C"/>
                </a:solidFill>
                <a:latin typeface="Helvetica Neue"/>
                <a:ea typeface="Helvetica Neue"/>
                <a:cs typeface="Helvetica Neue"/>
                <a:hlinkClick xmlns:r="http://schemas.openxmlformats.org/officeDocument/2006/relationships" r:id="Rcedbbd675ea445db"/>
              </a:rPr>
              <a:t>LinkedIn</a:t>
            </a:r>
          </a:p>
        </p:txBody>
      </p:sp>
      <p:sp>
        <p:nvSpPr>
          <p:cNvPr id="8" name="team-premium-5">
            <a:extLst xmlns:a="http://schemas.openxmlformats.org/drawingml/2006/main">
              <a:ext uri="{FF2B5EF4-FFF2-40B4-BE49-F238E27FC236}">
                <a16:creationId xmlns:a16="http://schemas.microsoft.com/office/drawing/2014/main" id="{1AD92C3B-A22F-4FAD-976E-8B7E9098971D}"/>
              </a:ext>
            </a:extLst>
          </p:cNvPr>
          <p:cNvSpPr>
            <a:spLocks xmlns:a="http://schemas.openxmlformats.org/drawingml/2006/main" noGrp="1"/>
          </p:cNvSpPr>
          <p:nvPr/>
        </p:nvSpPr>
        <p:spPr>
          <a:xfrm xmlns:a="http://schemas.openxmlformats.org/drawingml/2006/main">
            <a:off x="8058150" y="1666875"/>
            <a:ext cx="1952625" cy="4667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2700" b="1">
                <a:solidFill>
                  <a:srgbClr val="193C32"/>
                </a:solidFill>
                <a:latin typeface="Helvetica Neue"/>
                <a:ea typeface="Helvetica Neue"/>
                <a:cs typeface="Helvetica Neue"/>
              </a:defRPr>
            </a:defPPr>
          </a:lstStyle>
          <a:p xmlns:a="http://schemas.openxmlformats.org/drawingml/2006/main">
            <a:pPr algn="l">
              <a:buNone/>
              <a:defRPr sz="2700" b="1">
                <a:solidFill>
                  <a:srgbClr val="193C32"/>
                </a:solidFill>
                <a:latin typeface="Helvetica Neue"/>
                <a:ea typeface="Helvetica Neue"/>
                <a:cs typeface="Helvetica Neue"/>
              </a:defRPr>
            </a:pPr>
            <a:r>
              <a:rPr sz="2700" b="1">
                <a:solidFill>
                  <a:srgbClr val="193C32"/>
                </a:solidFill>
                <a:latin typeface="Helvetica Neue"/>
                <a:ea typeface="Helvetica Neue"/>
                <a:cs typeface="Helvetica Neue"/>
              </a:rPr>
              <a:t>Rohit Jain</a:t>
            </a:r>
          </a:p>
        </p:txBody>
      </p:sp>
      <p:sp>
        <p:nvSpPr>
          <p:cNvPr id="9" name="team-premium-6">
            <a:extLst xmlns:a="http://schemas.openxmlformats.org/drawingml/2006/main">
              <a:ext uri="{FF2B5EF4-FFF2-40B4-BE49-F238E27FC236}">
                <a16:creationId xmlns:a16="http://schemas.microsoft.com/office/drawing/2014/main" id="{1CBA991C-4205-4F04-8D91-8911AF4B864B}"/>
              </a:ext>
            </a:extLst>
          </p:cNvPr>
          <p:cNvSpPr>
            <a:spLocks xmlns:a="http://schemas.openxmlformats.org/drawingml/2006/main" noGrp="1"/>
          </p:cNvSpPr>
          <p:nvPr/>
        </p:nvSpPr>
        <p:spPr>
          <a:xfrm xmlns:a="http://schemas.openxmlformats.org/drawingml/2006/main">
            <a:off x="8058150" y="2152650"/>
            <a:ext cx="1762125"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1800" b="1">
                <a:solidFill>
                  <a:srgbClr val="236C4E"/>
                </a:solidFill>
                <a:latin typeface="Helvetica Neue"/>
                <a:ea typeface="Helvetica Neue"/>
                <a:cs typeface="Helvetica Neue"/>
              </a:defRPr>
            </a:defPPr>
          </a:lstStyle>
          <a:p xmlns:a="http://schemas.openxmlformats.org/drawingml/2006/main">
            <a:pPr algn="l">
              <a:buNone/>
              <a:defRPr sz="1800" b="1">
                <a:solidFill>
                  <a:srgbClr val="236C4E"/>
                </a:solidFill>
                <a:latin typeface="Helvetica Neue"/>
                <a:ea typeface="Helvetica Neue"/>
                <a:cs typeface="Helvetica Neue"/>
              </a:defRPr>
            </a:pPr>
            <a:r>
              <a:rPr sz="1800" b="1">
                <a:solidFill>
                  <a:srgbClr val="236C4E"/>
                </a:solidFill>
                <a:latin typeface="Helvetica Neue"/>
                <a:ea typeface="Helvetica Neue"/>
                <a:cs typeface="Helvetica Neue"/>
              </a:rPr>
              <a:t>Engineering</a:t>
            </a:r>
          </a:p>
        </p:txBody>
      </p:sp>
      <p:sp>
        <p:nvSpPr>
          <p:cNvPr id="10" name="team-premium-7">
            <a:extLst xmlns:a="http://schemas.openxmlformats.org/drawingml/2006/main">
              <a:ext uri="{FF2B5EF4-FFF2-40B4-BE49-F238E27FC236}">
                <a16:creationId xmlns:a16="http://schemas.microsoft.com/office/drawing/2014/main" id="{80658FC1-CD06-49AB-A436-A48065CD7CE3}"/>
              </a:ext>
            </a:extLst>
          </p:cNvPr>
          <p:cNvSpPr>
            <a:spLocks xmlns:a="http://schemas.openxmlformats.org/drawingml/2006/main" noGrp="1"/>
          </p:cNvSpPr>
          <p:nvPr/>
        </p:nvSpPr>
        <p:spPr>
          <a:xfrm xmlns:a="http://schemas.openxmlformats.org/drawingml/2006/main">
            <a:off x="10125075" y="1781175"/>
            <a:ext cx="1238250" cy="2762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1350" b="0">
                <a:solidFill>
                  <a:srgbClr val="65746C"/>
                </a:solidFill>
                <a:latin typeface="Helvetica Neue"/>
                <a:ea typeface="Helvetica Neue"/>
                <a:cs typeface="Helvetica Neue"/>
              </a:defRPr>
            </a:defPPr>
          </a:lstStyle>
          <a:p xmlns:a="http://schemas.openxmlformats.org/drawingml/2006/main">
            <a:pPr algn="l">
              <a:buNone/>
              <a:defRPr sz="1350" b="0">
                <a:solidFill>
                  <a:srgbClr val="65746C"/>
                </a:solidFill>
                <a:latin typeface="Helvetica Neue"/>
                <a:ea typeface="Helvetica Neue"/>
                <a:cs typeface="Helvetica Neue"/>
              </a:defRPr>
            </a:pPr>
            <a:r>
              <a:rPr sz="1350" b="0">
                <a:solidFill>
                  <a:srgbClr val="65746C"/>
                </a:solidFill>
                <a:latin typeface="Helvetica Neue"/>
                <a:ea typeface="Helvetica Neue"/>
                <a:cs typeface="Helvetica Neue"/>
                <a:hlinkClick xmlns:r="http://schemas.openxmlformats.org/officeDocument/2006/relationships" r:id="R4752aa00aaba4fd2"/>
              </a:rPr>
              <a:t>LinkedIn</a:t>
            </a:r>
          </a:p>
        </p:txBody>
      </p:sp>
      <p:pic>
        <p:nvPicPr>
          <p:cNvPr id="11" name="Picture 10">
            <a:extLst xmlns:a="http://schemas.openxmlformats.org/drawingml/2006/main">
              <a:ext uri="{FF2B5EF4-FFF2-40B4-BE49-F238E27FC236}">
                <a16:creationId xmlns:a16="http://schemas.microsoft.com/office/drawing/2014/main" id="{0F629F8D-D4F0-4CCB-98A1-323D256D00AD}"/>
              </a:ext>
            </a:extLst>
          </p:cNvPr>
          <p:cNvPicPr>
            <a:picLocks xmlns:a="http://schemas.openxmlformats.org/drawingml/2006/main" noChangeAspect="1"/>
          </p:cNvPicPr>
          <p:nvPr/>
        </p:nvPicPr>
        <p:blipFill>
          <a:blip xmlns:r="http://schemas.openxmlformats.org/officeDocument/2006/relationships" xmlns:a="http://schemas.openxmlformats.org/drawingml/2006/main" r:embed="Rd6946a9626764fb4"/>
          <a:stretch xmlns:a="http://schemas.openxmlformats.org/drawingml/2006/main"/>
        </p:blipFill>
        <p:spPr>
          <a:xfrm xmlns:a="http://schemas.openxmlformats.org/drawingml/2006/main">
            <a:off x="2000250" y="2619375"/>
            <a:ext cx="419100" cy="419100"/>
          </a:xfrm>
          <a:prstGeom xmlns:a="http://schemas.openxmlformats.org/drawingml/2006/main" prst="rect">
            <a:avLst/>
          </a:prstGeom>
        </p:spPr>
      </p:pic>
      <p:sp>
        <p:nvSpPr>
          <p:cNvPr id="12" name="team-premium-8">
            <a:extLst xmlns:a="http://schemas.openxmlformats.org/drawingml/2006/main">
              <a:ext uri="{FF2B5EF4-FFF2-40B4-BE49-F238E27FC236}">
                <a16:creationId xmlns:a16="http://schemas.microsoft.com/office/drawing/2014/main" id="{7E3CA637-624D-4AAD-8E83-02E285C48BB3}"/>
              </a:ext>
            </a:extLst>
          </p:cNvPr>
          <p:cNvSpPr>
            <a:spLocks xmlns:a="http://schemas.openxmlformats.org/drawingml/2006/main" noGrp="1"/>
          </p:cNvSpPr>
          <p:nvPr/>
        </p:nvSpPr>
        <p:spPr>
          <a:xfrm xmlns:a="http://schemas.openxmlformats.org/drawingml/2006/main">
            <a:off x="2571750" y="2600325"/>
            <a:ext cx="3333750" cy="5619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1575" b="0">
                <a:solidFill>
                  <a:srgbClr val="65746C"/>
                </a:solidFill>
                <a:latin typeface="Helvetica Neue"/>
                <a:ea typeface="Helvetica Neue"/>
                <a:cs typeface="Helvetica Neue"/>
              </a:defRPr>
            </a:defPPr>
          </a:lstStyle>
          <a:p xmlns:a="http://schemas.openxmlformats.org/drawingml/2006/main">
            <a:pPr algn="l">
              <a:buNone/>
              <a:defRPr sz="1575" b="0">
                <a:solidFill>
                  <a:srgbClr val="65746C"/>
                </a:solidFill>
                <a:latin typeface="Helvetica Neue"/>
                <a:ea typeface="Helvetica Neue"/>
                <a:cs typeface="Helvetica Neue"/>
              </a:defRPr>
            </a:pPr>
            <a:r>
              <a:rPr sz="1575" b="0">
                <a:solidFill>
                  <a:srgbClr val="65746C"/>
                </a:solidFill>
                <a:latin typeface="Helvetica Neue"/>
                <a:ea typeface="Helvetica Neue"/>
                <a:cs typeface="Helvetica Neue"/>
              </a:rPr>
              <a:t>Harvard Business School</a:t>
            </a:r>
          </a:p>
          <a:p xmlns:a="http://schemas.openxmlformats.org/drawingml/2006/main">
            <a:pPr algn="l">
              <a:buNone/>
              <a:defRPr sz="1575" b="0">
                <a:solidFill>
                  <a:srgbClr val="65746C"/>
                </a:solidFill>
                <a:latin typeface="Helvetica Neue"/>
                <a:ea typeface="Helvetica Neue"/>
                <a:cs typeface="Helvetica Neue"/>
              </a:defRPr>
            </a:pPr>
            <a:r>
              <a:rPr sz="1575" b="0">
                <a:solidFill>
                  <a:srgbClr val="65746C"/>
                </a:solidFill>
                <a:latin typeface="Helvetica Neue"/>
                <a:ea typeface="Helvetica Neue"/>
                <a:cs typeface="Helvetica Neue"/>
              </a:rPr>
              <a:t>MBA</a:t>
            </a:r>
          </a:p>
        </p:txBody>
      </p:sp>
      <p:pic>
        <p:nvPicPr>
          <p:cNvPr id="13" name="Picture 12">
            <a:extLst xmlns:a="http://schemas.openxmlformats.org/drawingml/2006/main">
              <a:ext uri="{FF2B5EF4-FFF2-40B4-BE49-F238E27FC236}">
                <a16:creationId xmlns:a16="http://schemas.microsoft.com/office/drawing/2014/main" id="{D15197E4-5401-46FF-BE12-CB32EBA5F514}"/>
              </a:ext>
            </a:extLst>
          </p:cNvPr>
          <p:cNvPicPr>
            <a:picLocks xmlns:a="http://schemas.openxmlformats.org/drawingml/2006/main" noChangeAspect="1"/>
          </p:cNvPicPr>
          <p:nvPr/>
        </p:nvPicPr>
        <p:blipFill>
          <a:blip xmlns:r="http://schemas.openxmlformats.org/officeDocument/2006/relationships" xmlns:a="http://schemas.openxmlformats.org/drawingml/2006/main" r:embed="R35d3f1120ae74d44"/>
          <a:stretch xmlns:a="http://schemas.openxmlformats.org/drawingml/2006/main"/>
        </p:blipFill>
        <p:spPr>
          <a:xfrm xmlns:a="http://schemas.openxmlformats.org/drawingml/2006/main">
            <a:off x="8058150" y="2582466"/>
            <a:ext cx="342900" cy="321469"/>
          </a:xfrm>
          <a:prstGeom xmlns:a="http://schemas.openxmlformats.org/drawingml/2006/main" prst="rect">
            <a:avLst/>
          </a:prstGeom>
        </p:spPr>
      </p:pic>
      <p:sp>
        <p:nvSpPr>
          <p:cNvPr id="14" name="team-premium-9">
            <a:extLst xmlns:a="http://schemas.openxmlformats.org/drawingml/2006/main">
              <a:ext uri="{FF2B5EF4-FFF2-40B4-BE49-F238E27FC236}">
                <a16:creationId xmlns:a16="http://schemas.microsoft.com/office/drawing/2014/main" id="{5E028DA2-DD30-40E0-BD52-F0FD217B419C}"/>
              </a:ext>
            </a:extLst>
          </p:cNvPr>
          <p:cNvSpPr>
            <a:spLocks xmlns:a="http://schemas.openxmlformats.org/drawingml/2006/main" noGrp="1"/>
          </p:cNvSpPr>
          <p:nvPr/>
        </p:nvSpPr>
        <p:spPr>
          <a:xfrm xmlns:a="http://schemas.openxmlformats.org/drawingml/2006/main">
            <a:off x="8553450" y="2609850"/>
            <a:ext cx="314325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1500" b="0">
                <a:solidFill>
                  <a:srgbClr val="65746C"/>
                </a:solidFill>
                <a:latin typeface="Helvetica Neue"/>
                <a:ea typeface="Helvetica Neue"/>
                <a:cs typeface="Helvetica Neue"/>
              </a:defRPr>
            </a:defPPr>
          </a:lstStyle>
          <a:p xmlns:a="http://schemas.openxmlformats.org/drawingml/2006/main">
            <a:pPr algn="l">
              <a:buNone/>
              <a:defRPr sz="1500" b="0">
                <a:solidFill>
                  <a:srgbClr val="65746C"/>
                </a:solidFill>
                <a:latin typeface="Helvetica Neue"/>
                <a:ea typeface="Helvetica Neue"/>
                <a:cs typeface="Helvetica Neue"/>
              </a:defRPr>
            </a:pPr>
            <a:r>
              <a:rPr sz="1500" b="0">
                <a:solidFill>
                  <a:srgbClr val="65746C"/>
                </a:solidFill>
                <a:latin typeface="Helvetica Neue"/>
                <a:ea typeface="Helvetica Neue"/>
                <a:cs typeface="Helvetica Neue"/>
              </a:rPr>
              <a:t>Texas A&amp;M, Computer Science</a:t>
            </a:r>
          </a:p>
        </p:txBody>
      </p:sp>
      <p:pic>
        <p:nvPicPr>
          <p:cNvPr id="15" name="Picture 14">
            <a:extLst xmlns:a="http://schemas.openxmlformats.org/drawingml/2006/main">
              <a:ext uri="{FF2B5EF4-FFF2-40B4-BE49-F238E27FC236}">
                <a16:creationId xmlns:a16="http://schemas.microsoft.com/office/drawing/2014/main" id="{7066768A-1A32-492A-8A8B-D70F31469CF4}"/>
              </a:ext>
            </a:extLst>
          </p:cNvPr>
          <p:cNvPicPr>
            <a:picLocks xmlns:a="http://schemas.openxmlformats.org/drawingml/2006/main" noChangeAspect="1"/>
          </p:cNvPicPr>
          <p:nvPr/>
        </p:nvPicPr>
        <p:blipFill>
          <a:blip xmlns:r="http://schemas.openxmlformats.org/officeDocument/2006/relationships" xmlns:a="http://schemas.openxmlformats.org/drawingml/2006/main" r:embed="R6d768e4de20b4abf"/>
          <a:stretch xmlns:a="http://schemas.openxmlformats.org/drawingml/2006/main"/>
        </p:blipFill>
        <p:spPr>
          <a:xfrm xmlns:a="http://schemas.openxmlformats.org/drawingml/2006/main">
            <a:off x="8058150" y="3043707"/>
            <a:ext cx="342900" cy="256237"/>
          </a:xfrm>
          <a:prstGeom xmlns:a="http://schemas.openxmlformats.org/drawingml/2006/main" prst="rect">
            <a:avLst/>
          </a:prstGeom>
        </p:spPr>
      </p:pic>
      <p:sp>
        <p:nvSpPr>
          <p:cNvPr id="16" name="team-premium-10">
            <a:extLst xmlns:a="http://schemas.openxmlformats.org/drawingml/2006/main">
              <a:ext uri="{FF2B5EF4-FFF2-40B4-BE49-F238E27FC236}">
                <a16:creationId xmlns:a16="http://schemas.microsoft.com/office/drawing/2014/main" id="{819BCC42-91C4-4913-9152-2C5ECF6DEEC2}"/>
              </a:ext>
            </a:extLst>
          </p:cNvPr>
          <p:cNvSpPr>
            <a:spLocks xmlns:a="http://schemas.openxmlformats.org/drawingml/2006/main" noGrp="1"/>
          </p:cNvSpPr>
          <p:nvPr/>
        </p:nvSpPr>
        <p:spPr>
          <a:xfrm xmlns:a="http://schemas.openxmlformats.org/drawingml/2006/main">
            <a:off x="8553450" y="3038475"/>
            <a:ext cx="3143250" cy="3048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1500" b="0">
                <a:solidFill>
                  <a:srgbClr val="65746C"/>
                </a:solidFill>
                <a:latin typeface="Helvetica Neue"/>
                <a:ea typeface="Helvetica Neue"/>
                <a:cs typeface="Helvetica Neue"/>
              </a:defRPr>
            </a:defPPr>
          </a:lstStyle>
          <a:p xmlns:a="http://schemas.openxmlformats.org/drawingml/2006/main">
            <a:pPr algn="l">
              <a:buNone/>
              <a:defRPr sz="1500" b="0">
                <a:solidFill>
                  <a:srgbClr val="65746C"/>
                </a:solidFill>
                <a:latin typeface="Helvetica Neue"/>
                <a:ea typeface="Helvetica Neue"/>
                <a:cs typeface="Helvetica Neue"/>
              </a:defRPr>
            </a:pPr>
            <a:r>
              <a:rPr sz="1500" b="0">
                <a:solidFill>
                  <a:srgbClr val="65746C"/>
                </a:solidFill>
                <a:latin typeface="Helvetica Neue"/>
                <a:ea typeface="Helvetica Neue"/>
                <a:cs typeface="Helvetica Neue"/>
              </a:rPr>
              <a:t>IIT Kharagpur</a:t>
            </a:r>
          </a:p>
        </p:txBody>
      </p:sp>
      <p:sp>
        <p:nvSpPr>
          <p:cNvPr id="17" name="team-premium-11">
            <a:extLst xmlns:a="http://schemas.openxmlformats.org/drawingml/2006/main">
              <a:ext uri="{FF2B5EF4-FFF2-40B4-BE49-F238E27FC236}">
                <a16:creationId xmlns:a16="http://schemas.microsoft.com/office/drawing/2014/main" id="{9CD3FA75-DADB-42A0-B21B-2091DEF33B7E}"/>
              </a:ext>
            </a:extLst>
          </p:cNvPr>
          <p:cNvSpPr>
            <a:spLocks xmlns:a="http://schemas.openxmlformats.org/drawingml/2006/main" noGrp="1"/>
          </p:cNvSpPr>
          <p:nvPr/>
        </p:nvSpPr>
        <p:spPr>
          <a:xfrm xmlns:a="http://schemas.openxmlformats.org/drawingml/2006/main">
            <a:off x="495300" y="3686175"/>
            <a:ext cx="5314950" cy="25812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1950" b="0">
                <a:solidFill>
                  <a:srgbClr val="193C32"/>
                </a:solidFill>
                <a:latin typeface="Helvetica Neue"/>
                <a:ea typeface="Helvetica Neue"/>
                <a:cs typeface="Helvetica Neue"/>
              </a:defRPr>
            </a:defPPr>
          </a:lstStyle>
          <a:p xmlns:a="http://schemas.openxmlformats.org/drawingml/2006/main">
            <a:pPr marL="228600" indent="-114300" algn="l">
              <a:spcAft>
                <a:spcPts val="1600"/>
              </a:spcAft>
              <a:buChar char="•"/>
              <a:defRPr sz="1950" b="0">
                <a:solidFill>
                  <a:srgbClr val="193C32"/>
                </a:solidFill>
                <a:latin typeface="Helvetica Neue"/>
                <a:ea typeface="Helvetica Neue"/>
                <a:cs typeface="Helvetica Neue"/>
              </a:defRPr>
            </a:pPr>
            <a:r>
              <a:rPr sz="1950" b="0">
                <a:solidFill>
                  <a:srgbClr val="193C32"/>
                </a:solidFill>
                <a:latin typeface="Helvetica Neue"/>
                <a:ea typeface="Helvetica Neue"/>
                <a:cs typeface="Helvetica Neue"/>
              </a:rPr>
              <a:t>Urban Company founding team member. Helped build the marketplace from launch to a $3B IPO.</a:t>
            </a:r>
          </a:p>
          <a:p xmlns:a="http://schemas.openxmlformats.org/drawingml/2006/main">
            <a:pPr marL="228600" indent="-114300" algn="l">
              <a:spcAft>
                <a:spcPts val="1600"/>
              </a:spcAft>
              <a:buChar char="•"/>
              <a:defRPr sz="1950" b="0">
                <a:solidFill>
                  <a:srgbClr val="193C32"/>
                </a:solidFill>
                <a:latin typeface="Helvetica Neue"/>
                <a:ea typeface="Helvetica Neue"/>
                <a:cs typeface="Helvetica Neue"/>
              </a:defRPr>
            </a:pPr>
            <a:r>
              <a:rPr sz="1950" b="0">
                <a:solidFill>
                  <a:srgbClr val="193C32"/>
                </a:solidFill>
                <a:latin typeface="Helvetica Neue"/>
                <a:ea typeface="Helvetica Neue"/>
                <a:cs typeface="Helvetica Neue"/>
              </a:rPr>
              <a:t>Launched a home security brand at 19 and grew revenue to $700K.</a:t>
            </a:r>
          </a:p>
          <a:p xmlns:a="http://schemas.openxmlformats.org/drawingml/2006/main">
            <a:pPr marL="228600" indent="-114300" algn="l">
              <a:spcAft>
                <a:spcPts val="1600"/>
              </a:spcAft>
              <a:buChar char="•"/>
              <a:defRPr sz="1950" b="0">
                <a:solidFill>
                  <a:srgbClr val="193C32"/>
                </a:solidFill>
                <a:latin typeface="Helvetica Neue"/>
                <a:ea typeface="Helvetica Neue"/>
                <a:cs typeface="Helvetica Neue"/>
              </a:defRPr>
            </a:pPr>
            <a:r>
              <a:rPr sz="1950" b="0">
                <a:solidFill>
                  <a:srgbClr val="193C32"/>
                </a:solidFill>
                <a:latin typeface="Helvetica Neue"/>
                <a:ea typeface="Helvetica Neue"/>
                <a:cs typeface="Helvetica Neue"/>
              </a:rPr>
              <a:t>Bessemer Venture Partners investor. Deployed $50M in consumer AI startups.</a:t>
            </a:r>
          </a:p>
        </p:txBody>
      </p:sp>
      <p:sp>
        <p:nvSpPr>
          <p:cNvPr id="18" name="team-premium-12">
            <a:extLst xmlns:a="http://schemas.openxmlformats.org/drawingml/2006/main">
              <a:ext uri="{FF2B5EF4-FFF2-40B4-BE49-F238E27FC236}">
                <a16:creationId xmlns:a16="http://schemas.microsoft.com/office/drawing/2014/main" id="{B74F479A-3BCE-4289-B4A2-D3F3E0BC7DCD}"/>
              </a:ext>
            </a:extLst>
          </p:cNvPr>
          <p:cNvSpPr>
            <a:spLocks xmlns:a="http://schemas.openxmlformats.org/drawingml/2006/main" noGrp="1"/>
          </p:cNvSpPr>
          <p:nvPr/>
        </p:nvSpPr>
        <p:spPr>
          <a:xfrm xmlns:a="http://schemas.openxmlformats.org/drawingml/2006/main">
            <a:off x="6553200" y="3686175"/>
            <a:ext cx="5143500" cy="25812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1950" b="0">
                <a:solidFill>
                  <a:srgbClr val="193C32"/>
                </a:solidFill>
                <a:latin typeface="Helvetica Neue"/>
                <a:ea typeface="Helvetica Neue"/>
                <a:cs typeface="Helvetica Neue"/>
              </a:defRPr>
            </a:defPPr>
          </a:lstStyle>
          <a:p xmlns:a="http://schemas.openxmlformats.org/drawingml/2006/main">
            <a:pPr marL="228600" indent="-114300" algn="l">
              <a:spcAft>
                <a:spcPts val="1600"/>
              </a:spcAft>
              <a:buChar char="•"/>
              <a:defRPr sz="1950" b="0">
                <a:solidFill>
                  <a:srgbClr val="193C32"/>
                </a:solidFill>
                <a:latin typeface="Helvetica Neue"/>
                <a:ea typeface="Helvetica Neue"/>
                <a:cs typeface="Helvetica Neue"/>
              </a:defRPr>
            </a:pPr>
            <a:r>
              <a:rPr sz="1950" b="0">
                <a:solidFill>
                  <a:srgbClr val="193C32"/>
                </a:solidFill>
                <a:latin typeface="Helvetica Neue"/>
                <a:ea typeface="Helvetica Neue"/>
                <a:cs typeface="Helvetica Neue"/>
              </a:rPr>
              <a:t>5 years as a senior software engineer at Amazon, Square and Citrix.</a:t>
            </a:r>
          </a:p>
          <a:p xmlns:a="http://schemas.openxmlformats.org/drawingml/2006/main">
            <a:pPr marL="228600" indent="-114300" algn="l">
              <a:spcAft>
                <a:spcPts val="1600"/>
              </a:spcAft>
              <a:buChar char="•"/>
              <a:defRPr sz="1950" b="0">
                <a:solidFill>
                  <a:srgbClr val="193C32"/>
                </a:solidFill>
                <a:latin typeface="Helvetica Neue"/>
                <a:ea typeface="Helvetica Neue"/>
                <a:cs typeface="Helvetica Neue"/>
              </a:defRPr>
            </a:pPr>
            <a:r>
              <a:rPr sz="1950" b="0">
                <a:solidFill>
                  <a:srgbClr val="193C32"/>
                </a:solidFill>
                <a:latin typeface="Helvetica Neue"/>
                <a:ea typeface="Helvetica Neue"/>
                <a:cs typeface="Helvetica Neue"/>
              </a:rPr>
              <a:t>Taught system design to 2,500 engineers on Udemy.</a:t>
            </a:r>
          </a:p>
          <a:p xmlns:a="http://schemas.openxmlformats.org/drawingml/2006/main">
            <a:pPr marL="228600" indent="-114300" algn="l">
              <a:spcAft>
                <a:spcPts val="1600"/>
              </a:spcAft>
              <a:buChar char="•"/>
              <a:defRPr sz="1950" b="0">
                <a:solidFill>
                  <a:srgbClr val="193C32"/>
                </a:solidFill>
                <a:latin typeface="Helvetica Neue"/>
                <a:ea typeface="Helvetica Neue"/>
                <a:cs typeface="Helvetica Neue"/>
              </a:defRPr>
            </a:pPr>
            <a:r>
              <a:rPr sz="1950" b="0">
                <a:solidFill>
                  <a:srgbClr val="193C32"/>
                </a:solidFill>
                <a:latin typeface="Helvetica Neue"/>
                <a:ea typeface="Helvetica Neue"/>
                <a:cs typeface="Helvetica Neue"/>
              </a:rPr>
              <a:t>Built MCP integrations for production use.</a:t>
            </a:r>
          </a:p>
        </p:txBody>
      </p:sp>
      <p:sp>
        <p:nvSpPr>
          <p:cNvPr id="19" name="team-premium-13">
            <a:extLst xmlns:a="http://schemas.openxmlformats.org/drawingml/2006/main">
              <a:ext uri="{FF2B5EF4-FFF2-40B4-BE49-F238E27FC236}">
                <a16:creationId xmlns:a16="http://schemas.microsoft.com/office/drawing/2014/main" id="{00C72333-1F4A-4A90-AEBE-E98E7D08609E}"/>
              </a:ext>
            </a:extLst>
          </p:cNvPr>
          <p:cNvSpPr>
            <a:spLocks xmlns:a="http://schemas.openxmlformats.org/drawingml/2006/main" noGrp="1"/>
          </p:cNvSpPr>
          <p:nvPr/>
        </p:nvSpPr>
        <p:spPr>
          <a:xfrm xmlns:a="http://schemas.openxmlformats.org/drawingml/2006/main">
            <a:off x="11049000" y="6619875"/>
            <a:ext cx="666750" cy="2000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1275" b="0">
                <a:solidFill>
                  <a:srgbClr val="65746C"/>
                </a:solidFill>
                <a:latin typeface="Helvetica Neue"/>
                <a:ea typeface="Helvetica Neue"/>
                <a:cs typeface="Helvetica Neue"/>
              </a:defRPr>
            </a:defPPr>
          </a:lstStyle>
          <a:p xmlns:a="http://schemas.openxmlformats.org/drawingml/2006/main">
            <a:pPr algn="l">
              <a:buNone/>
              <a:defRPr sz="1275" b="0">
                <a:solidFill>
                  <a:srgbClr val="65746C"/>
                </a:solidFill>
                <a:latin typeface="Helvetica Neue"/>
                <a:ea typeface="Helvetica Neue"/>
                <a:cs typeface="Helvetica Neue"/>
              </a:defRPr>
            </a:pPr>
            <a:r>
              <a:rPr sz="1275" b="0">
                <a:solidFill>
                  <a:srgbClr val="65746C"/>
                </a:solidFill>
                <a:latin typeface="Helvetica Neue"/>
                <a:ea typeface="Helvetica Neue"/>
                <a:cs typeface="Helvetica Neue"/>
              </a:rPr>
              <a:t>7 / 7</a:t>
            </a:r>
          </a:p>
        </p:txBody>
      </p:sp>
    </p:spTree>
    <p:extLst>
      <p:ext uri="{BB962C8B-B14F-4D97-AF65-F5344CB8AC3E}">
        <p14:creationId xmlns:p14="http://schemas.microsoft.com/office/powerpoint/2010/main" val="1203062399"/>
      </p:ext>
    </p:extLst>
  </p:cSld>
</p:sld>
</file>

<file path=ppt/theme/theme1.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
      <a:majorFont>
        <a:latin typeface="Aptos"/>
        <a:ea typeface=""/>
        <a:cs typeface=""/>
      </a:majorFont>
      <a:minorFont>
        <a:latin typeface="Aptos"/>
        <a:ea typeface=""/>
        <a:cs typeface=""/>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docProps/app.xml><?xml version="1.0" encoding="utf-8"?>
<ap:Properties xmlns:ap="http://schemas.openxmlformats.org/officeDocument/2006/extended-properties">
  <ap:Application>Walnut Exporter</ap:Application>
  <ap:PresentationFormat>Converted Presentation</ap:PresentationFormat>
  <ap:Slides>0</ap:Slides>
  <ap:Notes>0</ap:Notes>
  <ap:HiddenSlides>0</ap:HiddenSlides>
  <ap:SharedDoc>false</ap:SharedDoc>
  <ap:DocSecurity>0</ap:DocSecurity>
</ap:Properties>
</file>

<file path=docProps/core.xml><?xml version="1.0" encoding="utf-8"?>
<coreProperties xmlns:dc="http://purl.org/dc/elements/1.1/" xmlns:dcterms="http://purl.org/dc/terms/" xmlns:xsi="http://www.w3.org/2001/XMLSchema-instance" xmlns="http://schemas.openxmlformats.org/package/2006/metadata/core-properties">
  <dc:creator>Walnut Exporter</dc:creator>
  <lastModifiedBy>Walnut Exporter</lastModifiedBy>
  <dc:title>Presentation</dc:title>
  <dcterms:created xsi:type="dcterms:W3CDTF">2026-10-11T03:25:28.4060000Z</dcterms:created>
  <dcterms:modified xsi:type="dcterms:W3CDTF">2026-10-11T03:25:28.4060000Z</dcterms:modified>
</coreProperties>
</file>