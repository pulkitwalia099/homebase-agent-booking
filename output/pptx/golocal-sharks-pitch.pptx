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9afd9760054bf2" /><Relationship Type="http://schemas.openxmlformats.org/officeDocument/2006/relationships/extended-properties" Target="/docProps/app.xml" Id="R0545e0e4ee144b45" /><Relationship Type="http://schemas.openxmlformats.org/officeDocument/2006/relationships/officeDocument" Target="/ppt/presentation.xml" Id="Rfc58ae71a3974f0b" /></Relationships>
</file>

<file path=ppt/presentation.xml><?xml version="1.0" encoding="utf-8"?>
<p:presentation xmlns:p="http://schemas.openxmlformats.org/presentationml/2006/main">
  <p:sldMasterIdLst>
    <p:sldMasterId xmlns:r="http://schemas.openxmlformats.org/officeDocument/2006/relationships" id="2147483648" r:id="Rc58a9148fe57419e"/>
  </p:sldMasterIdLst>
  <p:notesMasterIdLst>
    <p:notesMasterId xmlns:r="http://schemas.openxmlformats.org/officeDocument/2006/relationships" r:id="R974bebd90f2141eb"/>
  </p:notesMasterIdLst>
  <p:sldIdLst>
    <p:sldId xmlns:r="http://schemas.openxmlformats.org/officeDocument/2006/relationships" id="256" r:id="Rb5563da2080046b8"/>
    <p:sldId xmlns:r="http://schemas.openxmlformats.org/officeDocument/2006/relationships" id="257" r:id="Ra32a49464d704560"/>
    <p:sldId xmlns:r="http://schemas.openxmlformats.org/officeDocument/2006/relationships" id="258" r:id="R2cac21c4520c4b08"/>
    <p:sldId xmlns:r="http://schemas.openxmlformats.org/officeDocument/2006/relationships" id="259" r:id="R5e1d94ca36f64e71"/>
    <p:sldId xmlns:r="http://schemas.openxmlformats.org/officeDocument/2006/relationships" id="260" r:id="Rdce8b7226de64116"/>
    <p:sldId xmlns:r="http://schemas.openxmlformats.org/officeDocument/2006/relationships" id="261" r:id="Rc8b620d4fa4448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4e96ec6eed435d" /><Relationship Type="http://schemas.openxmlformats.org/officeDocument/2006/relationships/slideMaster" Target="/ppt/slideMasters/slideMaster1.xml" Id="Rc58a9148fe57419e" /><Relationship Type="http://schemas.openxmlformats.org/officeDocument/2006/relationships/notesMaster" Target="/ppt/notesMasters/notesMaster1.xml" Id="R974bebd90f2141eb" /><Relationship Type="http://schemas.openxmlformats.org/officeDocument/2006/relationships/presProps" Target="/ppt/presProps.xml" Id="Rbfab3afd563e4578" /><Relationship Type="http://schemas.openxmlformats.org/officeDocument/2006/relationships/tableStyles" Target="/ppt/tableStyles.xml" Id="Ra81873a28ccd4075" /><Relationship Type="http://schemas.openxmlformats.org/officeDocument/2006/relationships/slide" Target="/ppt/slides/slide1.xml" Id="Rb5563da2080046b8" /><Relationship Type="http://schemas.openxmlformats.org/officeDocument/2006/relationships/slide" Target="/ppt/slides/slide2.xml" Id="Ra32a49464d704560" /><Relationship Type="http://schemas.openxmlformats.org/officeDocument/2006/relationships/slide" Target="/ppt/slides/slide3.xml" Id="R2cac21c4520c4b08" /><Relationship Type="http://schemas.openxmlformats.org/officeDocument/2006/relationships/slide" Target="/ppt/slides/slide4.xml" Id="R5e1d94ca36f64e71" /><Relationship Type="http://schemas.openxmlformats.org/officeDocument/2006/relationships/slide" Target="/ppt/slides/slide5.xml" Id="Rdce8b7226de64116" /><Relationship Type="http://schemas.openxmlformats.org/officeDocument/2006/relationships/slide" Target="/ppt/slides/slide6.xml" Id="Rc8b620d4fa4448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58a48ace384c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66053c5a724f51" /><Relationship Type="http://schemas.openxmlformats.org/officeDocument/2006/relationships/notesMaster" Target="/ppt/notesMasters/notesMaster1.xml" Id="Rc4c3a616d5a94a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f30f2e92504a85" /><Relationship Type="http://schemas.openxmlformats.org/officeDocument/2006/relationships/notesMaster" Target="/ppt/notesMasters/notesMaster1.xml" Id="Rdf878754a91f4b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0e120ee79c43d5" /><Relationship Type="http://schemas.openxmlformats.org/officeDocument/2006/relationships/notesMaster" Target="/ppt/notesMasters/notesMaster1.xml" Id="Rcff1c9e7330b49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7009c03bce44e4" /><Relationship Type="http://schemas.openxmlformats.org/officeDocument/2006/relationships/notesMaster" Target="/ppt/notesMasters/notesMaster1.xml" Id="R13d653ecd18e44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3aa8b5525347a3" /><Relationship Type="http://schemas.openxmlformats.org/officeDocument/2006/relationships/notesMaster" Target="/ppt/notesMasters/notesMaster1.xml" Id="R15e54a92314341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8d309fd70544f1" /><Relationship Type="http://schemas.openxmlformats.org/officeDocument/2006/relationships/notesMaster" Target="/ppt/notesMasters/notesMaster1.xml" Id="Rd2a465bd86294d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makes local businesses bookable by personal agents. Start with a familiar contrast: it is easy to book a ride or order food, but a local-service request still ends in websites, forms and calls. This is a proposed business, with early supplier partnership commitments and no claimed live transaction volume. Cover illustration: original AI-generated artwork created for this deck on October 10, 2026. Tagline and business name supplied by the founder.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Founder-supplied GoLocal thesis, resources/business-thesis.md and output/docx/golocal-business-thesis.docx. The $2T local-services and $600B home-services market figures, and 15+ recent personal-agent startups raising billions, are founder-sourced claims preserved as requested. The source does not specify a consistent geography, measurement year or underlying market methodology. These are service-market figures, not projected GoLocal revenue. Home services is part of local services; the figures must not be added.</a:t>
            </a:r>
          </a:p>
          <a:p xmlns:a="http://schemas.openxmlformats.org/drawingml/2006/main">
            <a:r>
              <a:t>The market shift is the reason to build now: discovery is diversifying across personal agents, while the downstream booking flow remains fragmented. The proposed opportunity is to organize participating supply and expose booking actions, not merely scrape more listings. Existing businesses and platforms do offer booking APIs; the claim is fragmentation across local services, not that no interfaces exist. Sources: https://developer.doordash.com/en-US/mcp/ ; https://developers.booking.com/demand/docs/getting-started/overview ; https://sierra.ai/blog/introducing-personal-agent-protocol . The latter describes the gap between agents and existing websites/forms and is contextual support, not proof of GoLocal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 not a claim that these capabilities are already deployed. GoLocal recruits and authorizes participating businesses, connects their existing software, and exposes consistent discovery and booking actions through MCP or direct integrations. Agents receive supply access and less supplier recruitment and integration work. Businesses connect once to reach all agents integrated with GoLocal. Merchant-specific authorization is required; a vendor partnership does not authorize every customer. Supported software may permit OAuth authorization; other software requires credentials or custom integrations. The intended advantage over a generic connector is the combination of participating local supply, normalized booking actions, and reliable booking management. It is not a proven moat yet. Sources: founder thesis; https://developer.getjobber.com/docs/getting_started/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evidence: founder reports supplied in this conversation, October 10, 2026. Cactus AI, a YC company, agreed to partner in Salt Lake City and Dallas, where it has 100+ mid-market trade-shop customers. The founder clarified that the partnership is for shop introductions and booking access through existing customers. This is a supply/integration channel, not evidence of consumer-agent demand routing. A separate back-office management company agreed to onboard its 20 clients. These counts are not active GoLocal merchants, must not be summed into 120+ unique customers, and do not establish production bookings or revenue. Commitment documentation and merchant-specific permissions remain to be operationalized. Positive customer interviews are reported, but no interview count, quotes or paid conversion metrics have been supplied. Public Cactus identity/product context: https://www.ycombinator.com/companies/oncactus . The public page does not document the private partnership.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commercial and distribution strategy, not signed pricing or achieved traction. Businesses would pay a success fee for a fulfilled booking that brings a new customer; an agreed portion would go to the personal-agent company providing demand. Fee levels, revenue share, payer willingness, attribution and unit economics are unvalidated. The consumer pays the underlying service price to the supplier. Do not conflate acquisition of a new customer with rescheduling an existing customer. First-party personal-agent distribution is an intended route, not a secured partnership. Cactus provides supplier access; it has not been presented as the personal-agent demand channel. A marketplace connector is a secondary route that still requires users to discover and install it. The initial trade and city remain to be selected from actual requests and supplier coverage in Salt Lake City and Dallas. No revenue projections are included because there are no measured booking volumes, conversion rates or agreed fees. Venture potential depends on repeatable demand distribution and transaction economics across suppliers, cities and agents, not merely the existence of a large services market.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facts, preserved as stated: Urban Company founding team member; a decade building the local-services platform in Asia; helped scale from zero to a $3 billion IPO. This is a company milestone, not Pulkit’s personal financial outcome. User profile: https://www.linkedin.com/in/pulkitwalia/ . Public founder reflection: https://www.linkedin.com/posts/pulkitwalia_urban-company-is-now-public-when-i-first-activity-7374240855139868672-U711 .</a:t>
            </a:r>
          </a:p>
          <a:p xmlns:a="http://schemas.openxmlformats.org/drawingml/2006/main">
            <a:r>
              <a:t>Rohit: user says he is the engineer on the team, built production-grade MCP products and teaches system design. Role commitment and cofounder/CTO status have not been established, so the deck uses Engineering. Primary profile context: https://laoh.ai/ links to the user-provided https://www.linkedin.com/in/rohit-jain-343437187/ and describes Amazon and Square engineering experience. Instructor total learners observed at 24,599 on https://www.udemy.com/user/a6a5d0a8-fdb1-40b1-84d5-1fe3a0861886/ ; displayed as 24,000+. This is total instructor reach, not a claim that every learner enrolled in a particular system-design 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bdc2e3d24f4c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6aa3a4e5e148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b651229ad748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68983ddc4b47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91b4c080ce48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37de375c6b4f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6FB89E-E12E-4F90-A965-30E396B397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445983-007F-49F5-B5C1-C2228EC235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94235E-0EBD-406C-B259-3CC0BAEAF2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15F379-63FF-4ACC-AA21-9741B5CD45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80C146C-77B9-4F52-9E2B-F04E8DD1A9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F419A0-DD5A-4743-9A04-2C8C35380A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B8E682-AAC5-49C9-80F5-94BA0B071C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22F013B-E930-432A-8E4E-61AD1D55E1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FADD93-388D-49CD-A1BB-B10718C72C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412168-C109-448B-979C-0B97BE4AC2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39c0a4152f42d4" /><Relationship Type="http://schemas.openxmlformats.org/officeDocument/2006/relationships/slideLayout" Target="/ppt/slideLayouts/slideLayout1.xml" Id="R33ec2ed7970f424f" /><Relationship Type="http://schemas.openxmlformats.org/officeDocument/2006/relationships/slideLayout" Target="/ppt/slideLayouts/slideLayout2.xml" Id="Ra153a2cd6cc64d53" /><Relationship Type="http://schemas.openxmlformats.org/officeDocument/2006/relationships/slideLayout" Target="/ppt/slideLayouts/slideLayout3.xml" Id="R8f778cd41a014daa" /><Relationship Type="http://schemas.openxmlformats.org/officeDocument/2006/relationships/slideLayout" Target="/ppt/slideLayouts/slideLayout4.xml" Id="Re0d0641b95ec4258" /><Relationship Type="http://schemas.openxmlformats.org/officeDocument/2006/relationships/slideLayout" Target="/ppt/slideLayouts/slideLayout5.xml" Id="R95062afec67146e4" /><Relationship Type="http://schemas.openxmlformats.org/officeDocument/2006/relationships/slideLayout" Target="/ppt/slideLayouts/slideLayout6.xml" Id="Rd12751221ffa48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ec2ed7970f424f"/>
    <p:sldLayoutId xmlns:r="http://schemas.openxmlformats.org/officeDocument/2006/relationships" id="2147483650" r:id="Ra153a2cd6cc64d53"/>
    <p:sldLayoutId xmlns:r="http://schemas.openxmlformats.org/officeDocument/2006/relationships" id="2147483651" r:id="R8f778cd41a014daa"/>
    <p:sldLayoutId xmlns:r="http://schemas.openxmlformats.org/officeDocument/2006/relationships" id="2147483652" r:id="Re0d0641b95ec4258"/>
    <p:sldLayoutId xmlns:r="http://schemas.openxmlformats.org/officeDocument/2006/relationships" id="2147483653" r:id="R95062afec67146e4"/>
    <p:sldLayoutId xmlns:r="http://schemas.openxmlformats.org/officeDocument/2006/relationships" id="2147483654" r:id="Rd12751221ffa48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6ac83420cf4925" /><Relationship Type="http://schemas.openxmlformats.org/officeDocument/2006/relationships/image" Target="/ppt/media/image.png" Id="R5befb09056424242" /><Relationship Type="http://schemas.openxmlformats.org/officeDocument/2006/relationships/notesSlide" Target="/ppt/notesSlides/notesSlide1.xml" Id="Re867e06ec4c440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1bafc2f54d42bf" /><Relationship Type="http://schemas.openxmlformats.org/officeDocument/2006/relationships/notesSlide" Target="/ppt/notesSlides/notesSlide2.xml" Id="R5a1ce354850645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0b93ffd6e4439a" /><Relationship Type="http://schemas.openxmlformats.org/officeDocument/2006/relationships/notesSlide" Target="/ppt/notesSlides/notesSlide3.xml" Id="Ra3697bf8624743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8f5bb9356948c5" /><Relationship Type="http://schemas.openxmlformats.org/officeDocument/2006/relationships/notesSlide" Target="/ppt/notesSlides/notesSlide4.xml" Id="R6fda9b45d8374e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7586f212b84bd4" /><Relationship Type="http://schemas.openxmlformats.org/officeDocument/2006/relationships/notesSlide" Target="/ppt/notesSlides/notesSlide5.xml" Id="Rd5b54e18c45c45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8033c1090041e3" /><Relationship Type="http://schemas.openxmlformats.org/officeDocument/2006/relationships/notesSlide" Target="/ppt/notesSlides/notesSlide6.xml" Id="Raf69cb187f2043a1" /></Relationships>
</file>

<file path=ppt/slides/slide1.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794FBED-598D-4FBD-BC7E-A781E7C89C4D}"/>
              </a:ext>
            </a:extLst>
          </p:cNvPr>
          <p:cNvPicPr>
            <a:picLocks xmlns:a="http://schemas.openxmlformats.org/drawingml/2006/main" noChangeAspect="1"/>
          </p:cNvPicPr>
          <p:nvPr/>
        </p:nvPicPr>
        <p:blipFill>
          <a:blip xmlns:r="http://schemas.openxmlformats.org/officeDocument/2006/relationships" xmlns:a="http://schemas.openxmlformats.org/drawingml/2006/main" r:embed="R5befb0905642424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483116DF-3097-4C88-BCE6-E9051976735E}"/>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000" b="1">
                <a:solidFill>
                  <a:srgbClr val="F5F2E9"/>
                </a:solidFill>
                <a:latin typeface="Helvetica Neue"/>
                <a:ea typeface="Helvetica Neue"/>
                <a:cs typeface="Helvetica Neue"/>
              </a:defRPr>
            </a:defPPr>
          </a:lstStyle>
          <a:p xmlns:a="http://schemas.openxmlformats.org/drawingml/2006/main">
            <a:pPr>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text-1">
            <a:extLst xmlns:a="http://schemas.openxmlformats.org/drawingml/2006/main">
              <a:ext uri="{FF2B5EF4-FFF2-40B4-BE49-F238E27FC236}">
                <a16:creationId xmlns:a16="http://schemas.microsoft.com/office/drawing/2014/main" id="{4571105F-1239-4E5C-9869-90801D1D986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F5F2E9"/>
                </a:solidFill>
                <a:latin typeface="Helvetica Neue"/>
                <a:ea typeface="Helvetica Neue"/>
                <a:cs typeface="Helvetica Neue"/>
              </a:defRPr>
            </a:defPPr>
          </a:lstStyle>
          <a:p xmlns:a="http://schemas.openxmlformats.org/drawingml/2006/main">
            <a:pPr>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text-2">
            <a:extLst xmlns:a="http://schemas.openxmlformats.org/drawingml/2006/main">
              <a:ext uri="{FF2B5EF4-FFF2-40B4-BE49-F238E27FC236}">
                <a16:creationId xmlns:a16="http://schemas.microsoft.com/office/drawing/2014/main" id="{21910FA8-27C2-4295-9C58-3E6E218AD594}"/>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DE4D6"/>
                </a:solidFill>
                <a:latin typeface="Helvetica Neue"/>
                <a:ea typeface="Helvetica Neue"/>
                <a:cs typeface="Helvetica Neue"/>
              </a:defRPr>
            </a:defPPr>
          </a:lstStyle>
          <a:p xmlns:a="http://schemas.openxmlformats.org/drawingml/2006/main">
            <a:pPr>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The shared booking layer</a:t>
            </a:r>
          </a:p>
          <a:p xmlns:a="http://schemas.openxmlformats.org/drawingml/2006/main">
            <a:pPr>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for agents and local businesses.</a:t>
            </a:r>
          </a:p>
        </p:txBody>
      </p:sp>
      <p:sp>
        <p:nvSpPr>
          <p:cNvPr id="5" name="text-3">
            <a:extLst xmlns:a="http://schemas.openxmlformats.org/drawingml/2006/main">
              <a:ext uri="{FF2B5EF4-FFF2-40B4-BE49-F238E27FC236}">
                <a16:creationId xmlns:a16="http://schemas.microsoft.com/office/drawing/2014/main" id="{321A6A59-23F8-48C5-B61F-78B7AC83543E}"/>
              </a:ext>
            </a:extLst>
          </p:cNvPr>
          <p:cNvSpPr>
            <a:spLocks xmlns:a="http://schemas.openxmlformats.org/drawingml/2006/main" noGrp="1"/>
          </p:cNvSpPr>
          <p:nvPr/>
        </p:nvSpPr>
        <p:spPr>
          <a:xfrm xmlns:a="http://schemas.openxmlformats.org/drawingml/2006/main">
            <a:off x="609600" y="58864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F5F2E9"/>
                </a:solidFill>
                <a:latin typeface="Helvetica Neue"/>
                <a:ea typeface="Helvetica Neue"/>
                <a:cs typeface="Helvetica Neue"/>
              </a:defRPr>
            </a:defPPr>
          </a:lstStyle>
          <a:p xmlns:a="http://schemas.openxmlformats.org/drawingml/2006/main">
            <a:pPr>
              <a:defRPr sz="1350" b="1">
                <a:solidFill>
                  <a:srgbClr val="F5F2E9"/>
                </a:solidFill>
                <a:latin typeface="Helvetica Neue"/>
                <a:ea typeface="Helvetica Neue"/>
                <a:cs typeface="Helvetica Neue"/>
              </a:defRPr>
            </a:pPr>
            <a:r>
              <a:rPr sz="1350" b="1">
                <a:solidFill>
                  <a:srgbClr val="F5F2E9"/>
                </a:solidFill>
                <a:latin typeface="Helvetica Neue"/>
                <a:ea typeface="Helvetica Neue"/>
                <a:cs typeface="Helvetica Neue"/>
              </a:rPr>
              <a:t>PULKIT WALIA  ·  FOUNDER</a:t>
            </a:r>
          </a:p>
        </p:txBody>
      </p:sp>
      <p:sp>
        <p:nvSpPr>
          <p:cNvPr id="6" name="text-4">
            <a:extLst xmlns:a="http://schemas.openxmlformats.org/drawingml/2006/main">
              <a:ext uri="{FF2B5EF4-FFF2-40B4-BE49-F238E27FC236}">
                <a16:creationId xmlns:a16="http://schemas.microsoft.com/office/drawing/2014/main" id="{5FBE73AE-CE61-4491-AC57-C308B82458A8}"/>
              </a:ext>
            </a:extLst>
          </p:cNvPr>
          <p:cNvSpPr>
            <a:spLocks xmlns:a="http://schemas.openxmlformats.org/drawingml/2006/main" noGrp="1"/>
          </p:cNvSpPr>
          <p:nvPr/>
        </p:nvSpPr>
        <p:spPr>
          <a:xfrm xmlns:a="http://schemas.openxmlformats.org/drawingml/2006/main">
            <a:off x="609600" y="620077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DDE4D6"/>
                </a:solidFill>
                <a:latin typeface="Helvetica Neue"/>
                <a:ea typeface="Helvetica Neue"/>
                <a:cs typeface="Helvetica Neue"/>
              </a:defRPr>
            </a:defPPr>
          </a:lstStyle>
          <a:p xmlns:a="http://schemas.openxmlformats.org/drawingml/2006/main">
            <a:pPr>
              <a:defRPr sz="1350" b="0">
                <a:solidFill>
                  <a:srgbClr val="DDE4D6"/>
                </a:solidFill>
                <a:latin typeface="Helvetica Neue"/>
                <a:ea typeface="Helvetica Neue"/>
                <a:cs typeface="Helvetica Neue"/>
              </a:defRPr>
            </a:pPr>
            <a:r>
              <a:rPr sz="1350" b="0">
                <a:solidFill>
                  <a:srgbClr val="DDE4D6"/>
                </a:solidFill>
                <a:latin typeface="Helvetica Neue"/>
                <a:ea typeface="Helvetica Neue"/>
                <a:cs typeface="Helvetica Neue"/>
              </a:rPr>
              <a:t>pwalia@mba2027.hbs.edu</a:t>
            </a:r>
          </a:p>
        </p:txBody>
      </p:sp>
    </p:spTree>
    <p:extLst>
      <p:ext uri="{BB962C8B-B14F-4D97-AF65-F5344CB8AC3E}">
        <p14:creationId xmlns:p14="http://schemas.microsoft.com/office/powerpoint/2010/main" val="1320395911"/>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text-5">
            <a:extLst xmlns:a="http://schemas.openxmlformats.org/drawingml/2006/main">
              <a:ext uri="{FF2B5EF4-FFF2-40B4-BE49-F238E27FC236}">
                <a16:creationId xmlns:a16="http://schemas.microsoft.com/office/drawing/2014/main" id="{3063CFE1-D88A-4CCC-80F7-9D06701500BD}"/>
              </a:ext>
            </a:extLst>
          </p:cNvPr>
          <p:cNvSpPr>
            <a:spLocks xmlns:a="http://schemas.openxmlformats.org/drawingml/2006/main" noGrp="1"/>
          </p:cNvSpPr>
          <p:nvPr/>
        </p:nvSpPr>
        <p:spPr>
          <a:xfrm xmlns:a="http://schemas.openxmlformats.org/drawingml/2006/main">
            <a:off x="609600" y="3619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53716A"/>
                </a:solidFill>
                <a:latin typeface="Helvetica Neue"/>
                <a:ea typeface="Helvetica Neue"/>
                <a:cs typeface="Helvetica Neue"/>
              </a:defRPr>
            </a:defPPr>
          </a:lstStyle>
          <a:p xmlns:a="http://schemas.openxmlformats.org/drawingml/2006/main">
            <a:pPr>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text-6">
            <a:extLst xmlns:a="http://schemas.openxmlformats.org/drawingml/2006/main">
              <a:ext uri="{FF2B5EF4-FFF2-40B4-BE49-F238E27FC236}">
                <a16:creationId xmlns:a16="http://schemas.microsoft.com/office/drawing/2014/main" id="{82802893-6CF0-4C8D-B483-4C88951C8D02}"/>
              </a:ext>
            </a:extLst>
          </p:cNvPr>
          <p:cNvSpPr>
            <a:spLocks xmlns:a="http://schemas.openxmlformats.org/drawingml/2006/main" noGrp="1"/>
          </p:cNvSpPr>
          <p:nvPr/>
        </p:nvSpPr>
        <p:spPr>
          <a:xfrm xmlns:a="http://schemas.openxmlformats.org/drawingml/2006/main">
            <a:off x="609600" y="6343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GoLocal</a:t>
            </a:r>
          </a:p>
        </p:txBody>
      </p:sp>
      <p:sp>
        <p:nvSpPr>
          <p:cNvPr id="3" name="text-7">
            <a:extLst xmlns:a="http://schemas.openxmlformats.org/drawingml/2006/main">
              <a:ext uri="{FF2B5EF4-FFF2-40B4-BE49-F238E27FC236}">
                <a16:creationId xmlns:a16="http://schemas.microsoft.com/office/drawing/2014/main" id="{BC5AE031-499E-476B-BD84-6A8320E2707E}"/>
              </a:ext>
            </a:extLst>
          </p:cNvPr>
          <p:cNvSpPr>
            <a:spLocks xmlns:a="http://schemas.openxmlformats.org/drawingml/2006/main" noGrp="1"/>
          </p:cNvSpPr>
          <p:nvPr/>
        </p:nvSpPr>
        <p:spPr>
          <a:xfrm xmlns:a="http://schemas.openxmlformats.org/drawingml/2006/main">
            <a:off x="11201400" y="634365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02</a:t>
            </a:r>
          </a:p>
        </p:txBody>
      </p:sp>
      <p:sp>
        <p:nvSpPr>
          <p:cNvPr id="4" name="text-8">
            <a:extLst xmlns:a="http://schemas.openxmlformats.org/drawingml/2006/main">
              <a:ext uri="{FF2B5EF4-FFF2-40B4-BE49-F238E27FC236}">
                <a16:creationId xmlns:a16="http://schemas.microsoft.com/office/drawing/2014/main" id="{D4663B22-8E15-437C-BB29-848D41359DAE}"/>
              </a:ext>
            </a:extLst>
          </p:cNvPr>
          <p:cNvSpPr>
            <a:spLocks xmlns:a="http://schemas.openxmlformats.org/drawingml/2006/main" noGrp="1"/>
          </p:cNvSpPr>
          <p:nvPr/>
        </p:nvSpPr>
        <p:spPr>
          <a:xfrm xmlns:a="http://schemas.openxmlformats.org/drawingml/2006/main">
            <a:off x="609600" y="895350"/>
            <a:ext cx="10858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03D3B"/>
                </a:solidFill>
                <a:latin typeface="Helvetica Neue"/>
                <a:ea typeface="Helvetica Neue"/>
                <a:cs typeface="Helvetica Neue"/>
              </a:defRPr>
            </a:defPPr>
          </a:lstStyle>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Personal agents are a new front door.</a:t>
            </a:r>
          </a:p>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Local booking is still broken.</a:t>
            </a:r>
          </a:p>
        </p:txBody>
      </p:sp>
      <p:sp>
        <p:nvSpPr>
          <p:cNvPr id="5" name="text-9">
            <a:extLst xmlns:a="http://schemas.openxmlformats.org/drawingml/2006/main">
              <a:ext uri="{FF2B5EF4-FFF2-40B4-BE49-F238E27FC236}">
                <a16:creationId xmlns:a16="http://schemas.microsoft.com/office/drawing/2014/main" id="{8F7C6278-8665-41EE-9F1D-FAE9AB869881}"/>
              </a:ext>
            </a:extLst>
          </p:cNvPr>
          <p:cNvSpPr>
            <a:spLocks xmlns:a="http://schemas.openxmlformats.org/drawingml/2006/main" noGrp="1"/>
          </p:cNvSpPr>
          <p:nvPr/>
        </p:nvSpPr>
        <p:spPr>
          <a:xfrm xmlns:a="http://schemas.openxmlformats.org/drawingml/2006/main">
            <a:off x="609600" y="2133600"/>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3716A"/>
                </a:solidFill>
                <a:latin typeface="Helvetica Neue"/>
                <a:ea typeface="Helvetica Neue"/>
                <a:cs typeface="Helvetica Neue"/>
              </a:defRPr>
            </a:defPPr>
          </a:lstStyle>
          <a:p xmlns:a="http://schemas.openxmlformats.org/drawingml/2006/main">
            <a:pPr>
              <a:defRPr sz="1950" b="0">
                <a:solidFill>
                  <a:srgbClr val="53716A"/>
                </a:solidFill>
                <a:latin typeface="Helvetica Neue"/>
                <a:ea typeface="Helvetica Neue"/>
                <a:cs typeface="Helvetica Neue"/>
              </a:defRPr>
            </a:pPr>
            <a:r>
              <a:rPr sz="1950" b="0">
                <a:solidFill>
                  <a:srgbClr val="53716A"/>
                </a:solidFill>
                <a:latin typeface="Helvetica Neue"/>
                <a:ea typeface="Helvetica Neue"/>
                <a:cs typeface="Helvetica Neue"/>
              </a:rPr>
              <a:t>Discovery is moving beyond Google. Completion still takes work.</a:t>
            </a:r>
          </a:p>
        </p:txBody>
      </p:sp>
      <p:sp>
        <p:nvSpPr>
          <p:cNvPr id="6" name="text-10">
            <a:extLst xmlns:a="http://schemas.openxmlformats.org/drawingml/2006/main">
              <a:ext uri="{FF2B5EF4-FFF2-40B4-BE49-F238E27FC236}">
                <a16:creationId xmlns:a16="http://schemas.microsoft.com/office/drawing/2014/main" id="{4A403773-E434-4A6D-BE76-8A98FE783983}"/>
              </a:ext>
            </a:extLst>
          </p:cNvPr>
          <p:cNvSpPr>
            <a:spLocks xmlns:a="http://schemas.openxmlformats.org/drawingml/2006/main" noGrp="1"/>
          </p:cNvSpPr>
          <p:nvPr/>
        </p:nvSpPr>
        <p:spPr>
          <a:xfrm xmlns:a="http://schemas.openxmlformats.org/drawingml/2006/main">
            <a:off x="609600" y="3067050"/>
            <a:ext cx="607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03D3B"/>
                </a:solidFill>
                <a:latin typeface="Helvetica Neue"/>
                <a:ea typeface="Helvetica Neue"/>
                <a:cs typeface="Helvetica Neue"/>
              </a:defRPr>
            </a:defPPr>
          </a:lstStyle>
          <a:p xmlns:a="http://schemas.openxmlformats.org/drawingml/2006/main">
            <a:pPr>
              <a:defRPr sz="2475" b="1">
                <a:solidFill>
                  <a:srgbClr val="103D3B"/>
                </a:solidFill>
                <a:latin typeface="Helvetica Neue"/>
                <a:ea typeface="Helvetica Neue"/>
                <a:cs typeface="Helvetica Neue"/>
              </a:defRPr>
            </a:pPr>
            <a:r>
              <a:rPr sz="2475" b="1">
                <a:solidFill>
                  <a:srgbClr val="103D3B"/>
                </a:solidFill>
                <a:latin typeface="Helvetica Neue"/>
                <a:ea typeface="Helvetica Neue"/>
                <a:cs typeface="Helvetica Neue"/>
              </a:rPr>
              <a:t>“Book a plumber for tomorrow.”</a:t>
            </a:r>
          </a:p>
        </p:txBody>
      </p:sp>
      <p:sp>
        <p:nvSpPr>
          <p:cNvPr id="7" name="text-11">
            <a:extLst xmlns:a="http://schemas.openxmlformats.org/drawingml/2006/main">
              <a:ext uri="{FF2B5EF4-FFF2-40B4-BE49-F238E27FC236}">
                <a16:creationId xmlns:a16="http://schemas.microsoft.com/office/drawing/2014/main" id="{C5B8745E-0719-421F-9571-5FC04A95F0D7}"/>
              </a:ext>
            </a:extLst>
          </p:cNvPr>
          <p:cNvSpPr>
            <a:spLocks xmlns:a="http://schemas.openxmlformats.org/drawingml/2006/main" noGrp="1"/>
          </p:cNvSpPr>
          <p:nvPr/>
        </p:nvSpPr>
        <p:spPr>
          <a:xfrm xmlns:a="http://schemas.openxmlformats.org/drawingml/2006/main">
            <a:off x="609600" y="3743325"/>
            <a:ext cx="60483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73B38"/>
                </a:solidFill>
                <a:latin typeface="Helvetica Neue"/>
                <a:ea typeface="Helvetica Neue"/>
                <a:cs typeface="Helvetica Neue"/>
              </a:defRPr>
            </a:defPPr>
          </a:lstStyle>
          <a:p xmlns:a="http://schemas.openxmlformats.org/drawingml/2006/main">
            <a:pPr>
              <a:defRPr sz="2100" b="0">
                <a:solidFill>
                  <a:srgbClr val="173B38"/>
                </a:solidFill>
                <a:latin typeface="Helvetica Neue"/>
                <a:ea typeface="Helvetica Neue"/>
                <a:cs typeface="Helvetica Neue"/>
              </a:defRPr>
            </a:pPr>
            <a:r>
              <a:rPr sz="2100" b="0">
                <a:solidFill>
                  <a:srgbClr val="173B38"/>
                </a:solidFill>
                <a:latin typeface="Helvetica Neue"/>
                <a:ea typeface="Helvetica Neue"/>
                <a:cs typeface="Helvetica Neue"/>
              </a:rPr>
              <a:t>Search websites. Compare details.</a:t>
            </a:r>
          </a:p>
          <a:p xmlns:a="http://schemas.openxmlformats.org/drawingml/2006/main">
            <a:pPr>
              <a:defRPr sz="2100" b="0">
                <a:solidFill>
                  <a:srgbClr val="173B38"/>
                </a:solidFill>
                <a:latin typeface="Helvetica Neue"/>
                <a:ea typeface="Helvetica Neue"/>
                <a:cs typeface="Helvetica Neue"/>
              </a:defRPr>
            </a:pPr>
            <a:r>
              <a:rPr sz="2100" b="0">
                <a:solidFill>
                  <a:srgbClr val="173B38"/>
                </a:solidFill>
                <a:latin typeface="Helvetica Neue"/>
                <a:ea typeface="Helvetica Neue"/>
                <a:cs typeface="Helvetica Neue"/>
              </a:rPr>
              <a:t>Check availability. Fill forms. Make calls.</a:t>
            </a:r>
          </a:p>
        </p:txBody>
      </p:sp>
      <p:sp>
        <p:nvSpPr>
          <p:cNvPr id="8" name="text-12">
            <a:extLst xmlns:a="http://schemas.openxmlformats.org/drawingml/2006/main">
              <a:ext uri="{FF2B5EF4-FFF2-40B4-BE49-F238E27FC236}">
                <a16:creationId xmlns:a16="http://schemas.microsoft.com/office/drawing/2014/main" id="{BFB38BB9-B90D-4C0E-94E5-5F0F92616A42}"/>
              </a:ext>
            </a:extLst>
          </p:cNvPr>
          <p:cNvSpPr>
            <a:spLocks xmlns:a="http://schemas.openxmlformats.org/drawingml/2006/main" noGrp="1"/>
          </p:cNvSpPr>
          <p:nvPr/>
        </p:nvSpPr>
        <p:spPr>
          <a:xfrm xmlns:a="http://schemas.openxmlformats.org/drawingml/2006/main">
            <a:off x="609600" y="4762500"/>
            <a:ext cx="6019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73B38"/>
                </a:solidFill>
                <a:latin typeface="Helvetica Neue"/>
                <a:ea typeface="Helvetica Neue"/>
                <a:cs typeface="Helvetica Neue"/>
              </a:defRPr>
            </a:defPPr>
          </a:lstStyle>
          <a:p xmlns:a="http://schemas.openxmlformats.org/drawingml/2006/main">
            <a:pPr>
              <a:defRPr sz="2025" b="0">
                <a:solidFill>
                  <a:srgbClr val="173B38"/>
                </a:solidFill>
                <a:latin typeface="Helvetica Neue"/>
                <a:ea typeface="Helvetica Neue"/>
                <a:cs typeface="Helvetica Neue"/>
              </a:defRPr>
            </a:pPr>
            <a:r>
              <a:rPr sz="2025" b="0">
                <a:solidFill>
                  <a:srgbClr val="173B38"/>
                </a:solidFill>
                <a:latin typeface="Helvetica Neue"/>
                <a:ea typeface="Helvetica Neue"/>
                <a:cs typeface="Helvetica Neue"/>
              </a:rPr>
              <a:t>Uber and DoorDash organized supply</a:t>
            </a:r>
          </a:p>
          <a:p xmlns:a="http://schemas.openxmlformats.org/drawingml/2006/main">
            <a:pPr>
              <a:defRPr sz="2025" b="0">
                <a:solidFill>
                  <a:srgbClr val="173B38"/>
                </a:solidFill>
                <a:latin typeface="Helvetica Neue"/>
                <a:ea typeface="Helvetica Neue"/>
                <a:cs typeface="Helvetica Neue"/>
              </a:defRPr>
            </a:pPr>
            <a:r>
              <a:rPr sz="2025" b="0">
                <a:solidFill>
                  <a:srgbClr val="173B38"/>
                </a:solidFill>
                <a:latin typeface="Helvetica Neue"/>
                <a:ea typeface="Helvetica Neue"/>
                <a:cs typeface="Helvetica Neue"/>
              </a:rPr>
              <a:t>and made transactions simple.</a:t>
            </a:r>
          </a:p>
          <a:p xmlns:a="http://schemas.openxmlformats.org/drawingml/2006/main">
            <a:pPr>
              <a:defRPr sz="2025" b="0">
                <a:solidFill>
                  <a:srgbClr val="173B38"/>
                </a:solidFill>
                <a:latin typeface="Helvetica Neue"/>
                <a:ea typeface="Helvetica Neue"/>
                <a:cs typeface="Helvetica Neue"/>
              </a:defRPr>
            </a:pPr>
            <a:r>
              <a:rPr sz="2025" b="0">
                <a:solidFill>
                  <a:srgbClr val="173B38"/>
                </a:solidFill>
                <a:latin typeface="Helvetica Neue"/>
                <a:ea typeface="Helvetica Neue"/>
                <a:cs typeface="Helvetica Neue"/>
              </a:rPr>
              <a:t>Local services need that shared layer.</a:t>
            </a:r>
          </a:p>
        </p:txBody>
      </p:sp>
      <p:sp>
        <p:nvSpPr>
          <p:cNvPr id="9" name="text-13">
            <a:extLst xmlns:a="http://schemas.openxmlformats.org/drawingml/2006/main">
              <a:ext uri="{FF2B5EF4-FFF2-40B4-BE49-F238E27FC236}">
                <a16:creationId xmlns:a16="http://schemas.microsoft.com/office/drawing/2014/main" id="{243AC8C0-1B4A-4E41-9F8C-8A28EB7AE593}"/>
              </a:ext>
            </a:extLst>
          </p:cNvPr>
          <p:cNvSpPr>
            <a:spLocks xmlns:a="http://schemas.openxmlformats.org/drawingml/2006/main" noGrp="1"/>
          </p:cNvSpPr>
          <p:nvPr/>
        </p:nvSpPr>
        <p:spPr>
          <a:xfrm xmlns:a="http://schemas.openxmlformats.org/drawingml/2006/main">
            <a:off x="7772400" y="2905125"/>
            <a:ext cx="36385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850" b="1">
                <a:solidFill>
                  <a:srgbClr val="103D3B"/>
                </a:solidFill>
                <a:latin typeface="Helvetica Neue"/>
                <a:ea typeface="Helvetica Neue"/>
                <a:cs typeface="Helvetica Neue"/>
              </a:defRPr>
            </a:defPPr>
          </a:lstStyle>
          <a:p xmlns:a="http://schemas.openxmlformats.org/drawingml/2006/main">
            <a:pPr>
              <a:defRPr sz="5850" b="1">
                <a:solidFill>
                  <a:srgbClr val="103D3B"/>
                </a:solidFill>
                <a:latin typeface="Helvetica Neue"/>
                <a:ea typeface="Helvetica Neue"/>
                <a:cs typeface="Helvetica Neue"/>
              </a:defRPr>
            </a:pPr>
            <a:r>
              <a:rPr sz="5850" b="1">
                <a:solidFill>
                  <a:srgbClr val="103D3B"/>
                </a:solidFill>
                <a:latin typeface="Helvetica Neue"/>
                <a:ea typeface="Helvetica Neue"/>
                <a:cs typeface="Helvetica Neue"/>
              </a:rPr>
              <a:t>$2T</a:t>
            </a:r>
          </a:p>
        </p:txBody>
      </p:sp>
      <p:sp>
        <p:nvSpPr>
          <p:cNvPr id="10" name="text-14">
            <a:extLst xmlns:a="http://schemas.openxmlformats.org/drawingml/2006/main">
              <a:ext uri="{FF2B5EF4-FFF2-40B4-BE49-F238E27FC236}">
                <a16:creationId xmlns:a16="http://schemas.microsoft.com/office/drawing/2014/main" id="{8D0CCB0B-B57A-4C94-896A-6C3DAF4A866E}"/>
              </a:ext>
            </a:extLst>
          </p:cNvPr>
          <p:cNvSpPr>
            <a:spLocks xmlns:a="http://schemas.openxmlformats.org/drawingml/2006/main" noGrp="1"/>
          </p:cNvSpPr>
          <p:nvPr/>
        </p:nvSpPr>
        <p:spPr>
          <a:xfrm xmlns:a="http://schemas.openxmlformats.org/drawingml/2006/main">
            <a:off x="7772400" y="3781425"/>
            <a:ext cx="3638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73B38"/>
                </a:solidFill>
                <a:latin typeface="Helvetica Neue"/>
                <a:ea typeface="Helvetica Neue"/>
                <a:cs typeface="Helvetica Neue"/>
              </a:defRPr>
            </a:defPPr>
          </a:lstStyle>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local-services market</a:t>
            </a:r>
          </a:p>
        </p:txBody>
      </p:sp>
      <p:sp>
        <p:nvSpPr>
          <p:cNvPr id="11" name="text-15">
            <a:extLst xmlns:a="http://schemas.openxmlformats.org/drawingml/2006/main">
              <a:ext uri="{FF2B5EF4-FFF2-40B4-BE49-F238E27FC236}">
                <a16:creationId xmlns:a16="http://schemas.microsoft.com/office/drawing/2014/main" id="{14AC8480-8AF8-4E05-A260-DA91F675BA97}"/>
              </a:ext>
            </a:extLst>
          </p:cNvPr>
          <p:cNvSpPr>
            <a:spLocks xmlns:a="http://schemas.openxmlformats.org/drawingml/2006/main" noGrp="1"/>
          </p:cNvSpPr>
          <p:nvPr/>
        </p:nvSpPr>
        <p:spPr>
          <a:xfrm xmlns:a="http://schemas.openxmlformats.org/drawingml/2006/main">
            <a:off x="7772400" y="4381500"/>
            <a:ext cx="36385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03D3B"/>
                </a:solidFill>
                <a:latin typeface="Helvetica Neue"/>
                <a:ea typeface="Helvetica Neue"/>
                <a:cs typeface="Helvetica Neue"/>
              </a:defRPr>
            </a:defPPr>
          </a:lstStyle>
          <a:p xmlns:a="http://schemas.openxmlformats.org/drawingml/2006/main">
            <a:pPr>
              <a:defRPr sz="4650" b="1">
                <a:solidFill>
                  <a:srgbClr val="103D3B"/>
                </a:solidFill>
                <a:latin typeface="Helvetica Neue"/>
                <a:ea typeface="Helvetica Neue"/>
                <a:cs typeface="Helvetica Neue"/>
              </a:defRPr>
            </a:pPr>
            <a:r>
              <a:rPr sz="4650" b="1">
                <a:solidFill>
                  <a:srgbClr val="103D3B"/>
                </a:solidFill>
                <a:latin typeface="Helvetica Neue"/>
                <a:ea typeface="Helvetica Neue"/>
                <a:cs typeface="Helvetica Neue"/>
              </a:rPr>
              <a:t>$600B</a:t>
            </a:r>
          </a:p>
        </p:txBody>
      </p:sp>
      <p:sp>
        <p:nvSpPr>
          <p:cNvPr id="12" name="text-16">
            <a:extLst xmlns:a="http://schemas.openxmlformats.org/drawingml/2006/main">
              <a:ext uri="{FF2B5EF4-FFF2-40B4-BE49-F238E27FC236}">
                <a16:creationId xmlns:a16="http://schemas.microsoft.com/office/drawing/2014/main" id="{243EAC30-2721-4FE5-BEC8-0BD5A6C4FE9F}"/>
              </a:ext>
            </a:extLst>
          </p:cNvPr>
          <p:cNvSpPr>
            <a:spLocks xmlns:a="http://schemas.openxmlformats.org/drawingml/2006/main" noGrp="1"/>
          </p:cNvSpPr>
          <p:nvPr/>
        </p:nvSpPr>
        <p:spPr>
          <a:xfrm xmlns:a="http://schemas.openxmlformats.org/drawingml/2006/main">
            <a:off x="7772400" y="5133975"/>
            <a:ext cx="36385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73B38"/>
                </a:solidFill>
                <a:latin typeface="Helvetica Neue"/>
                <a:ea typeface="Helvetica Neue"/>
                <a:cs typeface="Helvetica Neue"/>
              </a:defRPr>
            </a:defPPr>
          </a:lstStyle>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home services alone</a:t>
            </a:r>
          </a:p>
        </p:txBody>
      </p:sp>
      <p:sp>
        <p:nvSpPr>
          <p:cNvPr id="13" name="text-17">
            <a:extLst xmlns:a="http://schemas.openxmlformats.org/drawingml/2006/main">
              <a:ext uri="{FF2B5EF4-FFF2-40B4-BE49-F238E27FC236}">
                <a16:creationId xmlns:a16="http://schemas.microsoft.com/office/drawing/2014/main" id="{DC2AE0E5-BF79-4989-B53C-579E9F39782D}"/>
              </a:ext>
            </a:extLst>
          </p:cNvPr>
          <p:cNvSpPr>
            <a:spLocks xmlns:a="http://schemas.openxmlformats.org/drawingml/2006/main" noGrp="1"/>
          </p:cNvSpPr>
          <p:nvPr/>
        </p:nvSpPr>
        <p:spPr>
          <a:xfrm xmlns:a="http://schemas.openxmlformats.org/drawingml/2006/main">
            <a:off x="609600" y="59340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53716A"/>
                </a:solidFill>
                <a:latin typeface="Helvetica Neue"/>
                <a:ea typeface="Helvetica Neue"/>
                <a:cs typeface="Helvetica Neue"/>
              </a:defRPr>
            </a:defPPr>
          </a:lstStyle>
          <a:p xmlns:a="http://schemas.openxmlformats.org/drawingml/2006/main">
            <a:pPr>
              <a:defRPr sz="1500" b="1">
                <a:solidFill>
                  <a:srgbClr val="53716A"/>
                </a:solidFill>
                <a:latin typeface="Helvetica Neue"/>
                <a:ea typeface="Helvetica Neue"/>
                <a:cs typeface="Helvetica Neue"/>
              </a:defRPr>
            </a:pPr>
            <a:r>
              <a:rPr sz="1500" b="1">
                <a:solidFill>
                  <a:srgbClr val="53716A"/>
                </a:solidFill>
                <a:latin typeface="Helvetica Neue"/>
                <a:ea typeface="Helvetica Neue"/>
                <a:cs typeface="Helvetica Neue"/>
              </a:rPr>
              <a:t>15+ new personal-agent startups in recent months, raising billions.</a:t>
            </a:r>
          </a:p>
        </p:txBody>
      </p:sp>
    </p:spTree>
    <p:extLst>
      <p:ext uri="{BB962C8B-B14F-4D97-AF65-F5344CB8AC3E}">
        <p14:creationId xmlns:p14="http://schemas.microsoft.com/office/powerpoint/2010/main" val="419085278"/>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text-18">
            <a:extLst xmlns:a="http://schemas.openxmlformats.org/drawingml/2006/main">
              <a:ext uri="{FF2B5EF4-FFF2-40B4-BE49-F238E27FC236}">
                <a16:creationId xmlns:a16="http://schemas.microsoft.com/office/drawing/2014/main" id="{59F7E801-E29E-40E1-8E2E-3B2B35BC7853}"/>
              </a:ext>
            </a:extLst>
          </p:cNvPr>
          <p:cNvSpPr>
            <a:spLocks xmlns:a="http://schemas.openxmlformats.org/drawingml/2006/main" noGrp="1"/>
          </p:cNvSpPr>
          <p:nvPr/>
        </p:nvSpPr>
        <p:spPr>
          <a:xfrm xmlns:a="http://schemas.openxmlformats.org/drawingml/2006/main">
            <a:off x="609600" y="3619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53716A"/>
                </a:solidFill>
                <a:latin typeface="Helvetica Neue"/>
                <a:ea typeface="Helvetica Neue"/>
                <a:cs typeface="Helvetica Neue"/>
              </a:defRPr>
            </a:defPPr>
          </a:lstStyle>
          <a:p xmlns:a="http://schemas.openxmlformats.org/drawingml/2006/main">
            <a:pPr>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SOLUTION</a:t>
            </a:r>
          </a:p>
        </p:txBody>
      </p:sp>
      <p:sp>
        <p:nvSpPr>
          <p:cNvPr id="2" name="text-19">
            <a:extLst xmlns:a="http://schemas.openxmlformats.org/drawingml/2006/main">
              <a:ext uri="{FF2B5EF4-FFF2-40B4-BE49-F238E27FC236}">
                <a16:creationId xmlns:a16="http://schemas.microsoft.com/office/drawing/2014/main" id="{26350058-B12C-4F04-AF19-313684439B8B}"/>
              </a:ext>
            </a:extLst>
          </p:cNvPr>
          <p:cNvSpPr>
            <a:spLocks xmlns:a="http://schemas.openxmlformats.org/drawingml/2006/main" noGrp="1"/>
          </p:cNvSpPr>
          <p:nvPr/>
        </p:nvSpPr>
        <p:spPr>
          <a:xfrm xmlns:a="http://schemas.openxmlformats.org/drawingml/2006/main">
            <a:off x="609600" y="6343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GoLocal</a:t>
            </a:r>
          </a:p>
        </p:txBody>
      </p:sp>
      <p:sp>
        <p:nvSpPr>
          <p:cNvPr id="3" name="text-20">
            <a:extLst xmlns:a="http://schemas.openxmlformats.org/drawingml/2006/main">
              <a:ext uri="{FF2B5EF4-FFF2-40B4-BE49-F238E27FC236}">
                <a16:creationId xmlns:a16="http://schemas.microsoft.com/office/drawing/2014/main" id="{5D92DEE0-0BE8-4851-8D44-9711EBB57077}"/>
              </a:ext>
            </a:extLst>
          </p:cNvPr>
          <p:cNvSpPr>
            <a:spLocks xmlns:a="http://schemas.openxmlformats.org/drawingml/2006/main" noGrp="1"/>
          </p:cNvSpPr>
          <p:nvPr/>
        </p:nvSpPr>
        <p:spPr>
          <a:xfrm xmlns:a="http://schemas.openxmlformats.org/drawingml/2006/main">
            <a:off x="11201400" y="634365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03</a:t>
            </a:r>
          </a:p>
        </p:txBody>
      </p:sp>
      <p:sp>
        <p:nvSpPr>
          <p:cNvPr id="4" name="text-21">
            <a:extLst xmlns:a="http://schemas.openxmlformats.org/drawingml/2006/main">
              <a:ext uri="{FF2B5EF4-FFF2-40B4-BE49-F238E27FC236}">
                <a16:creationId xmlns:a16="http://schemas.microsoft.com/office/drawing/2014/main" id="{18C2892B-9B93-4E70-BE63-5B20BBB78000}"/>
              </a:ext>
            </a:extLst>
          </p:cNvPr>
          <p:cNvSpPr>
            <a:spLocks xmlns:a="http://schemas.openxmlformats.org/drawingml/2006/main" noGrp="1"/>
          </p:cNvSpPr>
          <p:nvPr/>
        </p:nvSpPr>
        <p:spPr>
          <a:xfrm xmlns:a="http://schemas.openxmlformats.org/drawingml/2006/main">
            <a:off x="609600" y="8953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03D3B"/>
                </a:solidFill>
                <a:latin typeface="Helvetica Neue"/>
                <a:ea typeface="Helvetica Neue"/>
                <a:cs typeface="Helvetica Neue"/>
              </a:defRPr>
            </a:defPPr>
          </a:lstStyle>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One connection to local businesses</a:t>
            </a:r>
          </a:p>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that personal agents can book.</a:t>
            </a:r>
          </a:p>
        </p:txBody>
      </p:sp>
      <p:sp>
        <p:nvSpPr>
          <p:cNvPr id="5" name="text-22">
            <a:extLst xmlns:a="http://schemas.openxmlformats.org/drawingml/2006/main">
              <a:ext uri="{FF2B5EF4-FFF2-40B4-BE49-F238E27FC236}">
                <a16:creationId xmlns:a16="http://schemas.microsoft.com/office/drawing/2014/main" id="{57DF4896-4E40-4217-A22E-731C6CA910CA}"/>
              </a:ext>
            </a:extLst>
          </p:cNvPr>
          <p:cNvSpPr>
            <a:spLocks xmlns:a="http://schemas.openxmlformats.org/drawingml/2006/main" noGrp="1"/>
          </p:cNvSpPr>
          <p:nvPr/>
        </p:nvSpPr>
        <p:spPr>
          <a:xfrm xmlns:a="http://schemas.openxmlformats.org/drawingml/2006/main">
            <a:off x="609600" y="2181225"/>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3716A"/>
                </a:solidFill>
                <a:latin typeface="Helvetica Neue"/>
                <a:ea typeface="Helvetica Neue"/>
                <a:cs typeface="Helvetica Neue"/>
              </a:defRPr>
            </a:defPPr>
          </a:lstStyle>
          <a:p xmlns:a="http://schemas.openxmlformats.org/drawingml/2006/main">
            <a:pPr>
              <a:defRPr sz="1950" b="0">
                <a:solidFill>
                  <a:srgbClr val="53716A"/>
                </a:solidFill>
                <a:latin typeface="Helvetica Neue"/>
                <a:ea typeface="Helvetica Neue"/>
                <a:cs typeface="Helvetica Neue"/>
              </a:defRPr>
            </a:pPr>
            <a:r>
              <a:rPr sz="1950" b="0">
                <a:solidFill>
                  <a:srgbClr val="53716A"/>
                </a:solidFill>
                <a:latin typeface="Helvetica Neue"/>
                <a:ea typeface="Helvetica Neue"/>
                <a:cs typeface="Helvetica Neue"/>
              </a:rPr>
              <a:t>GoLocal combines participating supply with one MCP booking interface.</a:t>
            </a:r>
          </a:p>
        </p:txBody>
      </p:sp>
      <p:sp>
        <p:nvSpPr>
          <p:cNvPr id="6" name="text-23">
            <a:extLst xmlns:a="http://schemas.openxmlformats.org/drawingml/2006/main">
              <a:ext uri="{FF2B5EF4-FFF2-40B4-BE49-F238E27FC236}">
                <a16:creationId xmlns:a16="http://schemas.microsoft.com/office/drawing/2014/main" id="{FF0AFA9E-55AC-4825-BE0E-DA450C85E1D7}"/>
              </a:ext>
            </a:extLst>
          </p:cNvPr>
          <p:cNvSpPr>
            <a:spLocks xmlns:a="http://schemas.openxmlformats.org/drawingml/2006/main" noGrp="1"/>
          </p:cNvSpPr>
          <p:nvPr/>
        </p:nvSpPr>
        <p:spPr>
          <a:xfrm xmlns:a="http://schemas.openxmlformats.org/drawingml/2006/main">
            <a:off x="609600" y="3181350"/>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03D3B"/>
                </a:solidFill>
                <a:latin typeface="Helvetica Neue"/>
                <a:ea typeface="Helvetica Neue"/>
                <a:cs typeface="Helvetica Neue"/>
              </a:defRPr>
            </a:defPPr>
          </a:lstStyle>
          <a:p xmlns:a="http://schemas.openxmlformats.org/drawingml/2006/main">
            <a:pPr>
              <a:defRPr sz="2400" b="1">
                <a:solidFill>
                  <a:srgbClr val="103D3B"/>
                </a:solidFill>
                <a:latin typeface="Helvetica Neue"/>
                <a:ea typeface="Helvetica Neue"/>
                <a:cs typeface="Helvetica Neue"/>
              </a:defRPr>
            </a:pPr>
            <a:r>
              <a:rPr sz="2400" b="1">
                <a:solidFill>
                  <a:srgbClr val="103D3B"/>
                </a:solidFill>
                <a:latin typeface="Helvetica Neue"/>
                <a:ea typeface="Helvetica Neue"/>
                <a:cs typeface="Helvetica Neue"/>
              </a:rPr>
              <a:t>Personal agents</a:t>
            </a:r>
          </a:p>
        </p:txBody>
      </p:sp>
      <p:sp>
        <p:nvSpPr>
          <p:cNvPr id="7" name="text-24">
            <a:extLst xmlns:a="http://schemas.openxmlformats.org/drawingml/2006/main">
              <a:ext uri="{FF2B5EF4-FFF2-40B4-BE49-F238E27FC236}">
                <a16:creationId xmlns:a16="http://schemas.microsoft.com/office/drawing/2014/main" id="{526EBD2A-B2E5-497C-867A-D60BFCE6A836}"/>
              </a:ext>
            </a:extLst>
          </p:cNvPr>
          <p:cNvSpPr>
            <a:spLocks xmlns:a="http://schemas.openxmlformats.org/drawingml/2006/main" noGrp="1"/>
          </p:cNvSpPr>
          <p:nvPr/>
        </p:nvSpPr>
        <p:spPr>
          <a:xfrm xmlns:a="http://schemas.openxmlformats.org/drawingml/2006/main">
            <a:off x="609600" y="3905250"/>
            <a:ext cx="3333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73B38"/>
                </a:solidFill>
                <a:latin typeface="Helvetica Neue"/>
                <a:ea typeface="Helvetica Neue"/>
                <a:cs typeface="Helvetica Neue"/>
              </a:defRPr>
            </a:defPPr>
          </a:lstStyle>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Get access to local providers.</a:t>
            </a:r>
          </a:p>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Discover, filter, book and</a:t>
            </a:r>
          </a:p>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manage the booking.</a:t>
            </a:r>
          </a:p>
        </p:txBody>
      </p:sp>
      <p:sp>
        <p:nvSpPr>
          <p:cNvPr id="8" name="text-25">
            <a:extLst xmlns:a="http://schemas.openxmlformats.org/drawingml/2006/main">
              <a:ext uri="{FF2B5EF4-FFF2-40B4-BE49-F238E27FC236}">
                <a16:creationId xmlns:a16="http://schemas.microsoft.com/office/drawing/2014/main" id="{CF372772-F35A-4772-9B69-683C90C0D0D0}"/>
              </a:ext>
            </a:extLst>
          </p:cNvPr>
          <p:cNvSpPr>
            <a:spLocks xmlns:a="http://schemas.openxmlformats.org/drawingml/2006/main" noGrp="1"/>
          </p:cNvSpPr>
          <p:nvPr/>
        </p:nvSpPr>
        <p:spPr>
          <a:xfrm xmlns:a="http://schemas.openxmlformats.org/drawingml/2006/main">
            <a:off x="4438650" y="3181350"/>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03D3B"/>
                </a:solidFill>
                <a:latin typeface="Helvetica Neue"/>
                <a:ea typeface="Helvetica Neue"/>
                <a:cs typeface="Helvetica Neue"/>
              </a:defRPr>
            </a:defPPr>
          </a:lstStyle>
          <a:p xmlns:a="http://schemas.openxmlformats.org/drawingml/2006/main">
            <a:pPr>
              <a:defRPr sz="2400" b="1">
                <a:solidFill>
                  <a:srgbClr val="103D3B"/>
                </a:solidFill>
                <a:latin typeface="Helvetica Neue"/>
                <a:ea typeface="Helvetica Neue"/>
                <a:cs typeface="Helvetica Neue"/>
              </a:defRPr>
            </a:pPr>
            <a:r>
              <a:rPr sz="2400" b="1">
                <a:solidFill>
                  <a:srgbClr val="103D3B"/>
                </a:solidFill>
                <a:latin typeface="Helvetica Neue"/>
                <a:ea typeface="Helvetica Neue"/>
                <a:cs typeface="Helvetica Neue"/>
              </a:rPr>
              <a:t>GoLocal</a:t>
            </a:r>
          </a:p>
        </p:txBody>
      </p:sp>
      <p:sp>
        <p:nvSpPr>
          <p:cNvPr id="9" name="text-26">
            <a:extLst xmlns:a="http://schemas.openxmlformats.org/drawingml/2006/main">
              <a:ext uri="{FF2B5EF4-FFF2-40B4-BE49-F238E27FC236}">
                <a16:creationId xmlns:a16="http://schemas.microsoft.com/office/drawing/2014/main" id="{13A71A0F-4834-451F-96E0-A6AD73A1AE71}"/>
              </a:ext>
            </a:extLst>
          </p:cNvPr>
          <p:cNvSpPr>
            <a:spLocks xmlns:a="http://schemas.openxmlformats.org/drawingml/2006/main" noGrp="1"/>
          </p:cNvSpPr>
          <p:nvPr/>
        </p:nvSpPr>
        <p:spPr>
          <a:xfrm xmlns:a="http://schemas.openxmlformats.org/drawingml/2006/main">
            <a:off x="4438650" y="3905250"/>
            <a:ext cx="3333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73B38"/>
                </a:solidFill>
                <a:latin typeface="Helvetica Neue"/>
                <a:ea typeface="Helvetica Neue"/>
                <a:cs typeface="Helvetica Neue"/>
              </a:defRPr>
            </a:defPPr>
          </a:lstStyle>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Connect provider software.</a:t>
            </a:r>
          </a:p>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Standardize services, prices,</a:t>
            </a:r>
          </a:p>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availability and booking actions.</a:t>
            </a:r>
          </a:p>
        </p:txBody>
      </p:sp>
      <p:sp>
        <p:nvSpPr>
          <p:cNvPr id="10" name="text-27">
            <a:extLst xmlns:a="http://schemas.openxmlformats.org/drawingml/2006/main">
              <a:ext uri="{FF2B5EF4-FFF2-40B4-BE49-F238E27FC236}">
                <a16:creationId xmlns:a16="http://schemas.microsoft.com/office/drawing/2014/main" id="{8CD76D30-7ECC-4BE3-A020-693E69AB0B78}"/>
              </a:ext>
            </a:extLst>
          </p:cNvPr>
          <p:cNvSpPr>
            <a:spLocks xmlns:a="http://schemas.openxmlformats.org/drawingml/2006/main" noGrp="1"/>
          </p:cNvSpPr>
          <p:nvPr/>
        </p:nvSpPr>
        <p:spPr>
          <a:xfrm xmlns:a="http://schemas.openxmlformats.org/drawingml/2006/main">
            <a:off x="8267700" y="3181350"/>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03D3B"/>
                </a:solidFill>
                <a:latin typeface="Helvetica Neue"/>
                <a:ea typeface="Helvetica Neue"/>
                <a:cs typeface="Helvetica Neue"/>
              </a:defRPr>
            </a:defPPr>
          </a:lstStyle>
          <a:p xmlns:a="http://schemas.openxmlformats.org/drawingml/2006/main">
            <a:pPr>
              <a:defRPr sz="2400" b="1">
                <a:solidFill>
                  <a:srgbClr val="103D3B"/>
                </a:solidFill>
                <a:latin typeface="Helvetica Neue"/>
                <a:ea typeface="Helvetica Neue"/>
                <a:cs typeface="Helvetica Neue"/>
              </a:defRPr>
            </a:pPr>
            <a:r>
              <a:rPr sz="2400" b="1">
                <a:solidFill>
                  <a:srgbClr val="103D3B"/>
                </a:solidFill>
                <a:latin typeface="Helvetica Neue"/>
                <a:ea typeface="Helvetica Neue"/>
                <a:cs typeface="Helvetica Neue"/>
              </a:rPr>
              <a:t>Local businesses</a:t>
            </a:r>
          </a:p>
        </p:txBody>
      </p:sp>
      <p:sp>
        <p:nvSpPr>
          <p:cNvPr id="11" name="text-28">
            <a:extLst xmlns:a="http://schemas.openxmlformats.org/drawingml/2006/main">
              <a:ext uri="{FF2B5EF4-FFF2-40B4-BE49-F238E27FC236}">
                <a16:creationId xmlns:a16="http://schemas.microsoft.com/office/drawing/2014/main" id="{AEAC6614-CACB-4524-809E-4F3C37838A63}"/>
              </a:ext>
            </a:extLst>
          </p:cNvPr>
          <p:cNvSpPr>
            <a:spLocks xmlns:a="http://schemas.openxmlformats.org/drawingml/2006/main" noGrp="1"/>
          </p:cNvSpPr>
          <p:nvPr/>
        </p:nvSpPr>
        <p:spPr>
          <a:xfrm xmlns:a="http://schemas.openxmlformats.org/drawingml/2006/main">
            <a:off x="8267700" y="3905250"/>
            <a:ext cx="3333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73B38"/>
                </a:solidFill>
                <a:latin typeface="Helvetica Neue"/>
                <a:ea typeface="Helvetica Neue"/>
                <a:cs typeface="Helvetica Neue"/>
              </a:defRPr>
            </a:defPPr>
          </a:lstStyle>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Authorize one connection.</a:t>
            </a:r>
          </a:p>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Reach every personal agent</a:t>
            </a:r>
          </a:p>
          <a:p xmlns:a="http://schemas.openxmlformats.org/drawingml/2006/main">
            <a:pPr>
              <a:defRPr sz="1875" b="0">
                <a:solidFill>
                  <a:srgbClr val="173B38"/>
                </a:solidFill>
                <a:latin typeface="Helvetica Neue"/>
                <a:ea typeface="Helvetica Neue"/>
                <a:cs typeface="Helvetica Neue"/>
              </a:defRPr>
            </a:pPr>
            <a:r>
              <a:rPr sz="1875" b="0">
                <a:solidFill>
                  <a:srgbClr val="173B38"/>
                </a:solidFill>
                <a:latin typeface="Helvetica Neue"/>
                <a:ea typeface="Helvetica Neue"/>
                <a:cs typeface="Helvetica Neue"/>
              </a:rPr>
              <a:t>connected to GoLocal.</a:t>
            </a:r>
          </a:p>
        </p:txBody>
      </p:sp>
      <p:sp>
        <p:nvSpPr>
          <p:cNvPr id="12" name="">
            <a:extLst xmlns:a="http://schemas.openxmlformats.org/drawingml/2006/main">
              <a:ext uri="{FF2B5EF4-FFF2-40B4-BE49-F238E27FC236}">
                <a16:creationId xmlns:a16="http://schemas.microsoft.com/office/drawing/2014/main" id="{3449E346-D906-4CAC-88DD-7EE24322B1AA}"/>
              </a:ext>
            </a:extLst>
          </p:cNvPr>
          <p:cNvSpPr>
            <a:spLocks xmlns:a="http://schemas.openxmlformats.org/drawingml/2006/main" noGrp="1"/>
          </p:cNvSpPr>
          <p:nvPr/>
        </p:nvSpPr>
        <p:spPr>
          <a:xfrm xmlns:a="http://schemas.openxmlformats.org/drawingml/2006/main">
            <a:off x="609600" y="5295900"/>
            <a:ext cx="10972800" cy="781050"/>
          </a:xfrm>
          <a:prstGeom xmlns:a="http://schemas.openxmlformats.org/drawingml/2006/main" prst="rect">
            <a:avLst/>
          </a:prstGeom>
          <a:solidFill xmlns:a="http://schemas.openxmlformats.org/drawingml/2006/main">
            <a:srgbClr val="103D3B"/>
          </a:solidFill>
          <a:ln xmlns:a="http://schemas.openxmlformats.org/drawingml/2006/main" w="0">
            <a:noFill/>
            <a:prstDash val="solid"/>
          </a:ln>
        </p:spPr>
      </p:sp>
      <p:sp>
        <p:nvSpPr>
          <p:cNvPr id="13" name="text-29">
            <a:extLst xmlns:a="http://schemas.openxmlformats.org/drawingml/2006/main">
              <a:ext uri="{FF2B5EF4-FFF2-40B4-BE49-F238E27FC236}">
                <a16:creationId xmlns:a16="http://schemas.microsoft.com/office/drawing/2014/main" id="{F292D016-0F17-444B-B31A-EFF3B9AA8715}"/>
              </a:ext>
            </a:extLst>
          </p:cNvPr>
          <p:cNvSpPr>
            <a:spLocks xmlns:a="http://schemas.openxmlformats.org/drawingml/2006/main" noGrp="1"/>
          </p:cNvSpPr>
          <p:nvPr/>
        </p:nvSpPr>
        <p:spPr>
          <a:xfrm xmlns:a="http://schemas.openxmlformats.org/drawingml/2006/main">
            <a:off x="838200" y="5514975"/>
            <a:ext cx="1051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F5F2E9"/>
                </a:solidFill>
                <a:latin typeface="Helvetica Neue"/>
                <a:ea typeface="Helvetica Neue"/>
                <a:cs typeface="Helvetica Neue"/>
              </a:defRPr>
            </a:defPPr>
          </a:lstStyle>
          <a:p xmlns:a="http://schemas.openxmlformats.org/drawingml/2006/main">
            <a:pPr>
              <a:defRPr sz="2175" b="1">
                <a:solidFill>
                  <a:srgbClr val="F5F2E9"/>
                </a:solidFill>
                <a:latin typeface="Helvetica Neue"/>
                <a:ea typeface="Helvetica Neue"/>
                <a:cs typeface="Helvetica Neue"/>
              </a:defRPr>
            </a:pPr>
            <a:r>
              <a:rPr sz="2175" b="1">
                <a:solidFill>
                  <a:srgbClr val="F5F2E9"/>
                </a:solidFill>
                <a:latin typeface="Helvetica Neue"/>
                <a:ea typeface="Helvetica Neue"/>
                <a:cs typeface="Helvetica Neue"/>
              </a:rPr>
              <a:t>We build on the software businesses already use.</a:t>
            </a:r>
          </a:p>
        </p:txBody>
      </p:sp>
    </p:spTree>
    <p:extLst>
      <p:ext uri="{BB962C8B-B14F-4D97-AF65-F5344CB8AC3E}">
        <p14:creationId xmlns:p14="http://schemas.microsoft.com/office/powerpoint/2010/main" val="307422088"/>
      </p:ext>
    </p:extLst>
  </p:cSld>
</p:sld>
</file>

<file path=ppt/slides/slide4.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sp>
        <p:nvSpPr>
          <p:cNvPr id="13" name="text-30">
            <a:extLst xmlns:a="http://schemas.openxmlformats.org/drawingml/2006/main">
              <a:ext uri="{FF2B5EF4-FFF2-40B4-BE49-F238E27FC236}">
                <a16:creationId xmlns:a16="http://schemas.microsoft.com/office/drawing/2014/main" id="{BAB6BFF1-2078-4182-AB0D-DBDE742AB19D}"/>
              </a:ext>
            </a:extLst>
          </p:cNvPr>
          <p:cNvSpPr>
            <a:spLocks xmlns:a="http://schemas.openxmlformats.org/drawingml/2006/main" noGrp="1"/>
          </p:cNvSpPr>
          <p:nvPr/>
        </p:nvSpPr>
        <p:spPr>
          <a:xfrm xmlns:a="http://schemas.openxmlformats.org/drawingml/2006/main">
            <a:off x="609600" y="3619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BDCCAD"/>
                </a:solidFill>
                <a:latin typeface="Helvetica Neue"/>
                <a:ea typeface="Helvetica Neue"/>
                <a:cs typeface="Helvetica Neue"/>
              </a:defRPr>
            </a:defPPr>
          </a:lstStyle>
          <a:p xmlns:a="http://schemas.openxmlformats.org/drawingml/2006/main">
            <a:pPr>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EARLY VALIDATION</a:t>
            </a:r>
          </a:p>
        </p:txBody>
      </p:sp>
      <p:sp>
        <p:nvSpPr>
          <p:cNvPr id="2" name="text-31">
            <a:extLst xmlns:a="http://schemas.openxmlformats.org/drawingml/2006/main">
              <a:ext uri="{FF2B5EF4-FFF2-40B4-BE49-F238E27FC236}">
                <a16:creationId xmlns:a16="http://schemas.microsoft.com/office/drawing/2014/main" id="{FA7F7E41-A443-492B-BCC4-D4E47BF96F4F}"/>
              </a:ext>
            </a:extLst>
          </p:cNvPr>
          <p:cNvSpPr>
            <a:spLocks xmlns:a="http://schemas.openxmlformats.org/drawingml/2006/main" noGrp="1"/>
          </p:cNvSpPr>
          <p:nvPr/>
        </p:nvSpPr>
        <p:spPr>
          <a:xfrm xmlns:a="http://schemas.openxmlformats.org/drawingml/2006/main">
            <a:off x="609600" y="6343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DCCAD"/>
                </a:solidFill>
                <a:latin typeface="Helvetica Neue"/>
                <a:ea typeface="Helvetica Neue"/>
                <a:cs typeface="Helvetica Neue"/>
              </a:defRPr>
            </a:defPPr>
          </a:lstStyle>
          <a:p xmlns:a="http://schemas.openxmlformats.org/drawingml/2006/main">
            <a:pPr>
              <a:defRPr sz="1275" b="0">
                <a:solidFill>
                  <a:srgbClr val="BDCCAD"/>
                </a:solidFill>
                <a:latin typeface="Helvetica Neue"/>
                <a:ea typeface="Helvetica Neue"/>
                <a:cs typeface="Helvetica Neue"/>
              </a:defRPr>
            </a:pPr>
            <a:r>
              <a:rPr sz="1275" b="0">
                <a:solidFill>
                  <a:srgbClr val="BDCCAD"/>
                </a:solidFill>
                <a:latin typeface="Helvetica Neue"/>
                <a:ea typeface="Helvetica Neue"/>
                <a:cs typeface="Helvetica Neue"/>
              </a:rPr>
              <a:t>GoLocal</a:t>
            </a:r>
          </a:p>
        </p:txBody>
      </p:sp>
      <p:sp>
        <p:nvSpPr>
          <p:cNvPr id="3" name="text-32">
            <a:extLst xmlns:a="http://schemas.openxmlformats.org/drawingml/2006/main">
              <a:ext uri="{FF2B5EF4-FFF2-40B4-BE49-F238E27FC236}">
                <a16:creationId xmlns:a16="http://schemas.microsoft.com/office/drawing/2014/main" id="{668B112C-C564-4493-8C4E-72E98BEAE093}"/>
              </a:ext>
            </a:extLst>
          </p:cNvPr>
          <p:cNvSpPr>
            <a:spLocks xmlns:a="http://schemas.openxmlformats.org/drawingml/2006/main" noGrp="1"/>
          </p:cNvSpPr>
          <p:nvPr/>
        </p:nvSpPr>
        <p:spPr>
          <a:xfrm xmlns:a="http://schemas.openxmlformats.org/drawingml/2006/main">
            <a:off x="11201400" y="634365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DCCAD"/>
                </a:solidFill>
                <a:latin typeface="Helvetica Neue"/>
                <a:ea typeface="Helvetica Neue"/>
                <a:cs typeface="Helvetica Neue"/>
              </a:defRPr>
            </a:defPPr>
          </a:lstStyle>
          <a:p xmlns:a="http://schemas.openxmlformats.org/drawingml/2006/main">
            <a:pPr>
              <a:defRPr sz="1275" b="0">
                <a:solidFill>
                  <a:srgbClr val="BDCCAD"/>
                </a:solidFill>
                <a:latin typeface="Helvetica Neue"/>
                <a:ea typeface="Helvetica Neue"/>
                <a:cs typeface="Helvetica Neue"/>
              </a:defRPr>
            </a:pPr>
            <a:r>
              <a:rPr sz="1275" b="0">
                <a:solidFill>
                  <a:srgbClr val="BDCCAD"/>
                </a:solidFill>
                <a:latin typeface="Helvetica Neue"/>
                <a:ea typeface="Helvetica Neue"/>
                <a:cs typeface="Helvetica Neue"/>
              </a:rPr>
              <a:t>04</a:t>
            </a:r>
          </a:p>
        </p:txBody>
      </p:sp>
      <p:sp>
        <p:nvSpPr>
          <p:cNvPr id="4" name="text-33">
            <a:extLst xmlns:a="http://schemas.openxmlformats.org/drawingml/2006/main">
              <a:ext uri="{FF2B5EF4-FFF2-40B4-BE49-F238E27FC236}">
                <a16:creationId xmlns:a16="http://schemas.microsoft.com/office/drawing/2014/main" id="{D7D25D0D-B46F-4040-8137-657A1D767004}"/>
              </a:ext>
            </a:extLst>
          </p:cNvPr>
          <p:cNvSpPr>
            <a:spLocks xmlns:a="http://schemas.openxmlformats.org/drawingml/2006/main" noGrp="1"/>
          </p:cNvSpPr>
          <p:nvPr/>
        </p:nvSpPr>
        <p:spPr>
          <a:xfrm xmlns:a="http://schemas.openxmlformats.org/drawingml/2006/main">
            <a:off x="609600" y="895350"/>
            <a:ext cx="10906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F5F2E9"/>
                </a:solidFill>
                <a:latin typeface="Helvetica Neue"/>
                <a:ea typeface="Helvetica Neue"/>
                <a:cs typeface="Helvetica Neue"/>
              </a:defRPr>
            </a:defPPr>
          </a:lstStyle>
          <a:p xmlns:a="http://schemas.openxmlformats.org/drawingml/2006/main">
            <a:pPr>
              <a:defRPr sz="3600" b="1">
                <a:solidFill>
                  <a:srgbClr val="F5F2E9"/>
                </a:solidFill>
                <a:latin typeface="Helvetica Neue"/>
                <a:ea typeface="Helvetica Neue"/>
                <a:cs typeface="Helvetica Neue"/>
              </a:defRPr>
            </a:pPr>
            <a:r>
              <a:rPr sz="3600" b="1">
                <a:solidFill>
                  <a:srgbClr val="F5F2E9"/>
                </a:solidFill>
                <a:latin typeface="Helvetica Neue"/>
                <a:ea typeface="Helvetica Neue"/>
                <a:cs typeface="Helvetica Neue"/>
              </a:rPr>
              <a:t>Partners are opening access</a:t>
            </a:r>
          </a:p>
          <a:p xmlns:a="http://schemas.openxmlformats.org/drawingml/2006/main">
            <a:pPr>
              <a:defRPr sz="3600" b="1">
                <a:solidFill>
                  <a:srgbClr val="F5F2E9"/>
                </a:solidFill>
                <a:latin typeface="Helvetica Neue"/>
                <a:ea typeface="Helvetica Neue"/>
                <a:cs typeface="Helvetica Neue"/>
              </a:defRPr>
            </a:pPr>
            <a:r>
              <a:rPr sz="3600" b="1">
                <a:solidFill>
                  <a:srgbClr val="F5F2E9"/>
                </a:solidFill>
                <a:latin typeface="Helvetica Neue"/>
                <a:ea typeface="Helvetica Neue"/>
                <a:cs typeface="Helvetica Neue"/>
              </a:rPr>
              <a:t>to our first local businesses.</a:t>
            </a:r>
          </a:p>
        </p:txBody>
      </p:sp>
      <p:sp>
        <p:nvSpPr>
          <p:cNvPr id="5" name="text-34">
            <a:extLst xmlns:a="http://schemas.openxmlformats.org/drawingml/2006/main">
              <a:ext uri="{FF2B5EF4-FFF2-40B4-BE49-F238E27FC236}">
                <a16:creationId xmlns:a16="http://schemas.microsoft.com/office/drawing/2014/main" id="{9530039D-1B60-4A1C-A1BF-3BE5276EE67E}"/>
              </a:ext>
            </a:extLst>
          </p:cNvPr>
          <p:cNvSpPr>
            <a:spLocks xmlns:a="http://schemas.openxmlformats.org/drawingml/2006/main" noGrp="1"/>
          </p:cNvSpPr>
          <p:nvPr/>
        </p:nvSpPr>
        <p:spPr>
          <a:xfrm xmlns:a="http://schemas.openxmlformats.org/drawingml/2006/main">
            <a:off x="609600" y="223837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BDCCAD"/>
                </a:solidFill>
                <a:latin typeface="Helvetica Neue"/>
                <a:ea typeface="Helvetica Neue"/>
                <a:cs typeface="Helvetica Neue"/>
              </a:defRPr>
            </a:defPPr>
          </a:lstStyle>
          <a:p xmlns:a="http://schemas.openxmlformats.org/drawingml/2006/main">
            <a:pPr>
              <a:defRPr sz="1875" b="1">
                <a:solidFill>
                  <a:srgbClr val="BDCCAD"/>
                </a:solidFill>
                <a:latin typeface="Helvetica Neue"/>
                <a:ea typeface="Helvetica Neue"/>
                <a:cs typeface="Helvetica Neue"/>
              </a:defRPr>
            </a:pPr>
            <a:r>
              <a:rPr sz="1875" b="1">
                <a:solidFill>
                  <a:srgbClr val="BDCCAD"/>
                </a:solidFill>
                <a:latin typeface="Helvetica Neue"/>
                <a:ea typeface="Helvetica Neue"/>
                <a:cs typeface="Helvetica Neue"/>
              </a:rPr>
              <a:t>Partnership commitments</a:t>
            </a:r>
          </a:p>
        </p:txBody>
      </p:sp>
      <p:sp>
        <p:nvSpPr>
          <p:cNvPr id="6" name="text-35">
            <a:extLst xmlns:a="http://schemas.openxmlformats.org/drawingml/2006/main">
              <a:ext uri="{FF2B5EF4-FFF2-40B4-BE49-F238E27FC236}">
                <a16:creationId xmlns:a16="http://schemas.microsoft.com/office/drawing/2014/main" id="{10735376-D245-4F52-9921-9BB22914806F}"/>
              </a:ext>
            </a:extLst>
          </p:cNvPr>
          <p:cNvSpPr>
            <a:spLocks xmlns:a="http://schemas.openxmlformats.org/drawingml/2006/main" noGrp="1"/>
          </p:cNvSpPr>
          <p:nvPr/>
        </p:nvSpPr>
        <p:spPr>
          <a:xfrm xmlns:a="http://schemas.openxmlformats.org/drawingml/2006/main">
            <a:off x="609600" y="2933700"/>
            <a:ext cx="5048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750" b="1">
                <a:solidFill>
                  <a:srgbClr val="F5F2E9"/>
                </a:solidFill>
                <a:latin typeface="Helvetica Neue"/>
                <a:ea typeface="Helvetica Neue"/>
                <a:cs typeface="Helvetica Neue"/>
              </a:defRPr>
            </a:defPPr>
          </a:lstStyle>
          <a:p xmlns:a="http://schemas.openxmlformats.org/drawingml/2006/main">
            <a:pPr>
              <a:defRPr sz="6750" b="1">
                <a:solidFill>
                  <a:srgbClr val="F5F2E9"/>
                </a:solidFill>
                <a:latin typeface="Helvetica Neue"/>
                <a:ea typeface="Helvetica Neue"/>
                <a:cs typeface="Helvetica Neue"/>
              </a:defRPr>
            </a:pPr>
            <a:r>
              <a:rPr sz="6750" b="1">
                <a:solidFill>
                  <a:srgbClr val="F5F2E9"/>
                </a:solidFill>
                <a:latin typeface="Helvetica Neue"/>
                <a:ea typeface="Helvetica Neue"/>
                <a:cs typeface="Helvetica Neue"/>
              </a:rPr>
              <a:t>100+</a:t>
            </a:r>
          </a:p>
        </p:txBody>
      </p:sp>
      <p:sp>
        <p:nvSpPr>
          <p:cNvPr id="7" name="text-36">
            <a:extLst xmlns:a="http://schemas.openxmlformats.org/drawingml/2006/main">
              <a:ext uri="{FF2B5EF4-FFF2-40B4-BE49-F238E27FC236}">
                <a16:creationId xmlns:a16="http://schemas.microsoft.com/office/drawing/2014/main" id="{10C3A1E0-6E4D-452E-9E44-2C021149A54F}"/>
              </a:ext>
            </a:extLst>
          </p:cNvPr>
          <p:cNvSpPr>
            <a:spLocks xmlns:a="http://schemas.openxmlformats.org/drawingml/2006/main" noGrp="1"/>
          </p:cNvSpPr>
          <p:nvPr/>
        </p:nvSpPr>
        <p:spPr>
          <a:xfrm xmlns:a="http://schemas.openxmlformats.org/drawingml/2006/main">
            <a:off x="609600" y="4038600"/>
            <a:ext cx="5191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5F2E9"/>
                </a:solidFill>
                <a:latin typeface="Helvetica Neue"/>
                <a:ea typeface="Helvetica Neue"/>
                <a:cs typeface="Helvetica Neue"/>
              </a:defRPr>
            </a:defPPr>
          </a:lstStyle>
          <a:p xmlns:a="http://schemas.openxmlformats.org/drawingml/2006/main">
            <a:pPr>
              <a:defRPr sz="2100" b="1">
                <a:solidFill>
                  <a:srgbClr val="F5F2E9"/>
                </a:solidFill>
                <a:latin typeface="Helvetica Neue"/>
                <a:ea typeface="Helvetica Neue"/>
                <a:cs typeface="Helvetica Neue"/>
              </a:defRPr>
            </a:pPr>
            <a:r>
              <a:rPr sz="2100" b="1">
                <a:solidFill>
                  <a:srgbClr val="F5F2E9"/>
                </a:solidFill>
                <a:latin typeface="Helvetica Neue"/>
                <a:ea typeface="Helvetica Neue"/>
                <a:cs typeface="Helvetica Neue"/>
              </a:rPr>
              <a:t>trade shops served by Cactus AI</a:t>
            </a:r>
          </a:p>
        </p:txBody>
      </p:sp>
      <p:sp>
        <p:nvSpPr>
          <p:cNvPr id="8" name="text-37">
            <a:extLst xmlns:a="http://schemas.openxmlformats.org/drawingml/2006/main">
              <a:ext uri="{FF2B5EF4-FFF2-40B4-BE49-F238E27FC236}">
                <a16:creationId xmlns:a16="http://schemas.microsoft.com/office/drawing/2014/main" id="{FDAF8BF8-8498-4B28-B57E-0B8FCFB41C84}"/>
              </a:ext>
            </a:extLst>
          </p:cNvPr>
          <p:cNvSpPr>
            <a:spLocks xmlns:a="http://schemas.openxmlformats.org/drawingml/2006/main" noGrp="1"/>
          </p:cNvSpPr>
          <p:nvPr/>
        </p:nvSpPr>
        <p:spPr>
          <a:xfrm xmlns:a="http://schemas.openxmlformats.org/drawingml/2006/main">
            <a:off x="609600" y="4638675"/>
            <a:ext cx="52197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DE4D6"/>
                </a:solidFill>
                <a:latin typeface="Helvetica Neue"/>
                <a:ea typeface="Helvetica Neue"/>
                <a:cs typeface="Helvetica Neue"/>
              </a:defRPr>
            </a:defPPr>
          </a:lstStyle>
          <a:p xmlns:a="http://schemas.openxmlformats.org/drawingml/2006/main">
            <a:pPr>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Salt Lake City and Dallas.</a:t>
            </a:r>
          </a:p>
          <a:p xmlns:a="http://schemas.openxmlformats.org/drawingml/2006/main">
            <a:pPr>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Cactus agreed to introduce shops and</a:t>
            </a:r>
          </a:p>
          <a:p xmlns:a="http://schemas.openxmlformats.org/drawingml/2006/main">
            <a:pPr>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provide booking access through customers.</a:t>
            </a:r>
          </a:p>
        </p:txBody>
      </p:sp>
      <p:sp>
        <p:nvSpPr>
          <p:cNvPr id="9" name="text-38">
            <a:extLst xmlns:a="http://schemas.openxmlformats.org/drawingml/2006/main">
              <a:ext uri="{FF2B5EF4-FFF2-40B4-BE49-F238E27FC236}">
                <a16:creationId xmlns:a16="http://schemas.microsoft.com/office/drawing/2014/main" id="{3A9740C4-AC64-4B4F-A899-898BEC12D198}"/>
              </a:ext>
            </a:extLst>
          </p:cNvPr>
          <p:cNvSpPr>
            <a:spLocks xmlns:a="http://schemas.openxmlformats.org/drawingml/2006/main" noGrp="1"/>
          </p:cNvSpPr>
          <p:nvPr/>
        </p:nvSpPr>
        <p:spPr>
          <a:xfrm xmlns:a="http://schemas.openxmlformats.org/drawingml/2006/main">
            <a:off x="6791325" y="2933700"/>
            <a:ext cx="4619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750" b="1">
                <a:solidFill>
                  <a:srgbClr val="F5F2E9"/>
                </a:solidFill>
                <a:latin typeface="Helvetica Neue"/>
                <a:ea typeface="Helvetica Neue"/>
                <a:cs typeface="Helvetica Neue"/>
              </a:defRPr>
            </a:defPPr>
          </a:lstStyle>
          <a:p xmlns:a="http://schemas.openxmlformats.org/drawingml/2006/main">
            <a:pPr>
              <a:defRPr sz="6750" b="1">
                <a:solidFill>
                  <a:srgbClr val="F5F2E9"/>
                </a:solidFill>
                <a:latin typeface="Helvetica Neue"/>
                <a:ea typeface="Helvetica Neue"/>
                <a:cs typeface="Helvetica Neue"/>
              </a:defRPr>
            </a:pPr>
            <a:r>
              <a:rPr sz="6750" b="1">
                <a:solidFill>
                  <a:srgbClr val="F5F2E9"/>
                </a:solidFill>
                <a:latin typeface="Helvetica Neue"/>
                <a:ea typeface="Helvetica Neue"/>
                <a:cs typeface="Helvetica Neue"/>
              </a:rPr>
              <a:t>20</a:t>
            </a:r>
          </a:p>
        </p:txBody>
      </p:sp>
      <p:sp>
        <p:nvSpPr>
          <p:cNvPr id="10" name="text-39">
            <a:extLst xmlns:a="http://schemas.openxmlformats.org/drawingml/2006/main">
              <a:ext uri="{FF2B5EF4-FFF2-40B4-BE49-F238E27FC236}">
                <a16:creationId xmlns:a16="http://schemas.microsoft.com/office/drawing/2014/main" id="{618E9215-B74D-4907-9353-5E4C19C6677D}"/>
              </a:ext>
            </a:extLst>
          </p:cNvPr>
          <p:cNvSpPr>
            <a:spLocks xmlns:a="http://schemas.openxmlformats.org/drawingml/2006/main" noGrp="1"/>
          </p:cNvSpPr>
          <p:nvPr/>
        </p:nvSpPr>
        <p:spPr>
          <a:xfrm xmlns:a="http://schemas.openxmlformats.org/drawingml/2006/main">
            <a:off x="6791325" y="4038600"/>
            <a:ext cx="4619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5F2E9"/>
                </a:solidFill>
                <a:latin typeface="Helvetica Neue"/>
                <a:ea typeface="Helvetica Neue"/>
                <a:cs typeface="Helvetica Neue"/>
              </a:defRPr>
            </a:defPPr>
          </a:lstStyle>
          <a:p xmlns:a="http://schemas.openxmlformats.org/drawingml/2006/main">
            <a:pPr>
              <a:defRPr sz="2100" b="1">
                <a:solidFill>
                  <a:srgbClr val="F5F2E9"/>
                </a:solidFill>
                <a:latin typeface="Helvetica Neue"/>
                <a:ea typeface="Helvetica Neue"/>
                <a:cs typeface="Helvetica Neue"/>
              </a:defRPr>
            </a:pPr>
            <a:r>
              <a:rPr sz="2100" b="1">
                <a:solidFill>
                  <a:srgbClr val="F5F2E9"/>
                </a:solidFill>
                <a:latin typeface="Helvetica Neue"/>
                <a:ea typeface="Helvetica Neue"/>
                <a:cs typeface="Helvetica Neue"/>
              </a:rPr>
              <a:t>clients committed for onboarding</a:t>
            </a:r>
          </a:p>
        </p:txBody>
      </p:sp>
      <p:sp>
        <p:nvSpPr>
          <p:cNvPr id="11" name="text-40">
            <a:extLst xmlns:a="http://schemas.openxmlformats.org/drawingml/2006/main">
              <a:ext uri="{FF2B5EF4-FFF2-40B4-BE49-F238E27FC236}">
                <a16:creationId xmlns:a16="http://schemas.microsoft.com/office/drawing/2014/main" id="{294AB977-2DEC-483E-A171-B88AC997C06D}"/>
              </a:ext>
            </a:extLst>
          </p:cNvPr>
          <p:cNvSpPr>
            <a:spLocks xmlns:a="http://schemas.openxmlformats.org/drawingml/2006/main" noGrp="1"/>
          </p:cNvSpPr>
          <p:nvPr/>
        </p:nvSpPr>
        <p:spPr>
          <a:xfrm xmlns:a="http://schemas.openxmlformats.org/drawingml/2006/main">
            <a:off x="6791325" y="4638675"/>
            <a:ext cx="46101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DE4D6"/>
                </a:solidFill>
                <a:latin typeface="Helvetica Neue"/>
                <a:ea typeface="Helvetica Neue"/>
                <a:cs typeface="Helvetica Neue"/>
              </a:defRPr>
            </a:defPPr>
          </a:lstStyle>
          <a:p xmlns:a="http://schemas.openxmlformats.org/drawingml/2006/main">
            <a:pPr>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 back-office management company</a:t>
            </a:r>
          </a:p>
          <a:p xmlns:a="http://schemas.openxmlformats.org/drawingml/2006/main">
            <a:pPr>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agreed to onboard its clients.</a:t>
            </a:r>
          </a:p>
        </p:txBody>
      </p:sp>
      <p:sp>
        <p:nvSpPr>
          <p:cNvPr id="12" name="text-41">
            <a:extLst xmlns:a="http://schemas.openxmlformats.org/drawingml/2006/main">
              <a:ext uri="{FF2B5EF4-FFF2-40B4-BE49-F238E27FC236}">
                <a16:creationId xmlns:a16="http://schemas.microsoft.com/office/drawing/2014/main" id="{7E75DDF0-B386-411A-96DB-D3D4E2B8E9F9}"/>
              </a:ext>
            </a:extLst>
          </p:cNvPr>
          <p:cNvSpPr>
            <a:spLocks xmlns:a="http://schemas.openxmlformats.org/drawingml/2006/main" noGrp="1"/>
          </p:cNvSpPr>
          <p:nvPr/>
        </p:nvSpPr>
        <p:spPr>
          <a:xfrm xmlns:a="http://schemas.openxmlformats.org/drawingml/2006/main">
            <a:off x="609600" y="5895975"/>
            <a:ext cx="1076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BDCCAD"/>
                </a:solidFill>
                <a:latin typeface="Helvetica Neue"/>
                <a:ea typeface="Helvetica Neue"/>
                <a:cs typeface="Helvetica Neue"/>
              </a:defRPr>
            </a:defPPr>
          </a:lstStyle>
          <a:p xmlns:a="http://schemas.openxmlformats.org/drawingml/2006/main">
            <a:pPr>
              <a:defRPr sz="1425" b="0">
                <a:solidFill>
                  <a:srgbClr val="BDCCAD"/>
                </a:solidFill>
                <a:latin typeface="Helvetica Neue"/>
                <a:ea typeface="Helvetica Neue"/>
                <a:cs typeface="Helvetica Neue"/>
              </a:defRPr>
            </a:pPr>
            <a:r>
              <a:rPr sz="1425" b="0">
                <a:solidFill>
                  <a:srgbClr val="BDCCAD"/>
                </a:solidFill>
                <a:latin typeface="Helvetica Neue"/>
                <a:ea typeface="Helvetica Neue"/>
                <a:cs typeface="Helvetica Neue"/>
              </a:rPr>
              <a:t>Access and onboarding commitments; integrations and live bookings are next.</a:t>
            </a:r>
          </a:p>
        </p:txBody>
      </p:sp>
    </p:spTree>
    <p:extLst>
      <p:ext uri="{BB962C8B-B14F-4D97-AF65-F5344CB8AC3E}">
        <p14:creationId xmlns:p14="http://schemas.microsoft.com/office/powerpoint/2010/main" val="821122932"/>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text-42">
            <a:extLst xmlns:a="http://schemas.openxmlformats.org/drawingml/2006/main">
              <a:ext uri="{FF2B5EF4-FFF2-40B4-BE49-F238E27FC236}">
                <a16:creationId xmlns:a16="http://schemas.microsoft.com/office/drawing/2014/main" id="{1CD4AEF5-3258-456F-8A01-82E5B3278449}"/>
              </a:ext>
            </a:extLst>
          </p:cNvPr>
          <p:cNvSpPr>
            <a:spLocks xmlns:a="http://schemas.openxmlformats.org/drawingml/2006/main" noGrp="1"/>
          </p:cNvSpPr>
          <p:nvPr/>
        </p:nvSpPr>
        <p:spPr>
          <a:xfrm xmlns:a="http://schemas.openxmlformats.org/drawingml/2006/main">
            <a:off x="609600" y="3619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53716A"/>
                </a:solidFill>
                <a:latin typeface="Helvetica Neue"/>
                <a:ea typeface="Helvetica Neue"/>
                <a:cs typeface="Helvetica Neue"/>
              </a:defRPr>
            </a:defPPr>
          </a:lstStyle>
          <a:p xmlns:a="http://schemas.openxmlformats.org/drawingml/2006/main">
            <a:pPr>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BUSINESS MODEL AND DISTRIBUTION</a:t>
            </a:r>
          </a:p>
        </p:txBody>
      </p:sp>
      <p:sp>
        <p:nvSpPr>
          <p:cNvPr id="2" name="text-43">
            <a:extLst xmlns:a="http://schemas.openxmlformats.org/drawingml/2006/main">
              <a:ext uri="{FF2B5EF4-FFF2-40B4-BE49-F238E27FC236}">
                <a16:creationId xmlns:a16="http://schemas.microsoft.com/office/drawing/2014/main" id="{9F3B98C8-0927-49A4-9ABA-02EC7062BC0B}"/>
              </a:ext>
            </a:extLst>
          </p:cNvPr>
          <p:cNvSpPr>
            <a:spLocks xmlns:a="http://schemas.openxmlformats.org/drawingml/2006/main" noGrp="1"/>
          </p:cNvSpPr>
          <p:nvPr/>
        </p:nvSpPr>
        <p:spPr>
          <a:xfrm xmlns:a="http://schemas.openxmlformats.org/drawingml/2006/main">
            <a:off x="609600" y="6343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GoLocal</a:t>
            </a:r>
          </a:p>
        </p:txBody>
      </p:sp>
      <p:sp>
        <p:nvSpPr>
          <p:cNvPr id="3" name="text-44">
            <a:extLst xmlns:a="http://schemas.openxmlformats.org/drawingml/2006/main">
              <a:ext uri="{FF2B5EF4-FFF2-40B4-BE49-F238E27FC236}">
                <a16:creationId xmlns:a16="http://schemas.microsoft.com/office/drawing/2014/main" id="{A85C3B4B-3592-4791-89A9-D45EFD5E9DBC}"/>
              </a:ext>
            </a:extLst>
          </p:cNvPr>
          <p:cNvSpPr>
            <a:spLocks xmlns:a="http://schemas.openxmlformats.org/drawingml/2006/main" noGrp="1"/>
          </p:cNvSpPr>
          <p:nvPr/>
        </p:nvSpPr>
        <p:spPr>
          <a:xfrm xmlns:a="http://schemas.openxmlformats.org/drawingml/2006/main">
            <a:off x="11201400" y="634365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05</a:t>
            </a:r>
          </a:p>
        </p:txBody>
      </p:sp>
      <p:sp>
        <p:nvSpPr>
          <p:cNvPr id="4" name="text-45">
            <a:extLst xmlns:a="http://schemas.openxmlformats.org/drawingml/2006/main">
              <a:ext uri="{FF2B5EF4-FFF2-40B4-BE49-F238E27FC236}">
                <a16:creationId xmlns:a16="http://schemas.microsoft.com/office/drawing/2014/main" id="{34868456-B6DA-4184-AAEA-9DA37A2EC54E}"/>
              </a:ext>
            </a:extLst>
          </p:cNvPr>
          <p:cNvSpPr>
            <a:spLocks xmlns:a="http://schemas.openxmlformats.org/drawingml/2006/main" noGrp="1"/>
          </p:cNvSpPr>
          <p:nvPr/>
        </p:nvSpPr>
        <p:spPr>
          <a:xfrm xmlns:a="http://schemas.openxmlformats.org/drawingml/2006/main">
            <a:off x="609600" y="895350"/>
            <a:ext cx="10953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03D3B"/>
                </a:solidFill>
                <a:latin typeface="Helvetica Neue"/>
                <a:ea typeface="Helvetica Neue"/>
                <a:cs typeface="Helvetica Neue"/>
              </a:defRPr>
            </a:defPPr>
          </a:lstStyle>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Earn when a new customer’s</a:t>
            </a:r>
          </a:p>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booking becomes a fulfilled job.</a:t>
            </a:r>
          </a:p>
        </p:txBody>
      </p:sp>
      <p:sp>
        <p:nvSpPr>
          <p:cNvPr id="5" name="text-46">
            <a:extLst xmlns:a="http://schemas.openxmlformats.org/drawingml/2006/main">
              <a:ext uri="{FF2B5EF4-FFF2-40B4-BE49-F238E27FC236}">
                <a16:creationId xmlns:a16="http://schemas.microsoft.com/office/drawing/2014/main" id="{04D8C84B-01B1-41CA-B145-015B7CEA4608}"/>
              </a:ext>
            </a:extLst>
          </p:cNvPr>
          <p:cNvSpPr>
            <a:spLocks xmlns:a="http://schemas.openxmlformats.org/drawingml/2006/main" noGrp="1"/>
          </p:cNvSpPr>
          <p:nvPr/>
        </p:nvSpPr>
        <p:spPr>
          <a:xfrm xmlns:a="http://schemas.openxmlformats.org/drawingml/2006/main">
            <a:off x="609600" y="2219325"/>
            <a:ext cx="10896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3716A"/>
                </a:solidFill>
                <a:latin typeface="Helvetica Neue"/>
                <a:ea typeface="Helvetica Neue"/>
                <a:cs typeface="Helvetica Neue"/>
              </a:defRPr>
            </a:defPPr>
          </a:lstStyle>
          <a:p xmlns:a="http://schemas.openxmlformats.org/drawingml/2006/main">
            <a:pPr>
              <a:defRPr sz="1950" b="0">
                <a:solidFill>
                  <a:srgbClr val="53716A"/>
                </a:solidFill>
                <a:latin typeface="Helvetica Neue"/>
                <a:ea typeface="Helvetica Neue"/>
                <a:cs typeface="Helvetica Neue"/>
              </a:defRPr>
            </a:pPr>
            <a:r>
              <a:rPr sz="1950" b="0">
                <a:solidFill>
                  <a:srgbClr val="53716A"/>
                </a:solidFill>
                <a:latin typeface="Helvetica Neue"/>
                <a:ea typeface="Helvetica Neue"/>
                <a:cs typeface="Helvetica Neue"/>
              </a:rPr>
              <a:t>Proposed model: a supplier-paid success fee, shared with the demand partner.</a:t>
            </a:r>
          </a:p>
        </p:txBody>
      </p:sp>
      <p:sp>
        <p:nvSpPr>
          <p:cNvPr id="6" name="text-47">
            <a:extLst xmlns:a="http://schemas.openxmlformats.org/drawingml/2006/main">
              <a:ext uri="{FF2B5EF4-FFF2-40B4-BE49-F238E27FC236}">
                <a16:creationId xmlns:a16="http://schemas.microsoft.com/office/drawing/2014/main" id="{F2D28AE8-F2F1-4672-9349-84B3D2CC9140}"/>
              </a:ext>
            </a:extLst>
          </p:cNvPr>
          <p:cNvSpPr>
            <a:spLocks xmlns:a="http://schemas.openxmlformats.org/drawingml/2006/main" noGrp="1"/>
          </p:cNvSpPr>
          <p:nvPr/>
        </p:nvSpPr>
        <p:spPr>
          <a:xfrm xmlns:a="http://schemas.openxmlformats.org/drawingml/2006/main">
            <a:off x="609600" y="32575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03D3B"/>
                </a:solidFill>
                <a:latin typeface="Helvetica Neue"/>
                <a:ea typeface="Helvetica Neue"/>
                <a:cs typeface="Helvetica Neue"/>
              </a:defRPr>
            </a:defPPr>
          </a:lstStyle>
          <a:p xmlns:a="http://schemas.openxmlformats.org/drawingml/2006/main">
            <a:pPr>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Start with supply</a:t>
            </a:r>
          </a:p>
        </p:txBody>
      </p:sp>
      <p:sp>
        <p:nvSpPr>
          <p:cNvPr id="7" name="text-48">
            <a:extLst xmlns:a="http://schemas.openxmlformats.org/drawingml/2006/main">
              <a:ext uri="{FF2B5EF4-FFF2-40B4-BE49-F238E27FC236}">
                <a16:creationId xmlns:a16="http://schemas.microsoft.com/office/drawing/2014/main" id="{8AE93951-099A-46D5-9ABC-F427B29A544B}"/>
              </a:ext>
            </a:extLst>
          </p:cNvPr>
          <p:cNvSpPr>
            <a:spLocks xmlns:a="http://schemas.openxmlformats.org/drawingml/2006/main" noGrp="1"/>
          </p:cNvSpPr>
          <p:nvPr/>
        </p:nvSpPr>
        <p:spPr>
          <a:xfrm xmlns:a="http://schemas.openxmlformats.org/drawingml/2006/main">
            <a:off x="4305300" y="3200400"/>
            <a:ext cx="714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73B38"/>
                </a:solidFill>
                <a:latin typeface="Helvetica Neue"/>
                <a:ea typeface="Helvetica Neue"/>
                <a:cs typeface="Helvetica Neue"/>
              </a:defRPr>
            </a:defPPr>
          </a:lstStyle>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Use Cactus and operating partners to onboard shops</a:t>
            </a:r>
          </a:p>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and connect their existing booking software.</a:t>
            </a:r>
          </a:p>
        </p:txBody>
      </p:sp>
      <p:sp>
        <p:nvSpPr>
          <p:cNvPr id="8" name="text-49">
            <a:extLst xmlns:a="http://schemas.openxmlformats.org/drawingml/2006/main">
              <a:ext uri="{FF2B5EF4-FFF2-40B4-BE49-F238E27FC236}">
                <a16:creationId xmlns:a16="http://schemas.microsoft.com/office/drawing/2014/main" id="{D1AA9106-B8E3-4C57-9C4E-C3C3A06500A4}"/>
              </a:ext>
            </a:extLst>
          </p:cNvPr>
          <p:cNvSpPr>
            <a:spLocks xmlns:a="http://schemas.openxmlformats.org/drawingml/2006/main" noGrp="1"/>
          </p:cNvSpPr>
          <p:nvPr/>
        </p:nvSpPr>
        <p:spPr>
          <a:xfrm xmlns:a="http://schemas.openxmlformats.org/drawingml/2006/main">
            <a:off x="609600" y="42291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03D3B"/>
                </a:solidFill>
                <a:latin typeface="Helvetica Neue"/>
                <a:ea typeface="Helvetica Neue"/>
                <a:cs typeface="Helvetica Neue"/>
              </a:defRPr>
            </a:defPPr>
          </a:lstStyle>
          <a:p xmlns:a="http://schemas.openxmlformats.org/drawingml/2006/main">
            <a:pPr>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Secure demand</a:t>
            </a:r>
          </a:p>
        </p:txBody>
      </p:sp>
      <p:sp>
        <p:nvSpPr>
          <p:cNvPr id="9" name="text-50">
            <a:extLst xmlns:a="http://schemas.openxmlformats.org/drawingml/2006/main">
              <a:ext uri="{FF2B5EF4-FFF2-40B4-BE49-F238E27FC236}">
                <a16:creationId xmlns:a16="http://schemas.microsoft.com/office/drawing/2014/main" id="{7247ED0D-D6F3-4653-99D3-4C99307DCD61}"/>
              </a:ext>
            </a:extLst>
          </p:cNvPr>
          <p:cNvSpPr>
            <a:spLocks xmlns:a="http://schemas.openxmlformats.org/drawingml/2006/main" noGrp="1"/>
          </p:cNvSpPr>
          <p:nvPr/>
        </p:nvSpPr>
        <p:spPr>
          <a:xfrm xmlns:a="http://schemas.openxmlformats.org/drawingml/2006/main">
            <a:off x="4305300" y="4171950"/>
            <a:ext cx="716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73B38"/>
                </a:solidFill>
                <a:latin typeface="Helvetica Neue"/>
                <a:ea typeface="Helvetica Neue"/>
                <a:cs typeface="Helvetica Neue"/>
              </a:defRPr>
            </a:defPPr>
          </a:lstStyle>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Partner with personal-agent companies to route requests.</a:t>
            </a:r>
          </a:p>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Also test a user-added connector for a specific, urgent need.</a:t>
            </a:r>
          </a:p>
        </p:txBody>
      </p:sp>
      <p:sp>
        <p:nvSpPr>
          <p:cNvPr id="10" name="text-51">
            <a:extLst xmlns:a="http://schemas.openxmlformats.org/drawingml/2006/main">
              <a:ext uri="{FF2B5EF4-FFF2-40B4-BE49-F238E27FC236}">
                <a16:creationId xmlns:a16="http://schemas.microsoft.com/office/drawing/2014/main" id="{E4187A22-EF6F-4BA6-8AD9-A06C9F20BB83}"/>
              </a:ext>
            </a:extLst>
          </p:cNvPr>
          <p:cNvSpPr>
            <a:spLocks xmlns:a="http://schemas.openxmlformats.org/drawingml/2006/main" noGrp="1"/>
          </p:cNvSpPr>
          <p:nvPr/>
        </p:nvSpPr>
        <p:spPr>
          <a:xfrm xmlns:a="http://schemas.openxmlformats.org/drawingml/2006/main">
            <a:off x="609600" y="52006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03D3B"/>
                </a:solidFill>
                <a:latin typeface="Helvetica Neue"/>
                <a:ea typeface="Helvetica Neue"/>
                <a:cs typeface="Helvetica Neue"/>
              </a:defRPr>
            </a:defPPr>
          </a:lstStyle>
          <a:p xmlns:a="http://schemas.openxmlformats.org/drawingml/2006/main">
            <a:pPr>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Prove, then expand</a:t>
            </a:r>
          </a:p>
        </p:txBody>
      </p:sp>
      <p:sp>
        <p:nvSpPr>
          <p:cNvPr id="11" name="text-52">
            <a:extLst xmlns:a="http://schemas.openxmlformats.org/drawingml/2006/main">
              <a:ext uri="{FF2B5EF4-FFF2-40B4-BE49-F238E27FC236}">
                <a16:creationId xmlns:a16="http://schemas.microsoft.com/office/drawing/2014/main" id="{D8036EB5-4C15-4BE2-BA31-98A69248727B}"/>
              </a:ext>
            </a:extLst>
          </p:cNvPr>
          <p:cNvSpPr>
            <a:spLocks xmlns:a="http://schemas.openxmlformats.org/drawingml/2006/main" noGrp="1"/>
          </p:cNvSpPr>
          <p:nvPr/>
        </p:nvSpPr>
        <p:spPr>
          <a:xfrm xmlns:a="http://schemas.openxmlformats.org/drawingml/2006/main">
            <a:off x="4305300" y="5143500"/>
            <a:ext cx="7162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73B38"/>
                </a:solidFill>
                <a:latin typeface="Helvetica Neue"/>
                <a:ea typeface="Helvetica Neue"/>
                <a:cs typeface="Helvetica Neue"/>
              </a:defRPr>
            </a:defPPr>
          </a:lstStyle>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Start with one trade in a partner city. Earn repeat bookings,</a:t>
            </a:r>
          </a:p>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then expand across trades, cities and agent platforms.</a:t>
            </a:r>
          </a:p>
        </p:txBody>
      </p:sp>
      <p:sp>
        <p:nvSpPr>
          <p:cNvPr id="12" name="text-53">
            <a:extLst xmlns:a="http://schemas.openxmlformats.org/drawingml/2006/main">
              <a:ext uri="{FF2B5EF4-FFF2-40B4-BE49-F238E27FC236}">
                <a16:creationId xmlns:a16="http://schemas.microsoft.com/office/drawing/2014/main" id="{3E064504-B392-40D0-AF08-E1FB8875FF18}"/>
              </a:ext>
            </a:extLst>
          </p:cNvPr>
          <p:cNvSpPr>
            <a:spLocks xmlns:a="http://schemas.openxmlformats.org/drawingml/2006/main" noGrp="1"/>
          </p:cNvSpPr>
          <p:nvPr/>
        </p:nvSpPr>
        <p:spPr>
          <a:xfrm xmlns:a="http://schemas.openxmlformats.org/drawingml/2006/main">
            <a:off x="609600" y="6010275"/>
            <a:ext cx="1082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3716A"/>
                </a:solidFill>
                <a:latin typeface="Helvetica Neue"/>
                <a:ea typeface="Helvetica Neue"/>
                <a:cs typeface="Helvetica Neue"/>
              </a:defRPr>
            </a:defPPr>
          </a:lstStyle>
          <a:p xmlns:a="http://schemas.openxmlformats.org/drawingml/2006/main">
            <a:pPr>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Next proof: demand routing, reliable completion and willingness to pay. Fees are not yet agreed.</a:t>
            </a:r>
          </a:p>
        </p:txBody>
      </p:sp>
    </p:spTree>
    <p:extLst>
      <p:ext uri="{BB962C8B-B14F-4D97-AF65-F5344CB8AC3E}">
        <p14:creationId xmlns:p14="http://schemas.microsoft.com/office/powerpoint/2010/main" val="1869224602"/>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text-54">
            <a:extLst xmlns:a="http://schemas.openxmlformats.org/drawingml/2006/main">
              <a:ext uri="{FF2B5EF4-FFF2-40B4-BE49-F238E27FC236}">
                <a16:creationId xmlns:a16="http://schemas.microsoft.com/office/drawing/2014/main" id="{4EDB1A8F-2FE7-4A43-A6F5-E02EFE162B25}"/>
              </a:ext>
            </a:extLst>
          </p:cNvPr>
          <p:cNvSpPr>
            <a:spLocks xmlns:a="http://schemas.openxmlformats.org/drawingml/2006/main" noGrp="1"/>
          </p:cNvSpPr>
          <p:nvPr/>
        </p:nvSpPr>
        <p:spPr>
          <a:xfrm xmlns:a="http://schemas.openxmlformats.org/drawingml/2006/main">
            <a:off x="609600" y="3619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53716A"/>
                </a:solidFill>
                <a:latin typeface="Helvetica Neue"/>
                <a:ea typeface="Helvetica Neue"/>
                <a:cs typeface="Helvetica Neue"/>
              </a:defRPr>
            </a:defPPr>
          </a:lstStyle>
          <a:p xmlns:a="http://schemas.openxmlformats.org/drawingml/2006/main">
            <a:pPr>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TEAM</a:t>
            </a:r>
          </a:p>
        </p:txBody>
      </p:sp>
      <p:sp>
        <p:nvSpPr>
          <p:cNvPr id="2" name="text-55">
            <a:extLst xmlns:a="http://schemas.openxmlformats.org/drawingml/2006/main">
              <a:ext uri="{FF2B5EF4-FFF2-40B4-BE49-F238E27FC236}">
                <a16:creationId xmlns:a16="http://schemas.microsoft.com/office/drawing/2014/main" id="{BE8D1155-9C70-4930-9041-515E52300078}"/>
              </a:ext>
            </a:extLst>
          </p:cNvPr>
          <p:cNvSpPr>
            <a:spLocks xmlns:a="http://schemas.openxmlformats.org/drawingml/2006/main" noGrp="1"/>
          </p:cNvSpPr>
          <p:nvPr/>
        </p:nvSpPr>
        <p:spPr>
          <a:xfrm xmlns:a="http://schemas.openxmlformats.org/drawingml/2006/main">
            <a:off x="609600" y="6343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GoLocal</a:t>
            </a:r>
          </a:p>
        </p:txBody>
      </p:sp>
      <p:sp>
        <p:nvSpPr>
          <p:cNvPr id="3" name="text-56">
            <a:extLst xmlns:a="http://schemas.openxmlformats.org/drawingml/2006/main">
              <a:ext uri="{FF2B5EF4-FFF2-40B4-BE49-F238E27FC236}">
                <a16:creationId xmlns:a16="http://schemas.microsoft.com/office/drawing/2014/main" id="{954F578D-42CC-4B0B-A5DF-F1A1ACE6B0CC}"/>
              </a:ext>
            </a:extLst>
          </p:cNvPr>
          <p:cNvSpPr>
            <a:spLocks xmlns:a="http://schemas.openxmlformats.org/drawingml/2006/main" noGrp="1"/>
          </p:cNvSpPr>
          <p:nvPr/>
        </p:nvSpPr>
        <p:spPr>
          <a:xfrm xmlns:a="http://schemas.openxmlformats.org/drawingml/2006/main">
            <a:off x="11201400" y="634365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3716A"/>
                </a:solidFill>
                <a:latin typeface="Helvetica Neue"/>
                <a:ea typeface="Helvetica Neue"/>
                <a:cs typeface="Helvetica Neue"/>
              </a:defRPr>
            </a:defPPr>
          </a:lstStyle>
          <a:p xmlns:a="http://schemas.openxmlformats.org/drawingml/2006/main">
            <a:pPr>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06</a:t>
            </a:r>
          </a:p>
        </p:txBody>
      </p:sp>
      <p:sp>
        <p:nvSpPr>
          <p:cNvPr id="4" name="text-57">
            <a:extLst xmlns:a="http://schemas.openxmlformats.org/drawingml/2006/main">
              <a:ext uri="{FF2B5EF4-FFF2-40B4-BE49-F238E27FC236}">
                <a16:creationId xmlns:a16="http://schemas.microsoft.com/office/drawing/2014/main" id="{3CBDB4A7-A69D-4C99-BCCC-B47C73003A75}"/>
              </a:ext>
            </a:extLst>
          </p:cNvPr>
          <p:cNvSpPr>
            <a:spLocks xmlns:a="http://schemas.openxmlformats.org/drawingml/2006/main" noGrp="1"/>
          </p:cNvSpPr>
          <p:nvPr/>
        </p:nvSpPr>
        <p:spPr>
          <a:xfrm xmlns:a="http://schemas.openxmlformats.org/drawingml/2006/main">
            <a:off x="609600" y="895350"/>
            <a:ext cx="10953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03D3B"/>
                </a:solidFill>
                <a:latin typeface="Helvetica Neue"/>
                <a:ea typeface="Helvetica Neue"/>
                <a:cs typeface="Helvetica Neue"/>
              </a:defRPr>
            </a:defPPr>
          </a:lstStyle>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A decade building local services.</a:t>
            </a:r>
          </a:p>
          <a:p xmlns:a="http://schemas.openxmlformats.org/drawingml/2006/main">
            <a:pPr>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Engineering for the agent era.</a:t>
            </a:r>
          </a:p>
        </p:txBody>
      </p:sp>
      <p:sp>
        <p:nvSpPr>
          <p:cNvPr id="5" name="text-58">
            <a:extLst xmlns:a="http://schemas.openxmlformats.org/drawingml/2006/main">
              <a:ext uri="{FF2B5EF4-FFF2-40B4-BE49-F238E27FC236}">
                <a16:creationId xmlns:a16="http://schemas.microsoft.com/office/drawing/2014/main" id="{FE6B487C-5739-4265-8F06-6B4C98DDD202}"/>
              </a:ext>
            </a:extLst>
          </p:cNvPr>
          <p:cNvSpPr>
            <a:spLocks xmlns:a="http://schemas.openxmlformats.org/drawingml/2006/main" noGrp="1"/>
          </p:cNvSpPr>
          <p:nvPr/>
        </p:nvSpPr>
        <p:spPr>
          <a:xfrm xmlns:a="http://schemas.openxmlformats.org/drawingml/2006/main">
            <a:off x="609600" y="296227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03D3B"/>
                </a:solidFill>
                <a:latin typeface="Helvetica Neue"/>
                <a:ea typeface="Helvetica Neue"/>
                <a:cs typeface="Helvetica Neue"/>
              </a:defRPr>
            </a:defPPr>
          </a:lstStyle>
          <a:p xmlns:a="http://schemas.openxmlformats.org/drawingml/2006/main">
            <a:pPr>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Pulkit Walia</a:t>
            </a:r>
          </a:p>
        </p:txBody>
      </p:sp>
      <p:sp>
        <p:nvSpPr>
          <p:cNvPr id="6" name="text-59">
            <a:extLst xmlns:a="http://schemas.openxmlformats.org/drawingml/2006/main">
              <a:ext uri="{FF2B5EF4-FFF2-40B4-BE49-F238E27FC236}">
                <a16:creationId xmlns:a16="http://schemas.microsoft.com/office/drawing/2014/main" id="{325FCC4D-A8AA-4266-9AC3-5CBA3D5F8EE8}"/>
              </a:ext>
            </a:extLst>
          </p:cNvPr>
          <p:cNvSpPr>
            <a:spLocks xmlns:a="http://schemas.openxmlformats.org/drawingml/2006/main" noGrp="1"/>
          </p:cNvSpPr>
          <p:nvPr/>
        </p:nvSpPr>
        <p:spPr>
          <a:xfrm xmlns:a="http://schemas.openxmlformats.org/drawingml/2006/main">
            <a:off x="609600" y="358140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53716A"/>
                </a:solidFill>
                <a:latin typeface="Helvetica Neue"/>
                <a:ea typeface="Helvetica Neue"/>
                <a:cs typeface="Helvetica Neue"/>
              </a:defRPr>
            </a:defPPr>
          </a:lstStyle>
          <a:p xmlns:a="http://schemas.openxmlformats.org/drawingml/2006/main">
            <a:pPr>
              <a:defRPr sz="1875" b="1">
                <a:solidFill>
                  <a:srgbClr val="53716A"/>
                </a:solidFill>
                <a:latin typeface="Helvetica Neue"/>
                <a:ea typeface="Helvetica Neue"/>
                <a:cs typeface="Helvetica Neue"/>
              </a:defRPr>
            </a:pPr>
            <a:r>
              <a:rPr sz="1875" b="1">
                <a:solidFill>
                  <a:srgbClr val="53716A"/>
                </a:solidFill>
                <a:latin typeface="Helvetica Neue"/>
                <a:ea typeface="Helvetica Neue"/>
                <a:cs typeface="Helvetica Neue"/>
              </a:rPr>
              <a:t>Founder  ·  HBS MBA</a:t>
            </a:r>
          </a:p>
        </p:txBody>
      </p:sp>
      <p:sp>
        <p:nvSpPr>
          <p:cNvPr id="7" name="text-60">
            <a:extLst xmlns:a="http://schemas.openxmlformats.org/drawingml/2006/main">
              <a:ext uri="{FF2B5EF4-FFF2-40B4-BE49-F238E27FC236}">
                <a16:creationId xmlns:a16="http://schemas.microsoft.com/office/drawing/2014/main" id="{1F694D6B-B29A-4E11-BA08-97E4535308A7}"/>
              </a:ext>
            </a:extLst>
          </p:cNvPr>
          <p:cNvSpPr>
            <a:spLocks xmlns:a="http://schemas.openxmlformats.org/drawingml/2006/main" noGrp="1"/>
          </p:cNvSpPr>
          <p:nvPr/>
        </p:nvSpPr>
        <p:spPr>
          <a:xfrm xmlns:a="http://schemas.openxmlformats.org/drawingml/2006/main">
            <a:off x="609600" y="4229100"/>
            <a:ext cx="50673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73B38"/>
                </a:solidFill>
                <a:latin typeface="Helvetica Neue"/>
                <a:ea typeface="Helvetica Neue"/>
                <a:cs typeface="Helvetica Neue"/>
              </a:defRPr>
            </a:defPPr>
          </a:lstStyle>
          <a:p xmlns:a="http://schemas.openxmlformats.org/drawingml/2006/main">
            <a:pPr>
              <a:defRPr sz="2100" b="0">
                <a:solidFill>
                  <a:srgbClr val="173B38"/>
                </a:solidFill>
                <a:latin typeface="Helvetica Neue"/>
                <a:ea typeface="Helvetica Neue"/>
                <a:cs typeface="Helvetica Neue"/>
              </a:defRPr>
            </a:pPr>
            <a:r>
              <a:rPr sz="2100" b="0">
                <a:solidFill>
                  <a:srgbClr val="173B38"/>
                </a:solidFill>
                <a:latin typeface="Helvetica Neue"/>
                <a:ea typeface="Helvetica Neue"/>
                <a:cs typeface="Helvetica Neue"/>
              </a:rPr>
              <a:t>Urban Company founding team.</a:t>
            </a:r>
          </a:p>
          <a:p xmlns:a="http://schemas.openxmlformats.org/drawingml/2006/main">
            <a:pPr>
              <a:defRPr sz="2100" b="0">
                <a:solidFill>
                  <a:srgbClr val="173B38"/>
                </a:solidFill>
                <a:latin typeface="Helvetica Neue"/>
                <a:ea typeface="Helvetica Neue"/>
                <a:cs typeface="Helvetica Neue"/>
              </a:defRPr>
            </a:pPr>
            <a:r>
              <a:rPr sz="2100" b="0">
                <a:solidFill>
                  <a:srgbClr val="173B38"/>
                </a:solidFill>
                <a:latin typeface="Helvetica Neue"/>
                <a:ea typeface="Helvetica Neue"/>
                <a:cs typeface="Helvetica Neue"/>
              </a:rPr>
              <a:t>Spent a decade building local services</a:t>
            </a:r>
          </a:p>
          <a:p xmlns:a="http://schemas.openxmlformats.org/drawingml/2006/main">
            <a:pPr>
              <a:defRPr sz="2100" b="0">
                <a:solidFill>
                  <a:srgbClr val="173B38"/>
                </a:solidFill>
                <a:latin typeface="Helvetica Neue"/>
                <a:ea typeface="Helvetica Neue"/>
                <a:cs typeface="Helvetica Neue"/>
              </a:defRPr>
            </a:pPr>
            <a:r>
              <a:rPr sz="2100" b="0">
                <a:solidFill>
                  <a:srgbClr val="173B38"/>
                </a:solidFill>
                <a:latin typeface="Helvetica Neue"/>
                <a:ea typeface="Helvetica Neue"/>
                <a:cs typeface="Helvetica Neue"/>
              </a:rPr>
              <a:t>in Asia, from zero to a $3B IPO.</a:t>
            </a:r>
          </a:p>
        </p:txBody>
      </p:sp>
      <p:sp>
        <p:nvSpPr>
          <p:cNvPr id="8" name="text-61">
            <a:extLst xmlns:a="http://schemas.openxmlformats.org/drawingml/2006/main">
              <a:ext uri="{FF2B5EF4-FFF2-40B4-BE49-F238E27FC236}">
                <a16:creationId xmlns:a16="http://schemas.microsoft.com/office/drawing/2014/main" id="{264F9CD2-111F-4907-979B-2C1B8DB8658F}"/>
              </a:ext>
            </a:extLst>
          </p:cNvPr>
          <p:cNvSpPr>
            <a:spLocks xmlns:a="http://schemas.openxmlformats.org/drawingml/2006/main" noGrp="1"/>
          </p:cNvSpPr>
          <p:nvPr/>
        </p:nvSpPr>
        <p:spPr>
          <a:xfrm xmlns:a="http://schemas.openxmlformats.org/drawingml/2006/main">
            <a:off x="6791325" y="2962275"/>
            <a:ext cx="4819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03D3B"/>
                </a:solidFill>
                <a:latin typeface="Helvetica Neue"/>
                <a:ea typeface="Helvetica Neue"/>
                <a:cs typeface="Helvetica Neue"/>
              </a:defRPr>
            </a:defPPr>
          </a:lstStyle>
          <a:p xmlns:a="http://schemas.openxmlformats.org/drawingml/2006/main">
            <a:pPr>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Rohit Jain</a:t>
            </a:r>
          </a:p>
        </p:txBody>
      </p:sp>
      <p:sp>
        <p:nvSpPr>
          <p:cNvPr id="9" name="text-62">
            <a:extLst xmlns:a="http://schemas.openxmlformats.org/drawingml/2006/main">
              <a:ext uri="{FF2B5EF4-FFF2-40B4-BE49-F238E27FC236}">
                <a16:creationId xmlns:a16="http://schemas.microsoft.com/office/drawing/2014/main" id="{8E6845E5-FADB-45A7-8125-D595CA1D584C}"/>
              </a:ext>
            </a:extLst>
          </p:cNvPr>
          <p:cNvSpPr>
            <a:spLocks xmlns:a="http://schemas.openxmlformats.org/drawingml/2006/main" noGrp="1"/>
          </p:cNvSpPr>
          <p:nvPr/>
        </p:nvSpPr>
        <p:spPr>
          <a:xfrm xmlns:a="http://schemas.openxmlformats.org/drawingml/2006/main">
            <a:off x="6791325" y="3581400"/>
            <a:ext cx="481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53716A"/>
                </a:solidFill>
                <a:latin typeface="Helvetica Neue"/>
                <a:ea typeface="Helvetica Neue"/>
                <a:cs typeface="Helvetica Neue"/>
              </a:defRPr>
            </a:defPPr>
          </a:lstStyle>
          <a:p xmlns:a="http://schemas.openxmlformats.org/drawingml/2006/main">
            <a:pPr>
              <a:defRPr sz="1875" b="1">
                <a:solidFill>
                  <a:srgbClr val="53716A"/>
                </a:solidFill>
                <a:latin typeface="Helvetica Neue"/>
                <a:ea typeface="Helvetica Neue"/>
                <a:cs typeface="Helvetica Neue"/>
              </a:defRPr>
            </a:pPr>
            <a:r>
              <a:rPr sz="1875" b="1">
                <a:solidFill>
                  <a:srgbClr val="53716A"/>
                </a:solidFill>
                <a:latin typeface="Helvetica Neue"/>
                <a:ea typeface="Helvetica Neue"/>
                <a:cs typeface="Helvetica Neue"/>
              </a:rPr>
              <a:t>Engineering</a:t>
            </a:r>
          </a:p>
        </p:txBody>
      </p:sp>
      <p:sp>
        <p:nvSpPr>
          <p:cNvPr id="10" name="text-63">
            <a:extLst xmlns:a="http://schemas.openxmlformats.org/drawingml/2006/main">
              <a:ext uri="{FF2B5EF4-FFF2-40B4-BE49-F238E27FC236}">
                <a16:creationId xmlns:a16="http://schemas.microsoft.com/office/drawing/2014/main" id="{699C7848-943A-4B9F-A5AC-8F4A575773E9}"/>
              </a:ext>
            </a:extLst>
          </p:cNvPr>
          <p:cNvSpPr>
            <a:spLocks xmlns:a="http://schemas.openxmlformats.org/drawingml/2006/main" noGrp="1"/>
          </p:cNvSpPr>
          <p:nvPr/>
        </p:nvSpPr>
        <p:spPr>
          <a:xfrm xmlns:a="http://schemas.openxmlformats.org/drawingml/2006/main">
            <a:off x="6791325" y="4229100"/>
            <a:ext cx="48196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73B38"/>
                </a:solidFill>
                <a:latin typeface="Helvetica Neue"/>
                <a:ea typeface="Helvetica Neue"/>
                <a:cs typeface="Helvetica Neue"/>
              </a:defRPr>
            </a:defPPr>
          </a:lstStyle>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Software engineering at Amazon and Square.</a:t>
            </a:r>
          </a:p>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Built production-grade MCP products.</a:t>
            </a:r>
          </a:p>
          <a:p xmlns:a="http://schemas.openxmlformats.org/drawingml/2006/main">
            <a:pPr>
              <a:defRPr sz="1950" b="0">
                <a:solidFill>
                  <a:srgbClr val="173B38"/>
                </a:solidFill>
                <a:latin typeface="Helvetica Neue"/>
                <a:ea typeface="Helvetica Neue"/>
                <a:cs typeface="Helvetica Neue"/>
              </a:defRPr>
            </a:pPr>
            <a:r>
              <a:rPr sz="1950" b="0">
                <a:solidFill>
                  <a:srgbClr val="173B38"/>
                </a:solidFill>
                <a:latin typeface="Helvetica Neue"/>
                <a:ea typeface="Helvetica Neue"/>
                <a:cs typeface="Helvetica Neue"/>
              </a:rPr>
              <a:t>Technical instructor with 24,000+ learners.</a:t>
            </a:r>
          </a:p>
        </p:txBody>
      </p:sp>
      <p:sp>
        <p:nvSpPr>
          <p:cNvPr id="11" name="text-64">
            <a:extLst xmlns:a="http://schemas.openxmlformats.org/drawingml/2006/main">
              <a:ext uri="{FF2B5EF4-FFF2-40B4-BE49-F238E27FC236}">
                <a16:creationId xmlns:a16="http://schemas.microsoft.com/office/drawing/2014/main" id="{AF109AD4-F728-4459-9BE4-6A187E784952}"/>
              </a:ext>
            </a:extLst>
          </p:cNvPr>
          <p:cNvSpPr>
            <a:spLocks xmlns:a="http://schemas.openxmlformats.org/drawingml/2006/main" noGrp="1"/>
          </p:cNvSpPr>
          <p:nvPr/>
        </p:nvSpPr>
        <p:spPr>
          <a:xfrm xmlns:a="http://schemas.openxmlformats.org/drawingml/2006/main">
            <a:off x="609600" y="5838825"/>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03D3B"/>
                </a:solidFill>
                <a:latin typeface="Helvetica Neue"/>
                <a:ea typeface="Helvetica Neue"/>
                <a:cs typeface="Helvetica Neue"/>
              </a:defRPr>
            </a:defPPr>
          </a:lstStyle>
          <a:p xmlns:a="http://schemas.openxmlformats.org/drawingml/2006/main">
            <a:pPr>
              <a:defRPr sz="2175" b="1">
                <a:solidFill>
                  <a:srgbClr val="103D3B"/>
                </a:solidFill>
                <a:latin typeface="Helvetica Neue"/>
                <a:ea typeface="Helvetica Neue"/>
                <a:cs typeface="Helvetica Neue"/>
              </a:defRPr>
            </a:pPr>
            <a:r>
              <a:rPr sz="2175" b="1">
                <a:solidFill>
                  <a:srgbClr val="103D3B"/>
                </a:solidFill>
                <a:latin typeface="Helvetica Neue"/>
                <a:ea typeface="Helvetica Neue"/>
                <a:cs typeface="Helvetica Neue"/>
              </a:rPr>
              <a:t>Reimagining local services for a world of personal agents.</a:t>
            </a:r>
          </a:p>
        </p:txBody>
      </p:sp>
    </p:spTree>
    <p:extLst>
      <p:ext uri="{BB962C8B-B14F-4D97-AF65-F5344CB8AC3E}">
        <p14:creationId xmlns:p14="http://schemas.microsoft.com/office/powerpoint/2010/main" val="17436412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2026-10-10T22:06:57.8560000Z</dcterms:created>
  <dcterms:modified xsi:type="dcterms:W3CDTF">2026-10-10T22:06:57.8560000Z</dcterms:modified>
</coreProperties>
</file>