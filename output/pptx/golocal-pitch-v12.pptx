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8e32e43b914545" /><Relationship Type="http://schemas.openxmlformats.org/officeDocument/2006/relationships/extended-properties" Target="/docProps/app.xml" Id="R01cfd9441e6546df" /><Relationship Type="http://schemas.openxmlformats.org/officeDocument/2006/relationships/officeDocument" Target="/ppt/presentation.xml" Id="Rc79910e970e444f1" /></Relationships>
</file>

<file path=ppt/presentation.xml><?xml version="1.0" encoding="utf-8"?>
<p:presentation xmlns:p="http://schemas.openxmlformats.org/presentationml/2006/main">
  <p:sldMasterIdLst>
    <p:sldMasterId xmlns:r="http://schemas.openxmlformats.org/officeDocument/2006/relationships" id="2147483648" r:id="Rc6fe60319213457b"/>
  </p:sldMasterIdLst>
  <p:notesMasterIdLst>
    <p:notesMasterId xmlns:r="http://schemas.openxmlformats.org/officeDocument/2006/relationships" r:id="Rb01ceb1b88514cc3"/>
  </p:notesMasterIdLst>
  <p:sldIdLst>
    <p:sldId xmlns:r="http://schemas.openxmlformats.org/officeDocument/2006/relationships" id="256" r:id="Rc1217c8ec06c4ec0"/>
    <p:sldId xmlns:r="http://schemas.openxmlformats.org/officeDocument/2006/relationships" id="257" r:id="R07a72fbc64cb413b"/>
    <p:sldId xmlns:r="http://schemas.openxmlformats.org/officeDocument/2006/relationships" id="258" r:id="Ra30269a86c574b33"/>
    <p:sldId xmlns:r="http://schemas.openxmlformats.org/officeDocument/2006/relationships" id="259" r:id="Rb72e46e800f44d51"/>
    <p:sldId xmlns:r="http://schemas.openxmlformats.org/officeDocument/2006/relationships" id="260" r:id="Rdd85994fa82d4ed7"/>
    <p:sldId xmlns:r="http://schemas.openxmlformats.org/officeDocument/2006/relationships" id="261" r:id="Ra44d9df13aee4f0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e8d29cce0e4b53" /><Relationship Type="http://schemas.openxmlformats.org/officeDocument/2006/relationships/slideMaster" Target="/ppt/slideMasters/slideMaster1.xml" Id="Rc6fe60319213457b" /><Relationship Type="http://schemas.openxmlformats.org/officeDocument/2006/relationships/notesMaster" Target="/ppt/notesMasters/notesMaster1.xml" Id="Rb01ceb1b88514cc3" /><Relationship Type="http://schemas.openxmlformats.org/officeDocument/2006/relationships/presProps" Target="/ppt/presProps.xml" Id="R4a2bbb69ab8a4b4a" /><Relationship Type="http://schemas.openxmlformats.org/officeDocument/2006/relationships/tableStyles" Target="/ppt/tableStyles.xml" Id="R1fc3105e32d0415d" /><Relationship Type="http://schemas.openxmlformats.org/officeDocument/2006/relationships/slide" Target="/ppt/slides/slide1.xml" Id="Rc1217c8ec06c4ec0" /><Relationship Type="http://schemas.openxmlformats.org/officeDocument/2006/relationships/slide" Target="/ppt/slides/slide2.xml" Id="R07a72fbc64cb413b" /><Relationship Type="http://schemas.openxmlformats.org/officeDocument/2006/relationships/slide" Target="/ppt/slides/slide3.xml" Id="Ra30269a86c574b33" /><Relationship Type="http://schemas.openxmlformats.org/officeDocument/2006/relationships/slide" Target="/ppt/slides/slide4.xml" Id="Rb72e46e800f44d51" /><Relationship Type="http://schemas.openxmlformats.org/officeDocument/2006/relationships/slide" Target="/ppt/slides/slide5.xml" Id="Rdd85994fa82d4ed7" /><Relationship Type="http://schemas.openxmlformats.org/officeDocument/2006/relationships/slide" Target="/ppt/slides/slide6.xml" Id="Ra44d9df13aee4f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5905103e6347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f5ea1427394758" /><Relationship Type="http://schemas.openxmlformats.org/officeDocument/2006/relationships/notesMaster" Target="/ppt/notesMasters/notesMaster1.xml" Id="R06f89bf5c5ad4e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9dc5b4b2ec41e4" /><Relationship Type="http://schemas.openxmlformats.org/officeDocument/2006/relationships/notesMaster" Target="/ppt/notesMasters/notesMaster1.xml" Id="R84e52b5a6cd649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4b28519f5f4cef" /><Relationship Type="http://schemas.openxmlformats.org/officeDocument/2006/relationships/notesMaster" Target="/ppt/notesMasters/notesMaster1.xml" Id="Raa6e6275b58a44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a7afe604f848f2" /><Relationship Type="http://schemas.openxmlformats.org/officeDocument/2006/relationships/notesMaster" Target="/ppt/notesMasters/notesMaster1.xml" Id="R09b284e08eee43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7c00e68a2c401e" /><Relationship Type="http://schemas.openxmlformats.org/officeDocument/2006/relationships/notesMaster" Target="/ppt/notesMasters/notesMaster1.xml" Id="Rba67597066c945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6deb9ca419b4528" /><Relationship Type="http://schemas.openxmlformats.org/officeDocument/2006/relationships/notesMaster" Target="/ppt/notesMasters/notesMaster1.xml" Id="R3ccd29a60f1b4e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Cumulative staircase of platform unlocks requested by the founder, October 10 2026. Capabilities remain green in later platforms: directories enable finding businesses; internet adds digital comparison; Maps/mobile adds location and review-based filtering; LLM chatbots add conversational requests; personal agents add task delegation. Dark-green diagonal identifies each new unlock and pale green preserves earlier gains. This is an illustrative progression of typical customer-facing platform capabilities, not a product-by-product historical audit, launch-date claim or assertion that older platforms never offered a similar feature. Red means work still manual or outside the platform. The last three rows are the remaining quote, live-availability and booking/payment bottlenecks across fragmented providers. Personal agents can call and browse; delegation does not by itself expose reliable structured supplier data or authorized transactions. Some providers and marketplaces already transact. Complex scoping and merchant authorization may still require human input. Dates retained: Maps 2010–2020, chatbots 2020–2025, personal AI agents 2026+. AI + tools is a simplified action-capability description. No measured mass-adoption or universal booking-success claim. Historical context: https://www.craigslist.org/about/mission_and_history ; https://blog.google/products-and-platforms/products/maps/look-back-15-years-mapping-world/ .</a:t>
            </a:r>
          </a:p>
          <a:p xmlns:a="http://schemas.openxmlformats.org/drawingml/2006/main">
            <a:r>
              <a:t>Market evidence from project chat “Estimate Homebase local services TAM”, October 10 2026, and resources/local-services-tam-2026-10-10.md. Approximately $1.2T in annual U.S. spending across selected categories: home improvement and repair around $600B (Harvard, 2023 actual / 2025 projected total owner and rental stock); auto maintenance and repair $283.802B (BEA 2025); personal care and clothing services $239.558B (BEA 2025); child day care $65.546955B (Census 2024 revenue). Indicative sum $1.1889T with rounded home baseline, or $1.1969T with $608B home projection, rounded to $1.2T. This supports approximately $1.2T rather than a measured $1.2T+ lower bound. Mixed years and measures; includes home materials and DIY. Underlying spending is not bookable volume or GoLocal fee revenue. Sources: https://www.jchs.harvard.edu/blog/bigger-market-more-players-what-20-years-data-reveal-about-remodeling-industry ; https://www.jchs.harvard.edu/sites/default/files/reports/files/Harvard_JCHS_Improving_Americas_Housing_2025.pdf ; https://fred.stlouisfed.org/release/tables?eid=44183&amp;rid=53 ; https://fred.stlouisfed.org/series/AIES6244RCT00US .</a:t>
            </a:r>
          </a:p>
          <a:p xmlns:a="http://schemas.openxmlformats.org/drawingml/2006/main">
            <a:r>
              <a:t>Founder-requested headline wording, October 10 2026: $1.2 trillion+. This is the founder’s broad-market estimate/framing. The sourced selected-category sum remains approximately $1.2T, with mixed observation years and materials/DIY included; no independent $1.2T+ lower-bound calculation was added. The original market research is preserved unchanged.</a:t>
            </a:r>
          </a:p>
          <a:p xmlns:a="http://schemas.openxmlformats.org/drawingml/2006/main">
            <a:r>
              <a:t>Opportunity close requested by the founder: solving quotes, live availability and booking/payment can enable end-to-end local-service bookings and value capture. This is the commercial thesis, not evidence of achieved integration, measured revenue share or guaranteed large market capture. Reachable supply, permitted operations, reliability and demand distribution remain necessary. User requested finishing slide 1 before revising slide 2; other slides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Founder-requested software fragmentation refinement, October 10 2026. Agent funnel, GoLocal data/action hub, supplier onboarding line and one-connection benefits retained. Right-hand diagram now shows multiple distinct software vendors serving one category (plumbing), rather than one functional software category per service. ServiceTitan, FieldEdge, Housecall Pro and Jobber each advertise plumbing business software; Other systems signals additional potential systems. A shared wiring junction connects the software examples to enterprise, mid-market and small-business provider segments. This is an illustrative ecosystem, not a vendor-to-size assignment, a claim that a specific provider uses every listed system, an exhaustive vendor list, concentration measurement or proof that no vendor dominates. Software names are examples, not signed GoLocal integrations. Enterprise/mid-market/SME segments represent different provider sizes; no exclusive software allocation or 5% share claim. Official source pages accessed October 10 2026: https://www.servicetitan.com/industries/plumbing-software ; https://fieldedge.com/plumbing-software/ ; https://www.housecallpro.com/plumbing/ ; https://www.getjobber.com/industries/plumbing-estimating-software/ . Evidence snapshot resources/plumbing-software-examples-2026-10-10.json. Proposed GoLocal network connects authorized supplier systems and exposes services, coverage, pricing/quote requirements, live availability, quoting, booking, payments and management. System capabilities vary; complex scoping may need provider input, merchant authorization and permitted operations. No production bookings, platform partnerships or universal API availability claimed. The five named agents remain illustrative. $2B+ caption is sourced selected-company funding, not last-month-only or local-service demand: Hark https://hark.com/articles/hark-announces-usd700-million-fundraising-round ; Instinct https://www.businesswire.com/news/home/20260928153437/en/ and earlier reported total https://techcrunch.com/2026/08/26/viral-ai-startup-instinct-has-raised-350-million-at-a-2-5-billion-valuation/ ; Town https://www.town.com/press/series-a . Funding excludes unverified product-specific OpenAI/Meta allocations. Existing business systems remain authoritative. Architecture follows local business/current theses and founder direction.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proposed customer journey, October 10 2026. This replaces the architecture repeated on slide 3 with a concrete request-to-confirmation example. A customer in Dallas asks their personal agent to book a plumber tomorrow morning for a leaking kitchen tap. The agent collects address, a photo and necessary access information, then scopes a diagnostic visit. GoLocal queries participating, authorized business systems for eligible providers, service coverage, live slots and visit fees. The agent presents a bookable option, and the customer explicitly approves the provider, fee and payment authorization. GoLocal rechecks availability, uses the permitted booking operation in the provider system, and returns a confirmed booking ID and payment status only after the provider system accepts the booking. If availability changes or no suitable option exists, the agent offers another option instead of claiming success. Booking GL-1042, Oak Plumbing, $79 and 9–11 am are invented illustrative values, not an actual merchant, offer, market price or completed transaction. The $79 covers a diagnostic visit only. Repairs require a later provider quote and customer approval. Payment authorization is distinct from a settled payment and requires supported payment capabilities and customer consent. Actual quote, schedule, payment and booking capabilities vary across providers and software. The slide presents the intended experience and does not imply production readiness or automatic access to every merchant. Sources of the proposed product scope are resources/business-thesis.md and resources/current-thesis.md; no new factual performance, transaction volume or speed claim is introduced. Existing slides, user-supplied thesis facts and evidence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proposal, not signed pricing, revenue projections or validated unit economics. Supplier pays for a fulfilled job from a new customer; proposed partner share is not agreed. New-customer acquisition and serving an existing customer are separate hypotheses. Payment processing itself is not assumed to be the monetization model. Direct agent-platform routing requires a secured partnership; supplier partner Cactus is not that demand partner. A marketplace/directory connector still needs user discovery and consent. One prompt may start installation on supported platforms; permissions, review and custom integration requirements vary. These are routes under exploration, not exclusive or finalized. Muse platform guidelines: https://muse.ai/platform/docs . OpenAI plugin guidelines: https://developers.openai.com/plugins/plugin-guidelines and Dots supported installed/enabled plugins: https://learn.chatgpt.com/docs/dots/computers-and-apps . Claude directory versus custom: https://claude.com/docs/connectors/building/directory-vs-custom . Review, compatibility, account availability and permissions vary. Platforms support developer connectors; GoLocal is not approved or integrated yet.</a:t>
            </a:r>
          </a:p>
          <a:p xmlns:a="http://schemas.openxmlformats.org/drawingml/2006/main">
            <a:r>
              <a:t>Muse separates approved connector discovery from editorial featuring and guarantees neither ranking nor traffic. OpenAI says strong utility/satisfaction may support enhanced placement or proactive suggestions. Claude directory listings are eligible for Suggested Connectors; custom connectors are not. Transaction history alone is not a published universal ranking mechanism. Early presence can help learn and prove utility; there is no guaranteed first-mover distribution advantage. Important tests: who installs/routes requests, how many requests finish, whether suppliers pay, and contribution after acquisition, integration and support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reports October 10 2026: Cactus AI (YC) serves 100+ mid-market trade shops in Salt Lake City and Dallas and agreed to introductions and booking access through its existing customers. Separate back-office management company agreed to onboard its 20 clients. Counts are not unique live GoLocal customers and are not summed. No active integration, request-routing partner, production booking, paid continuation or revenue established. Positive interviews and partnership calls reported without a count or attributable testimonials. Public Cactus identity: https://www.ycombinator.com/companies/oncactus ; public profile does not prove the private commitment. Initial trade and city to be selected from eligible requests and partner access, not assumed Boston cleaning. Next tasks include getting merchant-specific authorization and an actual customer demand channel. Team should show the product completes permitted scoped actions rather than only serving listings.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Pulkit founder-supplied: Urban Company founding team member, decade building Asia local services, helped scale company zero to $3B IPO. Company milestone, not personal wealth. HBS MBA student. Profile https://www.linkedin.com/in/pulkitwalia/ . Rohit is shown as Engineering as supplied, not an inferred CTO/cofounder title; role commitment unspecified. Founder reports production-grade MCP products and system-design teaching. Engineering employer context: https://laoh.ai/ links to supplied https://www.linkedin.com/in/rohit-jain-343437187/ . Relevant fit is operational experience building local services plus backend and transaction systems. Connector, demand and unit-economics proof is still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0443158b37485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e33ad9047a245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f4782f19f8c4e3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f04c6d2a7964e4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99f7e460708427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876d8ca50b040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7527ed235684034" /><Relationship Type="http://schemas.openxmlformats.org/officeDocument/2006/relationships/slideLayout" Target="/ppt/slideLayouts/slideLayout1.xml" Id="R37aea46f6d0e4772" /><Relationship Type="http://schemas.openxmlformats.org/officeDocument/2006/relationships/slideLayout" Target="/ppt/slideLayouts/slideLayout2.xml" Id="Redcf3d0d17fb4852" /><Relationship Type="http://schemas.openxmlformats.org/officeDocument/2006/relationships/slideLayout" Target="/ppt/slideLayouts/slideLayout3.xml" Id="Rbc5422aa3ce94160" /><Relationship Type="http://schemas.openxmlformats.org/officeDocument/2006/relationships/slideLayout" Target="/ppt/slideLayouts/slideLayout4.xml" Id="R37420006238c477c" /><Relationship Type="http://schemas.openxmlformats.org/officeDocument/2006/relationships/slideLayout" Target="/ppt/slideLayouts/slideLayout5.xml" Id="Rc8a0442fc3aa42c4" /><Relationship Type="http://schemas.openxmlformats.org/officeDocument/2006/relationships/slideLayout" Target="/ppt/slideLayouts/slideLayout6.xml" Id="Ra1868b4285ec40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aea46f6d0e4772"/>
    <p:sldLayoutId xmlns:r="http://schemas.openxmlformats.org/officeDocument/2006/relationships" id="2147483650" r:id="Redcf3d0d17fb4852"/>
    <p:sldLayoutId xmlns:r="http://schemas.openxmlformats.org/officeDocument/2006/relationships" id="2147483651" r:id="Rbc5422aa3ce94160"/>
    <p:sldLayoutId xmlns:r="http://schemas.openxmlformats.org/officeDocument/2006/relationships" id="2147483652" r:id="R37420006238c477c"/>
    <p:sldLayoutId xmlns:r="http://schemas.openxmlformats.org/officeDocument/2006/relationships" id="2147483653" r:id="Rc8a0442fc3aa42c4"/>
    <p:sldLayoutId xmlns:r="http://schemas.openxmlformats.org/officeDocument/2006/relationships" id="2147483654" r:id="Ra1868b4285ec40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10b6870c18749d3" /><Relationship Type="http://schemas.openxmlformats.org/officeDocument/2006/relationships/notesSlide" Target="/ppt/notesSlides/notesSlide1.xml" Id="R942159d8f2934b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65daedd090249d6" /><Relationship Type="http://schemas.openxmlformats.org/officeDocument/2006/relationships/notesSlide" Target="/ppt/notesSlides/notesSlide2.xml" Id="R27d5e7453c6c44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7c438dcb35b4565" /><Relationship Type="http://schemas.openxmlformats.org/officeDocument/2006/relationships/notesSlide" Target="/ppt/notesSlides/notesSlide3.xml" Id="Rc8f7ea8021b04d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85f98246d2c4553" /><Relationship Type="http://schemas.openxmlformats.org/officeDocument/2006/relationships/notesSlide" Target="/ppt/notesSlides/notesSlide4.xml" Id="Rb0896b2bfb6d49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c6cde0f37df4fda" /><Relationship Type="http://schemas.openxmlformats.org/officeDocument/2006/relationships/notesSlide" Target="/ppt/notesSlides/notesSlide5.xml" Id="R602416f9fb5848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29cc4146def4eeb" /><Relationship Type="http://schemas.openxmlformats.org/officeDocument/2006/relationships/notesSlide" Target="/ppt/notesSlides/notesSlide6.xml" Id="R2d496ecebd484472" /></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9" name="market-opening-0">
            <a:extLst xmlns:a="http://schemas.openxmlformats.org/drawingml/2006/main">
              <a:ext uri="{FF2B5EF4-FFF2-40B4-BE49-F238E27FC236}">
                <a16:creationId xmlns:a16="http://schemas.microsoft.com/office/drawing/2014/main" id="{8678B50B-E2F6-464D-A38E-7D65B2796897}"/>
              </a:ext>
            </a:extLst>
          </p:cNvPr>
          <p:cNvSpPr>
            <a:spLocks xmlns:a="http://schemas.openxmlformats.org/drawingml/2006/main" noGrp="1"/>
          </p:cNvSpPr>
          <p:nvPr/>
        </p:nvSpPr>
        <p:spPr>
          <a:xfrm xmlns:a="http://schemas.openxmlformats.org/drawingml/2006/main">
            <a:off x="495300" y="323850"/>
            <a:ext cx="11201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00" b="1">
                <a:solidFill>
                  <a:srgbClr val="193C32"/>
                </a:solidFill>
                <a:latin typeface="Helvetica Neue"/>
                <a:ea typeface="Helvetica Neue"/>
                <a:cs typeface="Helvetica Neue"/>
              </a:defRPr>
            </a:defPPr>
          </a:lstStyle>
          <a:p xmlns:a="http://schemas.openxmlformats.org/drawingml/2006/main">
            <a:pPr>
              <a:buNone/>
              <a:defRPr sz="3900" b="1">
                <a:solidFill>
                  <a:srgbClr val="193C32"/>
                </a:solidFill>
                <a:latin typeface="Helvetica Neue"/>
                <a:ea typeface="Helvetica Neue"/>
                <a:cs typeface="Helvetica Neue"/>
              </a:defRPr>
            </a:pPr>
            <a:r>
              <a:rPr sz="3900" b="1">
                <a:solidFill>
                  <a:srgbClr val="193C32"/>
                </a:solidFill>
                <a:latin typeface="Helvetica Neue"/>
                <a:ea typeface="Helvetica Neue"/>
                <a:cs typeface="Helvetica Neue"/>
              </a:rPr>
              <a:t>$1.2 trillion+ U.S. local-services opportunity</a:t>
            </a:r>
          </a:p>
        </p:txBody>
      </p:sp>
      <p:sp>
        <p:nvSpPr>
          <p:cNvPr id="2" name="market-opening-1">
            <a:extLst xmlns:a="http://schemas.openxmlformats.org/drawingml/2006/main">
              <a:ext uri="{FF2B5EF4-FFF2-40B4-BE49-F238E27FC236}">
                <a16:creationId xmlns:a16="http://schemas.microsoft.com/office/drawing/2014/main" id="{C9F321B0-5A38-4458-8889-8A8FCF56086A}"/>
              </a:ext>
            </a:extLst>
          </p:cNvPr>
          <p:cNvSpPr>
            <a:spLocks xmlns:a="http://schemas.openxmlformats.org/drawingml/2006/main" noGrp="1"/>
          </p:cNvSpPr>
          <p:nvPr/>
        </p:nvSpPr>
        <p:spPr>
          <a:xfrm xmlns:a="http://schemas.openxmlformats.org/drawingml/2006/main">
            <a:off x="495300" y="1114425"/>
            <a:ext cx="11201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a:solidFill>
                  <a:srgbClr val="65746C"/>
                </a:solidFill>
                <a:latin typeface="Helvetica Neue"/>
                <a:ea typeface="Helvetica Neue"/>
                <a:cs typeface="Helvetica Neue"/>
              </a:defRPr>
            </a:defPPr>
          </a:lstStyle>
          <a:p xmlns:a="http://schemas.openxmlformats.org/drawingml/2006/main">
            <a:pPr>
              <a:buNone/>
              <a:defRPr sz="2325" b="0">
                <a:solidFill>
                  <a:srgbClr val="65746C"/>
                </a:solidFill>
                <a:latin typeface="Helvetica Neue"/>
                <a:ea typeface="Helvetica Neue"/>
                <a:cs typeface="Helvetica Neue"/>
              </a:defRPr>
            </a:pPr>
            <a:r>
              <a:rPr sz="2325" b="0">
                <a:solidFill>
                  <a:srgbClr val="65746C"/>
                </a:solidFill>
                <a:latin typeface="Helvetica Neue"/>
                <a:ea typeface="Helvetica Neue"/>
                <a:cs typeface="Helvetica Neue"/>
              </a:rPr>
              <a:t>Each new platform unlocks another step. The transaction gap remains.</a:t>
            </a:r>
          </a:p>
        </p:txBody>
      </p:sp>
      <p:graphicFrame>
        <p:nvGraphicFramePr>
          <p:cNvPr id="5" name="">
            <a:extLst xmlns:a="http://schemas.openxmlformats.org/drawingml/2006/main">
              <a:ext uri="{FF2B5EF4-FFF2-40B4-BE49-F238E27FC236}">
                <a16:creationId xmlns:a16="http://schemas.microsoft.com/office/drawing/2014/main" id="{14BAF024-A713-4126-887D-9712362D7F1A}"/>
              </a:ext>
            </a:extLst>
          </p:cNvPr>
          <p:cNvGraphicFramePr/>
          <p:nvPr/>
        </p:nvGraphicFramePr>
        <p:xfrm>
          <a:off xmlns:a="http://schemas.openxmlformats.org/drawingml/2006/main" x="495300" y="1990725"/>
          <a:ext xmlns:a="http://schemas.openxmlformats.org/drawingml/2006/main" cx="11201400" cy="3790950"/>
        </p:xfrm>
        <a:graphic xmlns:a="http://schemas.openxmlformats.org/drawingml/2006/main">
          <a:graphicData uri="http://schemas.openxmlformats.org/drawingml/2006/table">
            <a:tbl>
              <a:tblPr firstRow="0" firstCol="0" bandRow="0"/>
              <a:tblGrid>
                <a:gridCol w="2295525"/>
                <a:gridCol w="1781175"/>
                <a:gridCol w="1781175"/>
                <a:gridCol w="1781175"/>
                <a:gridCol w="1781175"/>
                <a:gridCol w="1781175"/>
              </a:tblGrid>
              <a:tr h="266700">
                <a:tc>
                  <a:txBody>
                    <a:bodyPr wrap="square">
                      <a:noAutofit/>
                    </a:bodyPr>
                    <a:lstStyle/>
                    <a:p>
                      <a:r>
                        <a:rPr sz="1575" b="1">
                          <a:solidFill>
                            <a:srgbClr val="193C32"/>
                          </a:solidFill>
                          <a:latin typeface="Helvetica Neue"/>
                          <a:ea typeface="Helvetica Neue"/>
                          <a:cs typeface="Helvetica Neue"/>
                        </a:rPr>
                        <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Pre-2000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2000–2010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2010–2020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2020–2025</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2026+</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285750">
                <a:tc>
                  <a:txBody>
                    <a:bodyPr wrap="square">
                      <a:noAutofit/>
                    </a:bodyPr>
                    <a:lstStyle/>
                    <a:p>
                      <a:pPr algn="l">
                        <a:buNone/>
                      </a:pPr>
                      <a:r>
                        <a:rPr sz="1575" b="1">
                          <a:solidFill>
                            <a:srgbClr val="193C32"/>
                          </a:solidFill>
                          <a:latin typeface="Helvetica Neue"/>
                          <a:ea typeface="Helvetica Neue"/>
                          <a:cs typeface="Helvetica Neue"/>
                        </a:rPr>
                        <a:t>Technology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Telephones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Internet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Mobile + GPS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LLMs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AI + tools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609600">
                <a:tc>
                  <a:txBody>
                    <a:bodyPr wrap="square">
                      <a:noAutofit/>
                    </a:bodyPr>
                    <a:lstStyle/>
                    <a:p>
                      <a:pPr algn="l">
                        <a:buNone/>
                      </a:pPr>
                      <a:r>
                        <a:rPr sz="1575" b="1">
                          <a:solidFill>
                            <a:srgbClr val="193C32"/>
                          </a:solidFill>
                          <a:latin typeface="Helvetica Neue"/>
                          <a:ea typeface="Helvetica Neue"/>
                          <a:cs typeface="Helvetica Neue"/>
                        </a:rPr>
                        <a:t>Platform</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Yellow Pages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a:t>
                      </a:r>
                    </a:p>
                    <a:p>
                      <a:pPr algn="ctr">
                        <a:buNone/>
                      </a:pPr>
                      <a:r>
                        <a:rPr sz="1725" b="1">
                          <a:solidFill>
                            <a:srgbClr val="193C32"/>
                          </a:solidFill>
                          <a:latin typeface="Helvetica Neue"/>
                          <a:ea typeface="Helvetica Neue"/>
                          <a:cs typeface="Helvetica Neue"/>
                        </a:rPr>
                        <a:t>Craigslist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Maps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AI chatbots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FFFFFF"/>
                          </a:solidFill>
                          <a:latin typeface="Helvetica Neue"/>
                          <a:ea typeface="Helvetica Neue"/>
                          <a:cs typeface="Helvetica Neue"/>
                        </a:rPr>
                        <a:t>Personal AI</a:t>
                      </a:r>
                    </a:p>
                    <a:p>
                      <a:pPr algn="ctr">
                        <a:buNone/>
                      </a:pPr>
                      <a:r>
                        <a:rPr sz="1725" b="1">
                          <a:solidFill>
                            <a:srgbClr val="FFFFFF"/>
                          </a:solidFill>
                          <a:latin typeface="Helvetica Neue"/>
                          <a:ea typeface="Helvetica Neue"/>
                          <a:cs typeface="Helvetica Neue"/>
                        </a:rPr>
                        <a:t>agents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193C32"/>
                          </a:solidFill>
                          <a:latin typeface="Helvetica Neue"/>
                          <a:ea typeface="Helvetica Neue"/>
                          <a:cs typeface="Helvetica Neue"/>
                        </a:rPr>
                        <a:t>Find a business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Compare options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Location &amp; reviews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Conversational request</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Delegate the task</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9D514B"/>
                          </a:solidFill>
                          <a:latin typeface="Helvetica Neue"/>
                          <a:ea typeface="Helvetica Neue"/>
                          <a:cs typeface="Helvetica Neue"/>
                        </a:rPr>
                        <a:t>Scope &amp; quote</a:t>
                      </a:r>
                    </a:p>
                  </a:txBody>
                  <a:tcPr marL="0"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Agent calls</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r>
              <a:tr h="323850">
                <a:tc>
                  <a:txBody>
                    <a:bodyPr wrap="square">
                      <a:noAutofit/>
                    </a:bodyPr>
                    <a:lstStyle/>
                    <a:p>
                      <a:pPr algn="l">
                        <a:buNone/>
                      </a:pPr>
                      <a:r>
                        <a:rPr sz="1575" b="1">
                          <a:solidFill>
                            <a:srgbClr val="9D514B"/>
                          </a:solidFill>
                          <a:latin typeface="Helvetica Neue"/>
                          <a:ea typeface="Helvetica Neue"/>
                          <a:cs typeface="Helvetica Neue"/>
                        </a:rPr>
                        <a:t>Live availability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Calls / sites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r h="361950">
                <a:tc>
                  <a:txBody>
                    <a:bodyPr wrap="square">
                      <a:noAutofit/>
                    </a:bodyPr>
                    <a:lstStyle/>
                    <a:p>
                      <a:pPr algn="l">
                        <a:buNone/>
                      </a:pPr>
                      <a:r>
                        <a:rPr sz="1575" b="1">
                          <a:solidFill>
                            <a:srgbClr val="9D514B"/>
                          </a:solidFill>
                          <a:latin typeface="Helvetica Neue"/>
                          <a:ea typeface="Helvetica Neue"/>
                          <a:cs typeface="Helvetica Neue"/>
                        </a:rPr>
                        <a:t>Book &amp; pay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Sites / checkout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bl>
          </a:graphicData>
        </a:graphic>
      </p:graphicFrame>
      <p:sp>
        <p:nvSpPr>
          <p:cNvPr id="7" name="market-opening-5">
            <a:extLst xmlns:a="http://schemas.openxmlformats.org/drawingml/2006/main">
              <a:ext uri="{FF2B5EF4-FFF2-40B4-BE49-F238E27FC236}">
                <a16:creationId xmlns:a16="http://schemas.microsoft.com/office/drawing/2014/main" id="{8B1CF9E0-A144-47C3-9ED1-6ED735CD16A5}"/>
              </a:ext>
            </a:extLst>
          </p:cNvPr>
          <p:cNvSpPr>
            <a:spLocks xmlns:a="http://schemas.openxmlformats.org/drawingml/2006/main" noGrp="1"/>
          </p:cNvSpPr>
          <p:nvPr/>
        </p:nvSpPr>
        <p:spPr>
          <a:xfrm xmlns:a="http://schemas.openxmlformats.org/drawingml/2006/main">
            <a:off x="495300" y="6572250"/>
            <a:ext cx="104489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Mixed-year U.S. spending, including materials. Illustrative eras/workflows; some platforms already transact.</a:t>
            </a:r>
          </a:p>
        </p:txBody>
      </p:sp>
      <p:sp>
        <p:nvSpPr>
          <p:cNvPr id="8" name="market-opening-6">
            <a:extLst xmlns:a="http://schemas.openxmlformats.org/drawingml/2006/main">
              <a:ext uri="{FF2B5EF4-FFF2-40B4-BE49-F238E27FC236}">
                <a16:creationId xmlns:a16="http://schemas.microsoft.com/office/drawing/2014/main" id="{9C3FB550-ED41-4A8E-9B97-C88A3A6B83BB}"/>
              </a:ext>
            </a:extLst>
          </p:cNvPr>
          <p:cNvSpPr>
            <a:spLocks xmlns:a="http://schemas.openxmlformats.org/drawingml/2006/main" noGrp="1"/>
          </p:cNvSpPr>
          <p:nvPr/>
        </p:nvSpPr>
        <p:spPr>
          <a:xfrm xmlns:a="http://schemas.openxmlformats.org/drawingml/2006/main">
            <a:off x="11049000" y="65722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6</a:t>
            </a:r>
          </a:p>
        </p:txBody>
      </p:sp>
      <p:sp>
        <p:nvSpPr>
          <p:cNvPr id="10" name="opportunity-close">
            <a:extLst xmlns:a="http://schemas.openxmlformats.org/drawingml/2006/main">
              <a:ext uri="{FF2B5EF4-FFF2-40B4-BE49-F238E27FC236}">
                <a16:creationId xmlns:a16="http://schemas.microsoft.com/office/drawing/2014/main" id="{BF516B70-F7F0-4038-A880-DB5961B82CDD}"/>
              </a:ext>
            </a:extLst>
          </p:cNvPr>
          <p:cNvSpPr>
            <a:spLocks xmlns:a="http://schemas.openxmlformats.org/drawingml/2006/main" noGrp="1"/>
          </p:cNvSpPr>
          <p:nvPr/>
        </p:nvSpPr>
        <p:spPr>
          <a:xfrm xmlns:a="http://schemas.openxmlformats.org/drawingml/2006/main">
            <a:off x="495300" y="5924550"/>
            <a:ext cx="11201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93C32"/>
                </a:solidFill>
                <a:latin typeface="Helvetica Neue"/>
                <a:ea typeface="Helvetica Neue"/>
                <a:cs typeface="Helvetica Neue"/>
              </a:defRPr>
            </a:defPPr>
          </a:lstStyle>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 platform that solves the final three steps can complete local-service bookings</a:t>
            </a:r>
          </a:p>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and capture value in the $1.2 trillion+ U.S. market.</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45" name="">
            <a:extLst xmlns:a="http://schemas.openxmlformats.org/drawingml/2006/main">
              <a:ext uri="{FF2B5EF4-FFF2-40B4-BE49-F238E27FC236}">
                <a16:creationId xmlns:a16="http://schemas.microsoft.com/office/drawing/2014/main" id="{20E9B25C-2CD6-4C74-9581-6653EE7267DE}"/>
              </a:ext>
            </a:extLst>
          </p:cNvPr>
          <p:cNvCxnSpPr>
            <a:stCxn xmlns:a="http://schemas.openxmlformats.org/drawingml/2006/main" id="27" idx="3"/>
            <a:endCxn xmlns:a="http://schemas.openxmlformats.org/drawingml/2006/main" id="26" idx="1"/>
          </p:cNvCxnSpPr>
          <p:nvPr/>
        </p:nvCxnSpPr>
        <p:spPr>
          <a:xfrm xmlns:a="http://schemas.openxmlformats.org/drawingml/2006/main">
            <a:off x="9572625" y="4191000"/>
            <a:ext cx="295275" cy="990600"/>
          </a:xfrm>
          <a:prstGeom xmlns:a="http://schemas.openxmlformats.org/drawingml/2006/main" prst="bentConnector3">
            <a:avLst>
              <a:gd name="adj1" fmla="val 50000"/>
            </a:avLst>
          </a:prstGeom>
          <a:ln xmlns:a="http://schemas.openxmlformats.org/drawingml/2006/main" w="19050">
            <a:solidFill>
              <a:srgbClr val="236C4E"/>
            </a:solidFill>
            <a:prstDash val="solid"/>
            <a:tailEnd type="arrow" w="sm" len="sm"/>
          </a:ln>
        </p:spPr>
      </p:cxnSp>
      <p:cxnSp>
        <p:nvCxnSpPr>
          <p:cNvPr id="44" name="">
            <a:extLst xmlns:a="http://schemas.openxmlformats.org/drawingml/2006/main">
              <a:ext uri="{FF2B5EF4-FFF2-40B4-BE49-F238E27FC236}">
                <a16:creationId xmlns:a16="http://schemas.microsoft.com/office/drawing/2014/main" id="{51DE8637-AE23-4FDD-9F13-7D48C279511D}"/>
              </a:ext>
            </a:extLst>
          </p:cNvPr>
          <p:cNvCxnSpPr>
            <a:stCxn xmlns:a="http://schemas.openxmlformats.org/drawingml/2006/main" id="27" idx="3"/>
            <a:endCxn xmlns:a="http://schemas.openxmlformats.org/drawingml/2006/main" id="25" idx="1"/>
          </p:cNvCxnSpPr>
          <p:nvPr/>
        </p:nvCxnSpPr>
        <p:spPr>
          <a:xfrm xmlns:a="http://schemas.openxmlformats.org/drawingml/2006/main">
            <a:off x="9572625" y="4191000"/>
            <a:ext cx="29527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43" name="">
            <a:extLst xmlns:a="http://schemas.openxmlformats.org/drawingml/2006/main">
              <a:ext uri="{FF2B5EF4-FFF2-40B4-BE49-F238E27FC236}">
                <a16:creationId xmlns:a16="http://schemas.microsoft.com/office/drawing/2014/main" id="{08D63A4E-8CC2-4E71-A21D-F7067F781A74}"/>
              </a:ext>
            </a:extLst>
          </p:cNvPr>
          <p:cNvCxnSpPr>
            <a:stCxn xmlns:a="http://schemas.openxmlformats.org/drawingml/2006/main" id="27" idx="3"/>
            <a:endCxn xmlns:a="http://schemas.openxmlformats.org/drawingml/2006/main" id="24" idx="1"/>
          </p:cNvCxnSpPr>
          <p:nvPr/>
        </p:nvCxnSpPr>
        <p:spPr>
          <a:xfrm xmlns:a="http://schemas.openxmlformats.org/drawingml/2006/main" flipV="1">
            <a:off x="9572625" y="3200400"/>
            <a:ext cx="295275" cy="990600"/>
          </a:xfrm>
          <a:prstGeom xmlns:a="http://schemas.openxmlformats.org/drawingml/2006/main" prst="bentConnector3">
            <a:avLst>
              <a:gd name="adj1" fmla="val 50000"/>
            </a:avLst>
          </a:prstGeom>
          <a:ln xmlns:a="http://schemas.openxmlformats.org/drawingml/2006/main" w="19050">
            <a:solidFill>
              <a:srgbClr val="236C4E"/>
            </a:solidFill>
            <a:prstDash val="solid"/>
            <a:tailEnd type="arrow" w="sm" len="sm"/>
          </a:ln>
        </p:spPr>
      </p:cxnSp>
      <p:cxnSp>
        <p:nvCxnSpPr>
          <p:cNvPr id="42" name="">
            <a:extLst xmlns:a="http://schemas.openxmlformats.org/drawingml/2006/main">
              <a:ext uri="{FF2B5EF4-FFF2-40B4-BE49-F238E27FC236}">
                <a16:creationId xmlns:a16="http://schemas.microsoft.com/office/drawing/2014/main" id="{9DD836BC-0A0F-49B8-AC20-755CBC19D4E2}"/>
              </a:ext>
            </a:extLst>
          </p:cNvPr>
          <p:cNvCxnSpPr>
            <a:stCxn xmlns:a="http://schemas.openxmlformats.org/drawingml/2006/main" id="23" idx="3"/>
            <a:endCxn xmlns:a="http://schemas.openxmlformats.org/drawingml/2006/main" id="27" idx="1"/>
          </p:cNvCxnSpPr>
          <p:nvPr/>
        </p:nvCxnSpPr>
        <p:spPr>
          <a:xfrm xmlns:a="http://schemas.openxmlformats.org/drawingml/2006/main" flipV="1">
            <a:off x="9258300" y="4191000"/>
            <a:ext cx="295275" cy="99536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ln>
        </p:spPr>
      </p:cxnSp>
      <p:cxnSp>
        <p:nvCxnSpPr>
          <p:cNvPr id="41" name="">
            <a:extLst xmlns:a="http://schemas.openxmlformats.org/drawingml/2006/main">
              <a:ext uri="{FF2B5EF4-FFF2-40B4-BE49-F238E27FC236}">
                <a16:creationId xmlns:a16="http://schemas.microsoft.com/office/drawing/2014/main" id="{6267491B-3377-46E6-B452-0A564D124F36}"/>
              </a:ext>
            </a:extLst>
          </p:cNvPr>
          <p:cNvCxnSpPr>
            <a:stCxn xmlns:a="http://schemas.openxmlformats.org/drawingml/2006/main" id="14" idx="3"/>
            <a:endCxn xmlns:a="http://schemas.openxmlformats.org/drawingml/2006/main" id="23" idx="1"/>
          </p:cNvCxnSpPr>
          <p:nvPr/>
        </p:nvCxnSpPr>
        <p:spPr>
          <a:xfrm xmlns:a="http://schemas.openxmlformats.org/drawingml/2006/main">
            <a:off x="6610350" y="4133850"/>
            <a:ext cx="895350" cy="10525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0" name="">
            <a:extLst xmlns:a="http://schemas.openxmlformats.org/drawingml/2006/main">
              <a:ext uri="{FF2B5EF4-FFF2-40B4-BE49-F238E27FC236}">
                <a16:creationId xmlns:a16="http://schemas.microsoft.com/office/drawing/2014/main" id="{4EBAA75B-3A18-4BC1-A1ED-587C87DE72A0}"/>
              </a:ext>
            </a:extLst>
          </p:cNvPr>
          <p:cNvCxnSpPr>
            <a:stCxn xmlns:a="http://schemas.openxmlformats.org/drawingml/2006/main" id="22" idx="3"/>
            <a:endCxn xmlns:a="http://schemas.openxmlformats.org/drawingml/2006/main" id="27" idx="1"/>
          </p:cNvCxnSpPr>
          <p:nvPr/>
        </p:nvCxnSpPr>
        <p:spPr>
          <a:xfrm xmlns:a="http://schemas.openxmlformats.org/drawingml/2006/main" flipV="1">
            <a:off x="9258300" y="4191000"/>
            <a:ext cx="295275" cy="46196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ln>
        </p:spPr>
      </p:cxnSp>
      <p:cxnSp>
        <p:nvCxnSpPr>
          <p:cNvPr id="39" name="">
            <a:extLst xmlns:a="http://schemas.openxmlformats.org/drawingml/2006/main">
              <a:ext uri="{FF2B5EF4-FFF2-40B4-BE49-F238E27FC236}">
                <a16:creationId xmlns:a16="http://schemas.microsoft.com/office/drawing/2014/main" id="{5054A5FC-D943-482B-A5B6-A15018A05F7F}"/>
              </a:ext>
            </a:extLst>
          </p:cNvPr>
          <p:cNvCxnSpPr>
            <a:stCxn xmlns:a="http://schemas.openxmlformats.org/drawingml/2006/main" id="14" idx="3"/>
            <a:endCxn xmlns:a="http://schemas.openxmlformats.org/drawingml/2006/main" id="22" idx="1"/>
          </p:cNvCxnSpPr>
          <p:nvPr/>
        </p:nvCxnSpPr>
        <p:spPr>
          <a:xfrm xmlns:a="http://schemas.openxmlformats.org/drawingml/2006/main">
            <a:off x="6610350" y="4133850"/>
            <a:ext cx="895350" cy="5191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8" name="">
            <a:extLst xmlns:a="http://schemas.openxmlformats.org/drawingml/2006/main">
              <a:ext uri="{FF2B5EF4-FFF2-40B4-BE49-F238E27FC236}">
                <a16:creationId xmlns:a16="http://schemas.microsoft.com/office/drawing/2014/main" id="{B8158119-D2C3-421D-8034-87F0D6D4C99C}"/>
              </a:ext>
            </a:extLst>
          </p:cNvPr>
          <p:cNvCxnSpPr>
            <a:stCxn xmlns:a="http://schemas.openxmlformats.org/drawingml/2006/main" id="21" idx="3"/>
            <a:endCxn xmlns:a="http://schemas.openxmlformats.org/drawingml/2006/main" id="27" idx="1"/>
          </p:cNvCxnSpPr>
          <p:nvPr/>
        </p:nvCxnSpPr>
        <p:spPr>
          <a:xfrm xmlns:a="http://schemas.openxmlformats.org/drawingml/2006/main">
            <a:off x="9258300" y="4119563"/>
            <a:ext cx="295275" cy="7143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ln>
        </p:spPr>
      </p:cxnSp>
      <p:cxnSp>
        <p:nvCxnSpPr>
          <p:cNvPr id="37" name="">
            <a:extLst xmlns:a="http://schemas.openxmlformats.org/drawingml/2006/main">
              <a:ext uri="{FF2B5EF4-FFF2-40B4-BE49-F238E27FC236}">
                <a16:creationId xmlns:a16="http://schemas.microsoft.com/office/drawing/2014/main" id="{3F41CC46-0ECB-444E-B17B-0ED0541F87B6}"/>
              </a:ext>
            </a:extLst>
          </p:cNvPr>
          <p:cNvCxnSpPr>
            <a:stCxn xmlns:a="http://schemas.openxmlformats.org/drawingml/2006/main" id="14" idx="3"/>
            <a:endCxn xmlns:a="http://schemas.openxmlformats.org/drawingml/2006/main" id="21" idx="1"/>
          </p:cNvCxnSpPr>
          <p:nvPr/>
        </p:nvCxnSpPr>
        <p:spPr>
          <a:xfrm xmlns:a="http://schemas.openxmlformats.org/drawingml/2006/main" flipV="1">
            <a:off x="6610350" y="4119563"/>
            <a:ext cx="895350" cy="142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6" name="">
            <a:extLst xmlns:a="http://schemas.openxmlformats.org/drawingml/2006/main">
              <a:ext uri="{FF2B5EF4-FFF2-40B4-BE49-F238E27FC236}">
                <a16:creationId xmlns:a16="http://schemas.microsoft.com/office/drawing/2014/main" id="{FF303C59-DC51-4763-A414-CCF7ECBB8C46}"/>
              </a:ext>
            </a:extLst>
          </p:cNvPr>
          <p:cNvCxnSpPr>
            <a:stCxn xmlns:a="http://schemas.openxmlformats.org/drawingml/2006/main" id="20" idx="3"/>
            <a:endCxn xmlns:a="http://schemas.openxmlformats.org/drawingml/2006/main" id="27" idx="1"/>
          </p:cNvCxnSpPr>
          <p:nvPr/>
        </p:nvCxnSpPr>
        <p:spPr>
          <a:xfrm xmlns:a="http://schemas.openxmlformats.org/drawingml/2006/main">
            <a:off x="9258300" y="3586163"/>
            <a:ext cx="295275" cy="60483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ln>
        </p:spPr>
      </p:cxnSp>
      <p:cxnSp>
        <p:nvCxnSpPr>
          <p:cNvPr id="35" name="">
            <a:extLst xmlns:a="http://schemas.openxmlformats.org/drawingml/2006/main">
              <a:ext uri="{FF2B5EF4-FFF2-40B4-BE49-F238E27FC236}">
                <a16:creationId xmlns:a16="http://schemas.microsoft.com/office/drawing/2014/main" id="{5E59636F-BB98-44D6-8EEF-7855AF2103C6}"/>
              </a:ext>
            </a:extLst>
          </p:cNvPr>
          <p:cNvCxnSpPr>
            <a:stCxn xmlns:a="http://schemas.openxmlformats.org/drawingml/2006/main" id="14" idx="3"/>
            <a:endCxn xmlns:a="http://schemas.openxmlformats.org/drawingml/2006/main" id="20" idx="1"/>
          </p:cNvCxnSpPr>
          <p:nvPr/>
        </p:nvCxnSpPr>
        <p:spPr>
          <a:xfrm xmlns:a="http://schemas.openxmlformats.org/drawingml/2006/main" flipV="1">
            <a:off x="6610350" y="3586163"/>
            <a:ext cx="895350" cy="5476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4" name="">
            <a:extLst xmlns:a="http://schemas.openxmlformats.org/drawingml/2006/main">
              <a:ext uri="{FF2B5EF4-FFF2-40B4-BE49-F238E27FC236}">
                <a16:creationId xmlns:a16="http://schemas.microsoft.com/office/drawing/2014/main" id="{87FCC295-314E-4E13-9A68-359D9E25DAC7}"/>
              </a:ext>
            </a:extLst>
          </p:cNvPr>
          <p:cNvCxnSpPr>
            <a:stCxn xmlns:a="http://schemas.openxmlformats.org/drawingml/2006/main" id="19" idx="3"/>
            <a:endCxn xmlns:a="http://schemas.openxmlformats.org/drawingml/2006/main" id="27" idx="1"/>
          </p:cNvCxnSpPr>
          <p:nvPr/>
        </p:nvCxnSpPr>
        <p:spPr>
          <a:xfrm xmlns:a="http://schemas.openxmlformats.org/drawingml/2006/main">
            <a:off x="9258300" y="3052763"/>
            <a:ext cx="295275" cy="113823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ln>
        </p:spPr>
      </p:cxnSp>
      <p:cxnSp>
        <p:nvCxnSpPr>
          <p:cNvPr id="33" name="">
            <a:extLst xmlns:a="http://schemas.openxmlformats.org/drawingml/2006/main">
              <a:ext uri="{FF2B5EF4-FFF2-40B4-BE49-F238E27FC236}">
                <a16:creationId xmlns:a16="http://schemas.microsoft.com/office/drawing/2014/main" id="{A6AD1158-234F-4F34-A71E-B24F5D9F8AB3}"/>
              </a:ext>
            </a:extLst>
          </p:cNvPr>
          <p:cNvCxnSpPr>
            <a:stCxn xmlns:a="http://schemas.openxmlformats.org/drawingml/2006/main" id="14" idx="3"/>
            <a:endCxn xmlns:a="http://schemas.openxmlformats.org/drawingml/2006/main" id="19" idx="1"/>
          </p:cNvCxnSpPr>
          <p:nvPr/>
        </p:nvCxnSpPr>
        <p:spPr>
          <a:xfrm xmlns:a="http://schemas.openxmlformats.org/drawingml/2006/main" flipV="1">
            <a:off x="6610350" y="3052763"/>
            <a:ext cx="895350" cy="10810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2" name="">
            <a:extLst xmlns:a="http://schemas.openxmlformats.org/drawingml/2006/main">
              <a:ext uri="{FF2B5EF4-FFF2-40B4-BE49-F238E27FC236}">
                <a16:creationId xmlns:a16="http://schemas.microsoft.com/office/drawing/2014/main" id="{1CDB6F1B-D22D-4099-B53D-5EE8AFDE817F}"/>
              </a:ext>
            </a:extLst>
          </p:cNvPr>
          <p:cNvCxnSpPr>
            <a:stCxn xmlns:a="http://schemas.openxmlformats.org/drawingml/2006/main" id="13" idx="3"/>
            <a:endCxn xmlns:a="http://schemas.openxmlformats.org/drawingml/2006/main" id="14" idx="1"/>
          </p:cNvCxnSpPr>
          <p:nvPr/>
        </p:nvCxnSpPr>
        <p:spPr>
          <a:xfrm xmlns:a="http://schemas.openxmlformats.org/drawingml/2006/main" flipV="1">
            <a:off x="2362200" y="4133850"/>
            <a:ext cx="838200" cy="10525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1" name="">
            <a:extLst xmlns:a="http://schemas.openxmlformats.org/drawingml/2006/main">
              <a:ext uri="{FF2B5EF4-FFF2-40B4-BE49-F238E27FC236}">
                <a16:creationId xmlns:a16="http://schemas.microsoft.com/office/drawing/2014/main" id="{5361B68F-0F2D-4333-8127-CE272C3FC8E5}"/>
              </a:ext>
            </a:extLst>
          </p:cNvPr>
          <p:cNvCxnSpPr>
            <a:stCxn xmlns:a="http://schemas.openxmlformats.org/drawingml/2006/main" id="12" idx="3"/>
            <a:endCxn xmlns:a="http://schemas.openxmlformats.org/drawingml/2006/main" id="14" idx="1"/>
          </p:cNvCxnSpPr>
          <p:nvPr/>
        </p:nvCxnSpPr>
        <p:spPr>
          <a:xfrm xmlns:a="http://schemas.openxmlformats.org/drawingml/2006/main" flipV="1">
            <a:off x="2362200" y="4133850"/>
            <a:ext cx="838200" cy="5191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0" name="">
            <a:extLst xmlns:a="http://schemas.openxmlformats.org/drawingml/2006/main">
              <a:ext uri="{FF2B5EF4-FFF2-40B4-BE49-F238E27FC236}">
                <a16:creationId xmlns:a16="http://schemas.microsoft.com/office/drawing/2014/main" id="{0272EFE1-AA0B-4A2A-8183-E53E51C59CD8}"/>
              </a:ext>
            </a:extLst>
          </p:cNvPr>
          <p:cNvCxnSpPr>
            <a:stCxn xmlns:a="http://schemas.openxmlformats.org/drawingml/2006/main" id="11" idx="3"/>
            <a:endCxn xmlns:a="http://schemas.openxmlformats.org/drawingml/2006/main" id="14" idx="1"/>
          </p:cNvCxnSpPr>
          <p:nvPr/>
        </p:nvCxnSpPr>
        <p:spPr>
          <a:xfrm xmlns:a="http://schemas.openxmlformats.org/drawingml/2006/main">
            <a:off x="2362200" y="4119563"/>
            <a:ext cx="838200" cy="142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29" name="">
            <a:extLst xmlns:a="http://schemas.openxmlformats.org/drawingml/2006/main">
              <a:ext uri="{FF2B5EF4-FFF2-40B4-BE49-F238E27FC236}">
                <a16:creationId xmlns:a16="http://schemas.microsoft.com/office/drawing/2014/main" id="{343C46BD-93A4-4A22-8362-1C9BA9F5BF8C}"/>
              </a:ext>
            </a:extLst>
          </p:cNvPr>
          <p:cNvCxnSpPr>
            <a:stCxn xmlns:a="http://schemas.openxmlformats.org/drawingml/2006/main" id="10" idx="3"/>
            <a:endCxn xmlns:a="http://schemas.openxmlformats.org/drawingml/2006/main" id="14" idx="1"/>
          </p:cNvCxnSpPr>
          <p:nvPr/>
        </p:nvCxnSpPr>
        <p:spPr>
          <a:xfrm xmlns:a="http://schemas.openxmlformats.org/drawingml/2006/main">
            <a:off x="2362200" y="3586163"/>
            <a:ext cx="838200" cy="5476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28" name="">
            <a:extLst xmlns:a="http://schemas.openxmlformats.org/drawingml/2006/main">
              <a:ext uri="{FF2B5EF4-FFF2-40B4-BE49-F238E27FC236}">
                <a16:creationId xmlns:a16="http://schemas.microsoft.com/office/drawing/2014/main" id="{283C5F84-1481-4E8E-89D8-6535D6020A64}"/>
              </a:ext>
            </a:extLst>
          </p:cNvPr>
          <p:cNvCxnSpPr>
            <a:stCxn xmlns:a="http://schemas.openxmlformats.org/drawingml/2006/main" id="9" idx="3"/>
            <a:endCxn xmlns:a="http://schemas.openxmlformats.org/drawingml/2006/main" id="14" idx="1"/>
          </p:cNvCxnSpPr>
          <p:nvPr/>
        </p:nvCxnSpPr>
        <p:spPr>
          <a:xfrm xmlns:a="http://schemas.openxmlformats.org/drawingml/2006/main">
            <a:off x="2362200" y="3052763"/>
            <a:ext cx="838200" cy="10810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50" name="booking-layer-text-0">
            <a:extLst xmlns:a="http://schemas.openxmlformats.org/drawingml/2006/main">
              <a:ext uri="{FF2B5EF4-FFF2-40B4-BE49-F238E27FC236}">
                <a16:creationId xmlns:a16="http://schemas.microsoft.com/office/drawing/2014/main" id="{A2A1D8EE-69A0-487E-A2E7-91494C854D8B}"/>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44406E44-207C-46E6-B8D5-5422B8040EBA}"/>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GoLocal connects personal agents to local businesses</a:t>
            </a:r>
          </a:p>
        </p:txBody>
      </p:sp>
      <p:sp>
        <p:nvSpPr>
          <p:cNvPr id="3" name="booking-layer-text-2">
            <a:extLst xmlns:a="http://schemas.openxmlformats.org/drawingml/2006/main">
              <a:ext uri="{FF2B5EF4-FFF2-40B4-BE49-F238E27FC236}">
                <a16:creationId xmlns:a16="http://schemas.microsoft.com/office/drawing/2014/main" id="{38FC3C3A-1132-45E6-9EEF-E87D489AA828}"/>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The data agents need already lives across businesses’ different software systems.</a:t>
            </a:r>
          </a:p>
        </p:txBody>
      </p:sp>
      <p:sp>
        <p:nvSpPr>
          <p:cNvPr id="4" name="booking-layer-text-3">
            <a:extLst xmlns:a="http://schemas.openxmlformats.org/drawingml/2006/main">
              <a:ext uri="{FF2B5EF4-FFF2-40B4-BE49-F238E27FC236}">
                <a16:creationId xmlns:a16="http://schemas.microsoft.com/office/drawing/2014/main" id="{49A65A4C-658E-41CF-94E5-D7ED4298288B}"/>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10E75D2E-1DFF-4D9B-AAC7-28BC3D71071E}"/>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6F91298A-2662-4434-9277-F7219E8D8C37}"/>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56B5B1C4-C8F4-4AB1-BDB0-FEEE95027C88}"/>
              </a:ext>
            </a:extLst>
          </p:cNvPr>
          <p:cNvSpPr>
            <a:spLocks xmlns:a="http://schemas.openxmlformats.org/drawingml/2006/main" noGrp="1"/>
          </p:cNvSpPr>
          <p:nvPr/>
        </p:nvSpPr>
        <p:spPr>
          <a:xfrm xmlns:a="http://schemas.openxmlformats.org/drawingml/2006/main">
            <a:off x="7505700" y="2124075"/>
            <a:ext cx="1752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Fragmented</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software vendors</a:t>
            </a:r>
          </a:p>
        </p:txBody>
      </p:sp>
      <p:sp>
        <p:nvSpPr>
          <p:cNvPr id="8" name="booking-layer-text-7">
            <a:extLst xmlns:a="http://schemas.openxmlformats.org/drawingml/2006/main">
              <a:ext uri="{FF2B5EF4-FFF2-40B4-BE49-F238E27FC236}">
                <a16:creationId xmlns:a16="http://schemas.microsoft.com/office/drawing/2014/main" id="{AEDCA83D-B3FB-4DD2-8C22-6A6C0CE2CBAC}"/>
              </a:ext>
            </a:extLst>
          </p:cNvPr>
          <p:cNvSpPr>
            <a:spLocks xmlns:a="http://schemas.openxmlformats.org/drawingml/2006/main" noGrp="1"/>
          </p:cNvSpPr>
          <p:nvPr/>
        </p:nvSpPr>
        <p:spPr>
          <a:xfrm xmlns:a="http://schemas.openxmlformats.org/drawingml/2006/main">
            <a:off x="9867900" y="2124075"/>
            <a:ext cx="1828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Local businesses</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Example: plumbing</a:t>
            </a:r>
          </a:p>
        </p:txBody>
      </p:sp>
      <p:sp>
        <p:nvSpPr>
          <p:cNvPr id="9" name="booking-layer-node-8">
            <a:extLst xmlns:a="http://schemas.openxmlformats.org/drawingml/2006/main">
              <a:ext uri="{FF2B5EF4-FFF2-40B4-BE49-F238E27FC236}">
                <a16:creationId xmlns:a16="http://schemas.microsoft.com/office/drawing/2014/main" id="{4D3B4692-D321-4BB9-A20A-52D2B66CE000}"/>
              </a:ext>
            </a:extLst>
          </p:cNvPr>
          <p:cNvSpPr>
            <a:spLocks xmlns:a="http://schemas.openxmlformats.org/drawingml/2006/main" noGrp="1"/>
          </p:cNvSpPr>
          <p:nvPr/>
        </p:nvSpPr>
        <p:spPr>
          <a:xfrm xmlns:a="http://schemas.openxmlformats.org/drawingml/2006/main">
            <a:off x="495300" y="28479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Instinct</a:t>
            </a:r>
          </a:p>
        </p:txBody>
      </p:sp>
      <p:sp>
        <p:nvSpPr>
          <p:cNvPr id="10" name="booking-layer-node-9">
            <a:extLst xmlns:a="http://schemas.openxmlformats.org/drawingml/2006/main">
              <a:ext uri="{FF2B5EF4-FFF2-40B4-BE49-F238E27FC236}">
                <a16:creationId xmlns:a16="http://schemas.microsoft.com/office/drawing/2014/main" id="{3B95A5B5-AA4F-4D9A-8D4C-02C044B9679E}"/>
              </a:ext>
            </a:extLst>
          </p:cNvPr>
          <p:cNvSpPr>
            <a:spLocks xmlns:a="http://schemas.openxmlformats.org/drawingml/2006/main" noGrp="1"/>
          </p:cNvSpPr>
          <p:nvPr/>
        </p:nvSpPr>
        <p:spPr>
          <a:xfrm xmlns:a="http://schemas.openxmlformats.org/drawingml/2006/main">
            <a:off x="495300" y="33813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Muse</a:t>
            </a:r>
          </a:p>
        </p:txBody>
      </p:sp>
      <p:sp>
        <p:nvSpPr>
          <p:cNvPr id="11" name="booking-layer-node-10">
            <a:extLst xmlns:a="http://schemas.openxmlformats.org/drawingml/2006/main">
              <a:ext uri="{FF2B5EF4-FFF2-40B4-BE49-F238E27FC236}">
                <a16:creationId xmlns:a16="http://schemas.microsoft.com/office/drawing/2014/main" id="{F35CE981-65DC-4AA1-8C98-C72720300F7E}"/>
              </a:ext>
            </a:extLst>
          </p:cNvPr>
          <p:cNvSpPr>
            <a:spLocks xmlns:a="http://schemas.openxmlformats.org/drawingml/2006/main" noGrp="1"/>
          </p:cNvSpPr>
          <p:nvPr/>
        </p:nvSpPr>
        <p:spPr>
          <a:xfrm xmlns:a="http://schemas.openxmlformats.org/drawingml/2006/main">
            <a:off x="495300" y="39147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Dots</a:t>
            </a:r>
          </a:p>
        </p:txBody>
      </p:sp>
      <p:sp>
        <p:nvSpPr>
          <p:cNvPr id="12" name="booking-layer-node-11">
            <a:extLst xmlns:a="http://schemas.openxmlformats.org/drawingml/2006/main">
              <a:ext uri="{FF2B5EF4-FFF2-40B4-BE49-F238E27FC236}">
                <a16:creationId xmlns:a16="http://schemas.microsoft.com/office/drawing/2014/main" id="{D4D483AB-C806-4A65-B201-16B1EB97115F}"/>
              </a:ext>
            </a:extLst>
          </p:cNvPr>
          <p:cNvSpPr>
            <a:spLocks xmlns:a="http://schemas.openxmlformats.org/drawingml/2006/main" noGrp="1"/>
          </p:cNvSpPr>
          <p:nvPr/>
        </p:nvSpPr>
        <p:spPr>
          <a:xfrm xmlns:a="http://schemas.openxmlformats.org/drawingml/2006/main">
            <a:off x="495300" y="44481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Town</a:t>
            </a:r>
          </a:p>
        </p:txBody>
      </p:sp>
      <p:sp>
        <p:nvSpPr>
          <p:cNvPr id="13" name="booking-layer-node-12">
            <a:extLst xmlns:a="http://schemas.openxmlformats.org/drawingml/2006/main">
              <a:ext uri="{FF2B5EF4-FFF2-40B4-BE49-F238E27FC236}">
                <a16:creationId xmlns:a16="http://schemas.microsoft.com/office/drawing/2014/main" id="{75407E9A-61AD-420D-A5F3-234E49FAC081}"/>
              </a:ext>
            </a:extLst>
          </p:cNvPr>
          <p:cNvSpPr>
            <a:spLocks xmlns:a="http://schemas.openxmlformats.org/drawingml/2006/main" noGrp="1"/>
          </p:cNvSpPr>
          <p:nvPr/>
        </p:nvSpPr>
        <p:spPr>
          <a:xfrm xmlns:a="http://schemas.openxmlformats.org/drawingml/2006/main">
            <a:off x="495300" y="49815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Hark</a:t>
            </a:r>
          </a:p>
        </p:txBody>
      </p:sp>
      <p:sp>
        <p:nvSpPr>
          <p:cNvPr id="14" name="booking-layer-node-13">
            <a:extLst xmlns:a="http://schemas.openxmlformats.org/drawingml/2006/main">
              <a:ext uri="{FF2B5EF4-FFF2-40B4-BE49-F238E27FC236}">
                <a16:creationId xmlns:a16="http://schemas.microsoft.com/office/drawing/2014/main" id="{10FD613A-3E7C-4EE9-BFAA-5BECF1F27889}"/>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r>
              <a:t/>
            </a:r>
          </a:p>
        </p:txBody>
      </p:sp>
      <p:sp>
        <p:nvSpPr>
          <p:cNvPr id="15" name="booking-layer-text-14">
            <a:extLst xmlns:a="http://schemas.openxmlformats.org/drawingml/2006/main">
              <a:ext uri="{FF2B5EF4-FFF2-40B4-BE49-F238E27FC236}">
                <a16:creationId xmlns:a16="http://schemas.microsoft.com/office/drawing/2014/main" id="{34AAAEC4-5F94-4F96-959A-C8DB461B4BF0}"/>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16" name="booking-layer-text-15">
            <a:extLst xmlns:a="http://schemas.openxmlformats.org/drawingml/2006/main">
              <a:ext uri="{FF2B5EF4-FFF2-40B4-BE49-F238E27FC236}">
                <a16:creationId xmlns:a16="http://schemas.microsoft.com/office/drawing/2014/main" id="{1A3124E2-3742-4D96-9D4F-73E9D5B576EC}"/>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One data &amp; booking API</a:t>
            </a:r>
          </a:p>
        </p:txBody>
      </p:sp>
      <p:sp>
        <p:nvSpPr>
          <p:cNvPr id="17" name="booking-layer-text-16">
            <a:extLst xmlns:a="http://schemas.openxmlformats.org/drawingml/2006/main">
              <a:ext uri="{FF2B5EF4-FFF2-40B4-BE49-F238E27FC236}">
                <a16:creationId xmlns:a16="http://schemas.microsoft.com/office/drawing/2014/main" id="{F908534D-1D36-4443-8233-4AF451570749}"/>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18" name="booking-layer-text-17">
            <a:extLst xmlns:a="http://schemas.openxmlformats.org/drawingml/2006/main">
              <a:ext uri="{FF2B5EF4-FFF2-40B4-BE49-F238E27FC236}">
                <a16:creationId xmlns:a16="http://schemas.microsoft.com/office/drawing/2014/main" id="{1310C8B8-708F-4B80-8054-2C87950E7189}"/>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19" name="booking-layer-node-18">
            <a:extLst xmlns:a="http://schemas.openxmlformats.org/drawingml/2006/main">
              <a:ext uri="{FF2B5EF4-FFF2-40B4-BE49-F238E27FC236}">
                <a16:creationId xmlns:a16="http://schemas.microsoft.com/office/drawing/2014/main" id="{481E2144-0154-42F3-A485-65B6E218A1E4}"/>
              </a:ext>
            </a:extLst>
          </p:cNvPr>
          <p:cNvSpPr>
            <a:spLocks xmlns:a="http://schemas.openxmlformats.org/drawingml/2006/main" noGrp="1"/>
          </p:cNvSpPr>
          <p:nvPr/>
        </p:nvSpPr>
        <p:spPr>
          <a:xfrm xmlns:a="http://schemas.openxmlformats.org/drawingml/2006/main">
            <a:off x="7505700" y="2847975"/>
            <a:ext cx="17526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725" b="1">
                <a:solidFill>
                  <a:srgbClr val="193C32"/>
                </a:solidFill>
                <a:latin typeface="Helvetica Neue"/>
                <a:ea typeface="Helvetica Neue"/>
                <a:cs typeface="Helvetica Neue"/>
              </a:defRPr>
            </a:defPPr>
          </a:lstStyle>
          <a:p xmlns:a="http://schemas.openxmlformats.org/drawingml/2006/main">
            <a:pPr algn="ctr">
              <a:buNone/>
              <a:defRPr sz="1725" b="1">
                <a:solidFill>
                  <a:srgbClr val="193C32"/>
                </a:solidFill>
                <a:latin typeface="Helvetica Neue"/>
                <a:ea typeface="Helvetica Neue"/>
                <a:cs typeface="Helvetica Neue"/>
              </a:defRPr>
            </a:pPr>
            <a:r>
              <a:rPr sz="1725" b="1">
                <a:solidFill>
                  <a:srgbClr val="193C32"/>
                </a:solidFill>
                <a:latin typeface="Helvetica Neue"/>
                <a:ea typeface="Helvetica Neue"/>
                <a:cs typeface="Helvetica Neue"/>
              </a:rPr>
              <a:t>ServiceTitan</a:t>
            </a:r>
          </a:p>
        </p:txBody>
      </p:sp>
      <p:sp>
        <p:nvSpPr>
          <p:cNvPr id="20" name="booking-layer-node-19">
            <a:extLst xmlns:a="http://schemas.openxmlformats.org/drawingml/2006/main">
              <a:ext uri="{FF2B5EF4-FFF2-40B4-BE49-F238E27FC236}">
                <a16:creationId xmlns:a16="http://schemas.microsoft.com/office/drawing/2014/main" id="{A21569F4-D287-49AC-AF7C-9A2B384AF1C2}"/>
              </a:ext>
            </a:extLst>
          </p:cNvPr>
          <p:cNvSpPr>
            <a:spLocks xmlns:a="http://schemas.openxmlformats.org/drawingml/2006/main" noGrp="1"/>
          </p:cNvSpPr>
          <p:nvPr/>
        </p:nvSpPr>
        <p:spPr>
          <a:xfrm xmlns:a="http://schemas.openxmlformats.org/drawingml/2006/main">
            <a:off x="7505700" y="3381375"/>
            <a:ext cx="17526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725" b="1">
                <a:solidFill>
                  <a:srgbClr val="193C32"/>
                </a:solidFill>
                <a:latin typeface="Helvetica Neue"/>
                <a:ea typeface="Helvetica Neue"/>
                <a:cs typeface="Helvetica Neue"/>
              </a:defRPr>
            </a:defPPr>
          </a:lstStyle>
          <a:p xmlns:a="http://schemas.openxmlformats.org/drawingml/2006/main">
            <a:pPr algn="ctr">
              <a:buNone/>
              <a:defRPr sz="1725" b="1">
                <a:solidFill>
                  <a:srgbClr val="193C32"/>
                </a:solidFill>
                <a:latin typeface="Helvetica Neue"/>
                <a:ea typeface="Helvetica Neue"/>
                <a:cs typeface="Helvetica Neue"/>
              </a:defRPr>
            </a:pPr>
            <a:r>
              <a:rPr sz="1725" b="1">
                <a:solidFill>
                  <a:srgbClr val="193C32"/>
                </a:solidFill>
                <a:latin typeface="Helvetica Neue"/>
                <a:ea typeface="Helvetica Neue"/>
                <a:cs typeface="Helvetica Neue"/>
              </a:rPr>
              <a:t>FieldEdge</a:t>
            </a:r>
          </a:p>
        </p:txBody>
      </p:sp>
      <p:sp>
        <p:nvSpPr>
          <p:cNvPr id="21" name="booking-layer-node-20">
            <a:extLst xmlns:a="http://schemas.openxmlformats.org/drawingml/2006/main">
              <a:ext uri="{FF2B5EF4-FFF2-40B4-BE49-F238E27FC236}">
                <a16:creationId xmlns:a16="http://schemas.microsoft.com/office/drawing/2014/main" id="{2C4B3A2B-D897-469D-AD47-1C78F568F86D}"/>
              </a:ext>
            </a:extLst>
          </p:cNvPr>
          <p:cNvSpPr>
            <a:spLocks xmlns:a="http://schemas.openxmlformats.org/drawingml/2006/main" noGrp="1"/>
          </p:cNvSpPr>
          <p:nvPr/>
        </p:nvSpPr>
        <p:spPr>
          <a:xfrm xmlns:a="http://schemas.openxmlformats.org/drawingml/2006/main">
            <a:off x="7505700" y="3914775"/>
            <a:ext cx="17526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Housecall Pro</a:t>
            </a:r>
          </a:p>
        </p:txBody>
      </p:sp>
      <p:sp>
        <p:nvSpPr>
          <p:cNvPr id="22" name="booking-layer-node-21">
            <a:extLst xmlns:a="http://schemas.openxmlformats.org/drawingml/2006/main">
              <a:ext uri="{FF2B5EF4-FFF2-40B4-BE49-F238E27FC236}">
                <a16:creationId xmlns:a16="http://schemas.microsoft.com/office/drawing/2014/main" id="{00D71F7F-E83E-4580-BFA1-7921E56B2B5A}"/>
              </a:ext>
            </a:extLst>
          </p:cNvPr>
          <p:cNvSpPr>
            <a:spLocks xmlns:a="http://schemas.openxmlformats.org/drawingml/2006/main" noGrp="1"/>
          </p:cNvSpPr>
          <p:nvPr/>
        </p:nvSpPr>
        <p:spPr>
          <a:xfrm xmlns:a="http://schemas.openxmlformats.org/drawingml/2006/main">
            <a:off x="7505700" y="4448175"/>
            <a:ext cx="17526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725" b="1">
                <a:solidFill>
                  <a:srgbClr val="193C32"/>
                </a:solidFill>
                <a:latin typeface="Helvetica Neue"/>
                <a:ea typeface="Helvetica Neue"/>
                <a:cs typeface="Helvetica Neue"/>
              </a:defRPr>
            </a:defPPr>
          </a:lstStyle>
          <a:p xmlns:a="http://schemas.openxmlformats.org/drawingml/2006/main">
            <a:pPr algn="ctr">
              <a:buNone/>
              <a:defRPr sz="1725" b="1">
                <a:solidFill>
                  <a:srgbClr val="193C32"/>
                </a:solidFill>
                <a:latin typeface="Helvetica Neue"/>
                <a:ea typeface="Helvetica Neue"/>
                <a:cs typeface="Helvetica Neue"/>
              </a:defRPr>
            </a:pPr>
            <a:r>
              <a:rPr sz="1725" b="1">
                <a:solidFill>
                  <a:srgbClr val="193C32"/>
                </a:solidFill>
                <a:latin typeface="Helvetica Neue"/>
                <a:ea typeface="Helvetica Neue"/>
                <a:cs typeface="Helvetica Neue"/>
              </a:rPr>
              <a:t>Jobber</a:t>
            </a:r>
          </a:p>
        </p:txBody>
      </p:sp>
      <p:sp>
        <p:nvSpPr>
          <p:cNvPr id="23" name="booking-layer-node-22">
            <a:extLst xmlns:a="http://schemas.openxmlformats.org/drawingml/2006/main">
              <a:ext uri="{FF2B5EF4-FFF2-40B4-BE49-F238E27FC236}">
                <a16:creationId xmlns:a16="http://schemas.microsoft.com/office/drawing/2014/main" id="{50910079-4088-4EE7-9B25-74D51C3069E9}"/>
              </a:ext>
            </a:extLst>
          </p:cNvPr>
          <p:cNvSpPr>
            <a:spLocks xmlns:a="http://schemas.openxmlformats.org/drawingml/2006/main" noGrp="1"/>
          </p:cNvSpPr>
          <p:nvPr/>
        </p:nvSpPr>
        <p:spPr>
          <a:xfrm xmlns:a="http://schemas.openxmlformats.org/drawingml/2006/main">
            <a:off x="7505700" y="4981575"/>
            <a:ext cx="17526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725" b="1">
                <a:solidFill>
                  <a:srgbClr val="193C32"/>
                </a:solidFill>
                <a:latin typeface="Helvetica Neue"/>
                <a:ea typeface="Helvetica Neue"/>
                <a:cs typeface="Helvetica Neue"/>
              </a:defRPr>
            </a:defPPr>
          </a:lstStyle>
          <a:p xmlns:a="http://schemas.openxmlformats.org/drawingml/2006/main">
            <a:pPr algn="ctr">
              <a:buNone/>
              <a:defRPr sz="1725" b="1">
                <a:solidFill>
                  <a:srgbClr val="193C32"/>
                </a:solidFill>
                <a:latin typeface="Helvetica Neue"/>
                <a:ea typeface="Helvetica Neue"/>
                <a:cs typeface="Helvetica Neue"/>
              </a:defRPr>
            </a:pPr>
            <a:r>
              <a:rPr sz="1725" b="1">
                <a:solidFill>
                  <a:srgbClr val="193C32"/>
                </a:solidFill>
                <a:latin typeface="Helvetica Neue"/>
                <a:ea typeface="Helvetica Neue"/>
                <a:cs typeface="Helvetica Neue"/>
              </a:rPr>
              <a:t>Other systems</a:t>
            </a:r>
          </a:p>
        </p:txBody>
      </p:sp>
      <p:sp>
        <p:nvSpPr>
          <p:cNvPr id="24" name="booking-layer-node-23">
            <a:extLst xmlns:a="http://schemas.openxmlformats.org/drawingml/2006/main">
              <a:ext uri="{FF2B5EF4-FFF2-40B4-BE49-F238E27FC236}">
                <a16:creationId xmlns:a16="http://schemas.microsoft.com/office/drawing/2014/main" id="{7F1C6FF8-48F5-4A43-9F10-824087FBB1C8}"/>
              </a:ext>
            </a:extLst>
          </p:cNvPr>
          <p:cNvSpPr>
            <a:spLocks xmlns:a="http://schemas.openxmlformats.org/drawingml/2006/main" noGrp="1"/>
          </p:cNvSpPr>
          <p:nvPr/>
        </p:nvSpPr>
        <p:spPr>
          <a:xfrm xmlns:a="http://schemas.openxmlformats.org/drawingml/2006/main">
            <a:off x="9867900" y="2905125"/>
            <a:ext cx="1828800" cy="5905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725" b="1">
                <a:solidFill>
                  <a:srgbClr val="193C32"/>
                </a:solidFill>
                <a:latin typeface="Helvetica Neue"/>
                <a:ea typeface="Helvetica Neue"/>
                <a:cs typeface="Helvetica Neue"/>
              </a:defRPr>
            </a:defPPr>
          </a:lstStyle>
          <a:p xmlns:a="http://schemas.openxmlformats.org/drawingml/2006/main">
            <a:pPr algn="ctr">
              <a:buNone/>
              <a:defRPr sz="1725" b="1">
                <a:solidFill>
                  <a:srgbClr val="193C32"/>
                </a:solidFill>
                <a:latin typeface="Helvetica Neue"/>
                <a:ea typeface="Helvetica Neue"/>
                <a:cs typeface="Helvetica Neue"/>
              </a:defRPr>
            </a:pPr>
            <a:r>
              <a:rPr sz="1725" b="1">
                <a:solidFill>
                  <a:srgbClr val="193C32"/>
                </a:solidFill>
                <a:latin typeface="Helvetica Neue"/>
                <a:ea typeface="Helvetica Neue"/>
                <a:cs typeface="Helvetica Neue"/>
              </a:rPr>
              <a:t>Enterprise</a:t>
            </a:r>
          </a:p>
        </p:txBody>
      </p:sp>
      <p:sp>
        <p:nvSpPr>
          <p:cNvPr id="25" name="booking-layer-node-24">
            <a:extLst xmlns:a="http://schemas.openxmlformats.org/drawingml/2006/main">
              <a:ext uri="{FF2B5EF4-FFF2-40B4-BE49-F238E27FC236}">
                <a16:creationId xmlns:a16="http://schemas.microsoft.com/office/drawing/2014/main" id="{5E9FE754-DABA-4879-9C74-2B1D12BEDB61}"/>
              </a:ext>
            </a:extLst>
          </p:cNvPr>
          <p:cNvSpPr>
            <a:spLocks xmlns:a="http://schemas.openxmlformats.org/drawingml/2006/main" noGrp="1"/>
          </p:cNvSpPr>
          <p:nvPr/>
        </p:nvSpPr>
        <p:spPr>
          <a:xfrm xmlns:a="http://schemas.openxmlformats.org/drawingml/2006/main">
            <a:off x="9867900" y="3895725"/>
            <a:ext cx="1828800" cy="5905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725" b="1">
                <a:solidFill>
                  <a:srgbClr val="193C32"/>
                </a:solidFill>
                <a:latin typeface="Helvetica Neue"/>
                <a:ea typeface="Helvetica Neue"/>
                <a:cs typeface="Helvetica Neue"/>
              </a:defRPr>
            </a:defPPr>
          </a:lstStyle>
          <a:p xmlns:a="http://schemas.openxmlformats.org/drawingml/2006/main">
            <a:pPr algn="ctr">
              <a:buNone/>
              <a:defRPr sz="1725" b="1">
                <a:solidFill>
                  <a:srgbClr val="193C32"/>
                </a:solidFill>
                <a:latin typeface="Helvetica Neue"/>
                <a:ea typeface="Helvetica Neue"/>
                <a:cs typeface="Helvetica Neue"/>
              </a:defRPr>
            </a:pPr>
            <a:r>
              <a:rPr sz="1725" b="1">
                <a:solidFill>
                  <a:srgbClr val="193C32"/>
                </a:solidFill>
                <a:latin typeface="Helvetica Neue"/>
                <a:ea typeface="Helvetica Neue"/>
                <a:cs typeface="Helvetica Neue"/>
              </a:rPr>
              <a:t>Mid-market</a:t>
            </a:r>
          </a:p>
        </p:txBody>
      </p:sp>
      <p:sp>
        <p:nvSpPr>
          <p:cNvPr id="26" name="booking-layer-node-25">
            <a:extLst xmlns:a="http://schemas.openxmlformats.org/drawingml/2006/main">
              <a:ext uri="{FF2B5EF4-FFF2-40B4-BE49-F238E27FC236}">
                <a16:creationId xmlns:a16="http://schemas.microsoft.com/office/drawing/2014/main" id="{8F54BE4E-15EF-4CA8-8502-C4D0A553073B}"/>
              </a:ext>
            </a:extLst>
          </p:cNvPr>
          <p:cNvSpPr>
            <a:spLocks xmlns:a="http://schemas.openxmlformats.org/drawingml/2006/main" noGrp="1"/>
          </p:cNvSpPr>
          <p:nvPr/>
        </p:nvSpPr>
        <p:spPr>
          <a:xfrm xmlns:a="http://schemas.openxmlformats.org/drawingml/2006/main">
            <a:off x="9867900" y="4886325"/>
            <a:ext cx="1828800" cy="5905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 businesses</a:t>
            </a:r>
          </a:p>
        </p:txBody>
      </p:sp>
      <p:sp>
        <p:nvSpPr>
          <p:cNvPr id="27" name="software-business-junction">
            <a:extLst xmlns:a="http://schemas.openxmlformats.org/drawingml/2006/main">
              <a:ext uri="{FF2B5EF4-FFF2-40B4-BE49-F238E27FC236}">
                <a16:creationId xmlns:a16="http://schemas.microsoft.com/office/drawing/2014/main" id="{D9520248-1A7B-4C59-A273-D87DBE0ED0D1}"/>
              </a:ext>
            </a:extLst>
          </p:cNvPr>
          <p:cNvSpPr>
            <a:spLocks xmlns:a="http://schemas.openxmlformats.org/drawingml/2006/main" noGrp="1"/>
          </p:cNvSpPr>
          <p:nvPr/>
        </p:nvSpPr>
        <p:spPr>
          <a:xfrm xmlns:a="http://schemas.openxmlformats.org/drawingml/2006/main">
            <a:off x="9553575" y="41814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6" name="booking-layer-text-26">
            <a:extLst xmlns:a="http://schemas.openxmlformats.org/drawingml/2006/main">
              <a:ext uri="{FF2B5EF4-FFF2-40B4-BE49-F238E27FC236}">
                <a16:creationId xmlns:a16="http://schemas.microsoft.com/office/drawing/2014/main" id="{793DEB56-2A95-4C05-8912-8614709C6C29}"/>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We onboard businesses and connect their existing software.</a:t>
            </a:r>
          </a:p>
        </p:txBody>
      </p:sp>
      <p:sp>
        <p:nvSpPr>
          <p:cNvPr id="47" name="booking-layer-text-27">
            <a:extLst xmlns:a="http://schemas.openxmlformats.org/drawingml/2006/main">
              <a:ext uri="{FF2B5EF4-FFF2-40B4-BE49-F238E27FC236}">
                <a16:creationId xmlns:a16="http://schemas.microsoft.com/office/drawing/2014/main" id="{D139FF05-168B-4570-AB02-8D41E5ABEA9F}"/>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One connection for agents. One integration for participating businesses.</a:t>
            </a:r>
          </a:p>
        </p:txBody>
      </p:sp>
      <p:sp>
        <p:nvSpPr>
          <p:cNvPr id="48" name="booking-layer-text-28">
            <a:extLst xmlns:a="http://schemas.openxmlformats.org/drawingml/2006/main">
              <a:ext uri="{FF2B5EF4-FFF2-40B4-BE49-F238E27FC236}">
                <a16:creationId xmlns:a16="http://schemas.microsoft.com/office/drawing/2014/main" id="{074A514E-DD55-44E5-A8CD-CFE220BC0B6E}"/>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Proposed network. Software examples and connections are illustrative; merchant authorization is required.</a:t>
            </a:r>
          </a:p>
        </p:txBody>
      </p:sp>
      <p:sp>
        <p:nvSpPr>
          <p:cNvPr id="49" name="booking-layer-text-29">
            <a:extLst xmlns:a="http://schemas.openxmlformats.org/drawingml/2006/main">
              <a:ext uri="{FF2B5EF4-FFF2-40B4-BE49-F238E27FC236}">
                <a16:creationId xmlns:a16="http://schemas.microsoft.com/office/drawing/2014/main" id="{200CB9C0-C883-498B-877A-733B081F549D}"/>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2 / 6</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51A9AC7A-B1C1-4618-95F2-57D1D7939A82}"/>
              </a:ext>
            </a:extLst>
          </p:cNvPr>
          <p:cNvCxnSpPr>
            <a:stCxn xmlns:a="http://schemas.openxmlformats.org/drawingml/2006/main" id="7" idx="3"/>
            <a:endCxn xmlns:a="http://schemas.openxmlformats.org/drawingml/2006/main" id="8" idx="1"/>
          </p:cNvCxnSpPr>
          <p:nvPr/>
        </p:nvCxnSpPr>
        <p:spPr>
          <a:xfrm xmlns:a="http://schemas.openxmlformats.org/drawingml/2006/main">
            <a:off x="88201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0" name="">
            <a:extLst xmlns:a="http://schemas.openxmlformats.org/drawingml/2006/main">
              <a:ext uri="{FF2B5EF4-FFF2-40B4-BE49-F238E27FC236}">
                <a16:creationId xmlns:a16="http://schemas.microsoft.com/office/drawing/2014/main" id="{6A1EDF40-4713-426D-88A4-3181945C576B}"/>
              </a:ext>
            </a:extLst>
          </p:cNvPr>
          <p:cNvCxnSpPr>
            <a:stCxn xmlns:a="http://schemas.openxmlformats.org/drawingml/2006/main" id="6" idx="3"/>
            <a:endCxn xmlns:a="http://schemas.openxmlformats.org/drawingml/2006/main" id="7" idx="1"/>
          </p:cNvCxnSpPr>
          <p:nvPr/>
        </p:nvCxnSpPr>
        <p:spPr>
          <a:xfrm xmlns:a="http://schemas.openxmlformats.org/drawingml/2006/main">
            <a:off x="594360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9" name="">
            <a:extLst xmlns:a="http://schemas.openxmlformats.org/drawingml/2006/main">
              <a:ext uri="{FF2B5EF4-FFF2-40B4-BE49-F238E27FC236}">
                <a16:creationId xmlns:a16="http://schemas.microsoft.com/office/drawing/2014/main" id="{12E1FAA5-6ECF-42BE-AACB-035D65C382A3}"/>
              </a:ext>
            </a:extLst>
          </p:cNvPr>
          <p:cNvCxnSpPr>
            <a:stCxn xmlns:a="http://schemas.openxmlformats.org/drawingml/2006/main" id="5" idx="3"/>
            <a:endCxn xmlns:a="http://schemas.openxmlformats.org/drawingml/2006/main" id="6" idx="1"/>
          </p:cNvCxnSpPr>
          <p:nvPr/>
        </p:nvCxnSpPr>
        <p:spPr>
          <a:xfrm xmlns:a="http://schemas.openxmlformats.org/drawingml/2006/main">
            <a:off x="30670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9" name="booking-story-text-0">
            <a:extLst xmlns:a="http://schemas.openxmlformats.org/drawingml/2006/main">
              <a:ext uri="{FF2B5EF4-FFF2-40B4-BE49-F238E27FC236}">
                <a16:creationId xmlns:a16="http://schemas.microsoft.com/office/drawing/2014/main" id="{B57A0389-4F00-4E99-A55C-BF00F56D2DB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CUSTOMER EXPERIENCE</a:t>
            </a:r>
          </a:p>
        </p:txBody>
      </p:sp>
      <p:sp>
        <p:nvSpPr>
          <p:cNvPr id="2" name="booking-story-text-1">
            <a:extLst xmlns:a="http://schemas.openxmlformats.org/drawingml/2006/main">
              <a:ext uri="{FF2B5EF4-FFF2-40B4-BE49-F238E27FC236}">
                <a16:creationId xmlns:a16="http://schemas.microsoft.com/office/drawing/2014/main" id="{A24AB0A3-2E57-4890-BBD5-9C331DFB8046}"/>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A customer request becomes a confirmed booking</a:t>
            </a:r>
          </a:p>
        </p:txBody>
      </p:sp>
      <p:sp>
        <p:nvSpPr>
          <p:cNvPr id="3" name="booking-story-text-2">
            <a:extLst xmlns:a="http://schemas.openxmlformats.org/drawingml/2006/main">
              <a:ext uri="{FF2B5EF4-FFF2-40B4-BE49-F238E27FC236}">
                <a16:creationId xmlns:a16="http://schemas.microsoft.com/office/drawing/2014/main" id="{5BD70F1D-6B85-4E19-9340-39F0DB916705}"/>
              </a:ext>
            </a:extLst>
          </p:cNvPr>
          <p:cNvSpPr>
            <a:spLocks xmlns:a="http://schemas.openxmlformats.org/drawingml/2006/main" noGrp="1"/>
          </p:cNvSpPr>
          <p:nvPr/>
        </p:nvSpPr>
        <p:spPr>
          <a:xfrm xmlns:a="http://schemas.openxmlformats.org/drawingml/2006/main">
            <a:off x="495300" y="1571625"/>
            <a:ext cx="1120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TO PERSONAL AGENT</a:t>
            </a:r>
          </a:p>
        </p:txBody>
      </p:sp>
      <p:sp>
        <p:nvSpPr>
          <p:cNvPr id="4" name="booking-story-text-3">
            <a:extLst xmlns:a="http://schemas.openxmlformats.org/drawingml/2006/main">
              <a:ext uri="{FF2B5EF4-FFF2-40B4-BE49-F238E27FC236}">
                <a16:creationId xmlns:a16="http://schemas.microsoft.com/office/drawing/2014/main" id="{824F4526-8F26-404F-8B27-EF3BACEF071F}"/>
              </a:ext>
            </a:extLst>
          </p:cNvPr>
          <p:cNvSpPr>
            <a:spLocks xmlns:a="http://schemas.openxmlformats.org/drawingml/2006/main" noGrp="1"/>
          </p:cNvSpPr>
          <p:nvPr/>
        </p:nvSpPr>
        <p:spPr>
          <a:xfrm xmlns:a="http://schemas.openxmlformats.org/drawingml/2006/main">
            <a:off x="495300" y="19335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93C32"/>
                </a:solidFill>
                <a:latin typeface="Helvetica Neue"/>
                <a:ea typeface="Helvetica Neue"/>
                <a:cs typeface="Helvetica Neue"/>
              </a:defRPr>
            </a:defPPr>
          </a:lstStyle>
          <a:p xmlns:a="http://schemas.openxmlformats.org/drawingml/2006/main">
            <a:pPr>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“Book a plumber in Dallas tomorrow morning</a:t>
            </a:r>
          </a:p>
          <a:p xmlns:a="http://schemas.openxmlformats.org/drawingml/2006/main">
            <a:pPr>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for my leaking kitchen tap.”</a:t>
            </a:r>
          </a:p>
        </p:txBody>
      </p:sp>
      <p:sp>
        <p:nvSpPr>
          <p:cNvPr id="5" name="booking-story-flow-4">
            <a:extLst xmlns:a="http://schemas.openxmlformats.org/drawingml/2006/main">
              <a:ext uri="{FF2B5EF4-FFF2-40B4-BE49-F238E27FC236}">
                <a16:creationId xmlns:a16="http://schemas.microsoft.com/office/drawing/2014/main" id="{5CCFB1FE-1A94-4920-85EE-4D3D5C5976A3}"/>
              </a:ext>
            </a:extLst>
          </p:cNvPr>
          <p:cNvSpPr>
            <a:spLocks xmlns:a="http://schemas.openxmlformats.org/drawingml/2006/main" noGrp="1"/>
          </p:cNvSpPr>
          <p:nvPr/>
        </p:nvSpPr>
        <p:spPr>
          <a:xfrm xmlns:a="http://schemas.openxmlformats.org/drawingml/2006/main">
            <a:off x="4953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6" name="booking-story-flow-5">
            <a:extLst xmlns:a="http://schemas.openxmlformats.org/drawingml/2006/main">
              <a:ext uri="{FF2B5EF4-FFF2-40B4-BE49-F238E27FC236}">
                <a16:creationId xmlns:a16="http://schemas.microsoft.com/office/drawing/2014/main" id="{8D13F472-9F83-419A-8518-4AB71C9DA5BA}"/>
              </a:ext>
            </a:extLst>
          </p:cNvPr>
          <p:cNvSpPr>
            <a:spLocks xmlns:a="http://schemas.openxmlformats.org/drawingml/2006/main" noGrp="1"/>
          </p:cNvSpPr>
          <p:nvPr/>
        </p:nvSpPr>
        <p:spPr>
          <a:xfrm xmlns:a="http://schemas.openxmlformats.org/drawingml/2006/main">
            <a:off x="33718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7" name="booking-story-flow-6">
            <a:extLst xmlns:a="http://schemas.openxmlformats.org/drawingml/2006/main">
              <a:ext uri="{FF2B5EF4-FFF2-40B4-BE49-F238E27FC236}">
                <a16:creationId xmlns:a16="http://schemas.microsoft.com/office/drawing/2014/main" id="{7532C0F7-5C11-418A-93E0-289414CA5DFC}"/>
              </a:ext>
            </a:extLst>
          </p:cNvPr>
          <p:cNvSpPr>
            <a:spLocks xmlns:a="http://schemas.openxmlformats.org/drawingml/2006/main" noGrp="1"/>
          </p:cNvSpPr>
          <p:nvPr/>
        </p:nvSpPr>
        <p:spPr>
          <a:xfrm xmlns:a="http://schemas.openxmlformats.org/drawingml/2006/main">
            <a:off x="62484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8" name="booking-story-flow-7">
            <a:extLst xmlns:a="http://schemas.openxmlformats.org/drawingml/2006/main">
              <a:ext uri="{FF2B5EF4-FFF2-40B4-BE49-F238E27FC236}">
                <a16:creationId xmlns:a16="http://schemas.microsoft.com/office/drawing/2014/main" id="{D063A1A6-F925-44E9-8700-9FA17055F078}"/>
              </a:ext>
            </a:extLst>
          </p:cNvPr>
          <p:cNvSpPr>
            <a:spLocks xmlns:a="http://schemas.openxmlformats.org/drawingml/2006/main" noGrp="1"/>
          </p:cNvSpPr>
          <p:nvPr/>
        </p:nvSpPr>
        <p:spPr>
          <a:xfrm xmlns:a="http://schemas.openxmlformats.org/drawingml/2006/main">
            <a:off x="91249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2" name="booking-story-text-8">
            <a:extLst xmlns:a="http://schemas.openxmlformats.org/drawingml/2006/main">
              <a:ext uri="{FF2B5EF4-FFF2-40B4-BE49-F238E27FC236}">
                <a16:creationId xmlns:a16="http://schemas.microsoft.com/office/drawing/2014/main" id="{9CC6342D-0163-402A-9864-1DAD90E6BA94}"/>
              </a:ext>
            </a:extLst>
          </p:cNvPr>
          <p:cNvSpPr>
            <a:spLocks xmlns:a="http://schemas.openxmlformats.org/drawingml/2006/main" noGrp="1"/>
          </p:cNvSpPr>
          <p:nvPr/>
        </p:nvSpPr>
        <p:spPr>
          <a:xfrm xmlns:a="http://schemas.openxmlformats.org/drawingml/2006/main">
            <a:off x="4953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PERSONAL AGENT</a:t>
            </a:r>
          </a:p>
        </p:txBody>
      </p:sp>
      <p:sp>
        <p:nvSpPr>
          <p:cNvPr id="13" name="booking-story-text-9">
            <a:extLst xmlns:a="http://schemas.openxmlformats.org/drawingml/2006/main">
              <a:ext uri="{FF2B5EF4-FFF2-40B4-BE49-F238E27FC236}">
                <a16:creationId xmlns:a16="http://schemas.microsoft.com/office/drawing/2014/main" id="{DFC364BF-4D4D-4DA7-ABA4-629DC2AFF6A5}"/>
              </a:ext>
            </a:extLst>
          </p:cNvPr>
          <p:cNvSpPr>
            <a:spLocks xmlns:a="http://schemas.openxmlformats.org/drawingml/2006/main" noGrp="1"/>
          </p:cNvSpPr>
          <p:nvPr/>
        </p:nvSpPr>
        <p:spPr>
          <a:xfrm xmlns:a="http://schemas.openxmlformats.org/drawingml/2006/main">
            <a:off x="4953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1  Scope the job</a:t>
            </a:r>
          </a:p>
        </p:txBody>
      </p:sp>
      <p:sp>
        <p:nvSpPr>
          <p:cNvPr id="14" name="booking-story-text-10">
            <a:extLst xmlns:a="http://schemas.openxmlformats.org/drawingml/2006/main">
              <a:ext uri="{FF2B5EF4-FFF2-40B4-BE49-F238E27FC236}">
                <a16:creationId xmlns:a16="http://schemas.microsoft.com/office/drawing/2014/main" id="{12B0AFC8-2612-4277-9CEB-963EA88ED1D5}"/>
              </a:ext>
            </a:extLst>
          </p:cNvPr>
          <p:cNvSpPr>
            <a:spLocks xmlns:a="http://schemas.openxmlformats.org/drawingml/2006/main" noGrp="1"/>
          </p:cNvSpPr>
          <p:nvPr/>
        </p:nvSpPr>
        <p:spPr>
          <a:xfrm xmlns:a="http://schemas.openxmlformats.org/drawingml/2006/main">
            <a:off x="4953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Collects the address and</a:t>
            </a:r>
          </a:p>
          <a:p xmlns:a="http://schemas.openxmlformats.org/drawingml/2006/main">
            <a:pPr>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 photo of the leak.</a:t>
            </a:r>
          </a:p>
          <a:p xmlns:a="http://schemas.openxmlformats.org/drawingml/2006/main">
            <a:pPr>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Defines a diagnostic visit.</a:t>
            </a:r>
          </a:p>
        </p:txBody>
      </p:sp>
      <p:sp>
        <p:nvSpPr>
          <p:cNvPr id="15" name="booking-story-text-11">
            <a:extLst xmlns:a="http://schemas.openxmlformats.org/drawingml/2006/main">
              <a:ext uri="{FF2B5EF4-FFF2-40B4-BE49-F238E27FC236}">
                <a16:creationId xmlns:a16="http://schemas.microsoft.com/office/drawing/2014/main" id="{7B966131-CD90-4A6B-8855-B1F258876E82}"/>
              </a:ext>
            </a:extLst>
          </p:cNvPr>
          <p:cNvSpPr>
            <a:spLocks xmlns:a="http://schemas.openxmlformats.org/drawingml/2006/main" noGrp="1"/>
          </p:cNvSpPr>
          <p:nvPr/>
        </p:nvSpPr>
        <p:spPr>
          <a:xfrm xmlns:a="http://schemas.openxmlformats.org/drawingml/2006/main">
            <a:off x="33718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16" name="booking-story-text-12">
            <a:extLst xmlns:a="http://schemas.openxmlformats.org/drawingml/2006/main">
              <a:ext uri="{FF2B5EF4-FFF2-40B4-BE49-F238E27FC236}">
                <a16:creationId xmlns:a16="http://schemas.microsoft.com/office/drawing/2014/main" id="{4C4A54FC-BED6-41DD-8EDE-83091AC76FEB}"/>
              </a:ext>
            </a:extLst>
          </p:cNvPr>
          <p:cNvSpPr>
            <a:spLocks xmlns:a="http://schemas.openxmlformats.org/drawingml/2006/main" noGrp="1"/>
          </p:cNvSpPr>
          <p:nvPr/>
        </p:nvSpPr>
        <p:spPr>
          <a:xfrm xmlns:a="http://schemas.openxmlformats.org/drawingml/2006/main">
            <a:off x="33718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2  Check live options</a:t>
            </a:r>
          </a:p>
        </p:txBody>
      </p:sp>
      <p:sp>
        <p:nvSpPr>
          <p:cNvPr id="17" name="booking-story-text-13">
            <a:extLst xmlns:a="http://schemas.openxmlformats.org/drawingml/2006/main">
              <a:ext uri="{FF2B5EF4-FFF2-40B4-BE49-F238E27FC236}">
                <a16:creationId xmlns:a16="http://schemas.microsoft.com/office/drawing/2014/main" id="{112DF1EA-4441-4A80-97EC-22A6380BB59C}"/>
              </a:ext>
            </a:extLst>
          </p:cNvPr>
          <p:cNvSpPr>
            <a:spLocks xmlns:a="http://schemas.openxmlformats.org/drawingml/2006/main" noGrp="1"/>
          </p:cNvSpPr>
          <p:nvPr/>
        </p:nvSpPr>
        <p:spPr>
          <a:xfrm xmlns:a="http://schemas.openxmlformats.org/drawingml/2006/main">
            <a:off x="33718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Matches connected providers.</a:t>
            </a:r>
          </a:p>
          <a:p xmlns:a="http://schemas.openxmlformats.org/drawingml/2006/main">
            <a:pPr>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available slots</a:t>
            </a:r>
          </a:p>
          <a:p xmlns:a="http://schemas.openxmlformats.org/drawingml/2006/main">
            <a:pPr>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visit fees.</a:t>
            </a:r>
          </a:p>
        </p:txBody>
      </p:sp>
      <p:sp>
        <p:nvSpPr>
          <p:cNvPr id="18" name="booking-story-text-14">
            <a:extLst xmlns:a="http://schemas.openxmlformats.org/drawingml/2006/main">
              <a:ext uri="{FF2B5EF4-FFF2-40B4-BE49-F238E27FC236}">
                <a16:creationId xmlns:a16="http://schemas.microsoft.com/office/drawing/2014/main" id="{2D80A181-62A2-4F46-B414-0D7B03DB015B}"/>
              </a:ext>
            </a:extLst>
          </p:cNvPr>
          <p:cNvSpPr>
            <a:spLocks xmlns:a="http://schemas.openxmlformats.org/drawingml/2006/main" noGrp="1"/>
          </p:cNvSpPr>
          <p:nvPr/>
        </p:nvSpPr>
        <p:spPr>
          <a:xfrm xmlns:a="http://schemas.openxmlformats.org/drawingml/2006/main">
            <a:off x="62484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 AGENT</a:t>
            </a:r>
          </a:p>
        </p:txBody>
      </p:sp>
      <p:sp>
        <p:nvSpPr>
          <p:cNvPr id="19" name="booking-story-text-15">
            <a:extLst xmlns:a="http://schemas.openxmlformats.org/drawingml/2006/main">
              <a:ext uri="{FF2B5EF4-FFF2-40B4-BE49-F238E27FC236}">
                <a16:creationId xmlns:a16="http://schemas.microsoft.com/office/drawing/2014/main" id="{683138A3-844B-4246-8BEE-A0B98C3A11F5}"/>
              </a:ext>
            </a:extLst>
          </p:cNvPr>
          <p:cNvSpPr>
            <a:spLocks xmlns:a="http://schemas.openxmlformats.org/drawingml/2006/main" noGrp="1"/>
          </p:cNvSpPr>
          <p:nvPr/>
        </p:nvSpPr>
        <p:spPr>
          <a:xfrm xmlns:a="http://schemas.openxmlformats.org/drawingml/2006/main">
            <a:off x="62484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3  Approve the visit</a:t>
            </a:r>
          </a:p>
        </p:txBody>
      </p:sp>
      <p:sp>
        <p:nvSpPr>
          <p:cNvPr id="20" name="booking-story-text-16">
            <a:extLst xmlns:a="http://schemas.openxmlformats.org/drawingml/2006/main">
              <a:ext uri="{FF2B5EF4-FFF2-40B4-BE49-F238E27FC236}">
                <a16:creationId xmlns:a16="http://schemas.microsoft.com/office/drawing/2014/main" id="{52AF28D2-35F6-4CF2-9BFA-F576323C8A72}"/>
              </a:ext>
            </a:extLst>
          </p:cNvPr>
          <p:cNvSpPr>
            <a:spLocks xmlns:a="http://schemas.openxmlformats.org/drawingml/2006/main" noGrp="1"/>
          </p:cNvSpPr>
          <p:nvPr/>
        </p:nvSpPr>
        <p:spPr>
          <a:xfrm xmlns:a="http://schemas.openxmlformats.org/drawingml/2006/main">
            <a:off x="62484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Chooses Oak Plumbing.</a:t>
            </a:r>
          </a:p>
          <a:p xmlns:a="http://schemas.openxmlformats.org/drawingml/2006/main">
            <a:pPr>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Approves the $79 visit</a:t>
            </a:r>
          </a:p>
          <a:p xmlns:a="http://schemas.openxmlformats.org/drawingml/2006/main">
            <a:pPr>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authorization.</a:t>
            </a:r>
          </a:p>
        </p:txBody>
      </p:sp>
      <p:sp>
        <p:nvSpPr>
          <p:cNvPr id="21" name="booking-story-text-17">
            <a:extLst xmlns:a="http://schemas.openxmlformats.org/drawingml/2006/main">
              <a:ext uri="{FF2B5EF4-FFF2-40B4-BE49-F238E27FC236}">
                <a16:creationId xmlns:a16="http://schemas.microsoft.com/office/drawing/2014/main" id="{AA315DCC-6AA8-416D-829C-DF422D9091A9}"/>
              </a:ext>
            </a:extLst>
          </p:cNvPr>
          <p:cNvSpPr>
            <a:spLocks xmlns:a="http://schemas.openxmlformats.org/drawingml/2006/main" noGrp="1"/>
          </p:cNvSpPr>
          <p:nvPr/>
        </p:nvSpPr>
        <p:spPr>
          <a:xfrm xmlns:a="http://schemas.openxmlformats.org/drawingml/2006/main">
            <a:off x="91249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22" name="booking-story-text-18">
            <a:extLst xmlns:a="http://schemas.openxmlformats.org/drawingml/2006/main">
              <a:ext uri="{FF2B5EF4-FFF2-40B4-BE49-F238E27FC236}">
                <a16:creationId xmlns:a16="http://schemas.microsoft.com/office/drawing/2014/main" id="{533B2514-09D5-40D2-AF38-6DED6511B5B5}"/>
              </a:ext>
            </a:extLst>
          </p:cNvPr>
          <p:cNvSpPr>
            <a:spLocks xmlns:a="http://schemas.openxmlformats.org/drawingml/2006/main" noGrp="1"/>
          </p:cNvSpPr>
          <p:nvPr/>
        </p:nvSpPr>
        <p:spPr>
          <a:xfrm xmlns:a="http://schemas.openxmlformats.org/drawingml/2006/main">
            <a:off x="91249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4  Confirm the booking</a:t>
            </a:r>
          </a:p>
        </p:txBody>
      </p:sp>
      <p:sp>
        <p:nvSpPr>
          <p:cNvPr id="23" name="booking-story-text-19">
            <a:extLst xmlns:a="http://schemas.openxmlformats.org/drawingml/2006/main">
              <a:ext uri="{FF2B5EF4-FFF2-40B4-BE49-F238E27FC236}">
                <a16:creationId xmlns:a16="http://schemas.microsoft.com/office/drawing/2014/main" id="{A3415803-B23A-4A43-9DA8-C4BD79AAEE7B}"/>
              </a:ext>
            </a:extLst>
          </p:cNvPr>
          <p:cNvSpPr>
            <a:spLocks xmlns:a="http://schemas.openxmlformats.org/drawingml/2006/main" noGrp="1"/>
          </p:cNvSpPr>
          <p:nvPr/>
        </p:nvSpPr>
        <p:spPr>
          <a:xfrm xmlns:a="http://schemas.openxmlformats.org/drawingml/2006/main">
            <a:off x="91249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Books in the provider’s system.</a:t>
            </a:r>
          </a:p>
          <a:p xmlns:a="http://schemas.openxmlformats.org/drawingml/2006/main">
            <a:pPr>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the booking ID</a:t>
            </a:r>
          </a:p>
          <a:p xmlns:a="http://schemas.openxmlformats.org/drawingml/2006/main">
            <a:pPr>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status.</a:t>
            </a:r>
          </a:p>
        </p:txBody>
      </p:sp>
      <p:sp>
        <p:nvSpPr>
          <p:cNvPr id="24" name="booking-story-flow-20">
            <a:extLst xmlns:a="http://schemas.openxmlformats.org/drawingml/2006/main">
              <a:ext uri="{FF2B5EF4-FFF2-40B4-BE49-F238E27FC236}">
                <a16:creationId xmlns:a16="http://schemas.microsoft.com/office/drawing/2014/main" id="{DD7CE275-95F2-4D3E-9964-402638082BAE}"/>
              </a:ext>
            </a:extLst>
          </p:cNvPr>
          <p:cNvSpPr>
            <a:spLocks xmlns:a="http://schemas.openxmlformats.org/drawingml/2006/main" noGrp="1"/>
          </p:cNvSpPr>
          <p:nvPr/>
        </p:nvSpPr>
        <p:spPr>
          <a:xfrm xmlns:a="http://schemas.openxmlformats.org/drawingml/2006/main">
            <a:off x="495300" y="5391150"/>
            <a:ext cx="11201400" cy="102870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25" name="booking-story-text-21">
            <a:extLst xmlns:a="http://schemas.openxmlformats.org/drawingml/2006/main">
              <a:ext uri="{FF2B5EF4-FFF2-40B4-BE49-F238E27FC236}">
                <a16:creationId xmlns:a16="http://schemas.microsoft.com/office/drawing/2014/main" id="{8754C950-F5DC-4EC1-868F-8A9DCB4E47AD}"/>
              </a:ext>
            </a:extLst>
          </p:cNvPr>
          <p:cNvSpPr>
            <a:spLocks xmlns:a="http://schemas.openxmlformats.org/drawingml/2006/main" noGrp="1"/>
          </p:cNvSpPr>
          <p:nvPr/>
        </p:nvSpPr>
        <p:spPr>
          <a:xfrm xmlns:a="http://schemas.openxmlformats.org/drawingml/2006/main">
            <a:off x="695325" y="5543550"/>
            <a:ext cx="1080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stStyle>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Oak Plumbing confirmed for tomorrow, 9–11 am</a:t>
            </a:r>
          </a:p>
        </p:txBody>
      </p:sp>
      <p:sp>
        <p:nvSpPr>
          <p:cNvPr id="26" name="booking-story-text-22">
            <a:extLst xmlns:a="http://schemas.openxmlformats.org/drawingml/2006/main">
              <a:ext uri="{FF2B5EF4-FFF2-40B4-BE49-F238E27FC236}">
                <a16:creationId xmlns:a16="http://schemas.microsoft.com/office/drawing/2014/main" id="{7762AFC1-78FC-4994-81E7-CD6BA5D7B9FF}"/>
              </a:ext>
            </a:extLst>
          </p:cNvPr>
          <p:cNvSpPr>
            <a:spLocks xmlns:a="http://schemas.openxmlformats.org/drawingml/2006/main" noGrp="1"/>
          </p:cNvSpPr>
          <p:nvPr/>
        </p:nvSpPr>
        <p:spPr>
          <a:xfrm xmlns:a="http://schemas.openxmlformats.org/drawingml/2006/main">
            <a:off x="695325" y="6019800"/>
            <a:ext cx="10801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Helvetica Neue"/>
                <a:ea typeface="Helvetica Neue"/>
                <a:cs typeface="Helvetica Neue"/>
              </a:defRPr>
            </a:defPPr>
          </a:lstStyle>
          <a:p xmlns:a="http://schemas.openxmlformats.org/drawingml/2006/main">
            <a:pPr>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Booking GL-1042. $79 visit fee authorized. Repairs quoted after inspection.</a:t>
            </a:r>
          </a:p>
        </p:txBody>
      </p:sp>
      <p:sp>
        <p:nvSpPr>
          <p:cNvPr id="27" name="booking-story-text-23">
            <a:extLst xmlns:a="http://schemas.openxmlformats.org/drawingml/2006/main">
              <a:ext uri="{FF2B5EF4-FFF2-40B4-BE49-F238E27FC236}">
                <a16:creationId xmlns:a16="http://schemas.microsoft.com/office/drawing/2014/main" id="{DCF5C9E5-F549-4DDE-AB7F-BAE131D05FD4}"/>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Illustrative customer journey. Provider, price, slot and booking ID are examples, not live transactions.</a:t>
            </a:r>
          </a:p>
        </p:txBody>
      </p:sp>
      <p:sp>
        <p:nvSpPr>
          <p:cNvPr id="28" name="booking-story-text-24">
            <a:extLst xmlns:a="http://schemas.openxmlformats.org/drawingml/2006/main">
              <a:ext uri="{FF2B5EF4-FFF2-40B4-BE49-F238E27FC236}">
                <a16:creationId xmlns:a16="http://schemas.microsoft.com/office/drawing/2014/main" id="{9C54B56B-EE83-4B3A-A78C-89B9203337DD}"/>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6</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7B1EDEB9-776F-4F74-B913-7109A6F63827}"/>
              </a:ext>
            </a:extLst>
          </p:cNvPr>
          <p:cNvCxnSpPr>
            <a:stCxn xmlns:a="http://schemas.openxmlformats.org/drawingml/2006/main" id="11" idx="3"/>
            <a:endCxn xmlns:a="http://schemas.openxmlformats.org/drawingml/2006/main" id="12" idx="1"/>
          </p:cNvCxnSpPr>
          <p:nvPr/>
        </p:nvCxnSpPr>
        <p:spPr>
          <a:xfrm xmlns:a="http://schemas.openxmlformats.org/drawingml/2006/main">
            <a:off x="75628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3" name="">
            <a:extLst xmlns:a="http://schemas.openxmlformats.org/drawingml/2006/main">
              <a:ext uri="{FF2B5EF4-FFF2-40B4-BE49-F238E27FC236}">
                <a16:creationId xmlns:a16="http://schemas.microsoft.com/office/drawing/2014/main" id="{DF9B4D32-D0C1-43A7-B381-AD695A9B8490}"/>
              </a:ext>
            </a:extLst>
          </p:cNvPr>
          <p:cNvCxnSpPr>
            <a:stCxn xmlns:a="http://schemas.openxmlformats.org/drawingml/2006/main" id="10" idx="3"/>
            <a:endCxn xmlns:a="http://schemas.openxmlformats.org/drawingml/2006/main" id="11" idx="1"/>
          </p:cNvCxnSpPr>
          <p:nvPr/>
        </p:nvCxnSpPr>
        <p:spPr>
          <a:xfrm xmlns:a="http://schemas.openxmlformats.org/drawingml/2006/main">
            <a:off x="34099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6" name="text-46">
            <a:extLst xmlns:a="http://schemas.openxmlformats.org/drawingml/2006/main">
              <a:ext uri="{FF2B5EF4-FFF2-40B4-BE49-F238E27FC236}">
                <a16:creationId xmlns:a16="http://schemas.microsoft.com/office/drawing/2014/main" id="{FAF97EA1-5185-4FAD-A815-F8BCA7E21FB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BUSINESS MODEL AND DISTRIBUTION</a:t>
            </a:r>
          </a:p>
        </p:txBody>
      </p:sp>
      <p:sp>
        <p:nvSpPr>
          <p:cNvPr id="2" name="text-47">
            <a:extLst xmlns:a="http://schemas.openxmlformats.org/drawingml/2006/main">
              <a:ext uri="{FF2B5EF4-FFF2-40B4-BE49-F238E27FC236}">
                <a16:creationId xmlns:a16="http://schemas.microsoft.com/office/drawing/2014/main" id="{986E807D-E8C9-46A3-BD96-DA7C069F93FC}"/>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GoLocal earns when a new customer’s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booking becomes a fulfilled job</a:t>
            </a:r>
          </a:p>
        </p:txBody>
      </p:sp>
      <p:sp>
        <p:nvSpPr>
          <p:cNvPr id="3" name="text-48">
            <a:extLst xmlns:a="http://schemas.openxmlformats.org/drawingml/2006/main">
              <a:ext uri="{FF2B5EF4-FFF2-40B4-BE49-F238E27FC236}">
                <a16:creationId xmlns:a16="http://schemas.microsoft.com/office/drawing/2014/main" id="{6289C454-CBAB-4CBF-8D37-F1EECD795938}"/>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49">
            <a:extLst xmlns:a="http://schemas.openxmlformats.org/drawingml/2006/main">
              <a:ext uri="{FF2B5EF4-FFF2-40B4-BE49-F238E27FC236}">
                <a16:creationId xmlns:a16="http://schemas.microsoft.com/office/drawing/2014/main" id="{A6583BE2-0D25-4356-AFE1-085B280C44EF}"/>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4 / 6</a:t>
            </a:r>
          </a:p>
        </p:txBody>
      </p:sp>
      <p:sp>
        <p:nvSpPr>
          <p:cNvPr id="5" name="text-50">
            <a:extLst xmlns:a="http://schemas.openxmlformats.org/drawingml/2006/main">
              <a:ext uri="{FF2B5EF4-FFF2-40B4-BE49-F238E27FC236}">
                <a16:creationId xmlns:a16="http://schemas.microsoft.com/office/drawing/2014/main" id="{9F6F9698-B980-4A5C-81A7-C0E01B460FDC}"/>
              </a:ext>
            </a:extLst>
          </p:cNvPr>
          <p:cNvSpPr>
            <a:spLocks xmlns:a="http://schemas.openxmlformats.org/drawingml/2006/main" noGrp="1"/>
          </p:cNvSpPr>
          <p:nvPr/>
        </p:nvSpPr>
        <p:spPr>
          <a:xfrm xmlns:a="http://schemas.openxmlformats.org/drawingml/2006/main">
            <a:off x="457200" y="2057400"/>
            <a:ext cx="112776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18352F"/>
                </a:solidFill>
                <a:latin typeface="Helvetica Neue"/>
                <a:ea typeface="Helvetica Neue"/>
                <a:cs typeface="Helvetica Neue"/>
              </a:defRPr>
            </a:defPPr>
          </a:lstStyle>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Proposed: the supplier pays a success fee. GoLocal shares an agreed</a:t>
            </a:r>
          </a:p>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portion with the partner that brings the customer.</a:t>
            </a:r>
          </a:p>
        </p:txBody>
      </p:sp>
      <p:sp>
        <p:nvSpPr>
          <p:cNvPr id="6" name="text-51">
            <a:extLst xmlns:a="http://schemas.openxmlformats.org/drawingml/2006/main">
              <a:ext uri="{FF2B5EF4-FFF2-40B4-BE49-F238E27FC236}">
                <a16:creationId xmlns:a16="http://schemas.microsoft.com/office/drawing/2014/main" id="{8FB99042-26B6-494E-A35C-300EC7E87DC1}"/>
              </a:ext>
            </a:extLst>
          </p:cNvPr>
          <p:cNvSpPr>
            <a:spLocks xmlns:a="http://schemas.openxmlformats.org/drawingml/2006/main" noGrp="1"/>
          </p:cNvSpPr>
          <p:nvPr/>
        </p:nvSpPr>
        <p:spPr>
          <a:xfrm xmlns:a="http://schemas.openxmlformats.org/drawingml/2006/main">
            <a:off x="457200" y="32194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Direct agent partnership</a:t>
            </a:r>
          </a:p>
        </p:txBody>
      </p:sp>
      <p:sp>
        <p:nvSpPr>
          <p:cNvPr id="7" name="text-52">
            <a:extLst xmlns:a="http://schemas.openxmlformats.org/drawingml/2006/main">
              <a:ext uri="{FF2B5EF4-FFF2-40B4-BE49-F238E27FC236}">
                <a16:creationId xmlns:a16="http://schemas.microsoft.com/office/drawing/2014/main" id="{BF0F34B1-09AA-4179-A4DC-F6AB936E7E85}"/>
              </a:ext>
            </a:extLst>
          </p:cNvPr>
          <p:cNvSpPr>
            <a:spLocks xmlns:a="http://schemas.openxmlformats.org/drawingml/2006/main" noGrp="1"/>
          </p:cNvSpPr>
          <p:nvPr/>
        </p:nvSpPr>
        <p:spPr>
          <a:xfrm xmlns:a="http://schemas.openxmlformats.org/drawingml/2006/main">
            <a:off x="457200" y="3762375"/>
            <a:ext cx="52197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An agent platform routes relevant requests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to GoLocal as an integrated booking tool.</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partnership still needs to be secured.</a:t>
            </a:r>
          </a:p>
        </p:txBody>
      </p:sp>
      <p:sp>
        <p:nvSpPr>
          <p:cNvPr id="8" name="text-53">
            <a:extLst xmlns:a="http://schemas.openxmlformats.org/drawingml/2006/main">
              <a:ext uri="{FF2B5EF4-FFF2-40B4-BE49-F238E27FC236}">
                <a16:creationId xmlns:a16="http://schemas.microsoft.com/office/drawing/2014/main" id="{9FF6C1A3-46F7-417E-8C2E-B22EE566CD0E}"/>
              </a:ext>
            </a:extLst>
          </p:cNvPr>
          <p:cNvSpPr>
            <a:spLocks xmlns:a="http://schemas.openxmlformats.org/drawingml/2006/main" noGrp="1"/>
          </p:cNvSpPr>
          <p:nvPr/>
        </p:nvSpPr>
        <p:spPr>
          <a:xfrm xmlns:a="http://schemas.openxmlformats.org/drawingml/2006/main">
            <a:off x="6610350" y="3219450"/>
            <a:ext cx="5124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User-added connector</a:t>
            </a:r>
          </a:p>
        </p:txBody>
      </p:sp>
      <p:sp>
        <p:nvSpPr>
          <p:cNvPr id="9" name="text-54">
            <a:extLst xmlns:a="http://schemas.openxmlformats.org/drawingml/2006/main">
              <a:ext uri="{FF2B5EF4-FFF2-40B4-BE49-F238E27FC236}">
                <a16:creationId xmlns:a16="http://schemas.microsoft.com/office/drawing/2014/main" id="{BFDA3310-7D24-444A-A254-2440C190AB06}"/>
              </a:ext>
            </a:extLst>
          </p:cNvPr>
          <p:cNvSpPr>
            <a:spLocks xmlns:a="http://schemas.openxmlformats.org/drawingml/2006/main" noGrp="1"/>
          </p:cNvSpPr>
          <p:nvPr/>
        </p:nvSpPr>
        <p:spPr>
          <a:xfrm xmlns:a="http://schemas.openxmlformats.org/drawingml/2006/main">
            <a:off x="6610350" y="3762375"/>
            <a:ext cx="51244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Reach an audience with an urgent need.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Help them add GoLocal to their agent.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Installation requires customer acquisition.</a:t>
            </a:r>
          </a:p>
        </p:txBody>
      </p:sp>
      <p:sp>
        <p:nvSpPr>
          <p:cNvPr id="10" name="diagram-55">
            <a:extLst xmlns:a="http://schemas.openxmlformats.org/drawingml/2006/main">
              <a:ext uri="{FF2B5EF4-FFF2-40B4-BE49-F238E27FC236}">
                <a16:creationId xmlns:a16="http://schemas.microsoft.com/office/drawing/2014/main" id="{F61C9BFD-0E3D-4A6B-88F5-113305726798}"/>
              </a:ext>
            </a:extLst>
          </p:cNvPr>
          <p:cNvSpPr>
            <a:spLocks xmlns:a="http://schemas.openxmlformats.org/drawingml/2006/main" noGrp="1"/>
          </p:cNvSpPr>
          <p:nvPr/>
        </p:nvSpPr>
        <p:spPr>
          <a:xfrm xmlns:a="http://schemas.openxmlformats.org/drawingml/2006/main">
            <a:off x="457200" y="5238750"/>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Approved connector</a:t>
            </a:r>
          </a:p>
        </p:txBody>
      </p:sp>
      <p:sp>
        <p:nvSpPr>
          <p:cNvPr id="11" name="diagram-56">
            <a:extLst xmlns:a="http://schemas.openxmlformats.org/drawingml/2006/main">
              <a:ext uri="{FF2B5EF4-FFF2-40B4-BE49-F238E27FC236}">
                <a16:creationId xmlns:a16="http://schemas.microsoft.com/office/drawing/2014/main" id="{4CB77984-AA3C-4084-A02D-C45BA0C60B64}"/>
              </a:ext>
            </a:extLst>
          </p:cNvPr>
          <p:cNvSpPr>
            <a:spLocks xmlns:a="http://schemas.openxmlformats.org/drawingml/2006/main" noGrp="1"/>
          </p:cNvSpPr>
          <p:nvPr/>
        </p:nvSpPr>
        <p:spPr>
          <a:xfrm xmlns:a="http://schemas.openxmlformats.org/drawingml/2006/main">
            <a:off x="4610100" y="5238750"/>
            <a:ext cx="295275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Useful completed tasks</a:t>
            </a:r>
          </a:p>
        </p:txBody>
      </p:sp>
      <p:sp>
        <p:nvSpPr>
          <p:cNvPr id="12" name="diagram-57">
            <a:extLst xmlns:a="http://schemas.openxmlformats.org/drawingml/2006/main">
              <a:ext uri="{FF2B5EF4-FFF2-40B4-BE49-F238E27FC236}">
                <a16:creationId xmlns:a16="http://schemas.microsoft.com/office/drawing/2014/main" id="{06C078AC-1C88-45B8-8F3E-3F165DD5E3E9}"/>
              </a:ext>
            </a:extLst>
          </p:cNvPr>
          <p:cNvSpPr>
            <a:spLocks xmlns:a="http://schemas.openxmlformats.org/drawingml/2006/main" noGrp="1"/>
          </p:cNvSpPr>
          <p:nvPr/>
        </p:nvSpPr>
        <p:spPr>
          <a:xfrm xmlns:a="http://schemas.openxmlformats.org/drawingml/2006/main">
            <a:off x="8763000" y="5238750"/>
            <a:ext cx="297180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Broader discovery</a:t>
            </a:r>
          </a:p>
        </p:txBody>
      </p:sp>
      <p:sp>
        <p:nvSpPr>
          <p:cNvPr id="15" name="text-58">
            <a:extLst xmlns:a="http://schemas.openxmlformats.org/drawingml/2006/main">
              <a:ext uri="{FF2B5EF4-FFF2-40B4-BE49-F238E27FC236}">
                <a16:creationId xmlns:a16="http://schemas.microsoft.com/office/drawing/2014/main" id="{FEB59C90-5538-4FE2-AE16-DAF0E9468CB4}"/>
              </a:ext>
            </a:extLst>
          </p:cNvPr>
          <p:cNvSpPr>
            <a:spLocks xmlns:a="http://schemas.openxmlformats.org/drawingml/2006/main" noGrp="1"/>
          </p:cNvSpPr>
          <p:nvPr/>
        </p:nvSpPr>
        <p:spPr>
          <a:xfrm xmlns:a="http://schemas.openxmlformats.org/drawingml/2006/main">
            <a:off x="457200" y="604837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Strong utility can support recommendations; placement is platform-dependent. Fees and routes remain open.</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0DFC6314-4446-46F8-899F-726AA79DEA4F}"/>
              </a:ext>
            </a:extLst>
          </p:cNvPr>
          <p:cNvCxnSpPr>
            <a:stCxn xmlns:a="http://schemas.openxmlformats.org/drawingml/2006/main" id="12" idx="3"/>
            <a:endCxn xmlns:a="http://schemas.openxmlformats.org/drawingml/2006/main" id="13" idx="1"/>
          </p:cNvCxnSpPr>
          <p:nvPr/>
        </p:nvCxnSpPr>
        <p:spPr>
          <a:xfrm xmlns:a="http://schemas.openxmlformats.org/drawingml/2006/main">
            <a:off x="75628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FD38E110-4119-4A92-8DE8-527D5FAB48E6}"/>
              </a:ext>
            </a:extLst>
          </p:cNvPr>
          <p:cNvCxnSpPr>
            <a:stCxn xmlns:a="http://schemas.openxmlformats.org/drawingml/2006/main" id="11" idx="3"/>
            <a:endCxn xmlns:a="http://schemas.openxmlformats.org/drawingml/2006/main" id="12" idx="1"/>
          </p:cNvCxnSpPr>
          <p:nvPr/>
        </p:nvCxnSpPr>
        <p:spPr>
          <a:xfrm xmlns:a="http://schemas.openxmlformats.org/drawingml/2006/main">
            <a:off x="34099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7" name="text-59">
            <a:extLst xmlns:a="http://schemas.openxmlformats.org/drawingml/2006/main">
              <a:ext uri="{FF2B5EF4-FFF2-40B4-BE49-F238E27FC236}">
                <a16:creationId xmlns:a16="http://schemas.microsoft.com/office/drawing/2014/main" id="{6C34ADF3-169D-4A05-BCD4-61CCD74EA73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IS COMING TOGETHER</a:t>
            </a:r>
          </a:p>
        </p:txBody>
      </p:sp>
      <p:sp>
        <p:nvSpPr>
          <p:cNvPr id="2" name="text-60">
            <a:extLst xmlns:a="http://schemas.openxmlformats.org/drawingml/2006/main">
              <a:ext uri="{FF2B5EF4-FFF2-40B4-BE49-F238E27FC236}">
                <a16:creationId xmlns:a16="http://schemas.microsoft.com/office/drawing/2014/main" id="{D5789F55-3702-445A-BA82-5ECE56D15EB6}"/>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Partners have agreed to open access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to the first local businesses</a:t>
            </a:r>
          </a:p>
        </p:txBody>
      </p:sp>
      <p:sp>
        <p:nvSpPr>
          <p:cNvPr id="3" name="text-61">
            <a:extLst xmlns:a="http://schemas.openxmlformats.org/drawingml/2006/main">
              <a:ext uri="{FF2B5EF4-FFF2-40B4-BE49-F238E27FC236}">
                <a16:creationId xmlns:a16="http://schemas.microsoft.com/office/drawing/2014/main" id="{D5F41982-2B1F-48D2-9BC5-C6B31883C8C5}"/>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62">
            <a:extLst xmlns:a="http://schemas.openxmlformats.org/drawingml/2006/main">
              <a:ext uri="{FF2B5EF4-FFF2-40B4-BE49-F238E27FC236}">
                <a16:creationId xmlns:a16="http://schemas.microsoft.com/office/drawing/2014/main" id="{69E35C39-A9AF-493E-A026-B3538F6E2089}"/>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5 / 6</a:t>
            </a:r>
          </a:p>
        </p:txBody>
      </p:sp>
      <p:sp>
        <p:nvSpPr>
          <p:cNvPr id="5" name="text-63">
            <a:extLst xmlns:a="http://schemas.openxmlformats.org/drawingml/2006/main">
              <a:ext uri="{FF2B5EF4-FFF2-40B4-BE49-F238E27FC236}">
                <a16:creationId xmlns:a16="http://schemas.microsoft.com/office/drawing/2014/main" id="{B0F0A4F7-81E5-4CC9-B48D-0551345426A1}"/>
              </a:ext>
            </a:extLst>
          </p:cNvPr>
          <p:cNvSpPr>
            <a:spLocks xmlns:a="http://schemas.openxmlformats.org/drawingml/2006/main" noGrp="1"/>
          </p:cNvSpPr>
          <p:nvPr/>
        </p:nvSpPr>
        <p:spPr>
          <a:xfrm xmlns:a="http://schemas.openxmlformats.org/drawingml/2006/main">
            <a:off x="457200" y="2200275"/>
            <a:ext cx="5143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100+</a:t>
            </a:r>
          </a:p>
        </p:txBody>
      </p:sp>
      <p:sp>
        <p:nvSpPr>
          <p:cNvPr id="6" name="text-64">
            <a:extLst xmlns:a="http://schemas.openxmlformats.org/drawingml/2006/main">
              <a:ext uri="{FF2B5EF4-FFF2-40B4-BE49-F238E27FC236}">
                <a16:creationId xmlns:a16="http://schemas.microsoft.com/office/drawing/2014/main" id="{7D9DB117-0EB1-4258-AC2D-9D7CE0682847}"/>
              </a:ext>
            </a:extLst>
          </p:cNvPr>
          <p:cNvSpPr>
            <a:spLocks xmlns:a="http://schemas.openxmlformats.org/drawingml/2006/main" noGrp="1"/>
          </p:cNvSpPr>
          <p:nvPr/>
        </p:nvSpPr>
        <p:spPr>
          <a:xfrm xmlns:a="http://schemas.openxmlformats.org/drawingml/2006/main">
            <a:off x="457200" y="3314700"/>
            <a:ext cx="5257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trade shops served by Cactus AI</a:t>
            </a:r>
          </a:p>
        </p:txBody>
      </p:sp>
      <p:sp>
        <p:nvSpPr>
          <p:cNvPr id="7" name="text-65">
            <a:extLst xmlns:a="http://schemas.openxmlformats.org/drawingml/2006/main">
              <a:ext uri="{FF2B5EF4-FFF2-40B4-BE49-F238E27FC236}">
                <a16:creationId xmlns:a16="http://schemas.microsoft.com/office/drawing/2014/main" id="{EADB5E66-F13E-416F-80A5-2CEE283FB9A2}"/>
              </a:ext>
            </a:extLst>
          </p:cNvPr>
          <p:cNvSpPr>
            <a:spLocks xmlns:a="http://schemas.openxmlformats.org/drawingml/2006/main" noGrp="1"/>
          </p:cNvSpPr>
          <p:nvPr/>
        </p:nvSpPr>
        <p:spPr>
          <a:xfrm xmlns:a="http://schemas.openxmlformats.org/drawingml/2006/main">
            <a:off x="457200" y="3952875"/>
            <a:ext cx="53149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Salt Lake City and Dallas.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Cactus agreed to introduce shops and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provide booking access through its customers.</a:t>
            </a:r>
          </a:p>
        </p:txBody>
      </p:sp>
      <p:sp>
        <p:nvSpPr>
          <p:cNvPr id="8" name="text-66">
            <a:extLst xmlns:a="http://schemas.openxmlformats.org/drawingml/2006/main">
              <a:ext uri="{FF2B5EF4-FFF2-40B4-BE49-F238E27FC236}">
                <a16:creationId xmlns:a16="http://schemas.microsoft.com/office/drawing/2014/main" id="{D63476D8-94BB-4F0D-90F9-DDE17F6F0F77}"/>
              </a:ext>
            </a:extLst>
          </p:cNvPr>
          <p:cNvSpPr>
            <a:spLocks xmlns:a="http://schemas.openxmlformats.org/drawingml/2006/main" noGrp="1"/>
          </p:cNvSpPr>
          <p:nvPr/>
        </p:nvSpPr>
        <p:spPr>
          <a:xfrm xmlns:a="http://schemas.openxmlformats.org/drawingml/2006/main">
            <a:off x="6705600" y="2200275"/>
            <a:ext cx="5029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20</a:t>
            </a:r>
          </a:p>
        </p:txBody>
      </p:sp>
      <p:sp>
        <p:nvSpPr>
          <p:cNvPr id="9" name="text-67">
            <a:extLst xmlns:a="http://schemas.openxmlformats.org/drawingml/2006/main">
              <a:ext uri="{FF2B5EF4-FFF2-40B4-BE49-F238E27FC236}">
                <a16:creationId xmlns:a16="http://schemas.microsoft.com/office/drawing/2014/main" id="{C0D80327-9B38-4FE7-A9DA-16263A2A9906}"/>
              </a:ext>
            </a:extLst>
          </p:cNvPr>
          <p:cNvSpPr>
            <a:spLocks xmlns:a="http://schemas.openxmlformats.org/drawingml/2006/main" noGrp="1"/>
          </p:cNvSpPr>
          <p:nvPr/>
        </p:nvSpPr>
        <p:spPr>
          <a:xfrm xmlns:a="http://schemas.openxmlformats.org/drawingml/2006/main">
            <a:off x="6705600" y="3314700"/>
            <a:ext cx="5029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clients committed for onboarding</a:t>
            </a:r>
          </a:p>
        </p:txBody>
      </p:sp>
      <p:sp>
        <p:nvSpPr>
          <p:cNvPr id="10" name="text-68">
            <a:extLst xmlns:a="http://schemas.openxmlformats.org/drawingml/2006/main">
              <a:ext uri="{FF2B5EF4-FFF2-40B4-BE49-F238E27FC236}">
                <a16:creationId xmlns:a16="http://schemas.microsoft.com/office/drawing/2014/main" id="{67843AFD-5C57-4D1D-B9A4-2A8A40011766}"/>
              </a:ext>
            </a:extLst>
          </p:cNvPr>
          <p:cNvSpPr>
            <a:spLocks xmlns:a="http://schemas.openxmlformats.org/drawingml/2006/main" noGrp="1"/>
          </p:cNvSpPr>
          <p:nvPr/>
        </p:nvSpPr>
        <p:spPr>
          <a:xfrm xmlns:a="http://schemas.openxmlformats.org/drawingml/2006/main">
            <a:off x="6705600" y="3952875"/>
            <a:ext cx="5029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separate back-office management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company agreed to onboard its clients.</a:t>
            </a:r>
          </a:p>
        </p:txBody>
      </p:sp>
      <p:sp>
        <p:nvSpPr>
          <p:cNvPr id="11" name="diagram-69">
            <a:extLst xmlns:a="http://schemas.openxmlformats.org/drawingml/2006/main">
              <a:ext uri="{FF2B5EF4-FFF2-40B4-BE49-F238E27FC236}">
                <a16:creationId xmlns:a16="http://schemas.microsoft.com/office/drawing/2014/main" id="{282C9521-8CC6-497E-9744-DEB837B39F9D}"/>
              </a:ext>
            </a:extLst>
          </p:cNvPr>
          <p:cNvSpPr>
            <a:spLocks xmlns:a="http://schemas.openxmlformats.org/drawingml/2006/main" noGrp="1"/>
          </p:cNvSpPr>
          <p:nvPr/>
        </p:nvSpPr>
        <p:spPr>
          <a:xfrm xmlns:a="http://schemas.openxmlformats.org/drawingml/2006/main">
            <a:off x="4572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One trade + one city</a:t>
            </a:r>
          </a:p>
        </p:txBody>
      </p:sp>
      <p:sp>
        <p:nvSpPr>
          <p:cNvPr id="12" name="diagram-70">
            <a:extLst xmlns:a="http://schemas.openxmlformats.org/drawingml/2006/main">
              <a:ext uri="{FF2B5EF4-FFF2-40B4-BE49-F238E27FC236}">
                <a16:creationId xmlns:a16="http://schemas.microsoft.com/office/drawing/2014/main" id="{F13CB1E7-AFA8-4BAD-824E-01440A0A4405}"/>
              </a:ext>
            </a:extLst>
          </p:cNvPr>
          <p:cNvSpPr>
            <a:spLocks xmlns:a="http://schemas.openxmlformats.org/drawingml/2006/main" noGrp="1"/>
          </p:cNvSpPr>
          <p:nvPr/>
        </p:nvSpPr>
        <p:spPr>
          <a:xfrm xmlns:a="http://schemas.openxmlformats.org/drawingml/2006/main">
            <a:off x="46101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Connect authorized supply</a:t>
            </a:r>
          </a:p>
        </p:txBody>
      </p:sp>
      <p:sp>
        <p:nvSpPr>
          <p:cNvPr id="13" name="diagram-71">
            <a:extLst xmlns:a="http://schemas.openxmlformats.org/drawingml/2006/main">
              <a:ext uri="{FF2B5EF4-FFF2-40B4-BE49-F238E27FC236}">
                <a16:creationId xmlns:a16="http://schemas.microsoft.com/office/drawing/2014/main" id="{6BA886AE-3DFD-418A-B499-2854C6C5D314}"/>
              </a:ext>
            </a:extLst>
          </p:cNvPr>
          <p:cNvSpPr>
            <a:spLocks xmlns:a="http://schemas.openxmlformats.org/drawingml/2006/main" noGrp="1"/>
          </p:cNvSpPr>
          <p:nvPr/>
        </p:nvSpPr>
        <p:spPr>
          <a:xfrm xmlns:a="http://schemas.openxmlformats.org/drawingml/2006/main">
            <a:off x="8763000" y="5400675"/>
            <a:ext cx="297180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Route and fulfill real jobs</a:t>
            </a:r>
          </a:p>
        </p:txBody>
      </p:sp>
      <p:sp>
        <p:nvSpPr>
          <p:cNvPr id="16" name="text-72">
            <a:extLst xmlns:a="http://schemas.openxmlformats.org/drawingml/2006/main">
              <a:ext uri="{FF2B5EF4-FFF2-40B4-BE49-F238E27FC236}">
                <a16:creationId xmlns:a16="http://schemas.microsoft.com/office/drawing/2014/main" id="{0EE416B1-FE77-4C2A-8F86-E24588D5FFF1}"/>
              </a:ext>
            </a:extLst>
          </p:cNvPr>
          <p:cNvSpPr>
            <a:spLocks xmlns:a="http://schemas.openxmlformats.org/drawingml/2006/main" noGrp="1"/>
          </p:cNvSpPr>
          <p:nvPr/>
        </p:nvSpPr>
        <p:spPr>
          <a:xfrm xmlns:a="http://schemas.openxmlformats.org/drawingml/2006/main">
            <a:off x="457200" y="614362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Founder-reported commitments. These are not live GoLocal merchants, integrations, bookings or revenue.</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73">
            <a:extLst xmlns:a="http://schemas.openxmlformats.org/drawingml/2006/main">
              <a:ext uri="{FF2B5EF4-FFF2-40B4-BE49-F238E27FC236}">
                <a16:creationId xmlns:a16="http://schemas.microsoft.com/office/drawing/2014/main" id="{193E3AA9-CC38-422D-86F1-245BC458BC63}"/>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THE TEAM</a:t>
            </a:r>
          </a:p>
        </p:txBody>
      </p:sp>
      <p:sp>
        <p:nvSpPr>
          <p:cNvPr id="2" name="text-74">
            <a:extLst xmlns:a="http://schemas.openxmlformats.org/drawingml/2006/main">
              <a:ext uri="{FF2B5EF4-FFF2-40B4-BE49-F238E27FC236}">
                <a16:creationId xmlns:a16="http://schemas.microsoft.com/office/drawing/2014/main" id="{A4D7B818-4EFE-41E3-83A9-BBBBB4CF6310}"/>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 decade building local services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with engineering for the agent era</a:t>
            </a:r>
          </a:p>
        </p:txBody>
      </p:sp>
      <p:sp>
        <p:nvSpPr>
          <p:cNvPr id="3" name="text-75">
            <a:extLst xmlns:a="http://schemas.openxmlformats.org/drawingml/2006/main">
              <a:ext uri="{FF2B5EF4-FFF2-40B4-BE49-F238E27FC236}">
                <a16:creationId xmlns:a16="http://schemas.microsoft.com/office/drawing/2014/main" id="{C0B22EE5-87A5-4832-806B-F793567523AC}"/>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76">
            <a:extLst xmlns:a="http://schemas.openxmlformats.org/drawingml/2006/main">
              <a:ext uri="{FF2B5EF4-FFF2-40B4-BE49-F238E27FC236}">
                <a16:creationId xmlns:a16="http://schemas.microsoft.com/office/drawing/2014/main" id="{46802664-2631-4FAC-8F83-9CBB0216FDEC}"/>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6 / 6</a:t>
            </a:r>
          </a:p>
        </p:txBody>
      </p:sp>
      <p:sp>
        <p:nvSpPr>
          <p:cNvPr id="5" name="text-77">
            <a:extLst xmlns:a="http://schemas.openxmlformats.org/drawingml/2006/main">
              <a:ext uri="{FF2B5EF4-FFF2-40B4-BE49-F238E27FC236}">
                <a16:creationId xmlns:a16="http://schemas.microsoft.com/office/drawing/2014/main" id="{9F7A37BA-D5A3-4327-86B0-45F182885220}"/>
              </a:ext>
            </a:extLst>
          </p:cNvPr>
          <p:cNvSpPr>
            <a:spLocks xmlns:a="http://schemas.openxmlformats.org/drawingml/2006/main" noGrp="1"/>
          </p:cNvSpPr>
          <p:nvPr/>
        </p:nvSpPr>
        <p:spPr>
          <a:xfrm xmlns:a="http://schemas.openxmlformats.org/drawingml/2006/main">
            <a:off x="457200" y="2495550"/>
            <a:ext cx="5257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Pulkit Walia</a:t>
            </a:r>
          </a:p>
        </p:txBody>
      </p:sp>
      <p:sp>
        <p:nvSpPr>
          <p:cNvPr id="6" name="text-78">
            <a:extLst xmlns:a="http://schemas.openxmlformats.org/drawingml/2006/main">
              <a:ext uri="{FF2B5EF4-FFF2-40B4-BE49-F238E27FC236}">
                <a16:creationId xmlns:a16="http://schemas.microsoft.com/office/drawing/2014/main" id="{48BDBC75-E4FC-4F45-AE12-CDE93165359D}"/>
              </a:ext>
            </a:extLst>
          </p:cNvPr>
          <p:cNvSpPr>
            <a:spLocks xmlns:a="http://schemas.openxmlformats.org/drawingml/2006/main" noGrp="1"/>
          </p:cNvSpPr>
          <p:nvPr/>
        </p:nvSpPr>
        <p:spPr>
          <a:xfrm xmlns:a="http://schemas.openxmlformats.org/drawingml/2006/main">
            <a:off x="457200" y="3257550"/>
            <a:ext cx="52578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Founder  |  HBS MBA</a:t>
            </a:r>
          </a:p>
        </p:txBody>
      </p:sp>
      <p:sp>
        <p:nvSpPr>
          <p:cNvPr id="7" name="text-79">
            <a:extLst xmlns:a="http://schemas.openxmlformats.org/drawingml/2006/main">
              <a:ext uri="{FF2B5EF4-FFF2-40B4-BE49-F238E27FC236}">
                <a16:creationId xmlns:a16="http://schemas.microsoft.com/office/drawing/2014/main" id="{1C53ADBC-849C-43DE-8822-56954A5FB517}"/>
              </a:ext>
            </a:extLst>
          </p:cNvPr>
          <p:cNvSpPr>
            <a:spLocks xmlns:a="http://schemas.openxmlformats.org/drawingml/2006/main" noGrp="1"/>
          </p:cNvSpPr>
          <p:nvPr/>
        </p:nvSpPr>
        <p:spPr>
          <a:xfrm xmlns:a="http://schemas.openxmlformats.org/drawingml/2006/main">
            <a:off x="457200" y="3905250"/>
            <a:ext cx="532447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8352F"/>
                </a:solidFill>
                <a:latin typeface="Helvetica Neue"/>
                <a:ea typeface="Helvetica Neue"/>
                <a:cs typeface="Helvetica Neue"/>
              </a:defRPr>
            </a:defPPr>
          </a:lstStyle>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Urban Company founding team.</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Spent a decade building local services</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in Asia, from zero to a $3B IPO.</a:t>
            </a:r>
          </a:p>
        </p:txBody>
      </p:sp>
      <p:sp>
        <p:nvSpPr>
          <p:cNvPr id="8" name="text-80">
            <a:extLst xmlns:a="http://schemas.openxmlformats.org/drawingml/2006/main">
              <a:ext uri="{FF2B5EF4-FFF2-40B4-BE49-F238E27FC236}">
                <a16:creationId xmlns:a16="http://schemas.microsoft.com/office/drawing/2014/main" id="{DC18D097-F98D-4B67-8A31-CAB61F7BDBD2}"/>
              </a:ext>
            </a:extLst>
          </p:cNvPr>
          <p:cNvSpPr>
            <a:spLocks xmlns:a="http://schemas.openxmlformats.org/drawingml/2006/main" noGrp="1"/>
          </p:cNvSpPr>
          <p:nvPr/>
        </p:nvSpPr>
        <p:spPr>
          <a:xfrm xmlns:a="http://schemas.openxmlformats.org/drawingml/2006/main">
            <a:off x="6705600" y="2495550"/>
            <a:ext cx="5029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Rohit Jain</a:t>
            </a:r>
          </a:p>
        </p:txBody>
      </p:sp>
      <p:sp>
        <p:nvSpPr>
          <p:cNvPr id="9" name="text-81">
            <a:extLst xmlns:a="http://schemas.openxmlformats.org/drawingml/2006/main">
              <a:ext uri="{FF2B5EF4-FFF2-40B4-BE49-F238E27FC236}">
                <a16:creationId xmlns:a16="http://schemas.microsoft.com/office/drawing/2014/main" id="{60B3F3AE-546A-4EA6-8A0B-E888AD8408F0}"/>
              </a:ext>
            </a:extLst>
          </p:cNvPr>
          <p:cNvSpPr>
            <a:spLocks xmlns:a="http://schemas.openxmlformats.org/drawingml/2006/main" noGrp="1"/>
          </p:cNvSpPr>
          <p:nvPr/>
        </p:nvSpPr>
        <p:spPr>
          <a:xfrm xmlns:a="http://schemas.openxmlformats.org/drawingml/2006/main">
            <a:off x="6705600" y="3257550"/>
            <a:ext cx="50292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Engineering</a:t>
            </a:r>
          </a:p>
        </p:txBody>
      </p:sp>
      <p:sp>
        <p:nvSpPr>
          <p:cNvPr id="10" name="text-82">
            <a:extLst xmlns:a="http://schemas.openxmlformats.org/drawingml/2006/main">
              <a:ext uri="{FF2B5EF4-FFF2-40B4-BE49-F238E27FC236}">
                <a16:creationId xmlns:a16="http://schemas.microsoft.com/office/drawing/2014/main" id="{D123F4C0-EC91-472F-9AB5-06A4EA9E21A7}"/>
              </a:ext>
            </a:extLst>
          </p:cNvPr>
          <p:cNvSpPr>
            <a:spLocks xmlns:a="http://schemas.openxmlformats.org/drawingml/2006/main" noGrp="1"/>
          </p:cNvSpPr>
          <p:nvPr/>
        </p:nvSpPr>
        <p:spPr>
          <a:xfrm xmlns:a="http://schemas.openxmlformats.org/drawingml/2006/main">
            <a:off x="6705600" y="3905250"/>
            <a:ext cx="5029200" cy="1552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8352F"/>
                </a:solidFill>
                <a:latin typeface="Helvetica Neue"/>
                <a:ea typeface="Helvetica Neue"/>
                <a:cs typeface="Helvetica Neue"/>
              </a:defRPr>
            </a:defPPr>
          </a:lstStyle>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Backend engineer with experience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at Amazon and Square.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Built production-grade MCP products.</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Teaches system design.</a:t>
            </a:r>
          </a:p>
        </p:txBody>
      </p:sp>
      <p:sp>
        <p:nvSpPr>
          <p:cNvPr id="11" name="text-83">
            <a:extLst xmlns:a="http://schemas.openxmlformats.org/drawingml/2006/main">
              <a:ext uri="{FF2B5EF4-FFF2-40B4-BE49-F238E27FC236}">
                <a16:creationId xmlns:a16="http://schemas.microsoft.com/office/drawing/2014/main" id="{D58FA155-1176-4FBC-9490-0409753FE20F}"/>
              </a:ext>
            </a:extLst>
          </p:cNvPr>
          <p:cNvSpPr>
            <a:spLocks xmlns:a="http://schemas.openxmlformats.org/drawingml/2006/main" noGrp="1"/>
          </p:cNvSpPr>
          <p:nvPr/>
        </p:nvSpPr>
        <p:spPr>
          <a:xfrm xmlns:a="http://schemas.openxmlformats.org/drawingml/2006/main">
            <a:off x="457200" y="5857875"/>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215C4E"/>
                </a:solidFill>
                <a:latin typeface="Helvetica Neue"/>
                <a:ea typeface="Helvetica Neue"/>
                <a:cs typeface="Helvetica Neue"/>
              </a:defRPr>
            </a:defPPr>
          </a:lstStyle>
          <a:p xmlns:a="http://schemas.openxmlformats.org/drawingml/2006/main">
            <a:pPr>
              <a:buNone/>
              <a:defRPr sz="2100" b="1">
                <a:solidFill>
                  <a:srgbClr val="215C4E"/>
                </a:solidFill>
                <a:latin typeface="Helvetica Neue"/>
                <a:ea typeface="Helvetica Neue"/>
                <a:cs typeface="Helvetica Neue"/>
              </a:defRPr>
            </a:pPr>
            <a:r>
              <a:rPr sz="2100" b="1">
                <a:solidFill>
                  <a:srgbClr val="215C4E"/>
                </a:solidFill>
                <a:latin typeface="Helvetica Neue"/>
                <a:ea typeface="Helvetica Neue"/>
                <a:cs typeface="Helvetica Neue"/>
              </a:rPr>
              <a:t>GoLocal: the shared data and booking layer for home services.</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2026-10-10T23:54:19.5620000Z</dcterms:created>
  <dcterms:modified xsi:type="dcterms:W3CDTF">2026-10-10T23:54:19.5620000Z</dcterms:modified>
</coreProperties>
</file>