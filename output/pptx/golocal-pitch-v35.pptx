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74e22da66248b9" /><Relationship Type="http://schemas.openxmlformats.org/officeDocument/2006/relationships/extended-properties" Target="/docProps/app.xml" Id="R468bd584c3734352" /><Relationship Type="http://schemas.openxmlformats.org/officeDocument/2006/relationships/officeDocument" Target="/ppt/presentation.xml" Id="R8f7ae07e69f34eb0" /></Relationships>
</file>

<file path=ppt/presentation.xml><?xml version="1.0" encoding="utf-8"?>
<p:presentation xmlns:p="http://schemas.openxmlformats.org/presentationml/2006/main">
  <p:sldMasterIdLst>
    <p:sldMasterId xmlns:r="http://schemas.openxmlformats.org/officeDocument/2006/relationships" id="2147483648" r:id="Rbc1c85c16a404c3c"/>
  </p:sldMasterIdLst>
  <p:notesMasterIdLst>
    <p:notesMasterId xmlns:r="http://schemas.openxmlformats.org/officeDocument/2006/relationships" r:id="Rc50c05467ae54647"/>
  </p:notesMasterIdLst>
  <p:sldIdLst>
    <p:sldId xmlns:r="http://schemas.openxmlformats.org/officeDocument/2006/relationships" id="256" r:id="Rf6f70aa38a4341fc"/>
    <p:sldId xmlns:r="http://schemas.openxmlformats.org/officeDocument/2006/relationships" id="257" r:id="R12dff86074f4410d"/>
    <p:sldId xmlns:r="http://schemas.openxmlformats.org/officeDocument/2006/relationships" id="258" r:id="Rc4a844be49a74390"/>
    <p:sldId xmlns:r="http://schemas.openxmlformats.org/officeDocument/2006/relationships" id="259" r:id="Reb14528de19647e4"/>
    <p:sldId xmlns:r="http://schemas.openxmlformats.org/officeDocument/2006/relationships" id="260" r:id="R754866c570cc4360"/>
    <p:sldId xmlns:r="http://schemas.openxmlformats.org/officeDocument/2006/relationships" id="261" r:id="Rd0dbc0267be94b84"/>
    <p:sldId xmlns:r="http://schemas.openxmlformats.org/officeDocument/2006/relationships" id="262" r:id="R72254fc0036242e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b68bae7f16c4357" /><Relationship Type="http://schemas.openxmlformats.org/officeDocument/2006/relationships/slideMaster" Target="/ppt/slideMasters/slideMaster1.xml" Id="Rbc1c85c16a404c3c" /><Relationship Type="http://schemas.openxmlformats.org/officeDocument/2006/relationships/notesMaster" Target="/ppt/notesMasters/notesMaster1.xml" Id="Rc50c05467ae54647" /><Relationship Type="http://schemas.openxmlformats.org/officeDocument/2006/relationships/presProps" Target="/ppt/presProps.xml" Id="R3b4ce0502309427a" /><Relationship Type="http://schemas.openxmlformats.org/officeDocument/2006/relationships/viewProps" Target="/ppt/viewProps.xml" Id="Rb0b8af4f1d4c4d93" /><Relationship Type="http://schemas.openxmlformats.org/officeDocument/2006/relationships/tableStyles" Target="/ppt/tableStyles.xml" Id="Rf549d28a27bb4d7e" /><Relationship Type="http://schemas.openxmlformats.org/officeDocument/2006/relationships/slide" Target="/ppt/slides/slide1.xml" Id="Rf6f70aa38a4341fc" /><Relationship Type="http://schemas.openxmlformats.org/officeDocument/2006/relationships/slide" Target="/ppt/slides/slide2.xml" Id="R12dff86074f4410d" /><Relationship Type="http://schemas.openxmlformats.org/officeDocument/2006/relationships/slide" Target="/ppt/slides/slide3.xml" Id="Rc4a844be49a74390" /><Relationship Type="http://schemas.openxmlformats.org/officeDocument/2006/relationships/slide" Target="/ppt/slides/slide4.xml" Id="Reb14528de19647e4" /><Relationship Type="http://schemas.openxmlformats.org/officeDocument/2006/relationships/slide" Target="/ppt/slides/slide5.xml" Id="R754866c570cc4360" /><Relationship Type="http://schemas.openxmlformats.org/officeDocument/2006/relationships/slide" Target="/ppt/slides/slide6.xml" Id="Rd0dbc0267be94b84" /><Relationship Type="http://schemas.openxmlformats.org/officeDocument/2006/relationships/slide" Target="/ppt/slides/slide7.xml" Id="R72254fc0036242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5a5ae0d6f294d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6c5f55e13c4246" /><Relationship Type="http://schemas.openxmlformats.org/officeDocument/2006/relationships/notesMaster" Target="/ppt/notesMasters/notesMaster1.xml" Id="R1eb28fb843c04f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ca13162530a46a3" /><Relationship Type="http://schemas.openxmlformats.org/officeDocument/2006/relationships/notesMaster" Target="/ppt/notesMasters/notesMaster1.xml" Id="Ra54f2f6e2a3945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5f32376d87744c0c" /><Relationship Type="http://schemas.openxmlformats.org/officeDocument/2006/relationships/notesMaster" Target="/ppt/notesMasters/notesMaster1.xml" Id="R2fd8b5a0717b4b18"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e9e9ae5dea4c6c" /><Relationship Type="http://schemas.openxmlformats.org/officeDocument/2006/relationships/notesMaster" Target="/ppt/notesMasters/notesMaster1.xml" Id="R30b96aed4bba49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f9d8fc6f5a442c" /><Relationship Type="http://schemas.openxmlformats.org/officeDocument/2006/relationships/notesMaster" Target="/ppt/notesMasters/notesMaster1.xml" Id="R169b09a93ec840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06a89ec5364d9a" /><Relationship Type="http://schemas.openxmlformats.org/officeDocument/2006/relationships/notesMaster" Target="/ppt/notesMasters/notesMaster1.xml" Id="R3d84d78b6e7142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7d38c7fa264b1a" /><Relationship Type="http://schemas.openxmlformats.org/officeDocument/2006/relationships/notesMaster" Target="/ppt/notesMasters/notesMaster1.xml" Id="Ra7eb9d004be143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 local services, booked by your personal agent. Proposed shared booking layer connecting personal agents and participating local businesses. Original neighborhood illustration from the user-supplied golocal-sharks-pitch.pptx, used as visual reference. Current product proposition retained. Image is conceptual artwork, not evidence of live providers or operations.</a:t>
            </a:r>
          </a:p>
          <a:p xmlns:a="http://schemas.openxmlformats.org/drawingml/2006/main">
            <a:r>
              <a:t>Cover artwork edited with the built-in image-generation tool at the founder’s request to add a lawn-mowing worker and a roofer. Conceptual illustration, not a photograph of live operations. Source artwork retained; versioned edited asset: output/imagegen/golocal-cover-v33.png.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xmlns:a="http://schemas.openxmlformats.org/drawingml/2006/main">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xmlns:a="http://schemas.openxmlformats.org/drawingml/2006/main">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User-supplied comparison thesis: current agents can help scope a customer request but often must search listings, browse provider sites and call businesses to obtain real prices and availability. Calling two or three businesses is an illustrative constrained search, not an empirical average or a universal limit. Such a search can miss providers with a better fit on price, availability or specialization. Repeated browsing and voice/tool interactions consume tokens; no token-cost baseline, benchmark or measured savings have been established.</a:t>
            </a:r>
          </a:p>
          <a:p xmlns:a="http://schemas.openxmlformats.org/drawingml/2006/main">
            <a:r>
              <a:t>GoLocal's intended delta is shared access to authorized live provider data, allowing broad comparison of service coverage, current slots, merchant pricing or visit fees, specialization, transaction history and past transaction reviews where available and permitted. Hundreds of connected businesses and matching in a fraction of a second are product scale and lookup-latency targets. They are not current provider counts or measured performance, and the speed target is not for full scoping, merchant quote response, payment or booking execution. Best fit means a match to the customer's expressed needs and preferences, not a guarantee of the globally lowest price or best provider. Proposed transaction-review data access and relevance remain to be validated.</a:t>
            </a:r>
          </a:p>
          <a:p xmlns:a="http://schemas.openxmlformats.org/drawingml/2006/main">
            <a:r>
              <a:t>The subsequent journey retains the approved Salt Lake City plumbing example. Oak Plumbing, the $79 diagnostic visit, 9–11 am slot and booking GL-1042 are fictional. The customer approves provider, visit fee and payment authorization before execution. Authorization is not payment capture. Repair work requires a separate quote after inspection. GoLocal would create and confirm bookings through merchant-authorized software connections. This is the intended product journey, not a live transaction or production reliability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clarified by the founder on October 10, 2026: businesses pay a fee equal to 10% of the booking amount. This same 10% fee is shared between GoLocal and contributing software partners or channel partners. It is not a 10% fee plus a separate partner fee, and GoLocal does not retain the full 10%. The allocation among GoLocal and partners has not been specified or agreed. This is the intended pricing model, not evidence of collected revenue, signed merchant terms or paid continuation. Eligibility, collection timing, repeat bookings, cancellations and refunds still require commercial terms. Contribution must cover acquisition, partner share, integration, support, payment and exception-handling costs.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5c7ebc8812449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1abc71add9e44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dfab199ec5414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f6490bc0334b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042af7de284a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91a93a68f9d4ed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09486b974841d8" /><Relationship Type="http://schemas.openxmlformats.org/officeDocument/2006/relationships/slideLayout" Target="/ppt/slideLayouts/slideLayout1.xml" Id="R76869d348d974a23" /><Relationship Type="http://schemas.openxmlformats.org/officeDocument/2006/relationships/slideLayout" Target="/ppt/slideLayouts/slideLayout2.xml" Id="Rd2b27b9c949f44b3" /><Relationship Type="http://schemas.openxmlformats.org/officeDocument/2006/relationships/slideLayout" Target="/ppt/slideLayouts/slideLayout3.xml" Id="Rc888c15016444b0f" /><Relationship Type="http://schemas.openxmlformats.org/officeDocument/2006/relationships/slideLayout" Target="/ppt/slideLayouts/slideLayout4.xml" Id="Re5255d69d21d4bc2" /><Relationship Type="http://schemas.openxmlformats.org/officeDocument/2006/relationships/slideLayout" Target="/ppt/slideLayouts/slideLayout5.xml" Id="R84d0ba6c44d044dd" /><Relationship Type="http://schemas.openxmlformats.org/officeDocument/2006/relationships/slideLayout" Target="/ppt/slideLayouts/slideLayout6.xml" Id="Rc8577889ce48426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869d348d974a23"/>
    <p:sldLayoutId xmlns:r="http://schemas.openxmlformats.org/officeDocument/2006/relationships" id="2147483650" r:id="Rd2b27b9c949f44b3"/>
    <p:sldLayoutId xmlns:r="http://schemas.openxmlformats.org/officeDocument/2006/relationships" id="2147483651" r:id="Rc888c15016444b0f"/>
    <p:sldLayoutId xmlns:r="http://schemas.openxmlformats.org/officeDocument/2006/relationships" id="2147483652" r:id="Re5255d69d21d4bc2"/>
    <p:sldLayoutId xmlns:r="http://schemas.openxmlformats.org/officeDocument/2006/relationships" id="2147483653" r:id="R84d0ba6c44d044dd"/>
    <p:sldLayoutId xmlns:r="http://schemas.openxmlformats.org/officeDocument/2006/relationships" id="2147483654" r:id="Rc8577889ce48426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6007b0b061403a" /><Relationship Type="http://schemas.openxmlformats.org/officeDocument/2006/relationships/image" Target="/ppt/media/image.png" Id="R86253175d1274788" /><Relationship Type="http://schemas.openxmlformats.org/officeDocument/2006/relationships/notesSlide" Target="/ppt/notesSlides/notesSlide1.xml" Id="R4c9845cecb3943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51172199764706" /><Relationship Type="http://schemas.openxmlformats.org/officeDocument/2006/relationships/notesSlide" Target="/ppt/notesSlides/notesSlide2.xml" Id="R2276ce69bbf243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386616f9f864699" /><Relationship Type="http://schemas.openxmlformats.org/officeDocument/2006/relationships/image" Target="/ppt/media/image2.png" Id="R76f805d350dc4988" /><Relationship Type="http://schemas.openxmlformats.org/officeDocument/2006/relationships/image" Target="/ppt/media/image.jpeg" Id="R7e8ca5fec6a7424f" /><Relationship Type="http://schemas.openxmlformats.org/officeDocument/2006/relationships/image" Target="/ppt/media/image2.jpeg" Id="R72a33a6b2a0b4efd" /><Relationship Type="http://schemas.openxmlformats.org/officeDocument/2006/relationships/image" Target="/ppt/media/image3.jpeg" Id="Rc9dcd1c08b4d44e9" /><Relationship Type="http://schemas.openxmlformats.org/officeDocument/2006/relationships/image" Target="/ppt/media/image3.png" Id="R7ea4b88d7e6b4d4c" /><Relationship Type="http://schemas.openxmlformats.org/officeDocument/2006/relationships/notesSlide" Target="/ppt/notesSlides/notesSlide3.xml" Id="R89e4f3c961dc47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36545ff4864430" /><Relationship Type="http://schemas.openxmlformats.org/officeDocument/2006/relationships/notesSlide" Target="/ppt/notesSlides/notesSlide4.xml" Id="R4171be187f4f4b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aeb805383424d47" /><Relationship Type="http://schemas.openxmlformats.org/officeDocument/2006/relationships/notesSlide" Target="/ppt/notesSlides/notesSlide5.xml" Id="Rcd9781cfc70e458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a7001f57d924616" /><Relationship Type="http://schemas.openxmlformats.org/officeDocument/2006/relationships/notesSlide" Target="/ppt/notesSlides/notesSlide6.xml" Id="Ra6e7c245b94445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f836048621f4c0f" /><Relationship Type="http://schemas.openxmlformats.org/officeDocument/2006/relationships/image" Target="/ppt/media/image4.jpeg" Id="R419223e58d8c4efd" /><Relationship Type="http://schemas.openxmlformats.org/officeDocument/2006/relationships/image" Target="/ppt/media/image5.jpeg" Id="Rd0482b45b19c4eed" /><Relationship Type="http://schemas.openxmlformats.org/officeDocument/2006/relationships/hyperlink" Target="https://www.linkedin.com/in/pulkitwalia/" TargetMode="External" Id="R8c4271cc56454c22" /><Relationship Type="http://schemas.openxmlformats.org/officeDocument/2006/relationships/hyperlink" Target="https://www.linkedin.com/in/rohit-jain-343437187/" TargetMode="External" Id="R070a9c9eef56498a" /><Relationship Type="http://schemas.openxmlformats.org/officeDocument/2006/relationships/image" Target="/ppt/media/image6.jpeg" Id="R950f9098a3cc4912" /><Relationship Type="http://schemas.openxmlformats.org/officeDocument/2006/relationships/image" Target="/ppt/media/image4.png" Id="R1fff3e25f40348c5" /><Relationship Type="http://schemas.openxmlformats.org/officeDocument/2006/relationships/image" Target="/ppt/media/image7.jpeg" Id="R9adba8875b134d14" /><Relationship Type="http://schemas.openxmlformats.org/officeDocument/2006/relationships/notesSlide" Target="/ppt/notesSlides/notesSlide7.xml" Id="Rfbb201694659476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5" name="Picture 4">
            <a:extLst xmlns:a="http://schemas.openxmlformats.org/drawingml/2006/main">
              <a:ext uri="{FF2B5EF4-FFF2-40B4-BE49-F238E27FC236}">
                <a16:creationId xmlns:a16="http://schemas.microsoft.com/office/drawing/2014/main" id="{0E0D1DD4-5905-4940-BED9-E44D28B034D9}"/>
              </a:ext>
            </a:extLst>
          </p:cNvPr>
          <p:cNvPicPr>
            <a:picLocks xmlns:a="http://schemas.openxmlformats.org/drawingml/2006/main" noChangeAspect="1"/>
          </p:cNvPicPr>
          <p:nvPr/>
        </p:nvPicPr>
        <p:blipFill>
          <a:blip xmlns:r="http://schemas.openxmlformats.org/officeDocument/2006/relationships" xmlns:a="http://schemas.openxmlformats.org/drawingml/2006/main" r:embed="R86253175d127478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v28-text-0">
            <a:extLst xmlns:a="http://schemas.openxmlformats.org/drawingml/2006/main">
              <a:ext uri="{FF2B5EF4-FFF2-40B4-BE49-F238E27FC236}">
                <a16:creationId xmlns:a16="http://schemas.microsoft.com/office/drawing/2014/main" id="{BDDCEA24-C42F-433F-8032-ECDBF9DD5137}"/>
              </a:ext>
            </a:extLst>
          </p:cNvPr>
          <p:cNvSpPr>
            <a:spLocks xmlns:a="http://schemas.openxmlformats.org/drawingml/2006/main" noGrp="1"/>
          </p:cNvSpPr>
          <p:nvPr/>
        </p:nvSpPr>
        <p:spPr>
          <a:xfrm xmlns:a="http://schemas.openxmlformats.org/drawingml/2006/main">
            <a:off x="609600" y="952500"/>
            <a:ext cx="51911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000" b="1">
                <a:solidFill>
                  <a:srgbClr val="F5F2E9"/>
                </a:solidFill>
                <a:latin typeface="Helvetica Neue"/>
                <a:ea typeface="Helvetica Neue"/>
                <a:cs typeface="Helvetica Neue"/>
              </a:defRPr>
            </a:defPPr>
          </a:lstStyle>
          <a:p xmlns:a="http://schemas.openxmlformats.org/drawingml/2006/main">
            <a:pPr algn="l">
              <a:buNone/>
              <a:defRPr sz="6000" b="1">
                <a:solidFill>
                  <a:srgbClr val="F5F2E9"/>
                </a:solidFill>
                <a:latin typeface="Helvetica Neue"/>
                <a:ea typeface="Helvetica Neue"/>
                <a:cs typeface="Helvetica Neue"/>
              </a:defRPr>
            </a:pPr>
            <a:r>
              <a:rPr sz="6000" b="1">
                <a:solidFill>
                  <a:srgbClr val="F5F2E9"/>
                </a:solidFill>
                <a:latin typeface="Helvetica Neue"/>
                <a:ea typeface="Helvetica Neue"/>
                <a:cs typeface="Helvetica Neue"/>
              </a:rPr>
              <a:t>GoLocal</a:t>
            </a:r>
          </a:p>
        </p:txBody>
      </p:sp>
      <p:sp>
        <p:nvSpPr>
          <p:cNvPr id="3" name="v28-text-1">
            <a:extLst xmlns:a="http://schemas.openxmlformats.org/drawingml/2006/main">
              <a:ext uri="{FF2B5EF4-FFF2-40B4-BE49-F238E27FC236}">
                <a16:creationId xmlns:a16="http://schemas.microsoft.com/office/drawing/2014/main" id="{7A9DF34D-74A2-406C-9DE6-3F86B5CBDDD0}"/>
              </a:ext>
            </a:extLst>
          </p:cNvPr>
          <p:cNvSpPr>
            <a:spLocks xmlns:a="http://schemas.openxmlformats.org/drawingml/2006/main" noGrp="1"/>
          </p:cNvSpPr>
          <p:nvPr/>
        </p:nvSpPr>
        <p:spPr>
          <a:xfrm xmlns:a="http://schemas.openxmlformats.org/drawingml/2006/main">
            <a:off x="609600" y="2143125"/>
            <a:ext cx="4619625"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F5F2E9"/>
                </a:solidFill>
                <a:latin typeface="Helvetica Neue"/>
                <a:ea typeface="Helvetica Neue"/>
                <a:cs typeface="Helvetica Neue"/>
              </a:defRPr>
            </a:defPPr>
          </a:lstStyle>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Local services,</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booked by your</a:t>
            </a:r>
          </a:p>
          <a:p xmlns:a="http://schemas.openxmlformats.org/drawingml/2006/main">
            <a:pPr algn="l">
              <a:buNone/>
              <a:defRPr sz="3525" b="1">
                <a:solidFill>
                  <a:srgbClr val="F5F2E9"/>
                </a:solidFill>
                <a:latin typeface="Helvetica Neue"/>
                <a:ea typeface="Helvetica Neue"/>
                <a:cs typeface="Helvetica Neue"/>
              </a:defRPr>
            </a:pPr>
            <a:r>
              <a:rPr sz="3525" b="1">
                <a:solidFill>
                  <a:srgbClr val="F5F2E9"/>
                </a:solidFill>
                <a:latin typeface="Helvetica Neue"/>
                <a:ea typeface="Helvetica Neue"/>
                <a:cs typeface="Helvetica Neue"/>
              </a:rPr>
              <a:t>personal agent.</a:t>
            </a:r>
          </a:p>
        </p:txBody>
      </p:sp>
      <p:sp>
        <p:nvSpPr>
          <p:cNvPr id="4" name="v28-text-2">
            <a:extLst xmlns:a="http://schemas.openxmlformats.org/drawingml/2006/main">
              <a:ext uri="{FF2B5EF4-FFF2-40B4-BE49-F238E27FC236}">
                <a16:creationId xmlns:a16="http://schemas.microsoft.com/office/drawing/2014/main" id="{A8597BA7-8903-4DF7-A402-3367D52645B7}"/>
              </a:ext>
            </a:extLst>
          </p:cNvPr>
          <p:cNvSpPr>
            <a:spLocks xmlns:a="http://schemas.openxmlformats.org/drawingml/2006/main" noGrp="1"/>
          </p:cNvSpPr>
          <p:nvPr/>
        </p:nvSpPr>
        <p:spPr>
          <a:xfrm xmlns:a="http://schemas.openxmlformats.org/drawingml/2006/main">
            <a:off x="609600" y="4257675"/>
            <a:ext cx="433387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DDE4D6"/>
                </a:solidFill>
                <a:latin typeface="Helvetica Neue"/>
                <a:ea typeface="Helvetica Neue"/>
                <a:cs typeface="Helvetica Neue"/>
              </a:defRPr>
            </a:defPPr>
          </a:lstStyle>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One booking layer for agents</a:t>
            </a:r>
          </a:p>
          <a:p xmlns:a="http://schemas.openxmlformats.org/drawingml/2006/main">
            <a:pPr algn="l">
              <a:buNone/>
              <a:defRPr sz="1875" b="0">
                <a:solidFill>
                  <a:srgbClr val="DDE4D6"/>
                </a:solidFill>
                <a:latin typeface="Helvetica Neue"/>
                <a:ea typeface="Helvetica Neue"/>
                <a:cs typeface="Helvetica Neue"/>
              </a:defRPr>
            </a:pPr>
            <a:r>
              <a:rPr sz="1875" b="0">
                <a:solidFill>
                  <a:srgbClr val="DDE4D6"/>
                </a:solidFill>
                <a:latin typeface="Helvetica Neue"/>
                <a:ea typeface="Helvetica Neue"/>
                <a:cs typeface="Helvetica Neue"/>
              </a:rPr>
              <a:t>and local businesses.</a:t>
            </a:r>
          </a:p>
        </p:txBody>
      </p:sp>
    </p:spTree>
    <p:extLst>
      <p:ext uri="{BB962C8B-B14F-4D97-AF65-F5344CB8AC3E}">
        <p14:creationId xmlns:p14="http://schemas.microsoft.com/office/powerpoint/2010/main" val="3325990305"/>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v30-text-0">
            <a:extLst xmlns:a="http://schemas.openxmlformats.org/drawingml/2006/main">
              <a:ext uri="{FF2B5EF4-FFF2-40B4-BE49-F238E27FC236}">
                <a16:creationId xmlns:a16="http://schemas.microsoft.com/office/drawing/2014/main" id="{ADA5C052-3DC5-4F4A-9C13-460C18C6AC4D}"/>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OPPORTUNITY</a:t>
            </a:r>
          </a:p>
        </p:txBody>
      </p:sp>
      <p:sp>
        <p:nvSpPr>
          <p:cNvPr id="2" name="v30-text-1">
            <a:extLst xmlns:a="http://schemas.openxmlformats.org/drawingml/2006/main">
              <a:ext uri="{FF2B5EF4-FFF2-40B4-BE49-F238E27FC236}">
                <a16:creationId xmlns:a16="http://schemas.microsoft.com/office/drawing/2014/main" id="{243905A4-A235-46A8-88B2-9CCE52ED8F00}"/>
              </a:ext>
            </a:extLst>
          </p:cNvPr>
          <p:cNvSpPr>
            <a:spLocks xmlns:a="http://schemas.openxmlformats.org/drawingml/2006/main" noGrp="1"/>
          </p:cNvSpPr>
          <p:nvPr/>
        </p:nvSpPr>
        <p:spPr>
          <a:xfrm xmlns:a="http://schemas.openxmlformats.org/drawingml/2006/main">
            <a:off x="609600" y="7524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buNone/>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3" name="v30-text-2">
            <a:extLst xmlns:a="http://schemas.openxmlformats.org/drawingml/2006/main">
              <a:ext uri="{FF2B5EF4-FFF2-40B4-BE49-F238E27FC236}">
                <a16:creationId xmlns:a16="http://schemas.microsoft.com/office/drawing/2014/main" id="{8F4C96EF-044C-4CF6-BCFE-D8BF33020705}"/>
              </a:ext>
            </a:extLst>
          </p:cNvPr>
          <p:cNvSpPr>
            <a:spLocks xmlns:a="http://schemas.openxmlformats.org/drawingml/2006/main" noGrp="1"/>
          </p:cNvSpPr>
          <p:nvPr/>
        </p:nvSpPr>
        <p:spPr>
          <a:xfrm xmlns:a="http://schemas.openxmlformats.org/drawingml/2006/main">
            <a:off x="609600" y="1296759"/>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Users once called businesses to scope the job.</a:t>
            </a:r>
          </a:p>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Personal agents can now scope it with the customer, then act on live business data.</a:t>
            </a:r>
          </a:p>
        </p:txBody>
      </p:sp>
      <p:graphicFrame>
        <p:nvGraphicFramePr>
          <p:cNvPr id="4" name="Table 3">
            <a:extLst xmlns:a="http://schemas.openxmlformats.org/drawingml/2006/main">
              <a:ext uri="{FF2B5EF4-FFF2-40B4-BE49-F238E27FC236}">
                <a16:creationId xmlns:a16="http://schemas.microsoft.com/office/drawing/2014/main" id="{243D90CE-2D52-4077-9B74-16095C9CEE81}"/>
              </a:ext>
            </a:extLst>
          </p:cNvPr>
          <p:cNvGraphicFramePr/>
          <p:nvPr/>
        </p:nvGraphicFramePr>
        <p:xfrm>
          <a:off xmlns:a="http://schemas.openxmlformats.org/drawingml/2006/main" x="609600" y="2076450"/>
          <a:ext xmlns:a="http://schemas.openxmlformats.org/drawingml/2006/main" cx="10972800" cy="3467100"/>
        </p:xfrm>
        <a:graphic xmlns:a="http://schemas.openxmlformats.org/drawingml/2006/main">
          <a:graphicData uri="http://schemas.openxmlformats.org/drawingml/2006/table">
            <a:tbl>
              <a:tblPr/>
              <a:tblGrid>
                <a:gridCol w="2667000"/>
                <a:gridCol w="1661160"/>
                <a:gridCol w="1661160"/>
                <a:gridCol w="1661160"/>
                <a:gridCol w="1661160"/>
                <a:gridCol w="1661160"/>
              </a:tblGrid>
              <a:tr h="285750">
                <a:tc>
                  <a:txBody>
                    <a:bodyPr/>
                    <a:lstStyle/>
                    <a:p>
                      <a:pPr algn="l">
                        <a:buNone/>
                      </a:pPr>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a:lstStyle/>
                    <a:p>
                      <a:pPr algn="l">
                        <a:buNone/>
                      </a:pPr>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a:lstStyle/>
                    <a:p>
                      <a:pPr algn="l">
                        <a:buNone/>
                      </a:pPr>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Google /</a:t>
                      </a:r>
                    </a:p>
                    <a:p>
                      <a:pPr algn="ctr">
                        <a:buNone/>
                      </a:pP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75" b="1">
                          <a:solidFill>
                            <a:srgbClr val="FFFFFF"/>
                          </a:solidFill>
                          <a:latin typeface="Helvetica Neue"/>
                          <a:ea typeface="Helvetica Neue"/>
                          <a:cs typeface="Helvetica Neue"/>
                        </a:rPr>
                        <a:t>Personal</a:t>
                      </a:r>
                    </a:p>
                    <a:p>
                      <a:pPr algn="ctr">
                        <a:buNone/>
                      </a:pP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a:lstStyle/>
                    <a:p>
                      <a:pPr algn="l">
                        <a:buNone/>
                      </a:pPr>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a:lstStyle/>
                    <a:p>
                      <a:pPr algn="ctr">
                        <a:buNone/>
                      </a:pP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a:lstStyle/>
                    <a:p>
                      <a:pPr algn="l">
                        <a:buNone/>
                      </a:pPr>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a:lstStyle/>
                    <a:p>
                      <a:pPr algn="ctr">
                        <a:buNone/>
                      </a:pP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a:lstStyle/>
                    <a:p>
                      <a:pPr algn="l">
                        <a:buNone/>
                      </a:pPr>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19050" cmpd="sng">
                      <a:solidFill>
                        <a:srgbClr val="F5F2E9"/>
                      </a:solidFill>
                      <a:prstDash val="solid"/>
                    </a:lnT>
                    <a:lnB w="19050">
                      <a:solidFill>
                        <a:srgbClr val="F5F2E9"/>
                      </a:solidFill>
                    </a:lnB>
                    <a:solidFill>
                      <a:srgbClr val="F0E2D9"/>
                    </a:solidFill>
                  </a:tcPr>
                </a:tc>
                <a:tc rowSpan="2" gridSpan="5">
                  <a:txBody>
                    <a:bodyPr/>
                    <a:lstStyle/>
                    <a:p>
                      <a:pPr algn="ctr">
                        <a:buNone/>
                      </a:pPr>
                      <a:r>
                        <a:rPr sz="1650" b="1">
                          <a:solidFill>
                            <a:srgbClr val="A34E3F"/>
                          </a:solidFill>
                          <a:latin typeface="Helvetica Neue"/>
                          <a:ea typeface="Helvetica Neue"/>
                          <a:cs typeface="Helvetica Neue"/>
                        </a:rPr>
                        <a:t>Missing today: a live data layer with business pricing and availability.</a:t>
                      </a:r>
                    </a:p>
                    <a:p>
                      <a:pPr algn="ctr">
                        <a:buNone/>
                      </a:pPr>
                      <a:r>
                        <a:rPr sz="1650" b="1">
                          <a:solidFill>
                            <a:srgbClr val="A34E3F"/>
                          </a:solidFill>
                          <a:latin typeface="Helvetica Neue"/>
                          <a:ea typeface="Helvetica Neue"/>
                          <a:cs typeface="Helvetica Neue"/>
                        </a:rPr>
                        <a:t>Without it, agents cannot complete scheduling, booking or payment.</a:t>
                      </a:r>
                    </a:p>
                  </a:txBody>
                  <a:tcPr marL="66675" marR="57150" marT="19050" marB="19050" anchor="ctr">
                    <a:lnL w="19050">
                      <a:solidFill>
                        <a:srgbClr val="F5F2E9"/>
                      </a:solidFill>
                    </a:lnL>
                    <a:lnR w="19050">
                      <a:solidFill>
                        <a:srgbClr val="F5F2E9"/>
                      </a:solidFill>
                    </a:lnR>
                    <a:lnT w="19050" cmpd="sng">
                      <a:solidFill>
                        <a:srgbClr val="F5F2E9"/>
                      </a:solidFill>
                      <a:prstDash val="solid"/>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hMerge="1">
                  <a:txBody>
                    <a:bodyPr/>
                    <a:lstStyle/>
                    <a:p>
                      <a:endParaRP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a:lstStyle/>
                    <a:p>
                      <a:pPr algn="l">
                        <a:buNone/>
                      </a:pPr>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gridSpan="5"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a:lstStyle/>
                    <a:p>
                      <a:endParaRP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5" name="v30-text-3">
            <a:extLst xmlns:a="http://schemas.openxmlformats.org/drawingml/2006/main">
              <a:ext uri="{FF2B5EF4-FFF2-40B4-BE49-F238E27FC236}">
                <a16:creationId xmlns:a16="http://schemas.microsoft.com/office/drawing/2014/main" id="{18B77D59-D1BB-43F2-8A95-F43D36E4DEA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The live data layer that enables agent bookings can capture value</a:t>
            </a:r>
          </a:p>
          <a:p xmlns:a="http://schemas.openxmlformats.org/drawingml/2006/main">
            <a:pPr algn="l">
              <a:buNone/>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from the $1.2T local-services spending pool.</a:t>
            </a:r>
          </a:p>
        </p:txBody>
      </p:sp>
      <p:sp>
        <p:nvSpPr>
          <p:cNvPr id="6" name="v30-text-4">
            <a:extLst xmlns:a="http://schemas.openxmlformats.org/drawingml/2006/main">
              <a:ext uri="{FF2B5EF4-FFF2-40B4-BE49-F238E27FC236}">
                <a16:creationId xmlns:a16="http://schemas.microsoft.com/office/drawing/2014/main" id="{1F1DFEBF-554A-41C0-853E-1BA9FE87610F}"/>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buNone/>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a:t>
            </a:r>
          </a:p>
        </p:txBody>
      </p:sp>
      <p:sp>
        <p:nvSpPr>
          <p:cNvPr id="7" name="v30-text-5">
            <a:extLst xmlns:a="http://schemas.openxmlformats.org/drawingml/2006/main">
              <a:ext uri="{FF2B5EF4-FFF2-40B4-BE49-F238E27FC236}">
                <a16:creationId xmlns:a16="http://schemas.microsoft.com/office/drawing/2014/main" id="{1B0D603A-7571-4A29-9CD2-469B869CB11D}"/>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2 / 7</a:t>
            </a:r>
          </a:p>
        </p:txBody>
      </p:sp>
    </p:spTree>
    <p:extLst>
      <p:ext uri="{BB962C8B-B14F-4D97-AF65-F5344CB8AC3E}">
        <p14:creationId xmlns:p14="http://schemas.microsoft.com/office/powerpoint/2010/main" val="457645913"/>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77E25CF1-A0E8-43C6-A424-1DAFD0B8C14A}"/>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DCE9F289-0543-444A-9213-EF688A354B18}"/>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5FFE5B72-10D3-4E8B-AD7A-99A751AB360A}"/>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4F91C9A1-DBBB-494A-ABFC-8969C7CB0D82}"/>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ED83C422-2869-4352-81D0-E03EBD63B066}"/>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93DEADB1-9457-42F6-92DA-3907ACAAA2E9}"/>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9638FEA0-F2FF-4C94-991B-848ABC597E40}"/>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6087059B-C092-4877-97C5-000231300F3C}"/>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614227B3-A8E1-4208-8F49-4625376EC5A3}"/>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56349387-1A71-43F3-8C56-253172373612}"/>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C300AA6D-4E71-4579-B9E2-B3D9F1FDFDF6}"/>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D2B78ACC-76F3-447D-9575-5809EADB002A}"/>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B1DECF80-757D-43F3-8E9F-62747664CA93}"/>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059386" y="2233617"/>
            <a:ext cx="2751364" cy="29526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Eg.</a:t>
            </a:r>
            <a:r>
              <a:rPr sz="1575" b="1">
                <a:solidFill>
                  <a:srgbClr val="193C32"/>
                </a:solidFill>
                <a:latin typeface="Helvetica Neue"/>
                <a:ea typeface="Helvetica Neue"/>
                <a:cs typeface="Helvetica Neue"/>
              </a:rPr>
              <a:t> </a:t>
            </a:r>
            <a:r>
              <a:rPr sz="1575" b="1">
                <a:solidFill>
                  <a:srgbClr val="193C32"/>
                </a:solidFill>
                <a:latin typeface="Helvetica Neue"/>
                <a:ea typeface="Helvetica Neue"/>
                <a:cs typeface="Helvetica Neue"/>
              </a:rPr>
              <a:t>Plumbing software stack</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50609D10-82DB-480C-AED9-EB1F45E29B80}"/>
              </a:ext>
            </a:extLst>
          </p:cNvPr>
          <p:cNvPicPr>
            <a:picLocks xmlns:a="http://schemas.openxmlformats.org/drawingml/2006/main" noChangeAspect="1"/>
          </p:cNvPicPr>
          <p:nvPr/>
        </p:nvPicPr>
        <p:blipFill>
          <a:blip xmlns:r="http://schemas.openxmlformats.org/officeDocument/2006/relationships" xmlns:a="http://schemas.openxmlformats.org/drawingml/2006/main" r:embed="R76f805d350dc4988"/>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7BEA7AE4-CA18-43B9-B3D1-4A5EEA3FAF8C}"/>
              </a:ext>
            </a:extLst>
          </p:cNvPr>
          <p:cNvPicPr>
            <a:picLocks xmlns:a="http://schemas.openxmlformats.org/drawingml/2006/main" noChangeAspect="1"/>
          </p:cNvPicPr>
          <p:nvPr/>
        </p:nvPicPr>
        <p:blipFill>
          <a:blip xmlns:r="http://schemas.openxmlformats.org/officeDocument/2006/relationships" xmlns:a="http://schemas.openxmlformats.org/drawingml/2006/main" r:embed="R7e8ca5fec6a7424f"/>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96BF42A6-690C-45B7-8974-2678FC61A604}"/>
              </a:ext>
            </a:extLst>
          </p:cNvPr>
          <p:cNvPicPr>
            <a:picLocks xmlns:a="http://schemas.openxmlformats.org/drawingml/2006/main" noChangeAspect="1"/>
          </p:cNvPicPr>
          <p:nvPr/>
        </p:nvPicPr>
        <p:blipFill>
          <a:blip xmlns:r="http://schemas.openxmlformats.org/officeDocument/2006/relationships" xmlns:a="http://schemas.openxmlformats.org/drawingml/2006/main" r:embed="R72a33a6b2a0b4efd"/>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7B8B21F0-7EFB-4FEF-A12A-51C1BA9B5AFE}"/>
              </a:ext>
            </a:extLst>
          </p:cNvPr>
          <p:cNvPicPr>
            <a:picLocks xmlns:a="http://schemas.openxmlformats.org/drawingml/2006/main" noChangeAspect="1"/>
          </p:cNvPicPr>
          <p:nvPr/>
        </p:nvPicPr>
        <p:blipFill>
          <a:blip xmlns:r="http://schemas.openxmlformats.org/officeDocument/2006/relationships" xmlns:a="http://schemas.openxmlformats.org/drawingml/2006/main" r:embed="Rc9dcd1c08b4d44e9"/>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398F2859-7DF2-4CAE-919A-8B5B636B3499}"/>
              </a:ext>
            </a:extLst>
          </p:cNvPr>
          <p:cNvPicPr>
            <a:picLocks xmlns:a="http://schemas.openxmlformats.org/drawingml/2006/main" noChangeAspect="1"/>
          </p:cNvPicPr>
          <p:nvPr/>
        </p:nvPicPr>
        <p:blipFill>
          <a:blip xmlns:r="http://schemas.openxmlformats.org/officeDocument/2006/relationships" xmlns:a="http://schemas.openxmlformats.org/drawingml/2006/main" r:embed="R7ea4b88d7e6b4d4c"/>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45578"/>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100" b="0">
                <a:solidFill>
                  <a:srgbClr val="65746C"/>
                </a:solidFill>
                <a:latin typeface="Helvetica Neue"/>
                <a:ea typeface="Helvetica Neue"/>
                <a:cs typeface="Helvetica Neue"/>
              </a:rPr>
              <a:t>*</a:t>
            </a:r>
            <a:r>
              <a:rPr sz="1100" b="0">
                <a:solidFill>
                  <a:srgbClr val="65746C"/>
                </a:solidFill>
                <a:latin typeface="Helvetica Neue"/>
                <a:ea typeface="Helvetica Neue"/>
                <a:cs typeface="Helvetica Neue"/>
              </a:rPr>
              <a:t>Claude</a:t>
            </a:r>
            <a:r>
              <a:rPr sz="1100" b="0">
                <a:solidFill>
                  <a:srgbClr val="65746C"/>
                </a:solidFill>
                <a:latin typeface="Helvetica Neue"/>
                <a:ea typeface="Helvetica Neue"/>
                <a:cs typeface="Helvetica Neue"/>
              </a:rPr>
              <a:t> &amp;</a:t>
            </a:r>
            <a:r>
              <a:rPr sz="1100">
                <a:solidFill>
                  <a:srgbClr val="65746C"/>
                </a:solidFill>
                <a:latin typeface="Helvetica Neue"/>
                <a:ea typeface="Helvetica Neue"/>
                <a:cs typeface="Helvetica Neue"/>
              </a:rPr>
              <a:t> Google launching soon</a:t>
            </a:r>
            <a:r>
              <a:rPr sz="1350" b="0">
                <a:solidFill>
                  <a:srgbClr val="65746C"/>
                </a:solidFill>
                <a:latin typeface="Helvetica Neue"/>
                <a:ea typeface="Helvetica Neue"/>
                <a:cs typeface="Helvetica Neue"/>
              </a:rPr>
              <a:t> </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endParaRP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7</a:t>
            </a:r>
          </a:p>
        </p:txBody>
      </p:sp>
    </p:spTree>
    <p:extLst>
      <p:ext uri="{BB962C8B-B14F-4D97-AF65-F5344CB8AC3E}">
        <p14:creationId xmlns:p14="http://schemas.microsoft.com/office/powerpoint/2010/main" val="596186317"/>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9" name="v31-text-0">
            <a:extLst xmlns:a="http://schemas.openxmlformats.org/drawingml/2006/main">
              <a:ext uri="{FF2B5EF4-FFF2-40B4-BE49-F238E27FC236}">
                <a16:creationId xmlns:a16="http://schemas.microsoft.com/office/drawing/2014/main" id="{F1F8C8EB-1D23-44A0-8DFF-F6E656B0CDBF}"/>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buNone/>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THE CUSTOMER EXPERIENCE</a:t>
            </a:r>
          </a:p>
        </p:txBody>
      </p:sp>
      <p:sp>
        <p:nvSpPr>
          <p:cNvPr id="2" name="v31-text-1">
            <a:extLst xmlns:a="http://schemas.openxmlformats.org/drawingml/2006/main">
              <a:ext uri="{FF2B5EF4-FFF2-40B4-BE49-F238E27FC236}">
                <a16:creationId xmlns:a16="http://schemas.microsoft.com/office/drawing/2014/main" id="{E9923D42-483B-46BE-AAAB-E583237E4C10}"/>
              </a:ext>
            </a:extLst>
          </p:cNvPr>
          <p:cNvSpPr>
            <a:spLocks xmlns:a="http://schemas.openxmlformats.org/drawingml/2006/main" noGrp="1"/>
          </p:cNvSpPr>
          <p:nvPr/>
        </p:nvSpPr>
        <p:spPr>
          <a:xfrm xmlns:a="http://schemas.openxmlformats.org/drawingml/2006/main">
            <a:off x="609600" y="742950"/>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03D3B"/>
                </a:solidFill>
                <a:latin typeface="Helvetica Neue"/>
                <a:ea typeface="Helvetica Neue"/>
                <a:cs typeface="Helvetica Neue"/>
              </a:defRPr>
            </a:defPPr>
          </a:lstStyle>
          <a:p xmlns:a="http://schemas.openxmlformats.org/drawingml/2006/main">
            <a:pPr algn="l">
              <a:buNone/>
              <a:defRPr sz="3225" b="1">
                <a:solidFill>
                  <a:srgbClr val="103D3B"/>
                </a:solidFill>
                <a:latin typeface="Helvetica Neue"/>
                <a:ea typeface="Helvetica Neue"/>
                <a:cs typeface="Helvetica Neue"/>
              </a:defRPr>
            </a:pPr>
            <a:r>
              <a:rPr sz="3225" b="1">
                <a:solidFill>
                  <a:srgbClr val="103D3B"/>
                </a:solidFill>
                <a:latin typeface="Helvetica Neue"/>
                <a:ea typeface="Helvetica Neue"/>
                <a:cs typeface="Helvetica Neue"/>
              </a:rPr>
              <a:t>GoLocal turns a scoped job into a better booking</a:t>
            </a:r>
          </a:p>
        </p:txBody>
      </p:sp>
      <p:sp>
        <p:nvSpPr>
          <p:cNvPr id="3" name="v31-text-2">
            <a:extLst xmlns:a="http://schemas.openxmlformats.org/drawingml/2006/main">
              <a:ext uri="{FF2B5EF4-FFF2-40B4-BE49-F238E27FC236}">
                <a16:creationId xmlns:a16="http://schemas.microsoft.com/office/drawing/2014/main" id="{3ECA9D22-E94A-4735-8333-93BAA2F9AEB5}"/>
              </a:ext>
            </a:extLst>
          </p:cNvPr>
          <p:cNvSpPr>
            <a:spLocks xmlns:a="http://schemas.openxmlformats.org/drawingml/2006/main" noGrp="1"/>
          </p:cNvSpPr>
          <p:nvPr/>
        </p:nvSpPr>
        <p:spPr>
          <a:xfrm xmlns:a="http://schemas.openxmlformats.org/drawingml/2006/main">
            <a:off x="609600" y="14001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buNone/>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Agents can scope the job today. Live business data changes how they find the right provider.</a:t>
            </a:r>
          </a:p>
        </p:txBody>
      </p:sp>
      <p:graphicFrame>
        <p:nvGraphicFramePr>
          <p:cNvPr id="4" name="Table 3">
            <a:extLst xmlns:a="http://schemas.openxmlformats.org/drawingml/2006/main">
              <a:ext uri="{FF2B5EF4-FFF2-40B4-BE49-F238E27FC236}">
                <a16:creationId xmlns:a16="http://schemas.microsoft.com/office/drawing/2014/main" id="{24AF41DC-7252-4F7C-ABCF-8A982CCD879E}"/>
              </a:ext>
            </a:extLst>
          </p:cNvPr>
          <p:cNvGraphicFramePr/>
          <p:nvPr/>
        </p:nvGraphicFramePr>
        <p:xfrm>
          <a:off xmlns:a="http://schemas.openxmlformats.org/drawingml/2006/main" x="609600" y="1905000"/>
          <a:ext xmlns:a="http://schemas.openxmlformats.org/drawingml/2006/main" cx="10972800" cy="1562100"/>
        </p:xfrm>
        <a:graphic xmlns:a="http://schemas.openxmlformats.org/drawingml/2006/main">
          <a:graphicData uri="http://schemas.openxmlformats.org/drawingml/2006/table">
            <a:tbl>
              <a:tblPr/>
              <a:tblGrid>
                <a:gridCol w="1581150"/>
                <a:gridCol w="4552950"/>
                <a:gridCol w="4838700"/>
              </a:tblGrid>
              <a:tr h="781050">
                <a:tc>
                  <a:txBody>
                    <a:bodyPr/>
                    <a:lstStyle/>
                    <a:p>
                      <a:pPr algn="l">
                        <a:buNone/>
                      </a:pPr>
                      <a:r>
                        <a:rPr sz="1350" b="1">
                          <a:solidFill>
                            <a:srgbClr val="A34E3F"/>
                          </a:solidFill>
                          <a:latin typeface="Helvetica Neue"/>
                          <a:ea typeface="Helvetica Neue"/>
                          <a:cs typeface="Helvetica Neue"/>
                        </a:rPr>
                        <a:t>TODAY</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a:lstStyle/>
                    <a:p>
                      <a:pPr algn="l">
                        <a:buNone/>
                      </a:pPr>
                      <a:r>
                        <a:rPr sz="1575" b="0">
                          <a:solidFill>
                            <a:srgbClr val="103D3B"/>
                          </a:solidFill>
                          <a:latin typeface="Helvetica Neue"/>
                          <a:ea typeface="Helvetica Neue"/>
                          <a:cs typeface="Helvetica Neue"/>
                        </a:rPr>
                        <a:t>Search Google listings. Call 2–3 businesses.</a:t>
                      </a:r>
                    </a:p>
                    <a:p>
                      <a:pPr algn="l">
                        <a:buNone/>
                      </a:pPr>
                      <a:r>
                        <a:rPr sz="1575" b="0">
                          <a:solidFill>
                            <a:srgbClr val="103D3B"/>
                          </a:solidFill>
                          <a:latin typeface="Helvetica Neue"/>
                          <a:ea typeface="Helvetica Neue"/>
                          <a:cs typeface="Helvetica Neue"/>
                        </a:rPr>
                        <a:t>Check price and availability one at a time.</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c>
                  <a:txBody>
                    <a:bodyPr/>
                    <a:lstStyle/>
                    <a:p>
                      <a:pPr algn="l">
                        <a:buNone/>
                      </a:pPr>
                      <a:r>
                        <a:rPr sz="1575" b="0">
                          <a:solidFill>
                            <a:srgbClr val="103D3B"/>
                          </a:solidFill>
                          <a:latin typeface="Helvetica Neue"/>
                          <a:ea typeface="Helvetica Neue"/>
                          <a:cs typeface="Helvetica Neue"/>
                        </a:rPr>
                        <a:t>A narrow search can miss better matches.</a:t>
                      </a:r>
                    </a:p>
                    <a:p>
                      <a:pPr algn="l">
                        <a:buNone/>
                      </a:pPr>
                      <a:r>
                        <a:rPr sz="1575" b="0">
                          <a:solidFill>
                            <a:srgbClr val="103D3B"/>
                          </a:solidFill>
                          <a:latin typeface="Helvetica Neue"/>
                          <a:ea typeface="Helvetica Neue"/>
                          <a:cs typeface="Helvetica Neue"/>
                        </a:rPr>
                        <a:t>Repeated browsing and calls consume tokens.</a:t>
                      </a:r>
                    </a:p>
                  </a:txBody>
                  <a:tcPr marL="114300" marR="95250" marT="85725" marB="85725" anchor="ctr">
                    <a:lnL w="0">
                      <a:solidFill>
                        <a:srgbClr val="F5F2E9"/>
                      </a:solidFill>
                    </a:lnL>
                    <a:lnR w="0">
                      <a:solidFill>
                        <a:srgbClr val="F5F2E9"/>
                      </a:solidFill>
                    </a:lnR>
                    <a:lnT w="0">
                      <a:solidFill>
                        <a:srgbClr val="F5F2E9"/>
                      </a:solidFill>
                    </a:lnT>
                    <a:lnB w="0">
                      <a:solidFill>
                        <a:srgbClr val="F5F2E9"/>
                      </a:solidFill>
                    </a:lnB>
                    <a:solidFill>
                      <a:srgbClr val="F0E2D9"/>
                    </a:solidFill>
                  </a:tcPr>
                </a:tc>
              </a:tr>
              <a:tr h="781050">
                <a:tc>
                  <a:txBody>
                    <a:bodyPr/>
                    <a:lstStyle/>
                    <a:p>
                      <a:pPr algn="l">
                        <a:buNone/>
                      </a:pPr>
                      <a:r>
                        <a:rPr sz="1350" b="1">
                          <a:solidFill>
                            <a:srgbClr val="236C4E"/>
                          </a:solidFill>
                          <a:latin typeface="Helvetica Neue"/>
                          <a:ea typeface="Helvetica Neue"/>
                          <a:cs typeface="Helvetica Neue"/>
                        </a:rPr>
                        <a:t>WITH GOLOCAL</a:t>
                      </a:r>
                    </a:p>
                  </a:txBody>
                  <a:tcPr marL="114300" marR="95250" marT="85725" marB="85725" anchor="ctr">
                    <a:lnL w="0">
                      <a:solidFill>
                        <a:srgbClr val="F5F2E9"/>
                      </a:solidFill>
                    </a:lnL>
                    <a:lnR w="0">
                      <a:solidFill>
                        <a:srgbClr val="F5F2E9"/>
                      </a:solidFill>
                    </a:lnR>
                    <a:lnT w="0" cmpd="sng">
                      <a:solidFill>
                        <a:srgbClr val="F5F2E9"/>
                      </a:solidFill>
                      <a:prstDash val="solid"/>
                    </a:lnT>
                    <a:lnB w="0">
                      <a:solidFill>
                        <a:srgbClr val="F5F2E9"/>
                      </a:solidFill>
                    </a:lnB>
                    <a:solidFill>
                      <a:srgbClr val="E1EADC"/>
                    </a:solidFill>
                  </a:tcPr>
                </a:tc>
                <a:tc>
                  <a:txBody>
                    <a:bodyPr/>
                    <a:lstStyle/>
                    <a:p>
                      <a:pPr algn="l">
                        <a:buNone/>
                      </a:pPr>
                      <a:r>
                        <a:rPr sz="1575" b="0">
                          <a:solidFill>
                            <a:srgbClr val="103D3B"/>
                          </a:solidFill>
                          <a:latin typeface="Helvetica Neue"/>
                          <a:ea typeface="Helvetica Neue"/>
                          <a:cs typeface="Helvetica Neue"/>
                        </a:rPr>
                        <a:t>Search hundreds of connected businesses.</a:t>
                      </a:r>
                    </a:p>
                    <a:p>
                      <a:pPr algn="l">
                        <a:buNone/>
                      </a:pPr>
                      <a:r>
                        <a:rPr sz="1575" b="0">
                          <a:solidFill>
                            <a:srgbClr val="103D3B"/>
                          </a:solidFill>
                          <a:latin typeface="Helvetica Neue"/>
                          <a:ea typeface="Helvetica Neue"/>
                          <a:cs typeface="Helvetica Neue"/>
                        </a:rPr>
                        <a:t>Target: match in a fraction of a second.</a:t>
                      </a:r>
                    </a:p>
                  </a:txBody>
                  <a:tcPr marL="114300" marR="95250" marT="85725" marB="85725" anchor="ctr">
                    <a:lnL w="0">
                      <a:solidFill>
                        <a:srgbClr val="F5F2E9"/>
                      </a:solidFill>
                    </a:lnL>
                    <a:lnR w="0">
                      <a:solidFill>
                        <a:srgbClr val="F5F2E9"/>
                      </a:solidFill>
                    </a:lnR>
                    <a:lnT w="0" cmpd="sng">
                      <a:solidFill>
                        <a:srgbClr val="F5F2E9"/>
                      </a:solidFill>
                      <a:prstDash val="solid"/>
                    </a:lnT>
                    <a:lnB w="0">
                      <a:solidFill>
                        <a:srgbClr val="F5F2E9"/>
                      </a:solidFill>
                    </a:lnB>
                    <a:solidFill>
                      <a:srgbClr val="E1EADC"/>
                    </a:solidFill>
                  </a:tcPr>
                </a:tc>
                <a:tc>
                  <a:txBody>
                    <a:bodyPr/>
                    <a:lstStyle/>
                    <a:p>
                      <a:pPr algn="l">
                        <a:buNone/>
                      </a:pPr>
                      <a:r>
                        <a:rPr sz="1575" b="0">
                          <a:solidFill>
                            <a:srgbClr val="103D3B"/>
                          </a:solidFill>
                          <a:latin typeface="Helvetica Neue"/>
                          <a:ea typeface="Helvetica Neue"/>
                          <a:cs typeface="Helvetica Neue"/>
                        </a:rPr>
                        <a:t>Compare price, live availability, specialization</a:t>
                      </a:r>
                    </a:p>
                    <a:p>
                      <a:pPr algn="l">
                        <a:buNone/>
                      </a:pPr>
                      <a:r>
                        <a:rPr sz="1575" b="0">
                          <a:solidFill>
                            <a:srgbClr val="103D3B"/>
                          </a:solidFill>
                          <a:latin typeface="Helvetica Neue"/>
                          <a:ea typeface="Helvetica Neue"/>
                          <a:cs typeface="Helvetica Neue"/>
                        </a:rPr>
                        <a:t>and past transaction reviews to find the best fit.</a:t>
                      </a:r>
                    </a:p>
                  </a:txBody>
                  <a:tcPr marL="114300" marR="95250" marT="85725" marB="85725" anchor="ctr">
                    <a:lnL w="0">
                      <a:solidFill>
                        <a:srgbClr val="F5F2E9"/>
                      </a:solidFill>
                    </a:lnL>
                    <a:lnR w="0">
                      <a:solidFill>
                        <a:srgbClr val="F5F2E9"/>
                      </a:solidFill>
                    </a:lnR>
                    <a:lnT w="0" cmpd="sng">
                      <a:solidFill>
                        <a:srgbClr val="F5F2E9"/>
                      </a:solidFill>
                      <a:prstDash val="solid"/>
                    </a:lnT>
                    <a:lnB w="0">
                      <a:solidFill>
                        <a:srgbClr val="F5F2E9"/>
                      </a:solidFill>
                    </a:lnB>
                    <a:solidFill>
                      <a:srgbClr val="E1EADC"/>
                    </a:solidFill>
                  </a:tcPr>
                </a:tc>
              </a:tr>
            </a:tbl>
          </a:graphicData>
        </a:graphic>
      </p:graphicFrame>
      <p:sp>
        <p:nvSpPr>
          <p:cNvPr id="5" name="v31-text-3">
            <a:extLst xmlns:a="http://schemas.openxmlformats.org/drawingml/2006/main">
              <a:ext uri="{FF2B5EF4-FFF2-40B4-BE49-F238E27FC236}">
                <a16:creationId xmlns:a16="http://schemas.microsoft.com/office/drawing/2014/main" id="{B132B958-7D87-42F4-A5A2-2A0A917B7366}"/>
              </a:ext>
            </a:extLst>
          </p:cNvPr>
          <p:cNvSpPr>
            <a:spLocks xmlns:a="http://schemas.openxmlformats.org/drawingml/2006/main" noGrp="1"/>
          </p:cNvSpPr>
          <p:nvPr/>
        </p:nvSpPr>
        <p:spPr>
          <a:xfrm xmlns:a="http://schemas.openxmlformats.org/drawingml/2006/main">
            <a:off x="609600" y="3762375"/>
            <a:ext cx="1047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53716A"/>
                </a:solidFill>
                <a:latin typeface="Helvetica Neue"/>
                <a:ea typeface="Helvetica Neue"/>
                <a:cs typeface="Helvetica Neue"/>
              </a:defRPr>
            </a:defPPr>
          </a:lstStyle>
          <a:p xmlns:a="http://schemas.openxmlformats.org/drawingml/2006/main">
            <a:pPr algn="l">
              <a:buNone/>
              <a:defRPr sz="1200" b="1">
                <a:solidFill>
                  <a:srgbClr val="53716A"/>
                </a:solidFill>
                <a:latin typeface="Helvetica Neue"/>
                <a:ea typeface="Helvetica Neue"/>
                <a:cs typeface="Helvetica Neue"/>
              </a:defRPr>
            </a:pPr>
            <a:r>
              <a:rPr sz="1200" b="1">
                <a:solidFill>
                  <a:srgbClr val="53716A"/>
                </a:solidFill>
                <a:latin typeface="Helvetica Neue"/>
                <a:ea typeface="Helvetica Neue"/>
                <a:cs typeface="Helvetica Neue"/>
              </a:rPr>
              <a:t>THE GOLOCAL BOOKING JOURNEY</a:t>
            </a:r>
          </a:p>
        </p:txBody>
      </p:sp>
      <p:sp>
        <p:nvSpPr>
          <p:cNvPr id="6" name="v31-text-4">
            <a:extLst xmlns:a="http://schemas.openxmlformats.org/drawingml/2006/main">
              <a:ext uri="{FF2B5EF4-FFF2-40B4-BE49-F238E27FC236}">
                <a16:creationId xmlns:a16="http://schemas.microsoft.com/office/drawing/2014/main" id="{3A22AD76-2F77-44FC-B236-472374BFC5E3}"/>
              </a:ext>
            </a:extLst>
          </p:cNvPr>
          <p:cNvSpPr>
            <a:spLocks xmlns:a="http://schemas.openxmlformats.org/drawingml/2006/main" noGrp="1"/>
          </p:cNvSpPr>
          <p:nvPr/>
        </p:nvSpPr>
        <p:spPr>
          <a:xfrm xmlns:a="http://schemas.openxmlformats.org/drawingml/2006/main">
            <a:off x="609600" y="40862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03D3B"/>
                </a:solidFill>
                <a:latin typeface="Helvetica Neue"/>
                <a:ea typeface="Helvetica Neue"/>
                <a:cs typeface="Helvetica Neue"/>
              </a:defRPr>
            </a:defPPr>
          </a:lstStyle>
          <a:p xmlns:a="http://schemas.openxmlformats.org/drawingml/2006/main">
            <a:pPr algn="l">
              <a:buNone/>
              <a:defRPr sz="2025" b="1">
                <a:solidFill>
                  <a:srgbClr val="103D3B"/>
                </a:solidFill>
                <a:latin typeface="Helvetica Neue"/>
                <a:ea typeface="Helvetica Neue"/>
                <a:cs typeface="Helvetica Neue"/>
              </a:defRPr>
            </a:pPr>
            <a:r>
              <a:rPr sz="2025" b="1">
                <a:solidFill>
                  <a:srgbClr val="103D3B"/>
                </a:solidFill>
                <a:latin typeface="Helvetica Neue"/>
                <a:ea typeface="Helvetica Neue"/>
                <a:cs typeface="Helvetica Neue"/>
              </a:rPr>
              <a:t>“Book a plumber tomorrow morning for my leaking kitchen tap.”</a:t>
            </a:r>
          </a:p>
        </p:txBody>
      </p:sp>
      <p:sp>
        <p:nvSpPr>
          <p:cNvPr id="7" name="v31-text-5">
            <a:extLst xmlns:a="http://schemas.openxmlformats.org/drawingml/2006/main">
              <a:ext uri="{FF2B5EF4-FFF2-40B4-BE49-F238E27FC236}">
                <a16:creationId xmlns:a16="http://schemas.microsoft.com/office/drawing/2014/main" id="{966DF0A5-16BD-43A5-A573-344F93B48D31}"/>
              </a:ext>
            </a:extLst>
          </p:cNvPr>
          <p:cNvSpPr>
            <a:spLocks xmlns:a="http://schemas.openxmlformats.org/drawingml/2006/main" noGrp="1"/>
          </p:cNvSpPr>
          <p:nvPr/>
        </p:nvSpPr>
        <p:spPr>
          <a:xfrm xmlns:a="http://schemas.openxmlformats.org/drawingml/2006/main">
            <a:off x="609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1  Agent scopes the job</a:t>
            </a:r>
          </a:p>
        </p:txBody>
      </p:sp>
      <p:sp>
        <p:nvSpPr>
          <p:cNvPr id="8" name="v31-text-6">
            <a:extLst xmlns:a="http://schemas.openxmlformats.org/drawingml/2006/main">
              <a:ext uri="{FF2B5EF4-FFF2-40B4-BE49-F238E27FC236}">
                <a16:creationId xmlns:a16="http://schemas.microsoft.com/office/drawing/2014/main" id="{E3A497E9-ABD5-4FDD-B03F-605AC0CC5904}"/>
              </a:ext>
            </a:extLst>
          </p:cNvPr>
          <p:cNvSpPr>
            <a:spLocks xmlns:a="http://schemas.openxmlformats.org/drawingml/2006/main" noGrp="1"/>
          </p:cNvSpPr>
          <p:nvPr/>
        </p:nvSpPr>
        <p:spPr>
          <a:xfrm xmlns:a="http://schemas.openxmlformats.org/drawingml/2006/main">
            <a:off x="609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Agent works with user and </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Go-local to scope the work with photos and questions </a:t>
            </a:r>
            <a:endParaRPr sz="1500" b="0">
              <a:solidFill>
                <a:srgbClr val="103D3B"/>
              </a:solidFill>
              <a:latin typeface="Helvetica Neue"/>
              <a:ea typeface="Helvetica Neue"/>
              <a:cs typeface="Helvetica Neue"/>
            </a:endParaRPr>
          </a:p>
        </p:txBody>
      </p:sp>
      <p:sp>
        <p:nvSpPr>
          <p:cNvPr id="9" name="v31-text-7">
            <a:extLst xmlns:a="http://schemas.openxmlformats.org/drawingml/2006/main">
              <a:ext uri="{FF2B5EF4-FFF2-40B4-BE49-F238E27FC236}">
                <a16:creationId xmlns:a16="http://schemas.microsoft.com/office/drawing/2014/main" id="{618604E1-578F-40B3-90EF-1B9319CC3E0E}"/>
              </a:ext>
            </a:extLst>
          </p:cNvPr>
          <p:cNvSpPr>
            <a:spLocks xmlns:a="http://schemas.openxmlformats.org/drawingml/2006/main" noGrp="1"/>
          </p:cNvSpPr>
          <p:nvPr/>
        </p:nvSpPr>
        <p:spPr>
          <a:xfrm xmlns:a="http://schemas.openxmlformats.org/drawingml/2006/main">
            <a:off x="34671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2  GoLocal compares</a:t>
            </a:r>
          </a:p>
        </p:txBody>
      </p:sp>
      <p:sp>
        <p:nvSpPr>
          <p:cNvPr id="10" name="v31-text-8">
            <a:extLst xmlns:a="http://schemas.openxmlformats.org/drawingml/2006/main">
              <a:ext uri="{FF2B5EF4-FFF2-40B4-BE49-F238E27FC236}">
                <a16:creationId xmlns:a16="http://schemas.microsoft.com/office/drawing/2014/main" id="{E57A3C66-702B-49A7-8267-BD5381F09756}"/>
              </a:ext>
            </a:extLst>
          </p:cNvPr>
          <p:cNvSpPr>
            <a:spLocks xmlns:a="http://schemas.openxmlformats.org/drawingml/2006/main" noGrp="1"/>
          </p:cNvSpPr>
          <p:nvPr/>
        </p:nvSpPr>
        <p:spPr>
          <a:xfrm xmlns:a="http://schemas.openxmlformats.org/drawingml/2006/main">
            <a:off x="34671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Finds suitable providers</a:t>
            </a:r>
            <a:r>
              <a:rPr sz="1500">
                <a:solidFill>
                  <a:srgbClr val="103D3B"/>
                </a:solidFill>
                <a:latin typeface="Helvetica Neue"/>
                <a:ea typeface="Helvetica Neue"/>
                <a:cs typeface="Helvetica Neue"/>
              </a:rPr>
              <a:t> across </a:t>
            </a:r>
            <a:r>
              <a:rPr sz="1500" b="0">
                <a:solidFill>
                  <a:srgbClr val="103D3B"/>
                </a:solidFill>
                <a:latin typeface="Helvetica Neue"/>
                <a:ea typeface="Helvetica Neue"/>
                <a:cs typeface="Helvetica Neue"/>
              </a:rPr>
              <a:t> ratings</a:t>
            </a:r>
            <a:r>
              <a:rPr sz="1500" b="0">
                <a:solidFill>
                  <a:srgbClr val="103D3B"/>
                </a:solidFill>
                <a:latin typeface="Helvetica Neue"/>
                <a:ea typeface="Helvetica Neue"/>
                <a:cs typeface="Helvetica Neue"/>
              </a:rPr>
              <a:t>,</a:t>
            </a:r>
            <a:r>
              <a:rPr sz="1500">
                <a:solidFill>
                  <a:srgbClr val="103D3B"/>
                </a:solidFill>
                <a:latin typeface="Helvetica Neue"/>
                <a:ea typeface="Helvetica Neue"/>
                <a:cs typeface="Helvetica Neue"/>
              </a:rPr>
              <a:t> </a:t>
            </a:r>
            <a:r>
              <a:rPr sz="1500" b="0">
                <a:solidFill>
                  <a:srgbClr val="103D3B"/>
                </a:solidFill>
                <a:latin typeface="Helvetica Neue"/>
                <a:ea typeface="Helvetica Neue"/>
                <a:cs typeface="Helvetica Neue"/>
              </a:rPr>
              <a:t>availability</a:t>
            </a:r>
            <a:r>
              <a:rPr sz="1500" b="0">
                <a:solidFill>
                  <a:srgbClr val="103D3B"/>
                </a:solidFill>
                <a:latin typeface="Helvetica Neue"/>
                <a:ea typeface="Helvetica Neue"/>
                <a:cs typeface="Helvetica Neue"/>
              </a:rPr>
              <a:t> and pricing</a:t>
            </a:r>
            <a:endParaRPr sz="1500" b="0">
              <a:solidFill>
                <a:srgbClr val="103D3B"/>
              </a:solidFill>
              <a:latin typeface="Helvetica Neue"/>
              <a:ea typeface="Helvetica Neue"/>
              <a:cs typeface="Helvetica Neue"/>
            </a:endParaRPr>
          </a:p>
        </p:txBody>
      </p:sp>
      <p:sp>
        <p:nvSpPr>
          <p:cNvPr id="11" name="v31-text-9">
            <a:extLst xmlns:a="http://schemas.openxmlformats.org/drawingml/2006/main">
              <a:ext uri="{FF2B5EF4-FFF2-40B4-BE49-F238E27FC236}">
                <a16:creationId xmlns:a16="http://schemas.microsoft.com/office/drawing/2014/main" id="{A6535DB2-F6C2-4C61-AA3A-F2783DF038A5}"/>
              </a:ext>
            </a:extLst>
          </p:cNvPr>
          <p:cNvSpPr>
            <a:spLocks xmlns:a="http://schemas.openxmlformats.org/drawingml/2006/main" noGrp="1"/>
          </p:cNvSpPr>
          <p:nvPr/>
        </p:nvSpPr>
        <p:spPr>
          <a:xfrm xmlns:a="http://schemas.openxmlformats.org/drawingml/2006/main">
            <a:off x="6324600" y="4610100"/>
            <a:ext cx="2647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103D3B"/>
                </a:solidFill>
                <a:latin typeface="Helvetica Neue"/>
                <a:ea typeface="Helvetica Neue"/>
                <a:cs typeface="Helvetica Neue"/>
              </a:defRPr>
            </a:defPPr>
          </a:lstStyle>
          <a:p xmlns:a="http://schemas.openxmlformats.org/drawingml/2006/main">
            <a:pPr algn="l">
              <a:buNone/>
              <a:defRPr sz="1650" b="1">
                <a:solidFill>
                  <a:srgbClr val="103D3B"/>
                </a:solidFill>
                <a:latin typeface="Helvetica Neue"/>
                <a:ea typeface="Helvetica Neue"/>
                <a:cs typeface="Helvetica Neue"/>
              </a:defRPr>
            </a:pPr>
            <a:r>
              <a:rPr sz="1650" b="1">
                <a:solidFill>
                  <a:srgbClr val="103D3B"/>
                </a:solidFill>
                <a:latin typeface="Helvetica Neue"/>
                <a:ea typeface="Helvetica Neue"/>
                <a:cs typeface="Helvetica Neue"/>
              </a:rPr>
              <a:t>3  Customer approves</a:t>
            </a:r>
          </a:p>
        </p:txBody>
      </p:sp>
      <p:sp>
        <p:nvSpPr>
          <p:cNvPr id="12" name="v31-text-10">
            <a:extLst xmlns:a="http://schemas.openxmlformats.org/drawingml/2006/main">
              <a:ext uri="{FF2B5EF4-FFF2-40B4-BE49-F238E27FC236}">
                <a16:creationId xmlns:a16="http://schemas.microsoft.com/office/drawing/2014/main" id="{18B02C09-B853-4E71-827C-037B91BF763B}"/>
              </a:ext>
            </a:extLst>
          </p:cNvPr>
          <p:cNvSpPr>
            <a:spLocks xmlns:a="http://schemas.openxmlformats.org/drawingml/2006/main" noGrp="1"/>
          </p:cNvSpPr>
          <p:nvPr/>
        </p:nvSpPr>
        <p:spPr>
          <a:xfrm xmlns:a="http://schemas.openxmlformats.org/drawingml/2006/main">
            <a:off x="6324600" y="5010150"/>
            <a:ext cx="26479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Chooses </a:t>
            </a:r>
            <a:r>
              <a:rPr sz="1500" b="0">
                <a:solidFill>
                  <a:srgbClr val="103D3B"/>
                </a:solidFill>
                <a:latin typeface="Helvetica Neue"/>
                <a:ea typeface="Helvetica Neue"/>
                <a:cs typeface="Helvetica Neue"/>
              </a:rPr>
              <a:t>best match </a:t>
            </a:r>
            <a:endParaRPr sz="1500" b="0">
              <a:solidFill>
                <a:srgbClr val="103D3B"/>
              </a:solidFill>
              <a:latin typeface="Helvetica Neue"/>
              <a:ea typeface="Helvetica Neue"/>
              <a:cs typeface="Helvetica Neue"/>
            </a:endParaRP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Authorizes the $79 visit</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and payment.</a:t>
            </a:r>
          </a:p>
        </p:txBody>
      </p:sp>
      <p:sp>
        <p:nvSpPr>
          <p:cNvPr id="13" name="v31-text-11">
            <a:extLst xmlns:a="http://schemas.openxmlformats.org/drawingml/2006/main">
              <a:ext uri="{FF2B5EF4-FFF2-40B4-BE49-F238E27FC236}">
                <a16:creationId xmlns:a16="http://schemas.microsoft.com/office/drawing/2014/main" id="{FF4FCD7E-B9C0-4B0B-B470-6CA543F2E900}"/>
              </a:ext>
            </a:extLst>
          </p:cNvPr>
          <p:cNvSpPr>
            <a:spLocks xmlns:a="http://schemas.openxmlformats.org/drawingml/2006/main" noGrp="1"/>
          </p:cNvSpPr>
          <p:nvPr/>
        </p:nvSpPr>
        <p:spPr>
          <a:xfrm xmlns:a="http://schemas.openxmlformats.org/drawingml/2006/main">
            <a:off x="9182100" y="4610100"/>
            <a:ext cx="2400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236C4E"/>
                </a:solidFill>
                <a:latin typeface="Helvetica Neue"/>
                <a:ea typeface="Helvetica Neue"/>
                <a:cs typeface="Helvetica Neue"/>
              </a:defRPr>
            </a:defPPr>
          </a:lstStyle>
          <a:p xmlns:a="http://schemas.openxmlformats.org/drawingml/2006/main">
            <a:pPr algn="l">
              <a:buNone/>
              <a:defRPr sz="1650" b="1">
                <a:solidFill>
                  <a:srgbClr val="236C4E"/>
                </a:solidFill>
                <a:latin typeface="Helvetica Neue"/>
                <a:ea typeface="Helvetica Neue"/>
                <a:cs typeface="Helvetica Neue"/>
              </a:defRPr>
            </a:pPr>
            <a:r>
              <a:rPr sz="1650" b="1">
                <a:solidFill>
                  <a:srgbClr val="236C4E"/>
                </a:solidFill>
                <a:latin typeface="Helvetica Neue"/>
                <a:ea typeface="Helvetica Neue"/>
                <a:cs typeface="Helvetica Neue"/>
              </a:rPr>
              <a:t>4  GoLocal books</a:t>
            </a:r>
          </a:p>
        </p:txBody>
      </p:sp>
      <p:sp>
        <p:nvSpPr>
          <p:cNvPr id="14" name="v31-text-12">
            <a:extLst xmlns:a="http://schemas.openxmlformats.org/drawingml/2006/main">
              <a:ext uri="{FF2B5EF4-FFF2-40B4-BE49-F238E27FC236}">
                <a16:creationId xmlns:a16="http://schemas.microsoft.com/office/drawing/2014/main" id="{CB0F95B8-9D3F-42BF-913E-60A45DE272FB}"/>
              </a:ext>
            </a:extLst>
          </p:cNvPr>
          <p:cNvSpPr>
            <a:spLocks xmlns:a="http://schemas.openxmlformats.org/drawingml/2006/main" noGrp="1"/>
          </p:cNvSpPr>
          <p:nvPr/>
        </p:nvSpPr>
        <p:spPr>
          <a:xfrm xmlns:a="http://schemas.openxmlformats.org/drawingml/2006/main">
            <a:off x="9182100" y="5010150"/>
            <a:ext cx="2400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103D3B"/>
                </a:solidFill>
                <a:latin typeface="Helvetica Neue"/>
                <a:ea typeface="Helvetica Neue"/>
                <a:cs typeface="Helvetica Neue"/>
              </a:defRPr>
            </a:defPPr>
          </a:lstStyle>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Books in provider system.</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Returns booking ID and</a:t>
            </a:r>
          </a:p>
          <a:p xmlns:a="http://schemas.openxmlformats.org/drawingml/2006/main">
            <a:pPr algn="l">
              <a:buNone/>
              <a:defRPr sz="1500" b="0">
                <a:solidFill>
                  <a:srgbClr val="103D3B"/>
                </a:solidFill>
                <a:latin typeface="Helvetica Neue"/>
                <a:ea typeface="Helvetica Neue"/>
                <a:cs typeface="Helvetica Neue"/>
              </a:defRPr>
            </a:pPr>
            <a:r>
              <a:rPr sz="1500" b="0">
                <a:solidFill>
                  <a:srgbClr val="103D3B"/>
                </a:solidFill>
                <a:latin typeface="Helvetica Neue"/>
                <a:ea typeface="Helvetica Neue"/>
                <a:cs typeface="Helvetica Neue"/>
              </a:rPr>
              <a:t>payment status.</a:t>
            </a:r>
          </a:p>
        </p:txBody>
      </p:sp>
      <p:sp>
        <p:nvSpPr>
          <p:cNvPr id="15" name="v31-text-13">
            <a:extLst xmlns:a="http://schemas.openxmlformats.org/drawingml/2006/main">
              <a:ext uri="{FF2B5EF4-FFF2-40B4-BE49-F238E27FC236}">
                <a16:creationId xmlns:a16="http://schemas.microsoft.com/office/drawing/2014/main" id="{6D3B9BBC-6172-46AA-8D0C-E94267AD8D1F}"/>
              </a:ext>
            </a:extLst>
          </p:cNvPr>
          <p:cNvSpPr>
            <a:spLocks xmlns:a="http://schemas.openxmlformats.org/drawingml/2006/main" noGrp="1"/>
          </p:cNvSpPr>
          <p:nvPr/>
        </p:nvSpPr>
        <p:spPr>
          <a:xfrm xmlns:a="http://schemas.openxmlformats.org/drawingml/2006/main">
            <a:off x="609600" y="5905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236C4E"/>
                </a:solidFill>
                <a:latin typeface="Helvetica Neue"/>
                <a:ea typeface="Helvetica Neue"/>
                <a:cs typeface="Helvetica Neue"/>
              </a:defRPr>
            </a:defPPr>
          </a:lstStyle>
          <a:p xmlns:a="http://schemas.openxmlformats.org/drawingml/2006/main">
            <a:pPr algn="l">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Confirmed: Oak Plumbing, tomorrow 9–11 am</a:t>
            </a:r>
          </a:p>
        </p:txBody>
      </p:sp>
      <p:sp>
        <p:nvSpPr>
          <p:cNvPr id="16" name="v31-text-14">
            <a:extLst xmlns:a="http://schemas.openxmlformats.org/drawingml/2006/main">
              <a:ext uri="{FF2B5EF4-FFF2-40B4-BE49-F238E27FC236}">
                <a16:creationId xmlns:a16="http://schemas.microsoft.com/office/drawing/2014/main" id="{22C67580-34D1-49BC-ADD6-B9B4C984F269}"/>
              </a:ext>
            </a:extLst>
          </p:cNvPr>
          <p:cNvSpPr>
            <a:spLocks xmlns:a="http://schemas.openxmlformats.org/drawingml/2006/main" noGrp="1"/>
          </p:cNvSpPr>
          <p:nvPr/>
        </p:nvSpPr>
        <p:spPr>
          <a:xfrm xmlns:a="http://schemas.openxmlformats.org/drawingml/2006/main">
            <a:off x="609600" y="6257925"/>
            <a:ext cx="1097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53716A"/>
                </a:solidFill>
                <a:latin typeface="Helvetica Neue"/>
                <a:ea typeface="Helvetica Neue"/>
                <a:cs typeface="Helvetica Neue"/>
              </a:defRPr>
            </a:defPPr>
          </a:lstStyle>
          <a:p xmlns:a="http://schemas.openxmlformats.org/drawingml/2006/main">
            <a:pPr algn="l">
              <a:buNone/>
              <a:defRPr sz="1350" b="0">
                <a:solidFill>
                  <a:srgbClr val="53716A"/>
                </a:solidFill>
                <a:latin typeface="Helvetica Neue"/>
                <a:ea typeface="Helvetica Neue"/>
                <a:cs typeface="Helvetica Neue"/>
              </a:defRPr>
            </a:pPr>
            <a:r>
              <a:rPr sz="1350" b="0">
                <a:solidFill>
                  <a:srgbClr val="53716A"/>
                </a:solidFill>
                <a:latin typeface="Helvetica Neue"/>
                <a:ea typeface="Helvetica Neue"/>
                <a:cs typeface="Helvetica Neue"/>
              </a:rPr>
              <a:t>Booking GL-1042. $79 visit fee authorized. </a:t>
            </a:r>
          </a:p>
        </p:txBody>
      </p:sp>
      <p:sp>
        <p:nvSpPr>
          <p:cNvPr id="18" name="v31-text-16">
            <a:extLst xmlns:a="http://schemas.openxmlformats.org/drawingml/2006/main">
              <a:ext uri="{FF2B5EF4-FFF2-40B4-BE49-F238E27FC236}">
                <a16:creationId xmlns:a16="http://schemas.microsoft.com/office/drawing/2014/main" id="{72DB3F0C-6E0B-4F99-BBEC-61E0A9585480}"/>
              </a:ext>
            </a:extLst>
          </p:cNvPr>
          <p:cNvSpPr>
            <a:spLocks xmlns:a="http://schemas.openxmlformats.org/drawingml/2006/main" noGrp="1"/>
          </p:cNvSpPr>
          <p:nvPr/>
        </p:nvSpPr>
        <p:spPr>
          <a:xfrm xmlns:a="http://schemas.openxmlformats.org/drawingml/2006/main">
            <a:off x="11049000" y="6638925"/>
            <a:ext cx="666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buNone/>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4 / 7</a:t>
            </a:r>
          </a:p>
        </p:txBody>
      </p:sp>
    </p:spTree>
    <p:extLst>
      <p:ext uri="{BB962C8B-B14F-4D97-AF65-F5344CB8AC3E}">
        <p14:creationId xmlns:p14="http://schemas.microsoft.com/office/powerpoint/2010/main" val="26245105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Straight Arrow Connector 16">
            <a:extLst xmlns:a="http://schemas.openxmlformats.org/drawingml/2006/main">
              <a:ext uri="{FF2B5EF4-FFF2-40B4-BE49-F238E27FC236}">
                <a16:creationId xmlns:a16="http://schemas.microsoft.com/office/drawing/2014/main" id="{99FCEABC-2370-4170-8236-A113F6EA051D}"/>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Straight Arrow Connector 15">
            <a:extLst xmlns:a="http://schemas.openxmlformats.org/drawingml/2006/main">
              <a:ext uri="{FF2B5EF4-FFF2-40B4-BE49-F238E27FC236}">
                <a16:creationId xmlns:a16="http://schemas.microsoft.com/office/drawing/2014/main" id="{21C55B89-854C-4073-9893-06C26B231008}"/>
              </a:ext>
            </a:extLst>
          </p:cNvPr>
          <p:cNvCxnSpPr/>
          <p:nvPr/>
        </p:nvCxnSpPr>
        <p:spPr>
          <a:xfrm xmlns:a="http://schemas.openxmlformats.org/drawingml/2006/main" flipH="1" flipV="1">
            <a:off x="7790328"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Straight Arrow Connector 14">
            <a:extLst xmlns:a="http://schemas.openxmlformats.org/drawingml/2006/main">
              <a:ext uri="{FF2B5EF4-FFF2-40B4-BE49-F238E27FC236}">
                <a16:creationId xmlns:a16="http://schemas.microsoft.com/office/drawing/2014/main" id="{8765F5C6-1C80-4B0C-8637-3AA633DCE974}"/>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Straight Arrow Connector 13">
            <a:extLst xmlns:a="http://schemas.openxmlformats.org/drawingml/2006/main">
              <a:ext uri="{FF2B5EF4-FFF2-40B4-BE49-F238E27FC236}">
                <a16:creationId xmlns:a16="http://schemas.microsoft.com/office/drawing/2014/main" id="{25064A6A-3DA6-4587-BF55-26E1C7187DF0}"/>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5994026"/>
            <a:ext cx="11201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22626"/>
            <a:ext cx="11201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03D3B"/>
                </a:solidFill>
                <a:latin typeface="Helvetica Neue"/>
                <a:ea typeface="Helvetica Neue"/>
                <a:cs typeface="Helvetica Neue"/>
              </a:defRPr>
            </a:defPPr>
          </a:lstStyle>
          <a:p xmlns:a="http://schemas.openxmlformats.org/drawingml/2006/main">
            <a:pPr algn="l">
              <a:buNone/>
              <a:defRPr sz="1575" b="0">
                <a:solidFill>
                  <a:srgbClr val="103D3B"/>
                </a:solidFill>
                <a:latin typeface="Helvetica Neue"/>
                <a:ea typeface="Helvetica Neue"/>
                <a:cs typeface="Helvetica Neue"/>
              </a:defRPr>
            </a:pPr>
            <a:r>
              <a:rPr sz="1575" b="0">
                <a:solidFill>
                  <a:srgbClr val="103D3B"/>
                </a:solidFill>
                <a:latin typeface="Helvetica Neue"/>
                <a:ea typeface="Helvetica Neue"/>
                <a:cs typeface="Helvetica Neue"/>
              </a:rPr>
              <a:t>Businesses pay 10% of the booking amount.</a:t>
            </a:r>
            <a:r>
              <a:rPr sz="1575" b="0">
                <a:solidFill>
                  <a:srgbClr val="103D3B"/>
                </a:solidFill>
                <a:latin typeface="Helvetica Neue"/>
                <a:ea typeface="Helvetica Neue"/>
                <a:cs typeface="Helvetica Neue"/>
              </a:rPr>
              <a:t> </a:t>
            </a:r>
            <a:r>
              <a:rPr sz="1575" b="0">
                <a:solidFill>
                  <a:srgbClr val="103D3B"/>
                </a:solidFill>
                <a:latin typeface="Helvetica Neue"/>
                <a:ea typeface="Helvetica Neue"/>
                <a:cs typeface="Helvetica Neue"/>
              </a:rPr>
              <a:t>That 10% fee is shared between GoLocal and software or channel partners.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5 / 7</a:t>
            </a:r>
          </a:p>
        </p:txBody>
      </p:sp>
      <p:sp>
        <p:nvSpPr>
          <p:cNvPr id="25" name="Straight Connector 24">
            <a:extLst xmlns:a="http://schemas.openxmlformats.org/drawingml/2006/main">
              <a:ext uri="{FF2B5EF4-FFF2-40B4-BE49-F238E27FC236}">
                <a16:creationId xmlns:a16="http://schemas.microsoft.com/office/drawing/2014/main" id="{398712CF-8A18-4B40-A366-94DFC58393DC}"/>
              </a:ext>
            </a:extLst>
          </p:cNvPr>
          <p:cNvSpPr>
            <a:spLocks xmlns:a="http://schemas.openxmlformats.org/drawingml/2006/main" noGrp="1"/>
          </p:cNvSpPr>
          <p:nvPr/>
        </p:nvSpPr>
        <p:spPr>
          <a:xfrm xmlns:a="http://schemas.openxmlformats.org/drawingml/2006/main">
            <a:off x="3833132" y="2130879"/>
            <a:ext cx="0" cy="3816000"/>
          </a:xfrm>
          <a:prstGeom xmlns:a="http://schemas.openxmlformats.org/drawingml/2006/main" prst="line">
            <a:avLst/>
          </a:prstGeom>
          <a:ln xmlns:a="http://schemas.openxmlformats.org/drawingml/2006/main" w="28575"/>
        </p:spPr>
        <p:style>
          <a:lnRef xmlns:a="http://schemas.openxmlformats.org/drawingml/2006/main" idx="2">
            <a:schemeClr val="accent3"/>
          </a:lnRef>
          <a:fillRef xmlns:a="http://schemas.openxmlformats.org/drawingml/2006/main" idx="0">
            <a:schemeClr val="accent3"/>
          </a:fillRef>
          <a:effectRef xmlns:a="http://schemas.openxmlformats.org/drawingml/2006/main" idx="1">
            <a:schemeClr val="accent3"/>
          </a:effectRef>
          <a:fontRef xmlns:a="http://schemas.openxmlformats.org/drawingml/2006/main" idx="minor">
            <a:schemeClr val="tx1"/>
          </a:fontRef>
        </p:style>
      </p:sp>
      <p:cxnSp>
        <p:nvCxnSpPr>
          <p:cNvPr id="29" name="Straight Arrow Connector 28">
            <a:extLst xmlns:a="http://schemas.openxmlformats.org/drawingml/2006/main">
              <a:ext uri="{FF2B5EF4-FFF2-40B4-BE49-F238E27FC236}">
                <a16:creationId xmlns:a16="http://schemas.microsoft.com/office/drawing/2014/main" id="{11B7C927-5DCE-4DB1-BE96-C1681E320B23}"/>
              </a:ext>
            </a:extLst>
          </p:cNvPr>
          <p:cNvCxnSpPr/>
          <p:nvPr/>
        </p:nvCxnSpPr>
        <p:spPr>
          <a:xfrm xmlns:a="http://schemas.openxmlformats.org/drawingml/2006/main">
            <a:off x="2003612" y="3554506"/>
            <a:ext cx="0" cy="333375"/>
          </a:xfrm>
          <a:prstGeom xmlns:a="http://schemas.openxmlformats.org/drawingml/2006/main" prst="straightConnector1">
            <a:avLst/>
          </a:prstGeom>
          <a:ln xmlns:a="http://schemas.openxmlformats.org/drawingml/2006/main" w="25400">
            <a:tailEnd type="triangle"/>
          </a:ln>
        </p:spPr>
        <p: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p:style>
      </p:cxnSp>
    </p:spTree>
    <p:extLst>
      <p:ext uri="{BB962C8B-B14F-4D97-AF65-F5344CB8AC3E}">
        <p14:creationId xmlns:p14="http://schemas.microsoft.com/office/powerpoint/2010/main" val="113766741"/>
      </p:ext>
    </p:extLst>
  </p:cSld>
</p:sld>
</file>

<file path=ppt/slides/slide6.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Straight Arrow Connector 14">
            <a:extLst xmlns:a="http://schemas.openxmlformats.org/drawingml/2006/main">
              <a:ext uri="{FF2B5EF4-FFF2-40B4-BE49-F238E27FC236}">
                <a16:creationId xmlns:a16="http://schemas.microsoft.com/office/drawing/2014/main" id="{B475B1F3-D424-447A-924A-E5D8D21187DD}"/>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Straight Arrow Connector 13">
            <a:extLst xmlns:a="http://schemas.openxmlformats.org/drawingml/2006/main">
              <a:ext uri="{FF2B5EF4-FFF2-40B4-BE49-F238E27FC236}">
                <a16:creationId xmlns:a16="http://schemas.microsoft.com/office/drawing/2014/main" id="{773BF42B-689E-44E4-BF3E-B64D8660DA6E}"/>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6 / 7</a:t>
            </a:r>
          </a:p>
        </p:txBody>
      </p:sp>
    </p:spTree>
    <p:extLst>
      <p:ext uri="{BB962C8B-B14F-4D97-AF65-F5344CB8AC3E}">
        <p14:creationId xmlns:p14="http://schemas.microsoft.com/office/powerpoint/2010/main" val="22905360"/>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2E7E5399-97B1-4A1E-B858-02332087A27E}"/>
              </a:ext>
            </a:extLst>
          </p:cNvPr>
          <p:cNvPicPr>
            <a:picLocks xmlns:a="http://schemas.openxmlformats.org/drawingml/2006/main" noChangeAspect="1"/>
          </p:cNvPicPr>
          <p:nvPr/>
        </p:nvPicPr>
        <p:blipFill>
          <a:blip xmlns:r="http://schemas.openxmlformats.org/officeDocument/2006/relationships" xmlns:a="http://schemas.openxmlformats.org/drawingml/2006/main" r:embed="R419223e58d8c4efd"/>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9E3E40EC-5157-455A-B5E5-8B0B2ECA3159}"/>
              </a:ext>
            </a:extLst>
          </p:cNvPr>
          <p:cNvPicPr>
            <a:picLocks xmlns:a="http://schemas.openxmlformats.org/drawingml/2006/main" noChangeAspect="1"/>
          </p:cNvPicPr>
          <p:nvPr/>
        </p:nvPicPr>
        <p:blipFill>
          <a:blip xmlns:r="http://schemas.openxmlformats.org/officeDocument/2006/relationships" xmlns:a="http://schemas.openxmlformats.org/drawingml/2006/main" r:embed="Rd0482b45b19c4eed"/>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8c4271cc56454c22"/>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070a9c9eef56498a"/>
              </a:rPr>
              <a:t>LinkedIn</a:t>
            </a:r>
          </a:p>
        </p:txBody>
      </p:sp>
      <p:pic>
        <p:nvPicPr>
          <p:cNvPr id="11" name="Picture 10">
            <a:extLst xmlns:a="http://schemas.openxmlformats.org/drawingml/2006/main">
              <a:ext uri="{FF2B5EF4-FFF2-40B4-BE49-F238E27FC236}">
                <a16:creationId xmlns:a16="http://schemas.microsoft.com/office/drawing/2014/main" id="{826CAC1D-A84F-4113-AE18-275DC07E1964}"/>
              </a:ext>
            </a:extLst>
          </p:cNvPr>
          <p:cNvPicPr>
            <a:picLocks xmlns:a="http://schemas.openxmlformats.org/drawingml/2006/main" noChangeAspect="1"/>
          </p:cNvPicPr>
          <p:nvPr/>
        </p:nvPicPr>
        <p:blipFill>
          <a:blip xmlns:r="http://schemas.openxmlformats.org/officeDocument/2006/relationships" xmlns:a="http://schemas.openxmlformats.org/drawingml/2006/main" r:embed="R950f9098a3cc4912"/>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FA9F7685-AC01-41DC-BE4F-DBAEE7EF0B9F}"/>
              </a:ext>
            </a:extLst>
          </p:cNvPr>
          <p:cNvPicPr>
            <a:picLocks xmlns:a="http://schemas.openxmlformats.org/drawingml/2006/main" noChangeAspect="1"/>
          </p:cNvPicPr>
          <p:nvPr/>
        </p:nvPicPr>
        <p:blipFill>
          <a:blip xmlns:r="http://schemas.openxmlformats.org/officeDocument/2006/relationships" xmlns:a="http://schemas.openxmlformats.org/drawingml/2006/main" r:embed="R1fff3e25f40348c5"/>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765E2267-B262-4946-8539-546AB5F1C34C}"/>
              </a:ext>
            </a:extLst>
          </p:cNvPr>
          <p:cNvPicPr>
            <a:picLocks xmlns:a="http://schemas.openxmlformats.org/drawingml/2006/main" noChangeAspect="1"/>
          </p:cNvPicPr>
          <p:nvPr/>
        </p:nvPicPr>
        <p:blipFill>
          <a:blip xmlns:r="http://schemas.openxmlformats.org/officeDocument/2006/relationships" xmlns:a="http://schemas.openxmlformats.org/drawingml/2006/main" r:embed="R9adba8875b134d14"/>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7 / 7</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2026-10-11T03:18:08.3930000Z</dcterms:created>
  <dcterms:modified xsi:type="dcterms:W3CDTF">2026-10-11T03:18:08.3930000Z</dcterms:modified>
</coreProperties>
</file>